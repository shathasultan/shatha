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60" r:id="rId5"/>
    <p:sldId id="267" r:id="rId6"/>
    <p:sldId id="261" r:id="rId7"/>
    <p:sldId id="265" r:id="rId8"/>
    <p:sldId id="266"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60779E0-D329-6F88-E47F-9C901D885E07}">
          <p14:sldIdLst>
            <p14:sldId id="256"/>
            <p14:sldId id="257"/>
            <p14:sldId id="258"/>
          </p14:sldIdLst>
        </p14:section>
        <p14:section name="Research 1 (Main)" id="{0F79CB11-F936-C6F6-6E53-C9A177FFCFB3}">
          <p14:sldIdLst>
            <p14:sldId id="260"/>
            <p14:sldId id="267"/>
            <p14:sldId id="261"/>
          </p14:sldIdLst>
        </p14:section>
        <p14:section name="Research 2 (Complementary)" id="{BEE1C086-9ED5-915E-D5BD-899AF5ECFB71}">
          <p14:sldIdLst>
            <p14:sldId id="265"/>
            <p14:sldId id="266"/>
          </p14:sldIdLst>
        </p14:section>
        <p14:section name="Closing" id="{46DF172D-13D0-7366-97A9-DF2EA8C8182B}">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SA"/>
          </a:p>
        </p:txBody>
      </p:sp>
      <p:sp>
        <p:nvSpPr>
          <p:cNvPr id="3" name="Date Placeholder 2"/>
          <p:cNvSpPr>
            <a:spLocks noGrp="1"/>
          </p:cNvSpPr>
          <p:nvPr>
            <p:ph type="dt" idx="1"/>
          </p:nvPr>
        </p:nvSpPr>
        <p:spPr>
          <a:xfrm>
            <a:off x="3884613" y="0"/>
            <a:ext cx="2971800" cy="611188"/>
          </a:xfrm>
          <a:prstGeom prst="rect">
            <a:avLst/>
          </a:prstGeom>
        </p:spPr>
        <p:txBody>
          <a:bodyPr vert="horz" lIns="91440" tIns="45720" rIns="91440" bIns="45720" rtlCol="0"/>
          <a:lstStyle>
            <a:lvl1pPr algn="r">
              <a:defRPr sz="1200"/>
            </a:lvl1pPr>
          </a:lstStyle>
          <a:p>
            <a:fld id="{17B1FCFD-B869-A44D-BD5E-F9D8CFCD140A}" type="datetimeFigureOut">
              <a:rPr lang="en-SA" smtClean="0"/>
              <a:t>11/10/2026 R</a:t>
            </a:fld>
            <a:endParaRPr lang="en-SA"/>
          </a:p>
        </p:txBody>
      </p:sp>
      <p:sp>
        <p:nvSpPr>
          <p:cNvPr id="4" name="Slide Image Placeholder 3"/>
          <p:cNvSpPr>
            <a:spLocks noGrp="1" noRot="1" noChangeAspect="1"/>
          </p:cNvSpPr>
          <p:nvPr>
            <p:ph type="sldImg" idx="2"/>
          </p:nvPr>
        </p:nvSpPr>
        <p:spPr>
          <a:xfrm>
            <a:off x="-228600" y="1524000"/>
            <a:ext cx="7315200" cy="4114800"/>
          </a:xfrm>
          <a:prstGeom prst="rect">
            <a:avLst/>
          </a:prstGeom>
          <a:noFill/>
          <a:ln w="12700">
            <a:solidFill>
              <a:prstClr val="black"/>
            </a:solidFill>
          </a:ln>
        </p:spPr>
        <p:txBody>
          <a:bodyPr vert="horz" lIns="91440" tIns="45720" rIns="91440" bIns="45720" rtlCol="0" anchor="ctr"/>
          <a:lstStyle/>
          <a:p>
            <a:endParaRPr lang="en-SA"/>
          </a:p>
        </p:txBody>
      </p:sp>
      <p:sp>
        <p:nvSpPr>
          <p:cNvPr id="5" name="Notes Placeholder 4"/>
          <p:cNvSpPr>
            <a:spLocks noGrp="1"/>
          </p:cNvSpPr>
          <p:nvPr>
            <p:ph type="body" sz="quarter" idx="3"/>
          </p:nvPr>
        </p:nvSpPr>
        <p:spPr>
          <a:xfrm>
            <a:off x="685800" y="5867400"/>
            <a:ext cx="5486400" cy="48006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A"/>
          </a:p>
        </p:txBody>
      </p:sp>
      <p:sp>
        <p:nvSpPr>
          <p:cNvPr id="6" name="Footer Placeholder 5"/>
          <p:cNvSpPr>
            <a:spLocks noGrp="1"/>
          </p:cNvSpPr>
          <p:nvPr>
            <p:ph type="ftr" sz="quarter" idx="4"/>
          </p:nvPr>
        </p:nvSpPr>
        <p:spPr>
          <a:xfrm>
            <a:off x="0" y="11580813"/>
            <a:ext cx="2971800" cy="611187"/>
          </a:xfrm>
          <a:prstGeom prst="rect">
            <a:avLst/>
          </a:prstGeom>
        </p:spPr>
        <p:txBody>
          <a:bodyPr vert="horz" lIns="91440" tIns="45720" rIns="91440" bIns="45720" rtlCol="0" anchor="b"/>
          <a:lstStyle>
            <a:lvl1pPr algn="l">
              <a:defRPr sz="1200"/>
            </a:lvl1pPr>
          </a:lstStyle>
          <a:p>
            <a:endParaRPr lang="en-SA"/>
          </a:p>
        </p:txBody>
      </p:sp>
      <p:sp>
        <p:nvSpPr>
          <p:cNvPr id="7" name="Slide Number Placeholder 6"/>
          <p:cNvSpPr>
            <a:spLocks noGrp="1"/>
          </p:cNvSpPr>
          <p:nvPr>
            <p:ph type="sldNum" sz="quarter" idx="5"/>
          </p:nvPr>
        </p:nvSpPr>
        <p:spPr>
          <a:xfrm>
            <a:off x="3884613" y="11580813"/>
            <a:ext cx="2971800" cy="611187"/>
          </a:xfrm>
          <a:prstGeom prst="rect">
            <a:avLst/>
          </a:prstGeom>
        </p:spPr>
        <p:txBody>
          <a:bodyPr vert="horz" lIns="91440" tIns="45720" rIns="91440" bIns="45720" rtlCol="0" anchor="b"/>
          <a:lstStyle>
            <a:lvl1pPr algn="r">
              <a:defRPr sz="1200"/>
            </a:lvl1pPr>
          </a:lstStyle>
          <a:p>
            <a:fld id="{F0C32F1F-0ECB-D040-92D6-BA57159F8670}" type="slidenum">
              <a:rPr lang="en-SA" smtClean="0"/>
              <a:t>‹#›</a:t>
            </a:fld>
            <a:endParaRPr lang="en-SA"/>
          </a:p>
        </p:txBody>
      </p:sp>
    </p:spTree>
    <p:extLst>
      <p:ext uri="{BB962C8B-B14F-4D97-AF65-F5344CB8AC3E}">
        <p14:creationId xmlns:p14="http://schemas.microsoft.com/office/powerpoint/2010/main" val="5433056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Good morning/afternoon. I am Raghad AlSawilam from the Advanced Materials Technologies Institute at KACST, supervised by Dr. Lana Alghamdi. Today I will present our study on bimetal-engineered metal–organic frameworks for capturing CO₂ directly from air, with moisture-responsive regeneration.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(about 1.5-2 min). Research background, problem and objective.</a:t>
            </a:r>
          </a:p>
          <a:p>
            <a:r>
              <a:t>Introduce yourself and the team (KACST, Advanced Materials Technologies Institute). Metal-organic frameworks are porous crystalline solids built from metal nodes joined by organic linkers; their tunable pores and chemistry make them candidate materials for CO2 capture. Direct air capture is demanding because CO2 is dilute in ambient air, and ambient air always carries water vapor. Water vapor may interact with a porous material and with CO2 adsorption - the direction of that effect is not assumed, which is why it is the central variable of this work. State the question slowly: how does humidity influence CO2 adsorption and regeneration behavior in a bimetal-engineered MOF? Transition: to answer it we first need the material, so next I show how it was prepared.</a:t>
            </a:r>
          </a:p>
          <a:p>
            <a:r>
              <a:t>(The three diagrams are schematic and not to scale; no numerical claims are made.)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(about 2 min). Material synthesis and experimental progress.</a:t>
            </a:r>
          </a:p>
          <a:p>
            <a:r>
              <a:t>The ten panels follow the synthesis in process order: weighing, preparation, mixing, heating, the reaction vessel after heating, washing, separation, drying, the dried powder, and the labelled vials after activation. Panels 5, 9 and 10 are photographs of my own laboratory samples; the other seven are schematic illustrations of the steps. Twelve mixed-metal MOF samples were prepared by solvothermal synthesis: six metal compositions (A-F) at two metal-to-linker ratios (1:1 and 2:1); codes such as B2-1 combine composition and ratio. White crystalline solids formed in all twelve samples. A2-1 and B2-1 are highlighted because they stood out in the characterization on the next slide. Composition and synthesis details are not disclosed in this presentation. Progress: material preparation and structural/chemical characterization (XRD, FTIR) are completed; CO2 adsorption, humidity-controlled experiments, regeneration and performance analysis are planned and have not yet been reported. Transition: now the characterization data for these samples.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3 (about 2 min). Experimental characterization: XRD and FTIR.</a:t>
            </a:r>
          </a:p>
          <a:p>
            <a:r>
              <a:t>Both figures are my original, unmodified experimental figures for all twelve samples; nothing was redrawn. The orange outline marks the B2-1 panel in each figure; for XRD, the peak positions quoted on the slide are those labelled on the B2-1 panel. XRD probes crystalline structure and phase: defined diffraction peaks near 9.36, 12.10 and 17.56 degrees, with additional reflections near 24.34 and 26.08 degrees, support the formation of a crystalline material. Specific phase assignment still needs supporting evidence, for example comparison with reference patterns, so I do not claim a phase here. FTIR probes functional groups: strong bands around 1600 and 1400 cm-1 are associated with carboxylate groups and support coordination between carboxylate groups and metal centers. These data characterize the material only; they do not show CO2 adsorption capacity, humidity response or regeneration. The qualitative labels printed in the FTIR figure are not performance data. Transition: with the material characterized, the next step is the capture, humidity and regeneration investigation, shown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4 (about 2 min). CO2 adsorption, humidity and regeneration - the conceptual framework.</a:t>
            </a:r>
          </a:p>
          <a:p>
            <a:r>
              <a:t>This is a process diagram of the investigation, not a result. Step 1, CO2 capture: adsorption of CO2 by the bimetal MOF. Step 2, humidity-controlled investigation: the same material and procedure are examined under dry and humid conditions, so that any difference can be attributed to water vapor; the humidity levels and temperatures are still to be defined and no values are given here. Step 3, regeneration: assessing CO2 release and recovery of the material. Step 4, potential reuse: repeating the cycle to test whether the material can be reused. Why humidity: real air contains water vapor, which may change how the MOF interacts with CO2; it could help, hinder or have no effect, so it must be measured. Why regeneration: a capture material is only practical if the CO2 can be released and the material recovered. Status: only synthesis and XRD/FTIR characterization are completed. CO2 adsorption, humidity response and regeneration have not yet been experimentally demonstrated, so every process step is labelled Planned. Transition: the final slide separates what we know now from what comes next and what we hope to learn.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5 (about 2 min). Current findings, future work and expected outcomes.</a:t>
            </a:r>
          </a:p>
          <a:p>
            <a:r>
              <a:t>Three separate blocks. A, current findings: only what the data support. XRD shows defined peaks near 9.36, 12.10 and 17.56 degrees plus reflections near 24.34 and 26.08 degrees, supporting a crystalline material; FTIR shows strong bands near 1600 and 1400 cm-1, supporting carboxylate-metal coordination; twelve samples were synthesized and white crystalline solids formed in all of them. We have not yet shown CO2 capacity, humidity response or regeneration. B, future work: further characterization if needed (for example to support phase assignment), CO2 adsorption evaluation, controlled dry-versus-humid experiments, regeneration and CO2-release evaluation, and repeated-cycle testing for reuse. C, expected outcomes: these are aims, not results - we aim to understand how metal composition and ratio, and humidity, may influence CO2 adsorption and regeneration, and whether the material can be reused. Close with the broader goal: advancing MOF-based approaches for CO2 capture under environmentally relevant conditions. Thank the audience and invite questions.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To close: our study combines bimetal engineering with the evaluation of humidity and regeneration, as one route to advancing MOF-based direct air capture of CO₂. Thank you — I welcome your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WPC_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25th WPC Energy Congress logo"/>
          <p:cNvPicPr>
            <a:picLocks noChangeAspect="1"/>
          </p:cNvPicPr>
          <p:nvPr/>
        </p:nvPicPr>
        <p:blipFill>
          <a:blip r:embed="rId3"/>
          <a:stretch>
            <a:fillRect/>
          </a:stretch>
        </p:blipFill>
        <p:spPr>
          <a:xfrm>
            <a:off x="512064" y="493776"/>
            <a:ext cx="3273552" cy="1380744"/>
          </a:xfrm>
          <a:prstGeom prst="rect">
            <a:avLst/>
          </a:prstGeom>
        </p:spPr>
      </p:pic>
      <p:pic>
        <p:nvPicPr>
          <p:cNvPr id="3" name="Image 1" descr="WPC Energy and Ministry of Energy logos"/>
          <p:cNvPicPr>
            <a:picLocks noChangeAspect="1"/>
          </p:cNvPicPr>
          <p:nvPr/>
        </p:nvPicPr>
        <p:blipFill>
          <a:blip r:embed="rId4"/>
          <a:stretch>
            <a:fillRect/>
          </a:stretch>
        </p:blipFill>
        <p:spPr>
          <a:xfrm>
            <a:off x="8421624" y="594360"/>
            <a:ext cx="3383280" cy="676656"/>
          </a:xfrm>
          <a:prstGeom prst="rect">
            <a:avLst/>
          </a:prstGeom>
        </p:spPr>
      </p:pic>
      <p:sp>
        <p:nvSpPr>
          <p:cNvPr id="4" name="Text 0"/>
          <p:cNvSpPr/>
          <p:nvPr/>
        </p:nvSpPr>
        <p:spPr>
          <a:xfrm>
            <a:off x="393192" y="6382512"/>
            <a:ext cx="2743200" cy="274320"/>
          </a:xfrm>
          <a:prstGeom prst="rect">
            <a:avLst/>
          </a:prstGeom>
          <a:noFill/>
          <a:ln/>
        </p:spPr>
        <p:txBody>
          <a:bodyPr wrap="square" lIns="0" tIns="0" rIns="0" bIns="0" rtlCol="0" anchor="ctr"/>
          <a:lstStyle/>
          <a:p>
            <a:pPr marL="0" indent="0">
              <a:buNone/>
            </a:pPr>
            <a:r>
              <a:rPr lang="en-US" sz="1200" b="1" dirty="0">
                <a:solidFill>
                  <a:schemeClr val="bg1"/>
                </a:solidFill>
                <a:latin typeface="Arial" pitchFamily="34" charset="0"/>
                <a:ea typeface="Arial" pitchFamily="34" charset="-122"/>
                <a:cs typeface="Arial" pitchFamily="34" charset="-120"/>
              </a:rPr>
              <a:t>Poster Presenter</a:t>
            </a:r>
            <a:endParaRPr lang="en-US" sz="1200" dirty="0"/>
          </a:p>
        </p:txBody>
      </p:sp>
      <p:sp>
        <p:nvSpPr>
          <p:cNvPr id="5" name="Text 1"/>
          <p:cNvSpPr>
            <a:spLocks noGrp="1"/>
          </p:cNvSpPr>
          <p:nvPr>
            <p:ph type="title" idx="103" hasCustomPrompt="1"/>
          </p:nvPr>
        </p:nvSpPr>
        <p:spPr>
          <a:xfrm>
            <a:off x="621792" y="1993392"/>
            <a:ext cx="6766560" cy="1481328"/>
          </a:xfrm>
          <a:prstGeom prst="rect">
            <a:avLst/>
          </a:prstGeom>
          <a:noFill/>
          <a:ln/>
        </p:spPr>
        <p:txBody>
          <a:bodyPr wrap="square" rtlCol="0"/>
          <a:lstStyle>
            <a:lvl1pPr marL="0" indent="0" algn="l">
              <a:buNone/>
              <a:defRPr lang="en-US" sz="3000" b="1" dirty="0">
                <a:solidFill>
                  <a:schemeClr val="bg1"/>
                </a:solidFill>
                <a:latin typeface="Arial" pitchFamily="34" charset="0"/>
                <a:ea typeface="Arial" pitchFamily="34" charset="-122"/>
                <a:cs typeface="Arial" pitchFamily="34" charset="-120"/>
              </a:defRPr>
            </a:lvl1pPr>
          </a:lstStyle>
          <a:p>
            <a:pPr marL="0" indent="0" algn="l">
              <a:buNone/>
            </a:pPr>
            <a:endParaRPr lang="en-US" sz="3000" dirty="0"/>
          </a:p>
        </p:txBody>
      </p:sp>
      <p:sp>
        <p:nvSpPr>
          <p:cNvPr id="6" name="Text 1"/>
          <p:cNvSpPr>
            <a:spLocks noGrp="1"/>
          </p:cNvSpPr>
          <p:nvPr>
            <p:ph type="body" idx="104" hasCustomPrompt="1"/>
          </p:nvPr>
        </p:nvSpPr>
        <p:spPr>
          <a:xfrm>
            <a:off x="621792" y="3547872"/>
            <a:ext cx="6766560" cy="310896"/>
          </a:xfrm>
          <a:prstGeom prst="rect">
            <a:avLst/>
          </a:prstGeom>
          <a:noFill/>
          <a:ln/>
        </p:spPr>
        <p:txBody>
          <a:bodyPr wrap="square" rtlCol="0"/>
          <a:lstStyle>
            <a:lvl1pPr marL="0" indent="0" algn="l">
              <a:buNone/>
              <a:defRPr lang="en-US" sz="1600" dirty="0">
                <a:solidFill>
                  <a:srgbClr val="D9D4FF"/>
                </a:solidFill>
                <a:latin typeface="Arial" pitchFamily="34" charset="0"/>
                <a:ea typeface="Arial" pitchFamily="34" charset="-122"/>
                <a:cs typeface="Arial" pitchFamily="34" charset="-120"/>
              </a:defRPr>
            </a:lvl1pPr>
          </a:lstStyle>
          <a:p>
            <a:pPr marL="0" indent="0" algn="l">
              <a:buNone/>
            </a:pPr>
            <a:endParaRPr lang="en-US" sz="1600" dirty="0"/>
          </a:p>
        </p:txBody>
      </p:sp>
      <p:sp>
        <p:nvSpPr>
          <p:cNvPr id="7" name="Text 1"/>
          <p:cNvSpPr>
            <a:spLocks noGrp="1"/>
          </p:cNvSpPr>
          <p:nvPr>
            <p:ph type="body" idx="105" hasCustomPrompt="1"/>
          </p:nvPr>
        </p:nvSpPr>
        <p:spPr>
          <a:xfrm>
            <a:off x="621792" y="4005072"/>
            <a:ext cx="6766560" cy="384048"/>
          </a:xfrm>
          <a:prstGeom prst="rect">
            <a:avLst/>
          </a:prstGeom>
          <a:noFill/>
          <a:ln/>
        </p:spPr>
        <p:txBody>
          <a:bodyPr wrap="square" rtlCol="0"/>
          <a:lstStyle>
            <a:lvl1pPr marL="0" indent="0" algn="l">
              <a:buNone/>
              <a:defRPr lang="en-US" sz="2400" b="1" dirty="0">
                <a:solidFill>
                  <a:schemeClr val="accent1"/>
                </a:solidFill>
                <a:latin typeface="Arial" pitchFamily="34" charset="0"/>
                <a:ea typeface="Arial" pitchFamily="34" charset="-122"/>
                <a:cs typeface="Arial" pitchFamily="34" charset="-120"/>
              </a:defRPr>
            </a:lvl1pPr>
          </a:lstStyle>
          <a:p>
            <a:pPr marL="0" indent="0" algn="l">
              <a:buNone/>
            </a:pPr>
            <a:endParaRPr lang="en-US" sz="2400" dirty="0"/>
          </a:p>
        </p:txBody>
      </p:sp>
      <p:sp>
        <p:nvSpPr>
          <p:cNvPr id="8" name="Text 1"/>
          <p:cNvSpPr>
            <a:spLocks noGrp="1"/>
          </p:cNvSpPr>
          <p:nvPr>
            <p:ph type="body" idx="106" hasCustomPrompt="1"/>
          </p:nvPr>
        </p:nvSpPr>
        <p:spPr>
          <a:xfrm>
            <a:off x="621792" y="4425696"/>
            <a:ext cx="6766560" cy="274320"/>
          </a:xfrm>
          <a:prstGeom prst="rect">
            <a:avLst/>
          </a:prstGeom>
          <a:noFill/>
          <a:ln/>
        </p:spPr>
        <p:txBody>
          <a:bodyPr wrap="square" rtlCol="0"/>
          <a:lstStyle>
            <a:lvl1pPr marL="0" indent="0" algn="l">
              <a:buNone/>
              <a:defRPr lang="en-US" sz="1600" dirty="0">
                <a:solidFill>
                  <a:schemeClr val="bg1"/>
                </a:solidFill>
                <a:latin typeface="Arial" pitchFamily="34" charset="0"/>
                <a:ea typeface="Arial" pitchFamily="34" charset="-122"/>
                <a:cs typeface="Arial" pitchFamily="34" charset="-120"/>
              </a:defRPr>
            </a:lvl1pPr>
          </a:lstStyle>
          <a:p>
            <a:pPr marL="0" indent="0" algn="l">
              <a:buNone/>
            </a:pPr>
            <a:endParaRPr lang="en-US" sz="1600" dirty="0"/>
          </a:p>
        </p:txBody>
      </p:sp>
      <p:sp>
        <p:nvSpPr>
          <p:cNvPr id="9" name="Text 1"/>
          <p:cNvSpPr>
            <a:spLocks noGrp="1"/>
          </p:cNvSpPr>
          <p:nvPr>
            <p:ph type="body" idx="107" hasCustomPrompt="1"/>
          </p:nvPr>
        </p:nvSpPr>
        <p:spPr>
          <a:xfrm>
            <a:off x="621792" y="4718304"/>
            <a:ext cx="6766560" cy="274320"/>
          </a:xfrm>
          <a:prstGeom prst="rect">
            <a:avLst/>
          </a:prstGeom>
          <a:noFill/>
          <a:ln/>
        </p:spPr>
        <p:txBody>
          <a:bodyPr wrap="square" rtlCol="0"/>
          <a:lstStyle>
            <a:lvl1pPr marL="0" indent="0" algn="l">
              <a:buNone/>
              <a:defRPr lang="en-US" sz="1600" dirty="0">
                <a:solidFill>
                  <a:schemeClr val="bg1"/>
                </a:solidFill>
                <a:latin typeface="Arial" pitchFamily="34" charset="0"/>
                <a:ea typeface="Arial" pitchFamily="34" charset="-122"/>
                <a:cs typeface="Arial" pitchFamily="34" charset="-120"/>
              </a:defRPr>
            </a:lvl1pPr>
          </a:lstStyle>
          <a:p>
            <a:pPr marL="0" indent="0" algn="l">
              <a:buNone/>
            </a:pPr>
            <a:endParaRPr lang="en-US" sz="1600" dirty="0"/>
          </a:p>
        </p:txBody>
      </p:sp>
      <p:sp>
        <p:nvSpPr>
          <p:cNvPr id="10" name="Text 1"/>
          <p:cNvSpPr>
            <a:spLocks noGrp="1"/>
          </p:cNvSpPr>
          <p:nvPr>
            <p:ph type="body" idx="108" hasCustomPrompt="1"/>
          </p:nvPr>
        </p:nvSpPr>
        <p:spPr>
          <a:xfrm>
            <a:off x="621792" y="5102352"/>
            <a:ext cx="6766560" cy="493776"/>
          </a:xfrm>
          <a:prstGeom prst="rect">
            <a:avLst/>
          </a:prstGeom>
          <a:noFill/>
          <a:ln/>
        </p:spPr>
        <p:txBody>
          <a:bodyPr wrap="square" rtlCol="0"/>
          <a:lstStyle>
            <a:lvl1pPr marL="0" indent="0" algn="l">
              <a:buNone/>
              <a:defRPr lang="en-US" sz="1400" b="1" dirty="0">
                <a:solidFill>
                  <a:schemeClr val="bg1"/>
                </a:solidFill>
                <a:latin typeface="Arial" pitchFamily="34" charset="0"/>
                <a:ea typeface="Arial" pitchFamily="34" charset="-122"/>
                <a:cs typeface="Arial" pitchFamily="34" charset="-120"/>
              </a:defRPr>
            </a:lvl1pPr>
          </a:lstStyle>
          <a:p>
            <a:pPr marL="0" indent="0" algn="l">
              <a:buNone/>
            </a:pPr>
            <a:endParaRPr lang="en-US" sz="1400" dirty="0"/>
          </a:p>
        </p:txBody>
      </p:sp>
      <p:sp>
        <p:nvSpPr>
          <p:cNvPr id="11" name="Text 1"/>
          <p:cNvSpPr>
            <a:spLocks noGrp="1"/>
          </p:cNvSpPr>
          <p:nvPr>
            <p:ph type="body" idx="109" hasCustomPrompt="1"/>
          </p:nvPr>
        </p:nvSpPr>
        <p:spPr>
          <a:xfrm>
            <a:off x="621792" y="5687568"/>
            <a:ext cx="6766560" cy="274320"/>
          </a:xfrm>
          <a:prstGeom prst="rect">
            <a:avLst/>
          </a:prstGeom>
          <a:noFill/>
          <a:ln/>
        </p:spPr>
        <p:txBody>
          <a:bodyPr wrap="square" rtlCol="0"/>
          <a:lstStyle>
            <a:lvl1pPr marL="0" indent="0" algn="l">
              <a:buNone/>
              <a:defRPr lang="en-US" sz="1400" b="1" dirty="0">
                <a:solidFill>
                  <a:srgbClr val="FFB98F"/>
                </a:solidFill>
                <a:latin typeface="Arial" pitchFamily="34" charset="0"/>
                <a:ea typeface="Arial" pitchFamily="34" charset="-122"/>
                <a:cs typeface="Arial" pitchFamily="34" charset="-120"/>
              </a:defRPr>
            </a:lvl1pPr>
          </a:lstStyle>
          <a:p>
            <a:pPr marL="0" indent="0" algn="l">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PC_CONTENT">
    <p:bg>
      <p:bgPr>
        <a:solidFill>
          <a:schemeClr val="bg1"/>
        </a:solidFill>
        <a:effectLst/>
      </p:bgPr>
    </p:bg>
    <p:spTree>
      <p:nvGrpSpPr>
        <p:cNvPr id="1" name=""/>
        <p:cNvGrpSpPr/>
        <p:nvPr/>
      </p:nvGrpSpPr>
      <p:grpSpPr>
        <a:xfrm>
          <a:off x="0" y="0"/>
          <a:ext cx="0" cy="0"/>
          <a:chOff x="0" y="0"/>
          <a:chExt cx="0" cy="0"/>
        </a:xfrm>
      </p:grpSpPr>
      <p:pic>
        <p:nvPicPr>
          <p:cNvPr id="2" name="Image 0" descr="WPC Block 4 header and footer artwork"/>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448056" y="768096"/>
            <a:ext cx="5486400" cy="365760"/>
          </a:xfrm>
          <a:prstGeom prst="rect">
            <a:avLst/>
          </a:prstGeom>
          <a:noFill/>
          <a:ln/>
        </p:spPr>
        <p:txBody>
          <a:bodyPr wrap="square" lIns="0" tIns="0" rIns="0" bIns="0" rtlCol="0" anchor="ctr"/>
          <a:lstStyle/>
          <a:p>
            <a:pPr marL="0" indent="0">
              <a:buNone/>
            </a:pPr>
            <a:r>
              <a:rPr lang="en-US" sz="2400" b="1" dirty="0">
                <a:solidFill>
                  <a:schemeClr val="bg1"/>
                </a:solidFill>
                <a:latin typeface="Calibri" pitchFamily="34" charset="0"/>
                <a:ea typeface="Calibri" pitchFamily="34" charset="-122"/>
                <a:cs typeface="Calibri" pitchFamily="34" charset="-120"/>
              </a:rPr>
              <a:t>Energy Technologies</a:t>
            </a:r>
            <a:endParaRPr lang="en-US" sz="2400" dirty="0"/>
          </a:p>
        </p:txBody>
      </p:sp>
      <p:sp>
        <p:nvSpPr>
          <p:cNvPr id="4" name="Text 1"/>
          <p:cNvSpPr/>
          <p:nvPr/>
        </p:nvSpPr>
        <p:spPr>
          <a:xfrm>
            <a:off x="448056" y="1133856"/>
            <a:ext cx="5486400" cy="365760"/>
          </a:xfrm>
          <a:prstGeom prst="rect">
            <a:avLst/>
          </a:prstGeom>
          <a:noFill/>
          <a:ln/>
        </p:spPr>
        <p:txBody>
          <a:bodyPr wrap="square" lIns="0" tIns="0" rIns="0" bIns="0" rtlCol="0" anchor="ctr"/>
          <a:lstStyle/>
          <a:p>
            <a:pPr marL="0" indent="0">
              <a:buNone/>
            </a:pPr>
            <a:r>
              <a:rPr lang="en-US" sz="2400" b="1" dirty="0">
                <a:solidFill>
                  <a:schemeClr val="bg1"/>
                </a:solidFill>
                <a:latin typeface="Calibri" pitchFamily="34" charset="0"/>
                <a:ea typeface="Calibri" pitchFamily="34" charset="-122"/>
                <a:cs typeface="Calibri" pitchFamily="34" charset="-120"/>
              </a:rPr>
              <a:t>-Future Pathways</a:t>
            </a:r>
            <a:endParaRPr lang="en-US" sz="2400" dirty="0"/>
          </a:p>
        </p:txBody>
      </p:sp>
      <p:sp>
        <p:nvSpPr>
          <p:cNvPr id="5" name="Text 2"/>
          <p:cNvSpPr/>
          <p:nvPr/>
        </p:nvSpPr>
        <p:spPr>
          <a:xfrm>
            <a:off x="393192" y="6382512"/>
            <a:ext cx="2743200" cy="274320"/>
          </a:xfrm>
          <a:prstGeom prst="rect">
            <a:avLst/>
          </a:prstGeom>
          <a:noFill/>
          <a:ln/>
        </p:spPr>
        <p:txBody>
          <a:bodyPr wrap="square" lIns="0" tIns="0" rIns="0" bIns="0" rtlCol="0" anchor="ctr"/>
          <a:lstStyle/>
          <a:p>
            <a:pPr marL="0" indent="0">
              <a:buNone/>
            </a:pPr>
            <a:r>
              <a:rPr lang="en-US" sz="1200" b="1" dirty="0">
                <a:solidFill>
                  <a:schemeClr val="tx1"/>
                </a:solidFill>
                <a:latin typeface="Arial" pitchFamily="34" charset="0"/>
                <a:ea typeface="Arial" pitchFamily="34" charset="-122"/>
                <a:cs typeface="Arial" pitchFamily="34" charset="-120"/>
              </a:rPr>
              <a:t>Raghad AlSawilam | KACST</a:t>
            </a:r>
            <a:endParaRPr lang="en-US" sz="1200" dirty="0"/>
          </a:p>
        </p:txBody>
      </p:sp>
      <p:sp>
        <p:nvSpPr>
          <p:cNvPr id="6" name="Text 3"/>
          <p:cNvSpPr>
            <a:spLocks noGrp="1"/>
          </p:cNvSpPr>
          <p:nvPr>
            <p:ph type="title" idx="104" hasCustomPrompt="1"/>
          </p:nvPr>
        </p:nvSpPr>
        <p:spPr>
          <a:xfrm>
            <a:off x="448056" y="1828800"/>
            <a:ext cx="11292840" cy="457200"/>
          </a:xfrm>
          <a:prstGeom prst="rect">
            <a:avLst/>
          </a:prstGeom>
          <a:noFill/>
          <a:ln/>
        </p:spPr>
        <p:txBody>
          <a:bodyPr wrap="square" rtlCol="0"/>
          <a:lstStyle>
            <a:lvl1pPr marL="0" indent="0" algn="l">
              <a:buNone/>
              <a:defRPr lang="en-US" sz="2400" b="1" dirty="0">
                <a:solidFill>
                  <a:schemeClr val="accent1"/>
                </a:solidFill>
                <a:latin typeface="Arial" pitchFamily="34" charset="0"/>
                <a:ea typeface="Arial" pitchFamily="34" charset="-122"/>
                <a:cs typeface="Arial" pitchFamily="34" charset="-120"/>
              </a:defRPr>
            </a:lvl1pPr>
          </a:lstStyle>
          <a:p>
            <a:pPr marL="0" indent="0" algn="l">
              <a:buNone/>
            </a:pPr>
            <a:endParaRPr lang="en-US" sz="2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WPC_THANKYOU">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25th WPC Energy Congress logo"/>
          <p:cNvPicPr>
            <a:picLocks noChangeAspect="1"/>
          </p:cNvPicPr>
          <p:nvPr/>
        </p:nvPicPr>
        <p:blipFill>
          <a:blip r:embed="rId3"/>
          <a:stretch>
            <a:fillRect/>
          </a:stretch>
        </p:blipFill>
        <p:spPr>
          <a:xfrm>
            <a:off x="512064" y="493776"/>
            <a:ext cx="3273552" cy="1380744"/>
          </a:xfrm>
          <a:prstGeom prst="rect">
            <a:avLst/>
          </a:prstGeom>
        </p:spPr>
      </p:pic>
      <p:pic>
        <p:nvPicPr>
          <p:cNvPr id="3" name="Image 1" descr="WPC Energy and Ministry of Energy logos"/>
          <p:cNvPicPr>
            <a:picLocks noChangeAspect="1"/>
          </p:cNvPicPr>
          <p:nvPr/>
        </p:nvPicPr>
        <p:blipFill>
          <a:blip r:embed="rId4"/>
          <a:stretch>
            <a:fillRect/>
          </a:stretch>
        </p:blipFill>
        <p:spPr>
          <a:xfrm>
            <a:off x="8421624" y="594360"/>
            <a:ext cx="3383280" cy="676656"/>
          </a:xfrm>
          <a:prstGeom prst="rect">
            <a:avLst/>
          </a:prstGeom>
        </p:spPr>
      </p:pic>
      <p:sp>
        <p:nvSpPr>
          <p:cNvPr id="4" name="Text 0"/>
          <p:cNvSpPr>
            <a:spLocks noGrp="1"/>
          </p:cNvSpPr>
          <p:nvPr>
            <p:ph type="title" idx="102" hasCustomPrompt="1"/>
          </p:nvPr>
        </p:nvSpPr>
        <p:spPr>
          <a:xfrm>
            <a:off x="612648" y="3163824"/>
            <a:ext cx="6035040" cy="566928"/>
          </a:xfrm>
          <a:prstGeom prst="rect">
            <a:avLst/>
          </a:prstGeom>
          <a:noFill/>
          <a:ln/>
        </p:spPr>
        <p:txBody>
          <a:bodyPr wrap="square" rtlCol="0"/>
          <a:lstStyle>
            <a:lvl1pPr marL="0" indent="0" algn="l">
              <a:buNone/>
              <a:defRPr lang="en-US" sz="3200" b="1" dirty="0">
                <a:solidFill>
                  <a:schemeClr val="bg1"/>
                </a:solidFill>
                <a:latin typeface="Arial" pitchFamily="34" charset="0"/>
                <a:ea typeface="Arial" pitchFamily="34" charset="-122"/>
                <a:cs typeface="Arial" pitchFamily="34" charset="-120"/>
              </a:defRPr>
            </a:lvl1pPr>
          </a:lstStyle>
          <a:p>
            <a:pPr marL="0" indent="0" algn="l">
              <a:buNone/>
            </a:pPr>
            <a:endParaRPr lang="en-US" sz="3200" dirty="0"/>
          </a:p>
        </p:txBody>
      </p:sp>
      <p:sp>
        <p:nvSpPr>
          <p:cNvPr id="5" name="Text 0"/>
          <p:cNvSpPr>
            <a:spLocks noGrp="1"/>
          </p:cNvSpPr>
          <p:nvPr>
            <p:ph type="body" idx="103" hasCustomPrompt="1"/>
          </p:nvPr>
        </p:nvSpPr>
        <p:spPr>
          <a:xfrm>
            <a:off x="612648" y="3803904"/>
            <a:ext cx="6035040" cy="329184"/>
          </a:xfrm>
          <a:prstGeom prst="rect">
            <a:avLst/>
          </a:prstGeom>
          <a:noFill/>
          <a:ln/>
        </p:spPr>
        <p:txBody>
          <a:bodyPr wrap="square" rtlCol="0"/>
          <a:lstStyle>
            <a:lvl1pPr marL="0" indent="0" algn="l">
              <a:buNone/>
              <a:defRPr lang="en-US" sz="2000" dirty="0">
                <a:solidFill>
                  <a:srgbClr val="D9D4FF"/>
                </a:solidFill>
                <a:latin typeface="Arial" pitchFamily="34" charset="0"/>
                <a:ea typeface="Arial" pitchFamily="34" charset="-122"/>
                <a:cs typeface="Arial" pitchFamily="34" charset="-120"/>
              </a:defRPr>
            </a:lvl1pPr>
          </a:lstStyle>
          <a:p>
            <a:pPr marL="0" indent="0" algn="l">
              <a:buNone/>
            </a:pPr>
            <a:endParaRPr lang="en-US" sz="2000" dirty="0"/>
          </a:p>
        </p:txBody>
      </p:sp>
      <p:sp>
        <p:nvSpPr>
          <p:cNvPr id="6" name="Text 0"/>
          <p:cNvSpPr>
            <a:spLocks noGrp="1"/>
          </p:cNvSpPr>
          <p:nvPr>
            <p:ph type="body" idx="104" hasCustomPrompt="1"/>
          </p:nvPr>
        </p:nvSpPr>
        <p:spPr>
          <a:xfrm>
            <a:off x="612648" y="4443984"/>
            <a:ext cx="6035040" cy="329184"/>
          </a:xfrm>
          <a:prstGeom prst="rect">
            <a:avLst/>
          </a:prstGeom>
          <a:noFill/>
          <a:ln/>
        </p:spPr>
        <p:txBody>
          <a:bodyPr wrap="square" rtlCol="0"/>
          <a:lstStyle>
            <a:lvl1pPr marL="0" indent="0" algn="l">
              <a:buNone/>
              <a:defRPr lang="en-US" sz="2000" b="1" dirty="0">
                <a:solidFill>
                  <a:schemeClr val="accent1"/>
                </a:solidFill>
                <a:latin typeface="Arial" pitchFamily="34" charset="0"/>
                <a:ea typeface="Arial" pitchFamily="34" charset="-122"/>
                <a:cs typeface="Arial" pitchFamily="34" charset="-120"/>
              </a:defRPr>
            </a:lvl1pPr>
          </a:lstStyle>
          <a:p>
            <a:pPr marL="0" indent="0" algn="l">
              <a:buNone/>
            </a:pPr>
            <a:endParaRPr lang="en-US" sz="2000" dirty="0"/>
          </a:p>
        </p:txBody>
      </p:sp>
      <p:sp>
        <p:nvSpPr>
          <p:cNvPr id="7" name="Text 0"/>
          <p:cNvSpPr>
            <a:spLocks noGrp="1"/>
          </p:cNvSpPr>
          <p:nvPr>
            <p:ph type="body" idx="105" hasCustomPrompt="1"/>
          </p:nvPr>
        </p:nvSpPr>
        <p:spPr>
          <a:xfrm>
            <a:off x="612648" y="4791456"/>
            <a:ext cx="6035040" cy="292608"/>
          </a:xfrm>
          <a:prstGeom prst="rect">
            <a:avLst/>
          </a:prstGeom>
          <a:noFill/>
          <a:ln/>
        </p:spPr>
        <p:txBody>
          <a:bodyPr wrap="square" rtlCol="0"/>
          <a:lstStyle>
            <a:lvl1pPr marL="0" indent="0" algn="l">
              <a:buNone/>
              <a:defRPr lang="en-US" sz="1600" dirty="0">
                <a:solidFill>
                  <a:schemeClr val="bg1"/>
                </a:solidFill>
                <a:latin typeface="Arial" pitchFamily="34" charset="0"/>
                <a:ea typeface="Arial" pitchFamily="34" charset="-122"/>
                <a:cs typeface="Arial" pitchFamily="34" charset="-120"/>
              </a:defRPr>
            </a:lvl1pPr>
          </a:lstStyle>
          <a:p>
            <a:pPr marL="0" indent="0" algn="l">
              <a:buNone/>
            </a:pPr>
            <a:endParaRPr lang="en-US" sz="16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0B53BF-6A52-3A55-4E2D-0173CF4D76A3}"/>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endParaRPr lang="en-AE"/>
          </a:p>
        </p:txBody>
      </p:sp>
      <p:sp>
        <p:nvSpPr>
          <p:cNvPr id="3" name="Subtitle 2">
            <a:extLst>
              <a:ext uri="{FF2B5EF4-FFF2-40B4-BE49-F238E27FC236}">
                <a16:creationId xmlns:a16="http://schemas.microsoft.com/office/drawing/2014/main" id="{490DE4B1-D593-CC3C-F804-C5E68548321C}"/>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E"/>
          </a:p>
        </p:txBody>
      </p:sp>
      <p:sp>
        <p:nvSpPr>
          <p:cNvPr id="4" name="Date Placeholder 3">
            <a:extLst>
              <a:ext uri="{FF2B5EF4-FFF2-40B4-BE49-F238E27FC236}">
                <a16:creationId xmlns:a16="http://schemas.microsoft.com/office/drawing/2014/main" id="{7CE087ED-D878-7E75-58E1-816B23E8037A}"/>
              </a:ext>
            </a:extLst>
          </p:cNvPr>
          <p:cNvSpPr>
            <a:spLocks noGrp="1"/>
          </p:cNvSpPr>
          <p:nvPr>
            <p:ph type="dt" sz="half" idx="10"/>
          </p:nvPr>
        </p:nvSpPr>
        <p:spPr>
          <a:xfrm>
            <a:off x="331304" y="6356350"/>
            <a:ext cx="2743200" cy="365125"/>
          </a:xfrm>
          <a:prstGeom prst="rect">
            <a:avLst/>
          </a:prstGeom>
        </p:spPr>
        <p:txBody>
          <a:bodyPr/>
          <a:lstStyle/>
          <a:p>
            <a:fld id="{D2196A8F-0171-AF4D-9E96-F285C400C663}" type="datetimeFigureOut">
              <a:rPr lang="en-AE" smtClean="0"/>
              <a:t>10/11/26</a:t>
            </a:fld>
            <a:endParaRPr lang="en-AE"/>
          </a:p>
        </p:txBody>
      </p:sp>
      <p:sp>
        <p:nvSpPr>
          <p:cNvPr id="5" name="Footer Placeholder 4">
            <a:extLst>
              <a:ext uri="{FF2B5EF4-FFF2-40B4-BE49-F238E27FC236}">
                <a16:creationId xmlns:a16="http://schemas.microsoft.com/office/drawing/2014/main" id="{F76FF3D5-7242-66B9-CDA4-F58A025BDA7C}"/>
              </a:ext>
            </a:extLst>
          </p:cNvPr>
          <p:cNvSpPr>
            <a:spLocks noGrp="1"/>
          </p:cNvSpPr>
          <p:nvPr>
            <p:ph type="ftr" sz="quarter" idx="11"/>
          </p:nvPr>
        </p:nvSpPr>
        <p:spPr>
          <a:xfrm>
            <a:off x="4038600" y="6356350"/>
            <a:ext cx="4114800" cy="365125"/>
          </a:xfrm>
          <a:prstGeom prst="rect">
            <a:avLst/>
          </a:prstGeom>
        </p:spPr>
        <p:txBody>
          <a:bodyPr/>
          <a:lstStyle/>
          <a:p>
            <a:endParaRPr lang="en-AE"/>
          </a:p>
        </p:txBody>
      </p:sp>
      <p:sp>
        <p:nvSpPr>
          <p:cNvPr id="6" name="Slide Number Placeholder 5">
            <a:extLst>
              <a:ext uri="{FF2B5EF4-FFF2-40B4-BE49-F238E27FC236}">
                <a16:creationId xmlns:a16="http://schemas.microsoft.com/office/drawing/2014/main" id="{1B34FD92-AAFC-CC11-DA0D-9CFEC4C4B7A0}"/>
              </a:ext>
            </a:extLst>
          </p:cNvPr>
          <p:cNvSpPr>
            <a:spLocks noGrp="1"/>
          </p:cNvSpPr>
          <p:nvPr>
            <p:ph type="sldNum" sz="quarter" idx="12"/>
          </p:nvPr>
        </p:nvSpPr>
        <p:spPr>
          <a:xfrm>
            <a:off x="331304" y="6356350"/>
            <a:ext cx="2743200" cy="365125"/>
          </a:xfrm>
          <a:prstGeom prst="rect">
            <a:avLst/>
          </a:prstGeom>
        </p:spPr>
        <p:txBody>
          <a:bodyPr/>
          <a:lstStyle/>
          <a:p>
            <a:fld id="{388DA25C-1014-654B-B0A9-357B89C41D9C}" type="slidenum">
              <a:rPr lang="en-AE" smtClean="0"/>
              <a:t>‹#›</a:t>
            </a:fld>
            <a:endParaRPr lang="en-AE"/>
          </a:p>
        </p:txBody>
      </p:sp>
    </p:spTree>
    <p:extLst>
      <p:ext uri="{BB962C8B-B14F-4D97-AF65-F5344CB8AC3E}">
        <p14:creationId xmlns:p14="http://schemas.microsoft.com/office/powerpoint/2010/main" val="390351598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image" Target="../media/image6.jp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image" Target="../media/image18.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a:spLocks noGrp="1"/>
          </p:cNvSpPr>
          <p:nvPr>
            <p:ph type="title" idx="103" hasCustomPrompt="1"/>
          </p:nvPr>
        </p:nvSpPr>
        <p:spPr>
          <a:xfrm>
            <a:off x="633832" y="1900000"/>
            <a:ext cx="6900000" cy="1700000"/>
          </a:xfrm>
          <a:prstGeom prst="rect">
            <a:avLst/>
          </a:prstGeom>
          <a:noFill/>
          <a:ln/>
        </p:spPr>
        <p:txBody>
          <a:bodyPr wrap="square" lIns="0" tIns="0" rIns="0" bIns="0" rtlCol="0" anchor="b"/>
          <a:lstStyle/>
          <a:p>
            <a:pPr marL="0" indent="0" algn="l">
              <a:buNone/>
            </a:pPr>
            <a:r>
              <a:rPr lang="en-US" sz="2800" b="1" dirty="0">
                <a:solidFill>
                  <a:schemeClr val="bg1"/>
                </a:solidFill>
                <a:latin typeface="Arial" pitchFamily="34" charset="0"/>
                <a:ea typeface="Arial" pitchFamily="34" charset="-122"/>
                <a:cs typeface="Arial" pitchFamily="34" charset="-120"/>
              </a:rPr>
              <a:t>Capturing CO₂ Directly from Air: </a:t>
            </a:r>
            <a:br>
              <a:rPr lang="en-US" sz="2800" b="1" dirty="0">
                <a:solidFill>
                  <a:schemeClr val="bg1"/>
                </a:solidFill>
                <a:latin typeface="Arial" pitchFamily="34" charset="0"/>
                <a:ea typeface="Arial" pitchFamily="34" charset="-122"/>
                <a:cs typeface="Arial" pitchFamily="34" charset="-120"/>
              </a:rPr>
            </a:br>
            <a:r>
              <a:rPr lang="en-US" sz="2800" b="1" dirty="0">
                <a:solidFill>
                  <a:schemeClr val="bg1"/>
                </a:solidFill>
                <a:latin typeface="Arial" pitchFamily="34" charset="0"/>
                <a:ea typeface="Arial" pitchFamily="34" charset="-122"/>
                <a:cs typeface="Arial" pitchFamily="34" charset="-120"/>
              </a:rPr>
              <a:t>Bimetal-Engineered MOFs with Moisture-Responsive Regeneration</a:t>
            </a:r>
          </a:p>
        </p:txBody>
      </p:sp>
      <p:sp>
        <p:nvSpPr>
          <p:cNvPr id="6" name="Text 1"/>
          <p:cNvSpPr>
            <a:spLocks noGrp="1"/>
          </p:cNvSpPr>
          <p:nvPr>
            <p:ph type="body" idx="107" hasCustomPrompt="1"/>
          </p:nvPr>
        </p:nvSpPr>
        <p:spPr>
          <a:xfrm>
            <a:off x="502921" y="4897402"/>
            <a:ext cx="6766560" cy="274320"/>
          </a:xfrm>
          <a:prstGeom prst="rect">
            <a:avLst/>
          </a:prstGeom>
          <a:noFill/>
          <a:ln/>
        </p:spPr>
        <p:txBody>
          <a:bodyPr wrap="square" lIns="0" tIns="0" rIns="0" bIns="0" rtlCol="0" anchor="t"/>
          <a:lstStyle/>
          <a:p>
            <a:pPr marL="0" indent="0" algn="l">
              <a:buNone/>
            </a:pPr>
            <a:r>
              <a:rPr lang="en-US" sz="2000" dirty="0">
                <a:solidFill>
                  <a:srgbClr val="D9D4FF"/>
                </a:solidFill>
                <a:latin typeface="Arial" pitchFamily="34" charset="0"/>
                <a:ea typeface="Arial" pitchFamily="34" charset="-122"/>
                <a:cs typeface="Arial" pitchFamily="34" charset="-120"/>
              </a:rPr>
              <a:t>Supervisor: </a:t>
            </a:r>
            <a:r>
              <a:rPr lang="en-US" sz="2000" dirty="0">
                <a:solidFill>
                  <a:schemeClr val="bg1"/>
                </a:solidFill>
                <a:latin typeface="Arial" pitchFamily="34" charset="0"/>
                <a:ea typeface="Arial" pitchFamily="34" charset="-122"/>
                <a:cs typeface="Arial" pitchFamily="34" charset="-120"/>
              </a:rPr>
              <a:t>Dr. Lana Alghamdi</a:t>
            </a:r>
            <a:endParaRPr lang="en-US" sz="2000" dirty="0"/>
          </a:p>
        </p:txBody>
      </p:sp>
      <p:sp>
        <p:nvSpPr>
          <p:cNvPr id="7" name="Text 1"/>
          <p:cNvSpPr>
            <a:spLocks noGrp="1"/>
          </p:cNvSpPr>
          <p:nvPr>
            <p:ph type="body" idx="108" hasCustomPrompt="1"/>
          </p:nvPr>
        </p:nvSpPr>
        <p:spPr>
          <a:xfrm>
            <a:off x="534925" y="5427793"/>
            <a:ext cx="6766560" cy="493776"/>
          </a:xfrm>
          <a:prstGeom prst="rect">
            <a:avLst/>
          </a:prstGeom>
          <a:noFill/>
          <a:ln/>
        </p:spPr>
        <p:txBody>
          <a:bodyPr wrap="square" lIns="0" tIns="0" rIns="0" bIns="0" rtlCol="0" anchor="t"/>
          <a:lstStyle/>
          <a:p>
            <a:pPr marL="0" indent="0" algn="l">
              <a:buNone/>
            </a:pPr>
            <a:r>
              <a:rPr lang="en-US" sz="2000" b="1" dirty="0">
                <a:solidFill>
                  <a:schemeClr val="bg1"/>
                </a:solidFill>
                <a:latin typeface="Arial" pitchFamily="34" charset="0"/>
                <a:ea typeface="Arial" pitchFamily="34" charset="-122"/>
                <a:cs typeface="Arial" pitchFamily="34" charset="-120"/>
              </a:rPr>
              <a:t>Advanced Materials Technologies Institute</a:t>
            </a:r>
            <a:endParaRPr lang="en-US" sz="2000" dirty="0"/>
          </a:p>
          <a:p>
            <a:pPr marL="0" indent="0" algn="l">
              <a:buNone/>
            </a:pPr>
            <a:r>
              <a:rPr lang="en-US" sz="1800" b="1" dirty="0">
                <a:solidFill>
                  <a:schemeClr val="bg1"/>
                </a:solidFill>
                <a:latin typeface="Arial" pitchFamily="34" charset="0"/>
                <a:ea typeface="Arial" pitchFamily="34" charset="-122"/>
                <a:cs typeface="Arial" pitchFamily="34" charset="-120"/>
              </a:rPr>
              <a:t>King Abdulaziz City for Science and Technology (KACST)</a:t>
            </a:r>
            <a:endParaRPr lang="en-US" sz="1800" dirty="0"/>
          </a:p>
        </p:txBody>
      </p:sp>
      <p:sp>
        <p:nvSpPr>
          <p:cNvPr id="4" name="Text 1"/>
          <p:cNvSpPr>
            <a:spLocks noGrp="1"/>
          </p:cNvSpPr>
          <p:nvPr>
            <p:ph type="body" idx="105" hasCustomPrompt="1"/>
          </p:nvPr>
        </p:nvSpPr>
        <p:spPr>
          <a:xfrm>
            <a:off x="594360" y="3842021"/>
            <a:ext cx="6766560" cy="384048"/>
          </a:xfrm>
          <a:prstGeom prst="rect">
            <a:avLst/>
          </a:prstGeom>
          <a:noFill/>
          <a:ln/>
        </p:spPr>
        <p:txBody>
          <a:bodyPr wrap="square" lIns="0" tIns="0" rIns="0" bIns="0" rtlCol="0" anchor="t"/>
          <a:lstStyle/>
          <a:p>
            <a:pPr marL="0" indent="0" algn="l">
              <a:buNone/>
            </a:pPr>
            <a:r>
              <a:rPr lang="en-US" sz="2400" b="1" dirty="0">
                <a:solidFill>
                  <a:schemeClr val="accent1"/>
                </a:solidFill>
                <a:latin typeface="Arial" pitchFamily="34" charset="0"/>
                <a:ea typeface="Arial" pitchFamily="34" charset="-122"/>
                <a:cs typeface="Arial" pitchFamily="34" charset="-120"/>
              </a:rPr>
              <a:t>Raghad AlSawilam</a:t>
            </a:r>
            <a:endParaRPr lang="en-US" sz="2400" dirty="0"/>
          </a:p>
        </p:txBody>
      </p:sp>
      <p:sp>
        <p:nvSpPr>
          <p:cNvPr id="9" name="Title visual panel"/>
          <p:cNvSpPr/>
          <p:nvPr/>
        </p:nvSpPr>
        <p:spPr>
          <a:xfrm>
            <a:off x="7680960" y="1993392"/>
            <a:ext cx="4050792" cy="3877056"/>
          </a:xfrm>
          <a:prstGeom prst="roundRect">
            <a:avLst>
              <a:gd name="adj" fmla="val 2358"/>
            </a:avLst>
          </a:prstGeom>
          <a:solidFill>
            <a:srgbClr val="000000">
              <a:alpha val="58000"/>
            </a:srgbClr>
          </a:solidFill>
          <a:ln w="6350">
            <a:solidFill>
              <a:srgbClr val="FFFFFF">
                <a:alpha val="30000"/>
              </a:srgbClr>
            </a:solidFill>
            <a:prstDash val="solid"/>
          </a:ln>
        </p:spPr>
      </p:sp>
      <p:sp>
        <p:nvSpPr>
          <p:cNvPr id="10" name="Section label FROM AMBIENT AIR TO CO₂ CAPTURE"/>
          <p:cNvSpPr txBox="1"/>
          <p:nvPr/>
        </p:nvSpPr>
        <p:spPr>
          <a:xfrm>
            <a:off x="7909560" y="2139696"/>
            <a:ext cx="3566160" cy="219456"/>
          </a:xfrm>
          <a:prstGeom prst="rect">
            <a:avLst/>
          </a:prstGeom>
          <a:noFill/>
          <a:ln/>
        </p:spPr>
        <p:txBody>
          <a:bodyPr wrap="square" lIns="0" tIns="0" rIns="0" bIns="0" rtlCol="0" anchor="ctr"/>
          <a:lstStyle/>
          <a:p>
            <a:pPr marL="0" indent="0">
              <a:buNone/>
            </a:pPr>
            <a:r>
              <a:rPr lang="en-US" sz="1000" b="1" kern="0" spc="100" dirty="0">
                <a:solidFill>
                  <a:schemeClr val="accent1"/>
                </a:solidFill>
                <a:latin typeface="Arial" pitchFamily="34" charset="0"/>
                <a:ea typeface="Arial" pitchFamily="34" charset="-122"/>
                <a:cs typeface="Arial" pitchFamily="34" charset="-120"/>
              </a:rPr>
              <a:t>FROM AMBIENT AIR TO CO₂ CAPTURE</a:t>
            </a:r>
            <a:endParaRPr lang="en-US" sz="1000" dirty="0"/>
          </a:p>
        </p:txBody>
      </p:sp>
      <p:sp>
        <p:nvSpPr>
          <p:cNvPr id="11" name="Title stage 1 glyph box"/>
          <p:cNvSpPr/>
          <p:nvPr/>
        </p:nvSpPr>
        <p:spPr>
          <a:xfrm>
            <a:off x="7909560" y="2496312"/>
            <a:ext cx="1280160" cy="676656"/>
          </a:xfrm>
          <a:prstGeom prst="roundRect">
            <a:avLst>
              <a:gd name="adj" fmla="val 10811"/>
            </a:avLst>
          </a:prstGeom>
          <a:solidFill>
            <a:srgbClr val="FFFFFF">
              <a:alpha val="12000"/>
            </a:srgbClr>
          </a:solidFill>
          <a:ln w="6350">
            <a:solidFill>
              <a:srgbClr val="FFFFFF">
                <a:alpha val="25000"/>
              </a:srgbClr>
            </a:solidFill>
            <a:prstDash val="solid"/>
          </a:ln>
        </p:spPr>
      </p:sp>
      <p:sp>
        <p:nvSpPr>
          <p:cNvPr id="12" name="Title air N2/O2 atom"/>
          <p:cNvSpPr/>
          <p:nvPr/>
        </p:nvSpPr>
        <p:spPr>
          <a:xfrm>
            <a:off x="8070537" y="2594476"/>
            <a:ext cx="132857" cy="132857"/>
          </a:xfrm>
          <a:prstGeom prst="ellipse">
            <a:avLst/>
          </a:prstGeom>
          <a:solidFill>
            <a:srgbClr val="B4B8C5"/>
          </a:solidFill>
          <a:ln w="9525">
            <a:solidFill>
              <a:srgbClr val="FFFFFF"/>
            </a:solidFill>
            <a:prstDash val="solid"/>
          </a:ln>
        </p:spPr>
      </p:sp>
      <p:sp>
        <p:nvSpPr>
          <p:cNvPr id="13" name="Title air N2/O2 atom"/>
          <p:cNvSpPr/>
          <p:nvPr/>
        </p:nvSpPr>
        <p:spPr>
          <a:xfrm>
            <a:off x="8166194" y="2594476"/>
            <a:ext cx="132857" cy="132857"/>
          </a:xfrm>
          <a:prstGeom prst="ellipse">
            <a:avLst/>
          </a:prstGeom>
          <a:solidFill>
            <a:srgbClr val="B4B8C5"/>
          </a:solidFill>
          <a:ln w="9525">
            <a:solidFill>
              <a:srgbClr val="FFFFFF"/>
            </a:solidFill>
            <a:prstDash val="solid"/>
          </a:ln>
        </p:spPr>
      </p:sp>
      <p:sp>
        <p:nvSpPr>
          <p:cNvPr id="14" name="Title air N2/O2 atom"/>
          <p:cNvSpPr/>
          <p:nvPr/>
        </p:nvSpPr>
        <p:spPr>
          <a:xfrm>
            <a:off x="8478817" y="2976695"/>
            <a:ext cx="132857" cy="132857"/>
          </a:xfrm>
          <a:prstGeom prst="ellipse">
            <a:avLst/>
          </a:prstGeom>
          <a:solidFill>
            <a:srgbClr val="B4B8C5"/>
          </a:solidFill>
          <a:ln w="9525">
            <a:solidFill>
              <a:srgbClr val="FFFFFF"/>
            </a:solidFill>
            <a:prstDash val="solid"/>
          </a:ln>
        </p:spPr>
      </p:sp>
      <p:sp>
        <p:nvSpPr>
          <p:cNvPr id="15" name="Title air N2/O2 atom"/>
          <p:cNvSpPr/>
          <p:nvPr/>
        </p:nvSpPr>
        <p:spPr>
          <a:xfrm>
            <a:off x="8574474" y="2976695"/>
            <a:ext cx="132857" cy="132857"/>
          </a:xfrm>
          <a:prstGeom prst="ellipse">
            <a:avLst/>
          </a:prstGeom>
          <a:solidFill>
            <a:srgbClr val="B4B8C5"/>
          </a:solidFill>
          <a:ln w="9525">
            <a:solidFill>
              <a:srgbClr val="FFFFFF"/>
            </a:solidFill>
            <a:prstDash val="solid"/>
          </a:ln>
        </p:spPr>
      </p:sp>
      <p:sp>
        <p:nvSpPr>
          <p:cNvPr id="16" name="Title air N2/O2 atom"/>
          <p:cNvSpPr/>
          <p:nvPr/>
        </p:nvSpPr>
        <p:spPr>
          <a:xfrm>
            <a:off x="8826289" y="2577102"/>
            <a:ext cx="132857" cy="132857"/>
          </a:xfrm>
          <a:prstGeom prst="ellipse">
            <a:avLst/>
          </a:prstGeom>
          <a:solidFill>
            <a:srgbClr val="B4B8C5"/>
          </a:solidFill>
          <a:ln w="9525">
            <a:solidFill>
              <a:srgbClr val="FFFFFF"/>
            </a:solidFill>
            <a:prstDash val="solid"/>
          </a:ln>
        </p:spPr>
      </p:sp>
      <p:sp>
        <p:nvSpPr>
          <p:cNvPr id="17" name="Title air N2/O2 atom"/>
          <p:cNvSpPr/>
          <p:nvPr/>
        </p:nvSpPr>
        <p:spPr>
          <a:xfrm>
            <a:off x="8921946" y="2577102"/>
            <a:ext cx="132857" cy="132857"/>
          </a:xfrm>
          <a:prstGeom prst="ellipse">
            <a:avLst/>
          </a:prstGeom>
          <a:solidFill>
            <a:srgbClr val="B4B8C5"/>
          </a:solidFill>
          <a:ln w="9525">
            <a:solidFill>
              <a:srgbClr val="FFFFFF"/>
            </a:solidFill>
            <a:prstDash val="solid"/>
          </a:ln>
        </p:spPr>
      </p:sp>
      <p:sp>
        <p:nvSpPr>
          <p:cNvPr id="18" name="Title air N2/O2 atom"/>
          <p:cNvSpPr/>
          <p:nvPr/>
        </p:nvSpPr>
        <p:spPr>
          <a:xfrm>
            <a:off x="8001043" y="3002755"/>
            <a:ext cx="132857" cy="132857"/>
          </a:xfrm>
          <a:prstGeom prst="ellipse">
            <a:avLst/>
          </a:prstGeom>
          <a:solidFill>
            <a:srgbClr val="B4B8C5"/>
          </a:solidFill>
          <a:ln w="9525">
            <a:solidFill>
              <a:srgbClr val="FFFFFF"/>
            </a:solidFill>
            <a:prstDash val="solid"/>
          </a:ln>
        </p:spPr>
      </p:sp>
      <p:sp>
        <p:nvSpPr>
          <p:cNvPr id="19" name="Title air N2/O2 atom"/>
          <p:cNvSpPr/>
          <p:nvPr/>
        </p:nvSpPr>
        <p:spPr>
          <a:xfrm>
            <a:off x="8096700" y="3002755"/>
            <a:ext cx="132857" cy="132857"/>
          </a:xfrm>
          <a:prstGeom prst="ellipse">
            <a:avLst/>
          </a:prstGeom>
          <a:solidFill>
            <a:srgbClr val="B4B8C5"/>
          </a:solidFill>
          <a:ln w="9525">
            <a:solidFill>
              <a:srgbClr val="FFFFFF"/>
            </a:solidFill>
            <a:prstDash val="solid"/>
          </a:ln>
        </p:spPr>
      </p:sp>
      <p:sp>
        <p:nvSpPr>
          <p:cNvPr id="20" name="Title air CO2 O"/>
          <p:cNvSpPr/>
          <p:nvPr/>
        </p:nvSpPr>
        <p:spPr>
          <a:xfrm>
            <a:off x="8419338" y="2604106"/>
            <a:ext cx="113597" cy="113597"/>
          </a:xfrm>
          <a:prstGeom prst="ellipse">
            <a:avLst/>
          </a:prstGeom>
          <a:solidFill>
            <a:schemeClr val="accent5"/>
          </a:solidFill>
          <a:ln w="9525">
            <a:solidFill>
              <a:srgbClr val="FFFFFF"/>
            </a:solidFill>
            <a:prstDash val="solid"/>
          </a:ln>
        </p:spPr>
      </p:sp>
      <p:sp>
        <p:nvSpPr>
          <p:cNvPr id="21" name="Title air CO2 O"/>
          <p:cNvSpPr/>
          <p:nvPr/>
        </p:nvSpPr>
        <p:spPr>
          <a:xfrm>
            <a:off x="8601093" y="2604106"/>
            <a:ext cx="113597" cy="113597"/>
          </a:xfrm>
          <a:prstGeom prst="ellipse">
            <a:avLst/>
          </a:prstGeom>
          <a:solidFill>
            <a:schemeClr val="accent5"/>
          </a:solidFill>
          <a:ln w="9525">
            <a:solidFill>
              <a:srgbClr val="FFFFFF"/>
            </a:solidFill>
            <a:prstDash val="solid"/>
          </a:ln>
        </p:spPr>
      </p:sp>
      <p:sp>
        <p:nvSpPr>
          <p:cNvPr id="22" name="Title air CO2 C"/>
          <p:cNvSpPr/>
          <p:nvPr/>
        </p:nvSpPr>
        <p:spPr>
          <a:xfrm>
            <a:off x="8514759" y="2608650"/>
            <a:ext cx="104509" cy="104509"/>
          </a:xfrm>
          <a:prstGeom prst="ellipse">
            <a:avLst/>
          </a:prstGeom>
          <a:solidFill>
            <a:schemeClr val="tx2"/>
          </a:solidFill>
          <a:ln w="9525">
            <a:solidFill>
              <a:srgbClr val="FFFFFF"/>
            </a:solidFill>
            <a:prstDash val="solid"/>
          </a:ln>
        </p:spPr>
      </p:sp>
      <p:sp>
        <p:nvSpPr>
          <p:cNvPr id="23" name="Title air H2O H"/>
          <p:cNvSpPr/>
          <p:nvPr/>
        </p:nvSpPr>
        <p:spPr>
          <a:xfrm>
            <a:off x="8890163" y="3047756"/>
            <a:ext cx="71811" cy="71811"/>
          </a:xfrm>
          <a:prstGeom prst="ellipse">
            <a:avLst/>
          </a:prstGeom>
          <a:solidFill>
            <a:schemeClr val="bg1"/>
          </a:solidFill>
          <a:ln w="9525">
            <a:solidFill>
              <a:srgbClr val="8D96AA"/>
            </a:solidFill>
            <a:prstDash val="solid"/>
          </a:ln>
        </p:spPr>
      </p:sp>
      <p:sp>
        <p:nvSpPr>
          <p:cNvPr id="24" name="Title air H2O H"/>
          <p:cNvSpPr/>
          <p:nvPr/>
        </p:nvSpPr>
        <p:spPr>
          <a:xfrm>
            <a:off x="9005987" y="3047756"/>
            <a:ext cx="71811" cy="71811"/>
          </a:xfrm>
          <a:prstGeom prst="ellipse">
            <a:avLst/>
          </a:prstGeom>
          <a:solidFill>
            <a:schemeClr val="bg1"/>
          </a:solidFill>
          <a:ln w="9525">
            <a:solidFill>
              <a:srgbClr val="8D96AA"/>
            </a:solidFill>
            <a:prstDash val="solid"/>
          </a:ln>
        </p:spPr>
      </p:sp>
      <p:sp>
        <p:nvSpPr>
          <p:cNvPr id="25" name="Title air H2O O"/>
          <p:cNvSpPr/>
          <p:nvPr/>
        </p:nvSpPr>
        <p:spPr>
          <a:xfrm>
            <a:off x="8926068" y="2982316"/>
            <a:ext cx="115824" cy="115824"/>
          </a:xfrm>
          <a:prstGeom prst="ellipse">
            <a:avLst/>
          </a:prstGeom>
          <a:solidFill>
            <a:schemeClr val="accent4"/>
          </a:solidFill>
          <a:ln w="9525">
            <a:solidFill>
              <a:srgbClr val="FFFFFF"/>
            </a:solidFill>
            <a:prstDash val="solid"/>
          </a:ln>
        </p:spPr>
      </p:sp>
      <p:sp>
        <p:nvSpPr>
          <p:cNvPr id="26" name="Text 24"/>
          <p:cNvSpPr txBox="1"/>
          <p:nvPr/>
        </p:nvSpPr>
        <p:spPr>
          <a:xfrm>
            <a:off x="9372600" y="2569464"/>
            <a:ext cx="2194560" cy="274320"/>
          </a:xfrm>
          <a:prstGeom prst="rect">
            <a:avLst/>
          </a:prstGeom>
          <a:noFill/>
          <a:ln/>
        </p:spPr>
        <p:txBody>
          <a:bodyPr wrap="square" lIns="0" tIns="0" rIns="0" bIns="0" rtlCol="0" anchor="ctr"/>
          <a:lstStyle/>
          <a:p>
            <a:pPr marL="0" indent="0">
              <a:buNone/>
            </a:pPr>
            <a:r>
              <a:rPr lang="en-US" sz="1400" b="1" dirty="0">
                <a:solidFill>
                  <a:schemeClr val="bg1"/>
                </a:solidFill>
                <a:latin typeface="Arial" pitchFamily="34" charset="0"/>
                <a:ea typeface="Arial" pitchFamily="34" charset="-122"/>
                <a:cs typeface="Arial" pitchFamily="34" charset="-120"/>
              </a:rPr>
              <a:t>Ambient Air</a:t>
            </a:r>
            <a:endParaRPr lang="en-US" sz="1400" dirty="0"/>
          </a:p>
        </p:txBody>
      </p:sp>
      <p:sp>
        <p:nvSpPr>
          <p:cNvPr id="27" name="Text 25"/>
          <p:cNvSpPr txBox="1"/>
          <p:nvPr/>
        </p:nvSpPr>
        <p:spPr>
          <a:xfrm>
            <a:off x="9372600" y="2843784"/>
            <a:ext cx="2240280" cy="292608"/>
          </a:xfrm>
          <a:prstGeom prst="rect">
            <a:avLst/>
          </a:prstGeom>
          <a:noFill/>
          <a:ln/>
        </p:spPr>
        <p:txBody>
          <a:bodyPr wrap="square" lIns="0" tIns="0" rIns="0" bIns="0" rtlCol="0" anchor="t"/>
          <a:lstStyle/>
          <a:p>
            <a:pPr marL="0" indent="0">
              <a:buNone/>
            </a:pPr>
            <a:r>
              <a:rPr lang="en-US" sz="1050" dirty="0">
                <a:solidFill>
                  <a:srgbClr val="D9D4FF"/>
                </a:solidFill>
                <a:latin typeface="Arial" pitchFamily="34" charset="0"/>
                <a:ea typeface="Arial" pitchFamily="34" charset="-122"/>
                <a:cs typeface="Arial" pitchFamily="34" charset="-120"/>
              </a:rPr>
              <a:t>Low CO₂ concentration, with water vapor</a:t>
            </a:r>
            <a:endParaRPr lang="en-US" sz="1050" dirty="0"/>
          </a:p>
        </p:txBody>
      </p:sp>
      <p:sp>
        <p:nvSpPr>
          <p:cNvPr id="28" name="Title flow arrow 1"/>
          <p:cNvSpPr/>
          <p:nvPr/>
        </p:nvSpPr>
        <p:spPr>
          <a:xfrm>
            <a:off x="8476488" y="3191256"/>
            <a:ext cx="146304" cy="137160"/>
          </a:xfrm>
          <a:prstGeom prst="downArrow">
            <a:avLst/>
          </a:prstGeom>
          <a:solidFill>
            <a:schemeClr val="accent1"/>
          </a:solidFill>
          <a:ln w="12700">
            <a:solidFill>
              <a:schemeClr val="accent1"/>
            </a:solidFill>
            <a:prstDash val="solid"/>
          </a:ln>
        </p:spPr>
      </p:sp>
      <p:sp>
        <p:nvSpPr>
          <p:cNvPr id="29" name="Title stage 2 glyph box"/>
          <p:cNvSpPr/>
          <p:nvPr/>
        </p:nvSpPr>
        <p:spPr>
          <a:xfrm>
            <a:off x="7909560" y="3337560"/>
            <a:ext cx="1280160" cy="676656"/>
          </a:xfrm>
          <a:prstGeom prst="roundRect">
            <a:avLst>
              <a:gd name="adj" fmla="val 10811"/>
            </a:avLst>
          </a:prstGeom>
          <a:solidFill>
            <a:srgbClr val="FFFFFF">
              <a:alpha val="12000"/>
            </a:srgbClr>
          </a:solidFill>
          <a:ln w="6350">
            <a:solidFill>
              <a:srgbClr val="FFFFFF">
                <a:alpha val="25000"/>
              </a:srgbClr>
            </a:solidFill>
            <a:prstDash val="solid"/>
          </a:ln>
        </p:spPr>
      </p:sp>
      <p:sp>
        <p:nvSpPr>
          <p:cNvPr id="30" name="Title CO2 O"/>
          <p:cNvSpPr/>
          <p:nvPr/>
        </p:nvSpPr>
        <p:spPr>
          <a:xfrm>
            <a:off x="8193024" y="3538728"/>
            <a:ext cx="274320" cy="274320"/>
          </a:xfrm>
          <a:prstGeom prst="ellipse">
            <a:avLst/>
          </a:prstGeom>
          <a:solidFill>
            <a:schemeClr val="accent5"/>
          </a:solidFill>
          <a:ln w="9525">
            <a:solidFill>
              <a:srgbClr val="FFFFFF"/>
            </a:solidFill>
            <a:prstDash val="solid"/>
          </a:ln>
        </p:spPr>
      </p:sp>
      <p:sp>
        <p:nvSpPr>
          <p:cNvPr id="31" name="Title CO2 O"/>
          <p:cNvSpPr/>
          <p:nvPr/>
        </p:nvSpPr>
        <p:spPr>
          <a:xfrm>
            <a:off x="8631936" y="3538728"/>
            <a:ext cx="274320" cy="274320"/>
          </a:xfrm>
          <a:prstGeom prst="ellipse">
            <a:avLst/>
          </a:prstGeom>
          <a:solidFill>
            <a:schemeClr val="accent5"/>
          </a:solidFill>
          <a:ln w="9525">
            <a:solidFill>
              <a:srgbClr val="FFFFFF"/>
            </a:solidFill>
            <a:prstDash val="solid"/>
          </a:ln>
        </p:spPr>
      </p:sp>
      <p:sp>
        <p:nvSpPr>
          <p:cNvPr id="32" name="Title CO2 C"/>
          <p:cNvSpPr/>
          <p:nvPr/>
        </p:nvSpPr>
        <p:spPr>
          <a:xfrm>
            <a:off x="8423453" y="3549701"/>
            <a:ext cx="252374" cy="252374"/>
          </a:xfrm>
          <a:prstGeom prst="ellipse">
            <a:avLst/>
          </a:prstGeom>
          <a:solidFill>
            <a:schemeClr val="tx2"/>
          </a:solidFill>
          <a:ln w="9525">
            <a:solidFill>
              <a:srgbClr val="FFFFFF"/>
            </a:solidFill>
            <a:prstDash val="solid"/>
          </a:ln>
        </p:spPr>
      </p:sp>
      <p:sp>
        <p:nvSpPr>
          <p:cNvPr id="33" name="Text 31"/>
          <p:cNvSpPr txBox="1"/>
          <p:nvPr/>
        </p:nvSpPr>
        <p:spPr>
          <a:xfrm>
            <a:off x="9372600" y="3410712"/>
            <a:ext cx="2194560" cy="274320"/>
          </a:xfrm>
          <a:prstGeom prst="rect">
            <a:avLst/>
          </a:prstGeom>
          <a:noFill/>
          <a:ln/>
        </p:spPr>
        <p:txBody>
          <a:bodyPr wrap="square" lIns="0" tIns="0" rIns="0" bIns="0" rtlCol="0" anchor="ctr"/>
          <a:lstStyle/>
          <a:p>
            <a:pPr marL="0" indent="0">
              <a:buNone/>
            </a:pPr>
            <a:r>
              <a:rPr lang="en-US" sz="1400" b="1" dirty="0">
                <a:solidFill>
                  <a:schemeClr val="bg1"/>
                </a:solidFill>
                <a:latin typeface="Arial" pitchFamily="34" charset="0"/>
                <a:ea typeface="Arial" pitchFamily="34" charset="-122"/>
                <a:cs typeface="Arial" pitchFamily="34" charset="-120"/>
              </a:rPr>
              <a:t>CO₂</a:t>
            </a:r>
            <a:endParaRPr lang="en-US" sz="1400" dirty="0"/>
          </a:p>
        </p:txBody>
      </p:sp>
      <p:sp>
        <p:nvSpPr>
          <p:cNvPr id="34" name="Text 32"/>
          <p:cNvSpPr txBox="1"/>
          <p:nvPr/>
        </p:nvSpPr>
        <p:spPr>
          <a:xfrm>
            <a:off x="9372600" y="3685032"/>
            <a:ext cx="2240280" cy="292608"/>
          </a:xfrm>
          <a:prstGeom prst="rect">
            <a:avLst/>
          </a:prstGeom>
          <a:noFill/>
          <a:ln/>
        </p:spPr>
        <p:txBody>
          <a:bodyPr wrap="square" lIns="0" tIns="0" rIns="0" bIns="0" rtlCol="0" anchor="t"/>
          <a:lstStyle/>
          <a:p>
            <a:pPr marL="0" indent="0">
              <a:buNone/>
            </a:pPr>
            <a:r>
              <a:rPr lang="en-US" sz="1050" dirty="0">
                <a:solidFill>
                  <a:srgbClr val="D9D4FF"/>
                </a:solidFill>
                <a:latin typeface="Arial" pitchFamily="34" charset="0"/>
                <a:ea typeface="Arial" pitchFamily="34" charset="-122"/>
                <a:cs typeface="Arial" pitchFamily="34" charset="-120"/>
              </a:rPr>
              <a:t>The target molecule</a:t>
            </a:r>
            <a:endParaRPr lang="en-US" sz="1050" dirty="0"/>
          </a:p>
        </p:txBody>
      </p:sp>
      <p:sp>
        <p:nvSpPr>
          <p:cNvPr id="35" name="Title flow arrow 2"/>
          <p:cNvSpPr/>
          <p:nvPr/>
        </p:nvSpPr>
        <p:spPr>
          <a:xfrm>
            <a:off x="8476488" y="4032504"/>
            <a:ext cx="146304" cy="137160"/>
          </a:xfrm>
          <a:prstGeom prst="downArrow">
            <a:avLst/>
          </a:prstGeom>
          <a:solidFill>
            <a:schemeClr val="accent1"/>
          </a:solidFill>
          <a:ln w="12700">
            <a:solidFill>
              <a:schemeClr val="accent1"/>
            </a:solidFill>
            <a:prstDash val="solid"/>
          </a:ln>
        </p:spPr>
      </p:sp>
      <p:sp>
        <p:nvSpPr>
          <p:cNvPr id="36" name="Title stage 3 glyph box"/>
          <p:cNvSpPr/>
          <p:nvPr/>
        </p:nvSpPr>
        <p:spPr>
          <a:xfrm>
            <a:off x="7909560" y="4178808"/>
            <a:ext cx="1280160" cy="676656"/>
          </a:xfrm>
          <a:prstGeom prst="roundRect">
            <a:avLst>
              <a:gd name="adj" fmla="val 10811"/>
            </a:avLst>
          </a:prstGeom>
          <a:solidFill>
            <a:srgbClr val="FFFFFF">
              <a:alpha val="12000"/>
            </a:srgbClr>
          </a:solidFill>
          <a:ln w="6350">
            <a:solidFill>
              <a:srgbClr val="FFFFFF">
                <a:alpha val="25000"/>
              </a:srgbClr>
            </a:solidFill>
            <a:prstDash val="solid"/>
          </a:ln>
        </p:spPr>
      </p:sp>
      <p:sp>
        <p:nvSpPr>
          <p:cNvPr id="37" name="Title MOF linker"/>
          <p:cNvSpPr/>
          <p:nvPr/>
        </p:nvSpPr>
        <p:spPr>
          <a:xfrm>
            <a:off x="8321040" y="4288536"/>
            <a:ext cx="457200" cy="0"/>
          </a:xfrm>
          <a:prstGeom prst="line">
            <a:avLst/>
          </a:prstGeom>
          <a:noFill/>
          <a:ln w="38100">
            <a:solidFill>
              <a:srgbClr val="BDB6F5"/>
            </a:solidFill>
            <a:prstDash val="solid"/>
          </a:ln>
        </p:spPr>
      </p:sp>
      <p:sp>
        <p:nvSpPr>
          <p:cNvPr id="38" name="Title MOF linker"/>
          <p:cNvSpPr/>
          <p:nvPr/>
        </p:nvSpPr>
        <p:spPr>
          <a:xfrm>
            <a:off x="8321040" y="4288536"/>
            <a:ext cx="0" cy="457200"/>
          </a:xfrm>
          <a:prstGeom prst="line">
            <a:avLst/>
          </a:prstGeom>
          <a:noFill/>
          <a:ln w="38100">
            <a:solidFill>
              <a:srgbClr val="BDB6F5"/>
            </a:solidFill>
            <a:prstDash val="solid"/>
          </a:ln>
        </p:spPr>
      </p:sp>
      <p:sp>
        <p:nvSpPr>
          <p:cNvPr id="39" name="Title MOF linker"/>
          <p:cNvSpPr/>
          <p:nvPr/>
        </p:nvSpPr>
        <p:spPr>
          <a:xfrm>
            <a:off x="8778240" y="4288536"/>
            <a:ext cx="0" cy="457200"/>
          </a:xfrm>
          <a:prstGeom prst="line">
            <a:avLst/>
          </a:prstGeom>
          <a:noFill/>
          <a:ln w="38100">
            <a:solidFill>
              <a:srgbClr val="BDB6F5"/>
            </a:solidFill>
            <a:prstDash val="solid"/>
          </a:ln>
        </p:spPr>
      </p:sp>
      <p:sp>
        <p:nvSpPr>
          <p:cNvPr id="40" name="Title MOF linker"/>
          <p:cNvSpPr/>
          <p:nvPr/>
        </p:nvSpPr>
        <p:spPr>
          <a:xfrm>
            <a:off x="8321040" y="4745736"/>
            <a:ext cx="457200" cy="0"/>
          </a:xfrm>
          <a:prstGeom prst="line">
            <a:avLst/>
          </a:prstGeom>
          <a:noFill/>
          <a:ln w="38100">
            <a:solidFill>
              <a:srgbClr val="BDB6F5"/>
            </a:solidFill>
            <a:prstDash val="solid"/>
          </a:ln>
        </p:spPr>
      </p:sp>
      <p:sp>
        <p:nvSpPr>
          <p:cNvPr id="41" name="Title MOF linker ring"/>
          <p:cNvSpPr/>
          <p:nvPr/>
        </p:nvSpPr>
        <p:spPr>
          <a:xfrm>
            <a:off x="8494776" y="4240530"/>
            <a:ext cx="109728" cy="96012"/>
          </a:xfrm>
          <a:prstGeom prst="hexagon">
            <a:avLst/>
          </a:prstGeom>
          <a:solidFill>
            <a:schemeClr val="tx2"/>
          </a:solidFill>
          <a:ln w="9525">
            <a:solidFill>
              <a:schemeClr val="accent1"/>
            </a:solidFill>
            <a:prstDash val="solid"/>
          </a:ln>
        </p:spPr>
      </p:sp>
      <p:sp>
        <p:nvSpPr>
          <p:cNvPr id="42" name="Title MOF linker ring"/>
          <p:cNvSpPr/>
          <p:nvPr/>
        </p:nvSpPr>
        <p:spPr>
          <a:xfrm rot="5400000">
            <a:off x="8266176" y="4469130"/>
            <a:ext cx="109728" cy="96012"/>
          </a:xfrm>
          <a:prstGeom prst="hexagon">
            <a:avLst/>
          </a:prstGeom>
          <a:solidFill>
            <a:schemeClr val="tx2"/>
          </a:solidFill>
          <a:ln w="9525">
            <a:solidFill>
              <a:schemeClr val="accent1"/>
            </a:solidFill>
            <a:prstDash val="solid"/>
          </a:ln>
        </p:spPr>
      </p:sp>
      <p:sp>
        <p:nvSpPr>
          <p:cNvPr id="43" name="Title MOF linker ring"/>
          <p:cNvSpPr/>
          <p:nvPr/>
        </p:nvSpPr>
        <p:spPr>
          <a:xfrm rot="5400000">
            <a:off x="8723376" y="4469130"/>
            <a:ext cx="109728" cy="96012"/>
          </a:xfrm>
          <a:prstGeom prst="hexagon">
            <a:avLst/>
          </a:prstGeom>
          <a:solidFill>
            <a:schemeClr val="tx2"/>
          </a:solidFill>
          <a:ln w="9525">
            <a:solidFill>
              <a:schemeClr val="accent1"/>
            </a:solidFill>
            <a:prstDash val="solid"/>
          </a:ln>
        </p:spPr>
      </p:sp>
      <p:sp>
        <p:nvSpPr>
          <p:cNvPr id="44" name="Title MOF linker ring"/>
          <p:cNvSpPr/>
          <p:nvPr/>
        </p:nvSpPr>
        <p:spPr>
          <a:xfrm>
            <a:off x="8494776" y="4697730"/>
            <a:ext cx="109728" cy="96012"/>
          </a:xfrm>
          <a:prstGeom prst="hexagon">
            <a:avLst/>
          </a:prstGeom>
          <a:solidFill>
            <a:schemeClr val="tx2"/>
          </a:solidFill>
          <a:ln w="9525">
            <a:solidFill>
              <a:schemeClr val="accent1"/>
            </a:solidFill>
            <a:prstDash val="solid"/>
          </a:ln>
        </p:spPr>
      </p:sp>
      <p:sp>
        <p:nvSpPr>
          <p:cNvPr id="45" name="Title MOF metal node"/>
          <p:cNvSpPr/>
          <p:nvPr/>
        </p:nvSpPr>
        <p:spPr>
          <a:xfrm>
            <a:off x="8243316" y="4210812"/>
            <a:ext cx="155448" cy="155448"/>
          </a:xfrm>
          <a:prstGeom prst="diamond">
            <a:avLst/>
          </a:prstGeom>
          <a:solidFill>
            <a:schemeClr val="accent1"/>
          </a:solidFill>
          <a:ln w="9525">
            <a:solidFill>
              <a:schemeClr val="bg1"/>
            </a:solidFill>
            <a:prstDash val="solid"/>
          </a:ln>
        </p:spPr>
      </p:sp>
      <p:sp>
        <p:nvSpPr>
          <p:cNvPr id="46" name="Title MOF metal node"/>
          <p:cNvSpPr/>
          <p:nvPr/>
        </p:nvSpPr>
        <p:spPr>
          <a:xfrm>
            <a:off x="8700516" y="4210812"/>
            <a:ext cx="155448" cy="155448"/>
          </a:xfrm>
          <a:prstGeom prst="diamond">
            <a:avLst/>
          </a:prstGeom>
          <a:solidFill>
            <a:schemeClr val="accent1"/>
          </a:solidFill>
          <a:ln w="9525">
            <a:solidFill>
              <a:schemeClr val="bg1"/>
            </a:solidFill>
            <a:prstDash val="solid"/>
          </a:ln>
        </p:spPr>
      </p:sp>
      <p:sp>
        <p:nvSpPr>
          <p:cNvPr id="47" name="Title MOF metal node"/>
          <p:cNvSpPr/>
          <p:nvPr/>
        </p:nvSpPr>
        <p:spPr>
          <a:xfrm>
            <a:off x="8243316" y="4668012"/>
            <a:ext cx="155448" cy="155448"/>
          </a:xfrm>
          <a:prstGeom prst="diamond">
            <a:avLst/>
          </a:prstGeom>
          <a:solidFill>
            <a:schemeClr val="accent1"/>
          </a:solidFill>
          <a:ln w="9525">
            <a:solidFill>
              <a:schemeClr val="bg1"/>
            </a:solidFill>
            <a:prstDash val="solid"/>
          </a:ln>
        </p:spPr>
      </p:sp>
      <p:sp>
        <p:nvSpPr>
          <p:cNvPr id="48" name="Title MOF metal node"/>
          <p:cNvSpPr/>
          <p:nvPr/>
        </p:nvSpPr>
        <p:spPr>
          <a:xfrm>
            <a:off x="8700516" y="4668012"/>
            <a:ext cx="155448" cy="155448"/>
          </a:xfrm>
          <a:prstGeom prst="diamond">
            <a:avLst/>
          </a:prstGeom>
          <a:solidFill>
            <a:schemeClr val="accent1"/>
          </a:solidFill>
          <a:ln w="9525">
            <a:solidFill>
              <a:schemeClr val="bg1"/>
            </a:solidFill>
            <a:prstDash val="solid"/>
          </a:ln>
        </p:spPr>
      </p:sp>
      <p:sp>
        <p:nvSpPr>
          <p:cNvPr id="49" name="Text 47"/>
          <p:cNvSpPr txBox="1"/>
          <p:nvPr/>
        </p:nvSpPr>
        <p:spPr>
          <a:xfrm>
            <a:off x="9372600" y="4251960"/>
            <a:ext cx="2194560" cy="274320"/>
          </a:xfrm>
          <a:prstGeom prst="rect">
            <a:avLst/>
          </a:prstGeom>
          <a:noFill/>
          <a:ln/>
        </p:spPr>
        <p:txBody>
          <a:bodyPr wrap="square" lIns="0" tIns="0" rIns="0" bIns="0" rtlCol="0" anchor="ctr"/>
          <a:lstStyle/>
          <a:p>
            <a:pPr marL="0" indent="0">
              <a:buNone/>
            </a:pPr>
            <a:r>
              <a:rPr lang="en-US" sz="1400" b="1" dirty="0">
                <a:solidFill>
                  <a:schemeClr val="bg1"/>
                </a:solidFill>
                <a:latin typeface="Arial" pitchFamily="34" charset="0"/>
                <a:ea typeface="Arial" pitchFamily="34" charset="-122"/>
                <a:cs typeface="Arial" pitchFamily="34" charset="-120"/>
              </a:rPr>
              <a:t>Porous MOF</a:t>
            </a:r>
            <a:endParaRPr lang="en-US" sz="1400" dirty="0"/>
          </a:p>
        </p:txBody>
      </p:sp>
      <p:sp>
        <p:nvSpPr>
          <p:cNvPr id="50" name="Text 48"/>
          <p:cNvSpPr txBox="1"/>
          <p:nvPr/>
        </p:nvSpPr>
        <p:spPr>
          <a:xfrm>
            <a:off x="9372600" y="4526280"/>
            <a:ext cx="2240280" cy="292608"/>
          </a:xfrm>
          <a:prstGeom prst="rect">
            <a:avLst/>
          </a:prstGeom>
          <a:noFill/>
          <a:ln/>
        </p:spPr>
        <p:txBody>
          <a:bodyPr wrap="square" lIns="0" tIns="0" rIns="0" bIns="0" rtlCol="0" anchor="t"/>
          <a:lstStyle/>
          <a:p>
            <a:pPr marL="0" indent="0">
              <a:buNone/>
            </a:pPr>
            <a:r>
              <a:rPr lang="en-US" sz="1050" dirty="0">
                <a:solidFill>
                  <a:srgbClr val="D9D4FF"/>
                </a:solidFill>
                <a:latin typeface="Arial" pitchFamily="34" charset="0"/>
                <a:ea typeface="Arial" pitchFamily="34" charset="-122"/>
                <a:cs typeface="Arial" pitchFamily="34" charset="-120"/>
              </a:rPr>
              <a:t>Metal nodes joined by organic linkers</a:t>
            </a:r>
            <a:endParaRPr lang="en-US" sz="1050" dirty="0"/>
          </a:p>
        </p:txBody>
      </p:sp>
      <p:sp>
        <p:nvSpPr>
          <p:cNvPr id="51" name="Title flow arrow 3"/>
          <p:cNvSpPr/>
          <p:nvPr/>
        </p:nvSpPr>
        <p:spPr>
          <a:xfrm>
            <a:off x="8476488" y="4873752"/>
            <a:ext cx="146304" cy="137160"/>
          </a:xfrm>
          <a:prstGeom prst="downArrow">
            <a:avLst/>
          </a:prstGeom>
          <a:solidFill>
            <a:schemeClr val="accent1"/>
          </a:solidFill>
          <a:ln w="12700">
            <a:solidFill>
              <a:schemeClr val="accent1"/>
            </a:solidFill>
            <a:prstDash val="solid"/>
          </a:ln>
        </p:spPr>
      </p:sp>
      <p:sp>
        <p:nvSpPr>
          <p:cNvPr id="52" name="Title stage 4 glyph box"/>
          <p:cNvSpPr/>
          <p:nvPr/>
        </p:nvSpPr>
        <p:spPr>
          <a:xfrm>
            <a:off x="7909560" y="5020056"/>
            <a:ext cx="1280160" cy="676656"/>
          </a:xfrm>
          <a:prstGeom prst="roundRect">
            <a:avLst>
              <a:gd name="adj" fmla="val 10811"/>
            </a:avLst>
          </a:prstGeom>
          <a:solidFill>
            <a:srgbClr val="FFFFFF">
              <a:alpha val="12000"/>
            </a:srgbClr>
          </a:solidFill>
          <a:ln w="6350">
            <a:solidFill>
              <a:srgbClr val="FFFFFF">
                <a:alpha val="25000"/>
              </a:srgbClr>
            </a:solidFill>
            <a:prstDash val="solid"/>
          </a:ln>
        </p:spPr>
      </p:sp>
      <p:sp>
        <p:nvSpPr>
          <p:cNvPr id="53" name="Title MOF CO2 linker"/>
          <p:cNvSpPr/>
          <p:nvPr/>
        </p:nvSpPr>
        <p:spPr>
          <a:xfrm>
            <a:off x="8321040" y="5129784"/>
            <a:ext cx="457200" cy="0"/>
          </a:xfrm>
          <a:prstGeom prst="line">
            <a:avLst/>
          </a:prstGeom>
          <a:noFill/>
          <a:ln w="38100">
            <a:solidFill>
              <a:srgbClr val="BDB6F5"/>
            </a:solidFill>
            <a:prstDash val="solid"/>
          </a:ln>
        </p:spPr>
      </p:sp>
      <p:sp>
        <p:nvSpPr>
          <p:cNvPr id="54" name="Title MOF CO2 linker"/>
          <p:cNvSpPr/>
          <p:nvPr/>
        </p:nvSpPr>
        <p:spPr>
          <a:xfrm>
            <a:off x="8321040" y="5129784"/>
            <a:ext cx="0" cy="457200"/>
          </a:xfrm>
          <a:prstGeom prst="line">
            <a:avLst/>
          </a:prstGeom>
          <a:noFill/>
          <a:ln w="38100">
            <a:solidFill>
              <a:srgbClr val="BDB6F5"/>
            </a:solidFill>
            <a:prstDash val="solid"/>
          </a:ln>
        </p:spPr>
      </p:sp>
      <p:sp>
        <p:nvSpPr>
          <p:cNvPr id="55" name="Title MOF CO2 linker"/>
          <p:cNvSpPr/>
          <p:nvPr/>
        </p:nvSpPr>
        <p:spPr>
          <a:xfrm>
            <a:off x="8778240" y="5129784"/>
            <a:ext cx="0" cy="457200"/>
          </a:xfrm>
          <a:prstGeom prst="line">
            <a:avLst/>
          </a:prstGeom>
          <a:noFill/>
          <a:ln w="38100">
            <a:solidFill>
              <a:srgbClr val="BDB6F5"/>
            </a:solidFill>
            <a:prstDash val="solid"/>
          </a:ln>
        </p:spPr>
      </p:sp>
      <p:sp>
        <p:nvSpPr>
          <p:cNvPr id="56" name="Title MOF CO2 linker"/>
          <p:cNvSpPr/>
          <p:nvPr/>
        </p:nvSpPr>
        <p:spPr>
          <a:xfrm>
            <a:off x="8321040" y="5586984"/>
            <a:ext cx="457200" cy="0"/>
          </a:xfrm>
          <a:prstGeom prst="line">
            <a:avLst/>
          </a:prstGeom>
          <a:noFill/>
          <a:ln w="38100">
            <a:solidFill>
              <a:srgbClr val="BDB6F5"/>
            </a:solidFill>
            <a:prstDash val="solid"/>
          </a:ln>
        </p:spPr>
      </p:sp>
      <p:sp>
        <p:nvSpPr>
          <p:cNvPr id="57" name="Title MOF CO2 linker ring"/>
          <p:cNvSpPr/>
          <p:nvPr/>
        </p:nvSpPr>
        <p:spPr>
          <a:xfrm>
            <a:off x="8494776" y="5081778"/>
            <a:ext cx="109728" cy="96012"/>
          </a:xfrm>
          <a:prstGeom prst="hexagon">
            <a:avLst/>
          </a:prstGeom>
          <a:solidFill>
            <a:schemeClr val="tx2"/>
          </a:solidFill>
          <a:ln w="9525">
            <a:solidFill>
              <a:schemeClr val="accent1"/>
            </a:solidFill>
            <a:prstDash val="solid"/>
          </a:ln>
        </p:spPr>
      </p:sp>
      <p:sp>
        <p:nvSpPr>
          <p:cNvPr id="58" name="Title MOF CO2 linker ring"/>
          <p:cNvSpPr/>
          <p:nvPr/>
        </p:nvSpPr>
        <p:spPr>
          <a:xfrm rot="5400000">
            <a:off x="8266176" y="5310378"/>
            <a:ext cx="109728" cy="96012"/>
          </a:xfrm>
          <a:prstGeom prst="hexagon">
            <a:avLst/>
          </a:prstGeom>
          <a:solidFill>
            <a:schemeClr val="tx2"/>
          </a:solidFill>
          <a:ln w="9525">
            <a:solidFill>
              <a:schemeClr val="accent1"/>
            </a:solidFill>
            <a:prstDash val="solid"/>
          </a:ln>
        </p:spPr>
      </p:sp>
      <p:sp>
        <p:nvSpPr>
          <p:cNvPr id="59" name="Title MOF CO2 linker ring"/>
          <p:cNvSpPr/>
          <p:nvPr/>
        </p:nvSpPr>
        <p:spPr>
          <a:xfrm rot="5400000">
            <a:off x="8723376" y="5310378"/>
            <a:ext cx="109728" cy="96012"/>
          </a:xfrm>
          <a:prstGeom prst="hexagon">
            <a:avLst/>
          </a:prstGeom>
          <a:solidFill>
            <a:schemeClr val="tx2"/>
          </a:solidFill>
          <a:ln w="9525">
            <a:solidFill>
              <a:schemeClr val="accent1"/>
            </a:solidFill>
            <a:prstDash val="solid"/>
          </a:ln>
        </p:spPr>
      </p:sp>
      <p:sp>
        <p:nvSpPr>
          <p:cNvPr id="60" name="Title MOF CO2 linker ring"/>
          <p:cNvSpPr/>
          <p:nvPr/>
        </p:nvSpPr>
        <p:spPr>
          <a:xfrm>
            <a:off x="8494776" y="5538978"/>
            <a:ext cx="109728" cy="96012"/>
          </a:xfrm>
          <a:prstGeom prst="hexagon">
            <a:avLst/>
          </a:prstGeom>
          <a:solidFill>
            <a:schemeClr val="tx2"/>
          </a:solidFill>
          <a:ln w="9525">
            <a:solidFill>
              <a:schemeClr val="accent1"/>
            </a:solidFill>
            <a:prstDash val="solid"/>
          </a:ln>
        </p:spPr>
      </p:sp>
      <p:sp>
        <p:nvSpPr>
          <p:cNvPr id="61" name="Title MOF CO2 metal node"/>
          <p:cNvSpPr/>
          <p:nvPr/>
        </p:nvSpPr>
        <p:spPr>
          <a:xfrm>
            <a:off x="8243316" y="5052060"/>
            <a:ext cx="155448" cy="155448"/>
          </a:xfrm>
          <a:prstGeom prst="diamond">
            <a:avLst/>
          </a:prstGeom>
          <a:solidFill>
            <a:schemeClr val="accent1"/>
          </a:solidFill>
          <a:ln w="9525">
            <a:solidFill>
              <a:schemeClr val="bg1"/>
            </a:solidFill>
            <a:prstDash val="solid"/>
          </a:ln>
        </p:spPr>
      </p:sp>
      <p:sp>
        <p:nvSpPr>
          <p:cNvPr id="62" name="Title MOF CO2 metal node"/>
          <p:cNvSpPr/>
          <p:nvPr/>
        </p:nvSpPr>
        <p:spPr>
          <a:xfrm>
            <a:off x="8700516" y="5052060"/>
            <a:ext cx="155448" cy="155448"/>
          </a:xfrm>
          <a:prstGeom prst="diamond">
            <a:avLst/>
          </a:prstGeom>
          <a:solidFill>
            <a:schemeClr val="accent1"/>
          </a:solidFill>
          <a:ln w="9525">
            <a:solidFill>
              <a:schemeClr val="bg1"/>
            </a:solidFill>
            <a:prstDash val="solid"/>
          </a:ln>
        </p:spPr>
      </p:sp>
      <p:sp>
        <p:nvSpPr>
          <p:cNvPr id="63" name="Title MOF CO2 metal node"/>
          <p:cNvSpPr/>
          <p:nvPr/>
        </p:nvSpPr>
        <p:spPr>
          <a:xfrm>
            <a:off x="8243316" y="5509260"/>
            <a:ext cx="155448" cy="155448"/>
          </a:xfrm>
          <a:prstGeom prst="diamond">
            <a:avLst/>
          </a:prstGeom>
          <a:solidFill>
            <a:schemeClr val="accent1"/>
          </a:solidFill>
          <a:ln w="9525">
            <a:solidFill>
              <a:schemeClr val="bg1"/>
            </a:solidFill>
            <a:prstDash val="solid"/>
          </a:ln>
        </p:spPr>
      </p:sp>
      <p:sp>
        <p:nvSpPr>
          <p:cNvPr id="64" name="Title MOF CO2 metal node"/>
          <p:cNvSpPr/>
          <p:nvPr/>
        </p:nvSpPr>
        <p:spPr>
          <a:xfrm>
            <a:off x="8700516" y="5509260"/>
            <a:ext cx="155448" cy="155448"/>
          </a:xfrm>
          <a:prstGeom prst="diamond">
            <a:avLst/>
          </a:prstGeom>
          <a:solidFill>
            <a:schemeClr val="accent1"/>
          </a:solidFill>
          <a:ln w="9525">
            <a:solidFill>
              <a:schemeClr val="bg1"/>
            </a:solidFill>
            <a:prstDash val="solid"/>
          </a:ln>
        </p:spPr>
      </p:sp>
      <p:sp>
        <p:nvSpPr>
          <p:cNvPr id="65" name="Title MOF CO2 guest CO2 O"/>
          <p:cNvSpPr/>
          <p:nvPr/>
        </p:nvSpPr>
        <p:spPr>
          <a:xfrm>
            <a:off x="8412480" y="5305630"/>
            <a:ext cx="105508" cy="105508"/>
          </a:xfrm>
          <a:prstGeom prst="ellipse">
            <a:avLst/>
          </a:prstGeom>
          <a:solidFill>
            <a:schemeClr val="accent5"/>
          </a:solidFill>
          <a:ln w="9525">
            <a:solidFill>
              <a:srgbClr val="FFFFFF"/>
            </a:solidFill>
            <a:prstDash val="solid"/>
          </a:ln>
        </p:spPr>
      </p:sp>
      <p:sp>
        <p:nvSpPr>
          <p:cNvPr id="66" name="Title MOF CO2 guest CO2 O"/>
          <p:cNvSpPr/>
          <p:nvPr/>
        </p:nvSpPr>
        <p:spPr>
          <a:xfrm>
            <a:off x="8581292" y="5305630"/>
            <a:ext cx="105508" cy="105508"/>
          </a:xfrm>
          <a:prstGeom prst="ellipse">
            <a:avLst/>
          </a:prstGeom>
          <a:solidFill>
            <a:schemeClr val="accent5"/>
          </a:solidFill>
          <a:ln w="9525">
            <a:solidFill>
              <a:srgbClr val="FFFFFF"/>
            </a:solidFill>
            <a:prstDash val="solid"/>
          </a:ln>
        </p:spPr>
      </p:sp>
      <p:sp>
        <p:nvSpPr>
          <p:cNvPr id="67" name="Title MOF CO2 guest CO2 C"/>
          <p:cNvSpPr/>
          <p:nvPr/>
        </p:nvSpPr>
        <p:spPr>
          <a:xfrm>
            <a:off x="8501106" y="5309850"/>
            <a:ext cx="97067" cy="97067"/>
          </a:xfrm>
          <a:prstGeom prst="ellipse">
            <a:avLst/>
          </a:prstGeom>
          <a:solidFill>
            <a:schemeClr val="tx2"/>
          </a:solidFill>
          <a:ln w="9525">
            <a:solidFill>
              <a:srgbClr val="FFFFFF"/>
            </a:solidFill>
            <a:prstDash val="solid"/>
          </a:ln>
        </p:spPr>
      </p:sp>
      <p:sp>
        <p:nvSpPr>
          <p:cNvPr id="68" name="Text 66"/>
          <p:cNvSpPr txBox="1"/>
          <p:nvPr/>
        </p:nvSpPr>
        <p:spPr>
          <a:xfrm>
            <a:off x="9372600" y="5093208"/>
            <a:ext cx="2194560" cy="274320"/>
          </a:xfrm>
          <a:prstGeom prst="rect">
            <a:avLst/>
          </a:prstGeom>
          <a:noFill/>
          <a:ln/>
        </p:spPr>
        <p:txBody>
          <a:bodyPr wrap="square" lIns="0" tIns="0" rIns="0" bIns="0" rtlCol="0" anchor="ctr"/>
          <a:lstStyle/>
          <a:p>
            <a:pPr marL="0" indent="0">
              <a:buNone/>
            </a:pPr>
            <a:r>
              <a:rPr lang="en-US" sz="1400" b="1" dirty="0">
                <a:solidFill>
                  <a:schemeClr val="bg1"/>
                </a:solidFill>
                <a:latin typeface="Arial" pitchFamily="34" charset="0"/>
                <a:ea typeface="Arial" pitchFamily="34" charset="-122"/>
                <a:cs typeface="Arial" pitchFamily="34" charset="-120"/>
              </a:rPr>
              <a:t>CO₂ Capture</a:t>
            </a:r>
            <a:endParaRPr lang="en-US" sz="1400" dirty="0"/>
          </a:p>
        </p:txBody>
      </p:sp>
      <p:sp>
        <p:nvSpPr>
          <p:cNvPr id="69" name="Text 67"/>
          <p:cNvSpPr txBox="1"/>
          <p:nvPr/>
        </p:nvSpPr>
        <p:spPr>
          <a:xfrm>
            <a:off x="9372600" y="5367528"/>
            <a:ext cx="2240280" cy="292608"/>
          </a:xfrm>
          <a:prstGeom prst="rect">
            <a:avLst/>
          </a:prstGeom>
          <a:noFill/>
          <a:ln/>
        </p:spPr>
        <p:txBody>
          <a:bodyPr wrap="square" lIns="0" tIns="0" rIns="0" bIns="0" rtlCol="0" anchor="t"/>
          <a:lstStyle/>
          <a:p>
            <a:pPr marL="0" indent="0">
              <a:buNone/>
            </a:pPr>
            <a:r>
              <a:rPr lang="en-US" sz="1050" dirty="0">
                <a:solidFill>
                  <a:srgbClr val="D9D4FF"/>
                </a:solidFill>
                <a:latin typeface="Arial" pitchFamily="34" charset="0"/>
                <a:ea typeface="Arial" pitchFamily="34" charset="-122"/>
                <a:cs typeface="Arial" pitchFamily="34" charset="-120"/>
              </a:rPr>
              <a:t>CO₂ held within the pores</a:t>
            </a:r>
            <a:endParaRPr lang="en-US" sz="1050" dirty="0"/>
          </a:p>
        </p:txBody>
      </p:sp>
      <p:sp>
        <p:nvSpPr>
          <p:cNvPr id="76" name="Text 1">
            <a:extLst>
              <a:ext uri="{FF2B5EF4-FFF2-40B4-BE49-F238E27FC236}">
                <a16:creationId xmlns:a16="http://schemas.microsoft.com/office/drawing/2014/main" id="{A053D6B6-139B-8662-ECE5-041E5F50D213}"/>
              </a:ext>
            </a:extLst>
          </p:cNvPr>
          <p:cNvSpPr>
            <a:spLocks noGrp="1"/>
          </p:cNvSpPr>
          <p:nvPr/>
        </p:nvSpPr>
        <p:spPr>
          <a:xfrm>
            <a:off x="579120" y="4257283"/>
            <a:ext cx="6766560" cy="384048"/>
          </a:xfrm>
          <a:prstGeom prst="rect">
            <a:avLst/>
          </a:prstGeom>
          <a:noFill/>
          <a:ln/>
        </p:spPr>
        <p:txBody>
          <a:bodyPr wrap="square" lIns="0" tIns="0" rIns="0" bIns="0" rtlCol="0" anchor="t"/>
          <a:lstStyle>
            <a:lvl1pPr marL="0" indent="0" algn="l" defTabSz="914400" rtl="0" eaLnBrk="1" latinLnBrk="0" hangingPunct="1">
              <a:spcBef>
                <a:spcPct val="20000"/>
              </a:spcBef>
              <a:buFont typeface="Arial" pitchFamily="34" charset="0"/>
              <a:buNone/>
              <a:defRPr lang="en-US" sz="2400" b="1" kern="1200" dirty="0">
                <a:solidFill>
                  <a:schemeClr val="accent1"/>
                </a:solidFill>
                <a:latin typeface="Arial" pitchFamily="34" charset="0"/>
                <a:ea typeface="Arial" pitchFamily="34" charset="-122"/>
                <a:cs typeface="Arial" pitchFamily="34" charset="-120"/>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SA" i="0" dirty="0">
                <a:effectLst/>
                <a:cs typeface="Arial" panose="020B0604020202020204" pitchFamily="34" charset="0"/>
              </a:rPr>
              <a:t>Fahadh Mohammad</a:t>
            </a:r>
            <a:endParaRPr lang="en-SA" dirty="0">
              <a:effectLst/>
              <a:cs typeface="Arial" panose="020B0604020202020204" pitchFamily="34" charset="0"/>
            </a:endParaRPr>
          </a:p>
          <a:p>
            <a:pPr marL="0" indent="0" algn="l">
              <a:buNone/>
            </a:pPr>
            <a:endParaRPr lang="en-US" dirty="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lide title"/>
          <p:cNvSpPr txBox="1"/>
          <p:nvPr/>
        </p:nvSpPr>
        <p:spPr>
          <a:xfrm>
            <a:off x="448056" y="1700784"/>
            <a:ext cx="11292840" cy="502920"/>
          </a:xfrm>
          <a:prstGeom prst="rect">
            <a:avLst/>
          </a:prstGeom>
          <a:noFill/>
          <a:ln/>
        </p:spPr>
        <p:txBody>
          <a:bodyPr wrap="square" lIns="0" tIns="0" rIns="0" bIns="0" rtlCol="0" anchor="ctr"/>
          <a:lstStyle/>
          <a:p>
            <a:pPr marL="0" indent="0" algn="l">
              <a:buNone/>
            </a:pPr>
            <a:r>
              <a:rPr lang="en-US" sz="2600" b="1" dirty="0">
                <a:solidFill>
                  <a:schemeClr val="accent3"/>
                </a:solidFill>
              </a:rPr>
              <a:t>Bimetal-Engineered MOF for Direct Air CO₂ Capture</a:t>
            </a:r>
            <a:endParaRPr lang="en-US" sz="2600" dirty="0"/>
          </a:p>
        </p:txBody>
      </p:sp>
      <p:sp>
        <p:nvSpPr>
          <p:cNvPr id="3" name="Slide subtitle"/>
          <p:cNvSpPr txBox="1"/>
          <p:nvPr/>
        </p:nvSpPr>
        <p:spPr>
          <a:xfrm>
            <a:off x="448056" y="2212848"/>
            <a:ext cx="7315200" cy="256032"/>
          </a:xfrm>
          <a:prstGeom prst="rect">
            <a:avLst/>
          </a:prstGeom>
          <a:noFill/>
          <a:ln/>
        </p:spPr>
        <p:txBody>
          <a:bodyPr wrap="square" lIns="0" tIns="0" rIns="0" bIns="0" rtlCol="0" anchor="ctr"/>
          <a:lstStyle/>
          <a:p>
            <a:pPr marL="0" indent="0">
              <a:buNone/>
            </a:pPr>
            <a:r>
              <a:rPr lang="en-US" sz="1300" i="1" dirty="0">
                <a:solidFill>
                  <a:schemeClr val="accent6"/>
                </a:solidFill>
              </a:rPr>
              <a:t>Research background, problem and objective</a:t>
            </a:r>
            <a:endParaRPr lang="en-US" sz="1300" dirty="0"/>
          </a:p>
        </p:txBody>
      </p:sp>
      <p:sp>
        <p:nvSpPr>
          <p:cNvPr id="4" name="Card MOF"/>
          <p:cNvSpPr/>
          <p:nvPr/>
        </p:nvSpPr>
        <p:spPr>
          <a:xfrm>
            <a:off x="448056" y="2542032"/>
            <a:ext cx="3611880" cy="2103120"/>
          </a:xfrm>
          <a:prstGeom prst="roundRect">
            <a:avLst>
              <a:gd name="adj" fmla="val 3478"/>
            </a:avLst>
          </a:prstGeom>
          <a:solidFill>
            <a:schemeClr val="bg2"/>
          </a:solidFill>
          <a:ln w="12700">
            <a:solidFill>
              <a:schemeClr val="bg2"/>
            </a:solidFill>
            <a:prstDash val="solid"/>
          </a:ln>
        </p:spPr>
      </p:sp>
      <p:sp>
        <p:nvSpPr>
          <p:cNvPr id="5" name="Number 1"/>
          <p:cNvSpPr/>
          <p:nvPr/>
        </p:nvSpPr>
        <p:spPr>
          <a:xfrm>
            <a:off x="585216" y="2660904"/>
            <a:ext cx="292608" cy="292608"/>
          </a:xfrm>
          <a:prstGeom prst="ellipse">
            <a:avLst/>
          </a:prstGeom>
          <a:solidFill>
            <a:schemeClr val="accent3"/>
          </a:solidFill>
          <a:ln w="12700">
            <a:solidFill>
              <a:schemeClr val="accent3"/>
            </a:solidFill>
            <a:prstDash val="solid"/>
          </a:ln>
        </p:spPr>
      </p:sp>
      <p:sp>
        <p:nvSpPr>
          <p:cNvPr id="6" name="Number 1 label"/>
          <p:cNvSpPr txBox="1"/>
          <p:nvPr/>
        </p:nvSpPr>
        <p:spPr>
          <a:xfrm>
            <a:off x="585216" y="266090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rPr>
              <a:t>1</a:t>
            </a:r>
            <a:endParaRPr lang="en-US" sz="1200" dirty="0"/>
          </a:p>
        </p:txBody>
      </p:sp>
      <p:sp>
        <p:nvSpPr>
          <p:cNvPr id="7" name="Card title 1"/>
          <p:cNvSpPr txBox="1"/>
          <p:nvPr/>
        </p:nvSpPr>
        <p:spPr>
          <a:xfrm>
            <a:off x="978408" y="2660904"/>
            <a:ext cx="2926080" cy="292608"/>
          </a:xfrm>
          <a:prstGeom prst="rect">
            <a:avLst/>
          </a:prstGeom>
          <a:noFill/>
          <a:ln/>
        </p:spPr>
        <p:txBody>
          <a:bodyPr wrap="square" lIns="0" tIns="0" rIns="0" bIns="0" rtlCol="0" anchor="ctr"/>
          <a:lstStyle/>
          <a:p>
            <a:pPr marL="0" indent="0">
              <a:buNone/>
            </a:pPr>
            <a:r>
              <a:rPr lang="en-US" sz="1500" b="1" dirty="0">
                <a:solidFill>
                  <a:schemeClr val="accent3"/>
                </a:solidFill>
              </a:rPr>
              <a:t>What is a MOF?</a:t>
            </a:r>
            <a:endParaRPr lang="en-US" sz="1500" dirty="0"/>
          </a:p>
        </p:txBody>
      </p:sp>
      <p:sp>
        <p:nvSpPr>
          <p:cNvPr id="8" name="Linker h 00"/>
          <p:cNvSpPr/>
          <p:nvPr/>
        </p:nvSpPr>
        <p:spPr>
          <a:xfrm>
            <a:off x="950976" y="3200400"/>
            <a:ext cx="640080" cy="0"/>
          </a:xfrm>
          <a:prstGeom prst="line">
            <a:avLst/>
          </a:prstGeom>
          <a:noFill/>
          <a:ln w="38100">
            <a:solidFill>
              <a:schemeClr val="accent1"/>
            </a:solidFill>
            <a:prstDash val="solid"/>
          </a:ln>
        </p:spPr>
      </p:sp>
      <p:sp>
        <p:nvSpPr>
          <p:cNvPr id="9" name="Linker v 00"/>
          <p:cNvSpPr/>
          <p:nvPr/>
        </p:nvSpPr>
        <p:spPr>
          <a:xfrm>
            <a:off x="950976" y="3200400"/>
            <a:ext cx="0" cy="457200"/>
          </a:xfrm>
          <a:prstGeom prst="line">
            <a:avLst/>
          </a:prstGeom>
          <a:noFill/>
          <a:ln w="38100">
            <a:solidFill>
              <a:schemeClr val="accent1"/>
            </a:solidFill>
            <a:prstDash val="solid"/>
          </a:ln>
        </p:spPr>
      </p:sp>
      <p:sp>
        <p:nvSpPr>
          <p:cNvPr id="10" name="Linker h 01"/>
          <p:cNvSpPr/>
          <p:nvPr/>
        </p:nvSpPr>
        <p:spPr>
          <a:xfrm>
            <a:off x="1591056" y="3200400"/>
            <a:ext cx="640080" cy="0"/>
          </a:xfrm>
          <a:prstGeom prst="line">
            <a:avLst/>
          </a:prstGeom>
          <a:noFill/>
          <a:ln w="38100">
            <a:solidFill>
              <a:schemeClr val="accent1"/>
            </a:solidFill>
            <a:prstDash val="solid"/>
          </a:ln>
        </p:spPr>
      </p:sp>
      <p:sp>
        <p:nvSpPr>
          <p:cNvPr id="11" name="Linker v 01"/>
          <p:cNvSpPr/>
          <p:nvPr/>
        </p:nvSpPr>
        <p:spPr>
          <a:xfrm>
            <a:off x="1591056" y="3200400"/>
            <a:ext cx="0" cy="457200"/>
          </a:xfrm>
          <a:prstGeom prst="line">
            <a:avLst/>
          </a:prstGeom>
          <a:noFill/>
          <a:ln w="38100">
            <a:solidFill>
              <a:schemeClr val="accent1"/>
            </a:solidFill>
            <a:prstDash val="solid"/>
          </a:ln>
        </p:spPr>
      </p:sp>
      <p:sp>
        <p:nvSpPr>
          <p:cNvPr id="12" name="Linker v 02"/>
          <p:cNvSpPr/>
          <p:nvPr/>
        </p:nvSpPr>
        <p:spPr>
          <a:xfrm>
            <a:off x="2231136" y="3200400"/>
            <a:ext cx="0" cy="457200"/>
          </a:xfrm>
          <a:prstGeom prst="line">
            <a:avLst/>
          </a:prstGeom>
          <a:noFill/>
          <a:ln w="38100">
            <a:solidFill>
              <a:schemeClr val="accent1"/>
            </a:solidFill>
            <a:prstDash val="solid"/>
          </a:ln>
        </p:spPr>
      </p:sp>
      <p:sp>
        <p:nvSpPr>
          <p:cNvPr id="13" name="Linker h 10"/>
          <p:cNvSpPr/>
          <p:nvPr/>
        </p:nvSpPr>
        <p:spPr>
          <a:xfrm>
            <a:off x="950976" y="3657600"/>
            <a:ext cx="640080" cy="0"/>
          </a:xfrm>
          <a:prstGeom prst="line">
            <a:avLst/>
          </a:prstGeom>
          <a:noFill/>
          <a:ln w="38100">
            <a:solidFill>
              <a:schemeClr val="accent1"/>
            </a:solidFill>
            <a:prstDash val="solid"/>
          </a:ln>
        </p:spPr>
      </p:sp>
      <p:sp>
        <p:nvSpPr>
          <p:cNvPr id="14" name="Linker h 11"/>
          <p:cNvSpPr/>
          <p:nvPr/>
        </p:nvSpPr>
        <p:spPr>
          <a:xfrm>
            <a:off x="1591056" y="3657600"/>
            <a:ext cx="640080" cy="0"/>
          </a:xfrm>
          <a:prstGeom prst="line">
            <a:avLst/>
          </a:prstGeom>
          <a:noFill/>
          <a:ln w="38100">
            <a:solidFill>
              <a:schemeClr val="accent1"/>
            </a:solidFill>
            <a:prstDash val="solid"/>
          </a:ln>
        </p:spPr>
      </p:sp>
      <p:sp>
        <p:nvSpPr>
          <p:cNvPr id="15" name="Metal node 00"/>
          <p:cNvSpPr/>
          <p:nvPr/>
        </p:nvSpPr>
        <p:spPr>
          <a:xfrm>
            <a:off x="841248" y="3090672"/>
            <a:ext cx="219456" cy="219456"/>
          </a:xfrm>
          <a:prstGeom prst="ellipse">
            <a:avLst/>
          </a:prstGeom>
          <a:solidFill>
            <a:schemeClr val="accent3"/>
          </a:solidFill>
          <a:ln w="12700">
            <a:solidFill>
              <a:schemeClr val="accent3"/>
            </a:solidFill>
            <a:prstDash val="solid"/>
          </a:ln>
        </p:spPr>
      </p:sp>
      <p:sp>
        <p:nvSpPr>
          <p:cNvPr id="16" name="Metal node 01"/>
          <p:cNvSpPr/>
          <p:nvPr/>
        </p:nvSpPr>
        <p:spPr>
          <a:xfrm>
            <a:off x="1481328" y="3090672"/>
            <a:ext cx="219456" cy="219456"/>
          </a:xfrm>
          <a:prstGeom prst="ellipse">
            <a:avLst/>
          </a:prstGeom>
          <a:solidFill>
            <a:schemeClr val="accent3"/>
          </a:solidFill>
          <a:ln w="12700">
            <a:solidFill>
              <a:schemeClr val="accent3"/>
            </a:solidFill>
            <a:prstDash val="solid"/>
          </a:ln>
        </p:spPr>
      </p:sp>
      <p:sp>
        <p:nvSpPr>
          <p:cNvPr id="17" name="Metal node 02"/>
          <p:cNvSpPr/>
          <p:nvPr/>
        </p:nvSpPr>
        <p:spPr>
          <a:xfrm>
            <a:off x="2121408" y="3090672"/>
            <a:ext cx="219456" cy="219456"/>
          </a:xfrm>
          <a:prstGeom prst="ellipse">
            <a:avLst/>
          </a:prstGeom>
          <a:solidFill>
            <a:schemeClr val="accent3"/>
          </a:solidFill>
          <a:ln w="12700">
            <a:solidFill>
              <a:schemeClr val="accent3"/>
            </a:solidFill>
            <a:prstDash val="solid"/>
          </a:ln>
        </p:spPr>
      </p:sp>
      <p:sp>
        <p:nvSpPr>
          <p:cNvPr id="18" name="Metal node 10"/>
          <p:cNvSpPr/>
          <p:nvPr/>
        </p:nvSpPr>
        <p:spPr>
          <a:xfrm>
            <a:off x="841248" y="3547872"/>
            <a:ext cx="219456" cy="219456"/>
          </a:xfrm>
          <a:prstGeom prst="ellipse">
            <a:avLst/>
          </a:prstGeom>
          <a:solidFill>
            <a:schemeClr val="accent3"/>
          </a:solidFill>
          <a:ln w="12700">
            <a:solidFill>
              <a:schemeClr val="accent3"/>
            </a:solidFill>
            <a:prstDash val="solid"/>
          </a:ln>
        </p:spPr>
      </p:sp>
      <p:sp>
        <p:nvSpPr>
          <p:cNvPr id="19" name="Metal node 11"/>
          <p:cNvSpPr/>
          <p:nvPr/>
        </p:nvSpPr>
        <p:spPr>
          <a:xfrm>
            <a:off x="1481328" y="3547872"/>
            <a:ext cx="219456" cy="219456"/>
          </a:xfrm>
          <a:prstGeom prst="ellipse">
            <a:avLst/>
          </a:prstGeom>
          <a:solidFill>
            <a:schemeClr val="accent3"/>
          </a:solidFill>
          <a:ln w="12700">
            <a:solidFill>
              <a:schemeClr val="accent3"/>
            </a:solidFill>
            <a:prstDash val="solid"/>
          </a:ln>
        </p:spPr>
      </p:sp>
      <p:sp>
        <p:nvSpPr>
          <p:cNvPr id="20" name="Metal node 12"/>
          <p:cNvSpPr/>
          <p:nvPr/>
        </p:nvSpPr>
        <p:spPr>
          <a:xfrm>
            <a:off x="2121408" y="3547872"/>
            <a:ext cx="219456" cy="219456"/>
          </a:xfrm>
          <a:prstGeom prst="ellipse">
            <a:avLst/>
          </a:prstGeom>
          <a:solidFill>
            <a:schemeClr val="accent3"/>
          </a:solidFill>
          <a:ln w="12700">
            <a:solidFill>
              <a:schemeClr val="accent3"/>
            </a:solidFill>
            <a:prstDash val="solid"/>
          </a:ln>
        </p:spPr>
      </p:sp>
      <p:sp>
        <p:nvSpPr>
          <p:cNvPr id="21" name="CO2 in pore 1"/>
          <p:cNvSpPr/>
          <p:nvPr/>
        </p:nvSpPr>
        <p:spPr>
          <a:xfrm>
            <a:off x="1211580" y="3369564"/>
            <a:ext cx="118872" cy="118872"/>
          </a:xfrm>
          <a:prstGeom prst="ellipse">
            <a:avLst/>
          </a:prstGeom>
          <a:solidFill>
            <a:schemeClr val="accent2"/>
          </a:solidFill>
          <a:ln w="12700">
            <a:solidFill>
              <a:schemeClr val="accent2"/>
            </a:solidFill>
            <a:prstDash val="solid"/>
          </a:ln>
        </p:spPr>
      </p:sp>
      <p:sp>
        <p:nvSpPr>
          <p:cNvPr id="22" name="Legend node"/>
          <p:cNvSpPr txBox="1"/>
          <p:nvPr/>
        </p:nvSpPr>
        <p:spPr>
          <a:xfrm>
            <a:off x="2779776" y="3081528"/>
            <a:ext cx="1097280" cy="201168"/>
          </a:xfrm>
          <a:prstGeom prst="rect">
            <a:avLst/>
          </a:prstGeom>
          <a:noFill/>
          <a:ln/>
        </p:spPr>
        <p:txBody>
          <a:bodyPr wrap="square" lIns="0" tIns="0" rIns="0" bIns="0" rtlCol="0" anchor="ctr"/>
          <a:lstStyle/>
          <a:p>
            <a:pPr marL="0" indent="0">
              <a:buNone/>
            </a:pPr>
            <a:r>
              <a:rPr lang="en-US" sz="1100" b="1" dirty="0">
                <a:solidFill>
                  <a:schemeClr val="accent3"/>
                </a:solidFill>
              </a:rPr>
              <a:t>metal node</a:t>
            </a:r>
            <a:endParaRPr lang="en-US" sz="1100" dirty="0"/>
          </a:p>
        </p:txBody>
      </p:sp>
      <p:sp>
        <p:nvSpPr>
          <p:cNvPr id="23" name="Legend linker"/>
          <p:cNvSpPr txBox="1"/>
          <p:nvPr/>
        </p:nvSpPr>
        <p:spPr>
          <a:xfrm>
            <a:off x="2779776" y="3374136"/>
            <a:ext cx="1097280" cy="201168"/>
          </a:xfrm>
          <a:prstGeom prst="rect">
            <a:avLst/>
          </a:prstGeom>
          <a:noFill/>
          <a:ln/>
        </p:spPr>
        <p:txBody>
          <a:bodyPr wrap="square" lIns="0" tIns="0" rIns="0" bIns="0" rtlCol="0" anchor="ctr"/>
          <a:lstStyle/>
          <a:p>
            <a:pPr marL="0" indent="0">
              <a:buNone/>
            </a:pPr>
            <a:r>
              <a:rPr lang="en-US" sz="1100" b="1" dirty="0">
                <a:solidFill>
                  <a:schemeClr val="accent6"/>
                </a:solidFill>
              </a:rPr>
              <a:t>organic linker</a:t>
            </a:r>
            <a:endParaRPr lang="en-US" sz="1100" dirty="0"/>
          </a:p>
        </p:txBody>
      </p:sp>
      <p:sp>
        <p:nvSpPr>
          <p:cNvPr id="24" name="Legend CO2"/>
          <p:cNvSpPr txBox="1"/>
          <p:nvPr/>
        </p:nvSpPr>
        <p:spPr>
          <a:xfrm>
            <a:off x="2779776" y="3630168"/>
            <a:ext cx="1097280" cy="201168"/>
          </a:xfrm>
          <a:prstGeom prst="rect">
            <a:avLst/>
          </a:prstGeom>
          <a:noFill/>
          <a:ln/>
        </p:spPr>
        <p:txBody>
          <a:bodyPr wrap="square" lIns="0" tIns="0" rIns="0" bIns="0" rtlCol="0" anchor="ctr"/>
          <a:lstStyle/>
          <a:p>
            <a:pPr marL="0" indent="0">
              <a:buNone/>
            </a:pPr>
            <a:r>
              <a:rPr lang="en-US" sz="1100" b="1" dirty="0">
                <a:solidFill>
                  <a:srgbClr val="B8531A"/>
                </a:solidFill>
              </a:rPr>
              <a:t>pore with CO₂</a:t>
            </a:r>
            <a:endParaRPr lang="en-US" sz="1100" dirty="0"/>
          </a:p>
        </p:txBody>
      </p:sp>
      <p:sp>
        <p:nvSpPr>
          <p:cNvPr id="25" name="Legend marker node"/>
          <p:cNvSpPr/>
          <p:nvPr/>
        </p:nvSpPr>
        <p:spPr>
          <a:xfrm>
            <a:off x="2615184" y="3127248"/>
            <a:ext cx="109728" cy="109728"/>
          </a:xfrm>
          <a:prstGeom prst="ellipse">
            <a:avLst/>
          </a:prstGeom>
          <a:solidFill>
            <a:schemeClr val="accent3"/>
          </a:solidFill>
          <a:ln w="12700">
            <a:solidFill>
              <a:schemeClr val="accent3"/>
            </a:solidFill>
            <a:prstDash val="solid"/>
          </a:ln>
        </p:spPr>
      </p:sp>
      <p:sp>
        <p:nvSpPr>
          <p:cNvPr id="26" name="Legend marker linker"/>
          <p:cNvSpPr/>
          <p:nvPr/>
        </p:nvSpPr>
        <p:spPr>
          <a:xfrm>
            <a:off x="2596896" y="3474720"/>
            <a:ext cx="146304" cy="0"/>
          </a:xfrm>
          <a:prstGeom prst="line">
            <a:avLst/>
          </a:prstGeom>
          <a:noFill/>
          <a:ln w="38100">
            <a:solidFill>
              <a:schemeClr val="accent1"/>
            </a:solidFill>
            <a:prstDash val="solid"/>
          </a:ln>
        </p:spPr>
      </p:sp>
      <p:sp>
        <p:nvSpPr>
          <p:cNvPr id="27" name="Legend marker CO2"/>
          <p:cNvSpPr/>
          <p:nvPr/>
        </p:nvSpPr>
        <p:spPr>
          <a:xfrm>
            <a:off x="2619756" y="3680460"/>
            <a:ext cx="100584" cy="100584"/>
          </a:xfrm>
          <a:prstGeom prst="ellipse">
            <a:avLst/>
          </a:prstGeom>
          <a:solidFill>
            <a:schemeClr val="accent2"/>
          </a:solidFill>
          <a:ln w="12700">
            <a:solidFill>
              <a:schemeClr val="accent2"/>
            </a:solidFill>
            <a:prstDash val="solid"/>
          </a:ln>
        </p:spPr>
      </p:sp>
      <p:sp>
        <p:nvSpPr>
          <p:cNvPr id="28" name="Card MOF text"/>
          <p:cNvSpPr txBox="1"/>
          <p:nvPr/>
        </p:nvSpPr>
        <p:spPr>
          <a:xfrm>
            <a:off x="630936" y="3959352"/>
            <a:ext cx="3246120" cy="621792"/>
          </a:xfrm>
          <a:prstGeom prst="rect">
            <a:avLst/>
          </a:prstGeom>
          <a:noFill/>
          <a:ln/>
        </p:spPr>
        <p:txBody>
          <a:bodyPr wrap="square" lIns="0" tIns="0" rIns="0" bIns="0" rtlCol="0" anchor="t"/>
          <a:lstStyle/>
          <a:p>
            <a:pPr marL="0" indent="0">
              <a:buNone/>
            </a:pPr>
            <a:r>
              <a:rPr lang="en-US" sz="1250" dirty="0">
                <a:solidFill>
                  <a:schemeClr val="tx2"/>
                </a:solidFill>
              </a:rPr>
              <a:t>Porous crystalline solids of metal nodes and organic linkers, with tunable pores and chemistry; candidates for CO₂ capture.</a:t>
            </a:r>
            <a:endParaRPr lang="en-US" sz="1250" dirty="0"/>
          </a:p>
        </p:txBody>
      </p:sp>
      <p:sp>
        <p:nvSpPr>
          <p:cNvPr id="29" name="Card DAC"/>
          <p:cNvSpPr/>
          <p:nvPr/>
        </p:nvSpPr>
        <p:spPr>
          <a:xfrm>
            <a:off x="4242816" y="2542032"/>
            <a:ext cx="3611880" cy="2103120"/>
          </a:xfrm>
          <a:prstGeom prst="roundRect">
            <a:avLst>
              <a:gd name="adj" fmla="val 3478"/>
            </a:avLst>
          </a:prstGeom>
          <a:solidFill>
            <a:schemeClr val="bg2"/>
          </a:solidFill>
          <a:ln w="12700">
            <a:solidFill>
              <a:schemeClr val="bg2"/>
            </a:solidFill>
            <a:prstDash val="solid"/>
          </a:ln>
        </p:spPr>
      </p:sp>
      <p:sp>
        <p:nvSpPr>
          <p:cNvPr id="30" name="Number 2"/>
          <p:cNvSpPr/>
          <p:nvPr/>
        </p:nvSpPr>
        <p:spPr>
          <a:xfrm>
            <a:off x="4379976" y="2660904"/>
            <a:ext cx="292608" cy="292608"/>
          </a:xfrm>
          <a:prstGeom prst="ellipse">
            <a:avLst/>
          </a:prstGeom>
          <a:solidFill>
            <a:schemeClr val="accent3"/>
          </a:solidFill>
          <a:ln w="12700">
            <a:solidFill>
              <a:schemeClr val="accent3"/>
            </a:solidFill>
            <a:prstDash val="solid"/>
          </a:ln>
        </p:spPr>
      </p:sp>
      <p:sp>
        <p:nvSpPr>
          <p:cNvPr id="31" name="Number 2 label"/>
          <p:cNvSpPr txBox="1"/>
          <p:nvPr/>
        </p:nvSpPr>
        <p:spPr>
          <a:xfrm>
            <a:off x="4379976" y="266090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rPr>
              <a:t>2</a:t>
            </a:r>
            <a:endParaRPr lang="en-US" sz="1200" dirty="0"/>
          </a:p>
        </p:txBody>
      </p:sp>
      <p:sp>
        <p:nvSpPr>
          <p:cNvPr id="32" name="Card title 2"/>
          <p:cNvSpPr txBox="1"/>
          <p:nvPr/>
        </p:nvSpPr>
        <p:spPr>
          <a:xfrm>
            <a:off x="4773168" y="2660904"/>
            <a:ext cx="2926080" cy="292608"/>
          </a:xfrm>
          <a:prstGeom prst="rect">
            <a:avLst/>
          </a:prstGeom>
          <a:noFill/>
          <a:ln/>
        </p:spPr>
        <p:txBody>
          <a:bodyPr wrap="square" lIns="0" tIns="0" rIns="0" bIns="0" rtlCol="0" anchor="ctr"/>
          <a:lstStyle/>
          <a:p>
            <a:pPr marL="0" indent="0">
              <a:buNone/>
            </a:pPr>
            <a:r>
              <a:rPr lang="en-US" sz="1500" b="1" dirty="0">
                <a:solidFill>
                  <a:schemeClr val="accent3"/>
                </a:solidFill>
              </a:rPr>
              <a:t>Why is direct air capture hard?</a:t>
            </a:r>
            <a:endParaRPr lang="en-US" sz="1500" dirty="0"/>
          </a:p>
        </p:txBody>
      </p:sp>
      <p:sp>
        <p:nvSpPr>
          <p:cNvPr id="33" name="Ambient air box"/>
          <p:cNvSpPr/>
          <p:nvPr/>
        </p:nvSpPr>
        <p:spPr>
          <a:xfrm>
            <a:off x="4425696" y="3072384"/>
            <a:ext cx="3246120" cy="658368"/>
          </a:xfrm>
          <a:prstGeom prst="rect">
            <a:avLst/>
          </a:prstGeom>
          <a:solidFill>
            <a:srgbClr val="FFFFFF"/>
          </a:solidFill>
          <a:ln w="12700">
            <a:solidFill>
              <a:schemeClr val="accent1"/>
            </a:solidFill>
            <a:prstDash val="solid"/>
          </a:ln>
        </p:spPr>
      </p:sp>
      <p:sp>
        <p:nvSpPr>
          <p:cNvPr id="34" name="Air gas 0"/>
          <p:cNvSpPr/>
          <p:nvPr/>
        </p:nvSpPr>
        <p:spPr>
          <a:xfrm>
            <a:off x="5989677" y="3400755"/>
            <a:ext cx="59436" cy="59436"/>
          </a:xfrm>
          <a:prstGeom prst="ellipse">
            <a:avLst/>
          </a:prstGeom>
          <a:solidFill>
            <a:srgbClr val="B9B9C2"/>
          </a:solidFill>
          <a:ln w="12700">
            <a:solidFill>
              <a:srgbClr val="B9B9C2"/>
            </a:solidFill>
            <a:prstDash val="solid"/>
          </a:ln>
        </p:spPr>
      </p:sp>
      <p:sp>
        <p:nvSpPr>
          <p:cNvPr id="35" name="Air gas 1"/>
          <p:cNvSpPr/>
          <p:nvPr/>
        </p:nvSpPr>
        <p:spPr>
          <a:xfrm>
            <a:off x="4841146" y="3250114"/>
            <a:ext cx="59436" cy="59436"/>
          </a:xfrm>
          <a:prstGeom prst="ellipse">
            <a:avLst/>
          </a:prstGeom>
          <a:solidFill>
            <a:srgbClr val="B9B9C2"/>
          </a:solidFill>
          <a:ln w="12700">
            <a:solidFill>
              <a:srgbClr val="B9B9C2"/>
            </a:solidFill>
            <a:prstDash val="solid"/>
          </a:ln>
        </p:spPr>
      </p:sp>
      <p:sp>
        <p:nvSpPr>
          <p:cNvPr id="36" name="Air gas 2"/>
          <p:cNvSpPr/>
          <p:nvPr/>
        </p:nvSpPr>
        <p:spPr>
          <a:xfrm>
            <a:off x="5845076" y="3374885"/>
            <a:ext cx="59436" cy="59436"/>
          </a:xfrm>
          <a:prstGeom prst="ellipse">
            <a:avLst/>
          </a:prstGeom>
          <a:solidFill>
            <a:srgbClr val="B9B9C2"/>
          </a:solidFill>
          <a:ln w="12700">
            <a:solidFill>
              <a:srgbClr val="B9B9C2"/>
            </a:solidFill>
            <a:prstDash val="solid"/>
          </a:ln>
        </p:spPr>
      </p:sp>
      <p:sp>
        <p:nvSpPr>
          <p:cNvPr id="37" name="Air gas 3"/>
          <p:cNvSpPr/>
          <p:nvPr/>
        </p:nvSpPr>
        <p:spPr>
          <a:xfrm>
            <a:off x="4728060" y="3551999"/>
            <a:ext cx="59436" cy="59436"/>
          </a:xfrm>
          <a:prstGeom prst="ellipse">
            <a:avLst/>
          </a:prstGeom>
          <a:solidFill>
            <a:srgbClr val="B9B9C2"/>
          </a:solidFill>
          <a:ln w="12700">
            <a:solidFill>
              <a:srgbClr val="B9B9C2"/>
            </a:solidFill>
            <a:prstDash val="solid"/>
          </a:ln>
        </p:spPr>
      </p:sp>
      <p:sp>
        <p:nvSpPr>
          <p:cNvPr id="38" name="Air gas 4"/>
          <p:cNvSpPr/>
          <p:nvPr/>
        </p:nvSpPr>
        <p:spPr>
          <a:xfrm>
            <a:off x="6292954" y="3329448"/>
            <a:ext cx="59436" cy="59436"/>
          </a:xfrm>
          <a:prstGeom prst="ellipse">
            <a:avLst/>
          </a:prstGeom>
          <a:solidFill>
            <a:srgbClr val="B9B9C2"/>
          </a:solidFill>
          <a:ln w="12700">
            <a:solidFill>
              <a:srgbClr val="B9B9C2"/>
            </a:solidFill>
            <a:prstDash val="solid"/>
          </a:ln>
        </p:spPr>
      </p:sp>
      <p:sp>
        <p:nvSpPr>
          <p:cNvPr id="39" name="Air gas 5"/>
          <p:cNvSpPr/>
          <p:nvPr/>
        </p:nvSpPr>
        <p:spPr>
          <a:xfrm>
            <a:off x="5358724" y="3505583"/>
            <a:ext cx="59436" cy="59436"/>
          </a:xfrm>
          <a:prstGeom prst="ellipse">
            <a:avLst/>
          </a:prstGeom>
          <a:solidFill>
            <a:srgbClr val="B9B9C2"/>
          </a:solidFill>
          <a:ln w="12700">
            <a:solidFill>
              <a:srgbClr val="B9B9C2"/>
            </a:solidFill>
            <a:prstDash val="solid"/>
          </a:ln>
        </p:spPr>
      </p:sp>
      <p:sp>
        <p:nvSpPr>
          <p:cNvPr id="40" name="Air gas 6"/>
          <p:cNvSpPr/>
          <p:nvPr/>
        </p:nvSpPr>
        <p:spPr>
          <a:xfrm>
            <a:off x="6501320" y="3170520"/>
            <a:ext cx="59436" cy="59436"/>
          </a:xfrm>
          <a:prstGeom prst="ellipse">
            <a:avLst/>
          </a:prstGeom>
          <a:solidFill>
            <a:srgbClr val="B9B9C2"/>
          </a:solidFill>
          <a:ln w="12700">
            <a:solidFill>
              <a:srgbClr val="B9B9C2"/>
            </a:solidFill>
            <a:prstDash val="solid"/>
          </a:ln>
        </p:spPr>
      </p:sp>
      <p:sp>
        <p:nvSpPr>
          <p:cNvPr id="41" name="Air gas 7"/>
          <p:cNvSpPr/>
          <p:nvPr/>
        </p:nvSpPr>
        <p:spPr>
          <a:xfrm>
            <a:off x="6014600" y="3245883"/>
            <a:ext cx="59436" cy="59436"/>
          </a:xfrm>
          <a:prstGeom prst="ellipse">
            <a:avLst/>
          </a:prstGeom>
          <a:solidFill>
            <a:srgbClr val="B9B9C2"/>
          </a:solidFill>
          <a:ln w="12700">
            <a:solidFill>
              <a:srgbClr val="B9B9C2"/>
            </a:solidFill>
            <a:prstDash val="solid"/>
          </a:ln>
        </p:spPr>
      </p:sp>
      <p:sp>
        <p:nvSpPr>
          <p:cNvPr id="42" name="Air gas 8"/>
          <p:cNvSpPr/>
          <p:nvPr/>
        </p:nvSpPr>
        <p:spPr>
          <a:xfrm>
            <a:off x="6545808" y="3209222"/>
            <a:ext cx="59436" cy="59436"/>
          </a:xfrm>
          <a:prstGeom prst="ellipse">
            <a:avLst/>
          </a:prstGeom>
          <a:solidFill>
            <a:srgbClr val="B9B9C2"/>
          </a:solidFill>
          <a:ln w="12700">
            <a:solidFill>
              <a:srgbClr val="B9B9C2"/>
            </a:solidFill>
            <a:prstDash val="solid"/>
          </a:ln>
        </p:spPr>
      </p:sp>
      <p:sp>
        <p:nvSpPr>
          <p:cNvPr id="43" name="Air gas 9"/>
          <p:cNvSpPr/>
          <p:nvPr/>
        </p:nvSpPr>
        <p:spPr>
          <a:xfrm>
            <a:off x="6204056" y="3365790"/>
            <a:ext cx="59436" cy="59436"/>
          </a:xfrm>
          <a:prstGeom prst="ellipse">
            <a:avLst/>
          </a:prstGeom>
          <a:solidFill>
            <a:srgbClr val="B9B9C2"/>
          </a:solidFill>
          <a:ln w="12700">
            <a:solidFill>
              <a:srgbClr val="B9B9C2"/>
            </a:solidFill>
            <a:prstDash val="solid"/>
          </a:ln>
        </p:spPr>
      </p:sp>
      <p:sp>
        <p:nvSpPr>
          <p:cNvPr id="44" name="Air gas 10"/>
          <p:cNvSpPr/>
          <p:nvPr/>
        </p:nvSpPr>
        <p:spPr>
          <a:xfrm>
            <a:off x="5027162" y="3157915"/>
            <a:ext cx="59436" cy="59436"/>
          </a:xfrm>
          <a:prstGeom prst="ellipse">
            <a:avLst/>
          </a:prstGeom>
          <a:solidFill>
            <a:srgbClr val="B9B9C2"/>
          </a:solidFill>
          <a:ln w="12700">
            <a:solidFill>
              <a:srgbClr val="B9B9C2"/>
            </a:solidFill>
            <a:prstDash val="solid"/>
          </a:ln>
        </p:spPr>
      </p:sp>
      <p:sp>
        <p:nvSpPr>
          <p:cNvPr id="45" name="Air gas 11"/>
          <p:cNvSpPr/>
          <p:nvPr/>
        </p:nvSpPr>
        <p:spPr>
          <a:xfrm>
            <a:off x="7364169" y="3595275"/>
            <a:ext cx="59436" cy="59436"/>
          </a:xfrm>
          <a:prstGeom prst="ellipse">
            <a:avLst/>
          </a:prstGeom>
          <a:solidFill>
            <a:srgbClr val="B9B9C2"/>
          </a:solidFill>
          <a:ln w="12700">
            <a:solidFill>
              <a:srgbClr val="B9B9C2"/>
            </a:solidFill>
            <a:prstDash val="solid"/>
          </a:ln>
        </p:spPr>
      </p:sp>
      <p:sp>
        <p:nvSpPr>
          <p:cNvPr id="46" name="Air gas 12"/>
          <p:cNvSpPr/>
          <p:nvPr/>
        </p:nvSpPr>
        <p:spPr>
          <a:xfrm>
            <a:off x="4857349" y="3345330"/>
            <a:ext cx="59436" cy="59436"/>
          </a:xfrm>
          <a:prstGeom prst="ellipse">
            <a:avLst/>
          </a:prstGeom>
          <a:solidFill>
            <a:srgbClr val="B9B9C2"/>
          </a:solidFill>
          <a:ln w="12700">
            <a:solidFill>
              <a:srgbClr val="B9B9C2"/>
            </a:solidFill>
            <a:prstDash val="solid"/>
          </a:ln>
        </p:spPr>
      </p:sp>
      <p:sp>
        <p:nvSpPr>
          <p:cNvPr id="47" name="Air gas 13"/>
          <p:cNvSpPr/>
          <p:nvPr/>
        </p:nvSpPr>
        <p:spPr>
          <a:xfrm>
            <a:off x="7414960" y="3224041"/>
            <a:ext cx="59436" cy="59436"/>
          </a:xfrm>
          <a:prstGeom prst="ellipse">
            <a:avLst/>
          </a:prstGeom>
          <a:solidFill>
            <a:srgbClr val="B9B9C2"/>
          </a:solidFill>
          <a:ln w="12700">
            <a:solidFill>
              <a:srgbClr val="B9B9C2"/>
            </a:solidFill>
            <a:prstDash val="solid"/>
          </a:ln>
        </p:spPr>
      </p:sp>
      <p:sp>
        <p:nvSpPr>
          <p:cNvPr id="48" name="Air gas 14"/>
          <p:cNvSpPr/>
          <p:nvPr/>
        </p:nvSpPr>
        <p:spPr>
          <a:xfrm>
            <a:off x="5771647" y="3395773"/>
            <a:ext cx="59436" cy="59436"/>
          </a:xfrm>
          <a:prstGeom prst="ellipse">
            <a:avLst/>
          </a:prstGeom>
          <a:solidFill>
            <a:srgbClr val="B9B9C2"/>
          </a:solidFill>
          <a:ln w="12700">
            <a:solidFill>
              <a:srgbClr val="B9B9C2"/>
            </a:solidFill>
            <a:prstDash val="solid"/>
          </a:ln>
        </p:spPr>
      </p:sp>
      <p:sp>
        <p:nvSpPr>
          <p:cNvPr id="49" name="Air gas 15"/>
          <p:cNvSpPr/>
          <p:nvPr/>
        </p:nvSpPr>
        <p:spPr>
          <a:xfrm>
            <a:off x="6545519" y="3267635"/>
            <a:ext cx="59436" cy="59436"/>
          </a:xfrm>
          <a:prstGeom prst="ellipse">
            <a:avLst/>
          </a:prstGeom>
          <a:solidFill>
            <a:srgbClr val="B9B9C2"/>
          </a:solidFill>
          <a:ln w="12700">
            <a:solidFill>
              <a:srgbClr val="B9B9C2"/>
            </a:solidFill>
            <a:prstDash val="solid"/>
          </a:ln>
        </p:spPr>
      </p:sp>
      <p:sp>
        <p:nvSpPr>
          <p:cNvPr id="50" name="Air gas 16"/>
          <p:cNvSpPr/>
          <p:nvPr/>
        </p:nvSpPr>
        <p:spPr>
          <a:xfrm>
            <a:off x="5009356" y="3602756"/>
            <a:ext cx="59436" cy="59436"/>
          </a:xfrm>
          <a:prstGeom prst="ellipse">
            <a:avLst/>
          </a:prstGeom>
          <a:solidFill>
            <a:srgbClr val="B9B9C2"/>
          </a:solidFill>
          <a:ln w="12700">
            <a:solidFill>
              <a:srgbClr val="B9B9C2"/>
            </a:solidFill>
            <a:prstDash val="solid"/>
          </a:ln>
        </p:spPr>
      </p:sp>
      <p:sp>
        <p:nvSpPr>
          <p:cNvPr id="51" name="Air gas 17"/>
          <p:cNvSpPr/>
          <p:nvPr/>
        </p:nvSpPr>
        <p:spPr>
          <a:xfrm>
            <a:off x="5852561" y="3244701"/>
            <a:ext cx="59436" cy="59436"/>
          </a:xfrm>
          <a:prstGeom prst="ellipse">
            <a:avLst/>
          </a:prstGeom>
          <a:solidFill>
            <a:srgbClr val="B9B9C2"/>
          </a:solidFill>
          <a:ln w="12700">
            <a:solidFill>
              <a:srgbClr val="B9B9C2"/>
            </a:solidFill>
            <a:prstDash val="solid"/>
          </a:ln>
        </p:spPr>
      </p:sp>
      <p:sp>
        <p:nvSpPr>
          <p:cNvPr id="52" name="Air gas 18"/>
          <p:cNvSpPr/>
          <p:nvPr/>
        </p:nvSpPr>
        <p:spPr>
          <a:xfrm>
            <a:off x="6163166" y="3291202"/>
            <a:ext cx="59436" cy="59436"/>
          </a:xfrm>
          <a:prstGeom prst="ellipse">
            <a:avLst/>
          </a:prstGeom>
          <a:solidFill>
            <a:srgbClr val="B9B9C2"/>
          </a:solidFill>
          <a:ln w="12700">
            <a:solidFill>
              <a:srgbClr val="B9B9C2"/>
            </a:solidFill>
            <a:prstDash val="solid"/>
          </a:ln>
        </p:spPr>
      </p:sp>
      <p:sp>
        <p:nvSpPr>
          <p:cNvPr id="53" name="Air gas 19"/>
          <p:cNvSpPr/>
          <p:nvPr/>
        </p:nvSpPr>
        <p:spPr>
          <a:xfrm>
            <a:off x="4957908" y="3501580"/>
            <a:ext cx="59436" cy="59436"/>
          </a:xfrm>
          <a:prstGeom prst="ellipse">
            <a:avLst/>
          </a:prstGeom>
          <a:solidFill>
            <a:srgbClr val="B9B9C2"/>
          </a:solidFill>
          <a:ln w="12700">
            <a:solidFill>
              <a:srgbClr val="B9B9C2"/>
            </a:solidFill>
            <a:prstDash val="solid"/>
          </a:ln>
        </p:spPr>
      </p:sp>
      <p:sp>
        <p:nvSpPr>
          <p:cNvPr id="54" name="Air gas 20"/>
          <p:cNvSpPr/>
          <p:nvPr/>
        </p:nvSpPr>
        <p:spPr>
          <a:xfrm>
            <a:off x="5564752" y="3300553"/>
            <a:ext cx="59436" cy="59436"/>
          </a:xfrm>
          <a:prstGeom prst="ellipse">
            <a:avLst/>
          </a:prstGeom>
          <a:solidFill>
            <a:srgbClr val="B9B9C2"/>
          </a:solidFill>
          <a:ln w="12700">
            <a:solidFill>
              <a:srgbClr val="B9B9C2"/>
            </a:solidFill>
            <a:prstDash val="solid"/>
          </a:ln>
        </p:spPr>
      </p:sp>
      <p:sp>
        <p:nvSpPr>
          <p:cNvPr id="55" name="Air gas 21"/>
          <p:cNvSpPr/>
          <p:nvPr/>
        </p:nvSpPr>
        <p:spPr>
          <a:xfrm>
            <a:off x="4731369" y="3574526"/>
            <a:ext cx="59436" cy="59436"/>
          </a:xfrm>
          <a:prstGeom prst="ellipse">
            <a:avLst/>
          </a:prstGeom>
          <a:solidFill>
            <a:srgbClr val="B9B9C2"/>
          </a:solidFill>
          <a:ln w="12700">
            <a:solidFill>
              <a:srgbClr val="B9B9C2"/>
            </a:solidFill>
            <a:prstDash val="solid"/>
          </a:ln>
        </p:spPr>
      </p:sp>
      <p:sp>
        <p:nvSpPr>
          <p:cNvPr id="56" name="Air gas 22"/>
          <p:cNvSpPr/>
          <p:nvPr/>
        </p:nvSpPr>
        <p:spPr>
          <a:xfrm>
            <a:off x="5218457" y="3554497"/>
            <a:ext cx="59436" cy="59436"/>
          </a:xfrm>
          <a:prstGeom prst="ellipse">
            <a:avLst/>
          </a:prstGeom>
          <a:solidFill>
            <a:srgbClr val="B9B9C2"/>
          </a:solidFill>
          <a:ln w="12700">
            <a:solidFill>
              <a:srgbClr val="B9B9C2"/>
            </a:solidFill>
            <a:prstDash val="solid"/>
          </a:ln>
        </p:spPr>
      </p:sp>
      <p:sp>
        <p:nvSpPr>
          <p:cNvPr id="57" name="Air gas 23"/>
          <p:cNvSpPr/>
          <p:nvPr/>
        </p:nvSpPr>
        <p:spPr>
          <a:xfrm>
            <a:off x="5929300" y="3246339"/>
            <a:ext cx="59436" cy="59436"/>
          </a:xfrm>
          <a:prstGeom prst="ellipse">
            <a:avLst/>
          </a:prstGeom>
          <a:solidFill>
            <a:srgbClr val="B9B9C2"/>
          </a:solidFill>
          <a:ln w="12700">
            <a:solidFill>
              <a:srgbClr val="B9B9C2"/>
            </a:solidFill>
            <a:prstDash val="solid"/>
          </a:ln>
        </p:spPr>
      </p:sp>
      <p:sp>
        <p:nvSpPr>
          <p:cNvPr id="58" name="Air gas 24"/>
          <p:cNvSpPr/>
          <p:nvPr/>
        </p:nvSpPr>
        <p:spPr>
          <a:xfrm>
            <a:off x="6334449" y="3325127"/>
            <a:ext cx="59436" cy="59436"/>
          </a:xfrm>
          <a:prstGeom prst="ellipse">
            <a:avLst/>
          </a:prstGeom>
          <a:solidFill>
            <a:srgbClr val="B9B9C2"/>
          </a:solidFill>
          <a:ln w="12700">
            <a:solidFill>
              <a:srgbClr val="B9B9C2"/>
            </a:solidFill>
            <a:prstDash val="solid"/>
          </a:ln>
        </p:spPr>
      </p:sp>
      <p:sp>
        <p:nvSpPr>
          <p:cNvPr id="59" name="Air gas 25"/>
          <p:cNvSpPr/>
          <p:nvPr/>
        </p:nvSpPr>
        <p:spPr>
          <a:xfrm>
            <a:off x="6812082" y="3444516"/>
            <a:ext cx="59436" cy="59436"/>
          </a:xfrm>
          <a:prstGeom prst="ellipse">
            <a:avLst/>
          </a:prstGeom>
          <a:solidFill>
            <a:srgbClr val="B9B9C2"/>
          </a:solidFill>
          <a:ln w="12700">
            <a:solidFill>
              <a:srgbClr val="B9B9C2"/>
            </a:solidFill>
            <a:prstDash val="solid"/>
          </a:ln>
        </p:spPr>
      </p:sp>
      <p:sp>
        <p:nvSpPr>
          <p:cNvPr id="60" name="Air gas 26"/>
          <p:cNvSpPr/>
          <p:nvPr/>
        </p:nvSpPr>
        <p:spPr>
          <a:xfrm>
            <a:off x="4904044" y="3240555"/>
            <a:ext cx="59436" cy="59436"/>
          </a:xfrm>
          <a:prstGeom prst="ellipse">
            <a:avLst/>
          </a:prstGeom>
          <a:solidFill>
            <a:srgbClr val="B9B9C2"/>
          </a:solidFill>
          <a:ln w="12700">
            <a:solidFill>
              <a:srgbClr val="B9B9C2"/>
            </a:solidFill>
            <a:prstDash val="solid"/>
          </a:ln>
        </p:spPr>
      </p:sp>
      <p:sp>
        <p:nvSpPr>
          <p:cNvPr id="61" name="Air gas 27"/>
          <p:cNvSpPr/>
          <p:nvPr/>
        </p:nvSpPr>
        <p:spPr>
          <a:xfrm>
            <a:off x="5867005" y="3176989"/>
            <a:ext cx="59436" cy="59436"/>
          </a:xfrm>
          <a:prstGeom prst="ellipse">
            <a:avLst/>
          </a:prstGeom>
          <a:solidFill>
            <a:srgbClr val="B9B9C2"/>
          </a:solidFill>
          <a:ln w="12700">
            <a:solidFill>
              <a:srgbClr val="B9B9C2"/>
            </a:solidFill>
            <a:prstDash val="solid"/>
          </a:ln>
        </p:spPr>
      </p:sp>
      <p:sp>
        <p:nvSpPr>
          <p:cNvPr id="62" name="Air gas 28"/>
          <p:cNvSpPr/>
          <p:nvPr/>
        </p:nvSpPr>
        <p:spPr>
          <a:xfrm>
            <a:off x="4633384" y="3330133"/>
            <a:ext cx="59436" cy="59436"/>
          </a:xfrm>
          <a:prstGeom prst="ellipse">
            <a:avLst/>
          </a:prstGeom>
          <a:solidFill>
            <a:srgbClr val="B9B9C2"/>
          </a:solidFill>
          <a:ln w="12700">
            <a:solidFill>
              <a:srgbClr val="B9B9C2"/>
            </a:solidFill>
            <a:prstDash val="solid"/>
          </a:ln>
        </p:spPr>
      </p:sp>
      <p:sp>
        <p:nvSpPr>
          <p:cNvPr id="63" name="Air gas 29"/>
          <p:cNvSpPr/>
          <p:nvPr/>
        </p:nvSpPr>
        <p:spPr>
          <a:xfrm>
            <a:off x="6573305" y="3441695"/>
            <a:ext cx="59436" cy="59436"/>
          </a:xfrm>
          <a:prstGeom prst="ellipse">
            <a:avLst/>
          </a:prstGeom>
          <a:solidFill>
            <a:srgbClr val="B9B9C2"/>
          </a:solidFill>
          <a:ln w="12700">
            <a:solidFill>
              <a:srgbClr val="B9B9C2"/>
            </a:solidFill>
            <a:prstDash val="solid"/>
          </a:ln>
        </p:spPr>
      </p:sp>
      <p:sp>
        <p:nvSpPr>
          <p:cNvPr id="64" name="CO2 molecule 0"/>
          <p:cNvSpPr/>
          <p:nvPr/>
        </p:nvSpPr>
        <p:spPr>
          <a:xfrm>
            <a:off x="4948325" y="3284504"/>
            <a:ext cx="118872" cy="118872"/>
          </a:xfrm>
          <a:prstGeom prst="ellipse">
            <a:avLst/>
          </a:prstGeom>
          <a:solidFill>
            <a:schemeClr val="accent2"/>
          </a:solidFill>
          <a:ln w="12700">
            <a:solidFill>
              <a:schemeClr val="accent2"/>
            </a:solidFill>
            <a:prstDash val="solid"/>
          </a:ln>
        </p:spPr>
      </p:sp>
      <p:sp>
        <p:nvSpPr>
          <p:cNvPr id="65" name="CO2 molecule 1"/>
          <p:cNvSpPr/>
          <p:nvPr/>
        </p:nvSpPr>
        <p:spPr>
          <a:xfrm>
            <a:off x="5858084" y="3340742"/>
            <a:ext cx="118872" cy="118872"/>
          </a:xfrm>
          <a:prstGeom prst="ellipse">
            <a:avLst/>
          </a:prstGeom>
          <a:solidFill>
            <a:schemeClr val="accent2"/>
          </a:solidFill>
          <a:ln w="12700">
            <a:solidFill>
              <a:schemeClr val="accent2"/>
            </a:solidFill>
            <a:prstDash val="solid"/>
          </a:ln>
        </p:spPr>
      </p:sp>
      <p:sp>
        <p:nvSpPr>
          <p:cNvPr id="66" name="CO2 molecule 2"/>
          <p:cNvSpPr/>
          <p:nvPr/>
        </p:nvSpPr>
        <p:spPr>
          <a:xfrm>
            <a:off x="6909802" y="3453538"/>
            <a:ext cx="118872" cy="118872"/>
          </a:xfrm>
          <a:prstGeom prst="ellipse">
            <a:avLst/>
          </a:prstGeom>
          <a:solidFill>
            <a:schemeClr val="accent2"/>
          </a:solidFill>
          <a:ln w="12700">
            <a:solidFill>
              <a:schemeClr val="accent2"/>
            </a:solidFill>
            <a:prstDash val="solid"/>
          </a:ln>
        </p:spPr>
      </p:sp>
      <p:sp>
        <p:nvSpPr>
          <p:cNvPr id="67" name="Water vapor 0"/>
          <p:cNvSpPr/>
          <p:nvPr/>
        </p:nvSpPr>
        <p:spPr>
          <a:xfrm>
            <a:off x="4645285" y="3329212"/>
            <a:ext cx="91440" cy="91440"/>
          </a:xfrm>
          <a:prstGeom prst="ellipse">
            <a:avLst/>
          </a:prstGeom>
          <a:solidFill>
            <a:schemeClr val="accent4"/>
          </a:solidFill>
          <a:ln w="12700">
            <a:solidFill>
              <a:schemeClr val="accent4"/>
            </a:solidFill>
            <a:prstDash val="solid"/>
          </a:ln>
        </p:spPr>
      </p:sp>
      <p:sp>
        <p:nvSpPr>
          <p:cNvPr id="68" name="Water vapor 1"/>
          <p:cNvSpPr/>
          <p:nvPr/>
        </p:nvSpPr>
        <p:spPr>
          <a:xfrm>
            <a:off x="5159787" y="3240282"/>
            <a:ext cx="91440" cy="91440"/>
          </a:xfrm>
          <a:prstGeom prst="ellipse">
            <a:avLst/>
          </a:prstGeom>
          <a:solidFill>
            <a:schemeClr val="accent4"/>
          </a:solidFill>
          <a:ln w="12700">
            <a:solidFill>
              <a:schemeClr val="accent4"/>
            </a:solidFill>
            <a:prstDash val="solid"/>
          </a:ln>
        </p:spPr>
      </p:sp>
      <p:sp>
        <p:nvSpPr>
          <p:cNvPr id="69" name="Water vapor 2"/>
          <p:cNvSpPr/>
          <p:nvPr/>
        </p:nvSpPr>
        <p:spPr>
          <a:xfrm>
            <a:off x="5796021" y="3194249"/>
            <a:ext cx="91440" cy="91440"/>
          </a:xfrm>
          <a:prstGeom prst="ellipse">
            <a:avLst/>
          </a:prstGeom>
          <a:solidFill>
            <a:schemeClr val="accent4"/>
          </a:solidFill>
          <a:ln w="12700">
            <a:solidFill>
              <a:schemeClr val="accent4"/>
            </a:solidFill>
            <a:prstDash val="solid"/>
          </a:ln>
        </p:spPr>
      </p:sp>
      <p:sp>
        <p:nvSpPr>
          <p:cNvPr id="70" name="Water vapor 3"/>
          <p:cNvSpPr/>
          <p:nvPr/>
        </p:nvSpPr>
        <p:spPr>
          <a:xfrm>
            <a:off x="6258218" y="3472886"/>
            <a:ext cx="91440" cy="91440"/>
          </a:xfrm>
          <a:prstGeom prst="ellipse">
            <a:avLst/>
          </a:prstGeom>
          <a:solidFill>
            <a:schemeClr val="accent4"/>
          </a:solidFill>
          <a:ln w="12700">
            <a:solidFill>
              <a:schemeClr val="accent4"/>
            </a:solidFill>
            <a:prstDash val="solid"/>
          </a:ln>
        </p:spPr>
      </p:sp>
      <p:sp>
        <p:nvSpPr>
          <p:cNvPr id="71" name="Water vapor 4"/>
          <p:cNvSpPr/>
          <p:nvPr/>
        </p:nvSpPr>
        <p:spPr>
          <a:xfrm>
            <a:off x="6914396" y="3561417"/>
            <a:ext cx="91440" cy="91440"/>
          </a:xfrm>
          <a:prstGeom prst="ellipse">
            <a:avLst/>
          </a:prstGeom>
          <a:solidFill>
            <a:schemeClr val="accent4"/>
          </a:solidFill>
          <a:ln w="12700">
            <a:solidFill>
              <a:schemeClr val="accent4"/>
            </a:solidFill>
            <a:prstDash val="solid"/>
          </a:ln>
        </p:spPr>
      </p:sp>
      <p:sp>
        <p:nvSpPr>
          <p:cNvPr id="72" name="Water vapor 5"/>
          <p:cNvSpPr/>
          <p:nvPr/>
        </p:nvSpPr>
        <p:spPr>
          <a:xfrm>
            <a:off x="7475559" y="3514030"/>
            <a:ext cx="91440" cy="91440"/>
          </a:xfrm>
          <a:prstGeom prst="ellipse">
            <a:avLst/>
          </a:prstGeom>
          <a:solidFill>
            <a:schemeClr val="accent4"/>
          </a:solidFill>
          <a:ln w="12700">
            <a:solidFill>
              <a:schemeClr val="accent4"/>
            </a:solidFill>
            <a:prstDash val="solid"/>
          </a:ln>
        </p:spPr>
      </p:sp>
      <p:sp>
        <p:nvSpPr>
          <p:cNvPr id="73" name="Legend CO2 dot"/>
          <p:cNvSpPr/>
          <p:nvPr/>
        </p:nvSpPr>
        <p:spPr>
          <a:xfrm>
            <a:off x="4434840" y="3867912"/>
            <a:ext cx="109728" cy="109728"/>
          </a:xfrm>
          <a:prstGeom prst="ellipse">
            <a:avLst/>
          </a:prstGeom>
          <a:solidFill>
            <a:schemeClr val="accent2"/>
          </a:solidFill>
          <a:ln w="12700">
            <a:solidFill>
              <a:schemeClr val="accent2"/>
            </a:solidFill>
            <a:prstDash val="solid"/>
          </a:ln>
        </p:spPr>
      </p:sp>
      <p:sp>
        <p:nvSpPr>
          <p:cNvPr id="74" name="Legend CO2 label"/>
          <p:cNvSpPr txBox="1"/>
          <p:nvPr/>
        </p:nvSpPr>
        <p:spPr>
          <a:xfrm>
            <a:off x="4608576" y="3822192"/>
            <a:ext cx="914400" cy="201168"/>
          </a:xfrm>
          <a:prstGeom prst="rect">
            <a:avLst/>
          </a:prstGeom>
          <a:noFill/>
          <a:ln/>
        </p:spPr>
        <p:txBody>
          <a:bodyPr wrap="square" lIns="0" tIns="0" rIns="0" bIns="0" rtlCol="0" anchor="ctr"/>
          <a:lstStyle/>
          <a:p>
            <a:pPr marL="0" indent="0">
              <a:buNone/>
            </a:pPr>
            <a:r>
              <a:rPr lang="en-US" sz="1100" b="1" dirty="0">
                <a:solidFill>
                  <a:srgbClr val="B8531A"/>
                </a:solidFill>
              </a:rPr>
              <a:t>CO₂ (dilute)</a:t>
            </a:r>
            <a:endParaRPr lang="en-US" sz="1100" dirty="0"/>
          </a:p>
        </p:txBody>
      </p:sp>
      <p:sp>
        <p:nvSpPr>
          <p:cNvPr id="75" name="Legend H2O dot"/>
          <p:cNvSpPr/>
          <p:nvPr/>
        </p:nvSpPr>
        <p:spPr>
          <a:xfrm>
            <a:off x="5614416" y="3877056"/>
            <a:ext cx="91440" cy="91440"/>
          </a:xfrm>
          <a:prstGeom prst="ellipse">
            <a:avLst/>
          </a:prstGeom>
          <a:solidFill>
            <a:schemeClr val="accent4"/>
          </a:solidFill>
          <a:ln w="12700">
            <a:solidFill>
              <a:schemeClr val="accent4"/>
            </a:solidFill>
            <a:prstDash val="solid"/>
          </a:ln>
        </p:spPr>
      </p:sp>
      <p:sp>
        <p:nvSpPr>
          <p:cNvPr id="76" name="Legend H2O label"/>
          <p:cNvSpPr txBox="1"/>
          <p:nvPr/>
        </p:nvSpPr>
        <p:spPr>
          <a:xfrm>
            <a:off x="5779008" y="3822192"/>
            <a:ext cx="822960" cy="201168"/>
          </a:xfrm>
          <a:prstGeom prst="rect">
            <a:avLst/>
          </a:prstGeom>
          <a:noFill/>
          <a:ln/>
        </p:spPr>
        <p:txBody>
          <a:bodyPr wrap="square" lIns="0" tIns="0" rIns="0" bIns="0" rtlCol="0" anchor="ctr"/>
          <a:lstStyle/>
          <a:p>
            <a:pPr marL="0" indent="0">
              <a:buNone/>
            </a:pPr>
            <a:r>
              <a:rPr lang="en-US" sz="1100" b="1" dirty="0">
                <a:solidFill>
                  <a:srgbClr val="2A6BB0"/>
                </a:solidFill>
              </a:rPr>
              <a:t>H₂O vapor</a:t>
            </a:r>
            <a:endParaRPr lang="en-US" sz="1100" dirty="0"/>
          </a:p>
        </p:txBody>
      </p:sp>
      <p:sp>
        <p:nvSpPr>
          <p:cNvPr id="77" name="Legend other dot"/>
          <p:cNvSpPr/>
          <p:nvPr/>
        </p:nvSpPr>
        <p:spPr>
          <a:xfrm>
            <a:off x="6679692" y="3890772"/>
            <a:ext cx="64008" cy="64008"/>
          </a:xfrm>
          <a:prstGeom prst="ellipse">
            <a:avLst/>
          </a:prstGeom>
          <a:solidFill>
            <a:srgbClr val="B9B9C2"/>
          </a:solidFill>
          <a:ln w="12700">
            <a:solidFill>
              <a:srgbClr val="B9B9C2"/>
            </a:solidFill>
            <a:prstDash val="solid"/>
          </a:ln>
        </p:spPr>
      </p:sp>
      <p:sp>
        <p:nvSpPr>
          <p:cNvPr id="78" name="Legend other label"/>
          <p:cNvSpPr txBox="1"/>
          <p:nvPr/>
        </p:nvSpPr>
        <p:spPr>
          <a:xfrm>
            <a:off x="6821424" y="3822192"/>
            <a:ext cx="868680" cy="201168"/>
          </a:xfrm>
          <a:prstGeom prst="rect">
            <a:avLst/>
          </a:prstGeom>
          <a:noFill/>
          <a:ln/>
        </p:spPr>
        <p:txBody>
          <a:bodyPr wrap="square" lIns="0" tIns="0" rIns="0" bIns="0" rtlCol="0" anchor="ctr"/>
          <a:lstStyle/>
          <a:p>
            <a:pPr marL="0" indent="0">
              <a:buNone/>
            </a:pPr>
            <a:r>
              <a:rPr lang="en-US" sz="1100" b="1" dirty="0">
                <a:solidFill>
                  <a:schemeClr val="accent6"/>
                </a:solidFill>
              </a:rPr>
              <a:t>other gases</a:t>
            </a:r>
            <a:endParaRPr lang="en-US" sz="1100" dirty="0"/>
          </a:p>
        </p:txBody>
      </p:sp>
      <p:sp>
        <p:nvSpPr>
          <p:cNvPr id="79" name="Card DAC text"/>
          <p:cNvSpPr txBox="1"/>
          <p:nvPr/>
        </p:nvSpPr>
        <p:spPr>
          <a:xfrm>
            <a:off x="4425696" y="4023360"/>
            <a:ext cx="3246120" cy="548640"/>
          </a:xfrm>
          <a:prstGeom prst="rect">
            <a:avLst/>
          </a:prstGeom>
          <a:noFill/>
          <a:ln/>
        </p:spPr>
        <p:txBody>
          <a:bodyPr wrap="square" lIns="0" tIns="0" rIns="0" bIns="0" rtlCol="0" anchor="t"/>
          <a:lstStyle/>
          <a:p>
            <a:pPr marL="0" indent="0">
              <a:buNone/>
            </a:pPr>
            <a:r>
              <a:rPr lang="en-US" sz="1250" dirty="0">
                <a:solidFill>
                  <a:schemeClr val="tx2"/>
                </a:solidFill>
              </a:rPr>
              <a:t>Atmospheric CO₂ is dilute, and water vapor is always present in ambient air.</a:t>
            </a:r>
            <a:endParaRPr lang="en-US" sz="1250" dirty="0"/>
          </a:p>
        </p:txBody>
      </p:sp>
      <p:sp>
        <p:nvSpPr>
          <p:cNvPr id="80" name="Card humidity"/>
          <p:cNvSpPr/>
          <p:nvPr/>
        </p:nvSpPr>
        <p:spPr>
          <a:xfrm>
            <a:off x="8037576" y="2542032"/>
            <a:ext cx="3611880" cy="2103120"/>
          </a:xfrm>
          <a:prstGeom prst="roundRect">
            <a:avLst>
              <a:gd name="adj" fmla="val 3478"/>
            </a:avLst>
          </a:prstGeom>
          <a:solidFill>
            <a:schemeClr val="bg2"/>
          </a:solidFill>
          <a:ln w="12700">
            <a:solidFill>
              <a:schemeClr val="bg2"/>
            </a:solidFill>
            <a:prstDash val="solid"/>
          </a:ln>
        </p:spPr>
      </p:sp>
      <p:sp>
        <p:nvSpPr>
          <p:cNvPr id="81" name="Number 3"/>
          <p:cNvSpPr/>
          <p:nvPr/>
        </p:nvSpPr>
        <p:spPr>
          <a:xfrm>
            <a:off x="8174736" y="2660904"/>
            <a:ext cx="292608" cy="292608"/>
          </a:xfrm>
          <a:prstGeom prst="ellipse">
            <a:avLst/>
          </a:prstGeom>
          <a:solidFill>
            <a:schemeClr val="accent3"/>
          </a:solidFill>
          <a:ln w="12700">
            <a:solidFill>
              <a:schemeClr val="accent3"/>
            </a:solidFill>
            <a:prstDash val="solid"/>
          </a:ln>
        </p:spPr>
      </p:sp>
      <p:sp>
        <p:nvSpPr>
          <p:cNvPr id="82" name="Number 3 label"/>
          <p:cNvSpPr txBox="1"/>
          <p:nvPr/>
        </p:nvSpPr>
        <p:spPr>
          <a:xfrm>
            <a:off x="8174736" y="266090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rPr>
              <a:t>3</a:t>
            </a:r>
            <a:endParaRPr lang="en-US" sz="1200" dirty="0"/>
          </a:p>
        </p:txBody>
      </p:sp>
      <p:sp>
        <p:nvSpPr>
          <p:cNvPr id="83" name="Card title 3"/>
          <p:cNvSpPr txBox="1"/>
          <p:nvPr/>
        </p:nvSpPr>
        <p:spPr>
          <a:xfrm>
            <a:off x="8567928" y="2660904"/>
            <a:ext cx="2926080" cy="292608"/>
          </a:xfrm>
          <a:prstGeom prst="rect">
            <a:avLst/>
          </a:prstGeom>
          <a:noFill/>
          <a:ln/>
        </p:spPr>
        <p:txBody>
          <a:bodyPr wrap="square" lIns="0" tIns="0" rIns="0" bIns="0" rtlCol="0" anchor="ctr"/>
          <a:lstStyle/>
          <a:p>
            <a:pPr marL="0" indent="0">
              <a:buNone/>
            </a:pPr>
            <a:r>
              <a:rPr lang="en-US" sz="1500" b="1" dirty="0">
                <a:solidFill>
                  <a:schemeClr val="accent3"/>
                </a:solidFill>
              </a:rPr>
              <a:t>Why does humidity matter?</a:t>
            </a:r>
            <a:endParaRPr lang="en-US" sz="1500" dirty="0"/>
          </a:p>
        </p:txBody>
      </p:sp>
      <p:sp>
        <p:nvSpPr>
          <p:cNvPr id="84" name="MOF pore"/>
          <p:cNvSpPr/>
          <p:nvPr/>
        </p:nvSpPr>
        <p:spPr>
          <a:xfrm>
            <a:off x="8220456" y="3072384"/>
            <a:ext cx="3246120" cy="804672"/>
          </a:xfrm>
          <a:prstGeom prst="roundRect">
            <a:avLst>
              <a:gd name="adj" fmla="val 13636"/>
            </a:avLst>
          </a:prstGeom>
          <a:solidFill>
            <a:srgbClr val="FFFFFF"/>
          </a:solidFill>
          <a:ln w="15875">
            <a:solidFill>
              <a:schemeClr val="accent3"/>
            </a:solidFill>
            <a:prstDash val="solid"/>
          </a:ln>
        </p:spPr>
      </p:sp>
      <p:sp>
        <p:nvSpPr>
          <p:cNvPr id="85" name="Pore label"/>
          <p:cNvSpPr txBox="1"/>
          <p:nvPr/>
        </p:nvSpPr>
        <p:spPr>
          <a:xfrm>
            <a:off x="8311896" y="3108960"/>
            <a:ext cx="1005840" cy="182880"/>
          </a:xfrm>
          <a:prstGeom prst="rect">
            <a:avLst/>
          </a:prstGeom>
          <a:noFill/>
          <a:ln/>
        </p:spPr>
        <p:txBody>
          <a:bodyPr wrap="square" lIns="0" tIns="0" rIns="0" bIns="0" rtlCol="0" anchor="t"/>
          <a:lstStyle/>
          <a:p>
            <a:pPr marL="0" indent="0">
              <a:buNone/>
            </a:pPr>
            <a:r>
              <a:rPr lang="en-US" sz="1050" b="1" dirty="0">
                <a:solidFill>
                  <a:schemeClr val="accent3"/>
                </a:solidFill>
              </a:rPr>
              <a:t>MOF pore</a:t>
            </a:r>
            <a:endParaRPr lang="en-US" sz="1050" dirty="0"/>
          </a:p>
        </p:txBody>
      </p:sp>
      <p:sp>
        <p:nvSpPr>
          <p:cNvPr id="86" name="H2O circle"/>
          <p:cNvSpPr/>
          <p:nvPr/>
        </p:nvSpPr>
        <p:spPr>
          <a:xfrm>
            <a:off x="8714232" y="3410712"/>
            <a:ext cx="384048" cy="384048"/>
          </a:xfrm>
          <a:prstGeom prst="ellipse">
            <a:avLst/>
          </a:prstGeom>
          <a:solidFill>
            <a:schemeClr val="accent4"/>
          </a:solidFill>
          <a:ln w="12700">
            <a:solidFill>
              <a:schemeClr val="accent4"/>
            </a:solidFill>
            <a:prstDash val="solid"/>
          </a:ln>
        </p:spPr>
      </p:sp>
      <p:sp>
        <p:nvSpPr>
          <p:cNvPr id="87" name="H2O label"/>
          <p:cNvSpPr txBox="1"/>
          <p:nvPr/>
        </p:nvSpPr>
        <p:spPr>
          <a:xfrm>
            <a:off x="8714232" y="3502152"/>
            <a:ext cx="384048" cy="201168"/>
          </a:xfrm>
          <a:prstGeom prst="rect">
            <a:avLst/>
          </a:prstGeom>
          <a:noFill/>
          <a:ln/>
        </p:spPr>
        <p:txBody>
          <a:bodyPr wrap="square" lIns="0" tIns="0" rIns="0" bIns="0" rtlCol="0" anchor="ctr"/>
          <a:lstStyle/>
          <a:p>
            <a:pPr marL="0" indent="0" algn="ctr">
              <a:buNone/>
            </a:pPr>
            <a:r>
              <a:rPr lang="en-US" sz="1100" b="1" dirty="0">
                <a:solidFill>
                  <a:srgbClr val="FFFFFF"/>
                </a:solidFill>
              </a:rPr>
              <a:t>H₂O</a:t>
            </a:r>
            <a:endParaRPr lang="en-US" sz="1100" dirty="0"/>
          </a:p>
        </p:txBody>
      </p:sp>
      <p:sp>
        <p:nvSpPr>
          <p:cNvPr id="88" name="CO2 circle"/>
          <p:cNvSpPr/>
          <p:nvPr/>
        </p:nvSpPr>
        <p:spPr>
          <a:xfrm>
            <a:off x="10588752" y="3410712"/>
            <a:ext cx="384048" cy="384048"/>
          </a:xfrm>
          <a:prstGeom prst="ellipse">
            <a:avLst/>
          </a:prstGeom>
          <a:solidFill>
            <a:schemeClr val="accent2"/>
          </a:solidFill>
          <a:ln w="12700">
            <a:solidFill>
              <a:schemeClr val="accent2"/>
            </a:solidFill>
            <a:prstDash val="solid"/>
          </a:ln>
        </p:spPr>
      </p:sp>
      <p:sp>
        <p:nvSpPr>
          <p:cNvPr id="89" name="CO2 label"/>
          <p:cNvSpPr txBox="1"/>
          <p:nvPr/>
        </p:nvSpPr>
        <p:spPr>
          <a:xfrm>
            <a:off x="10588752" y="3502152"/>
            <a:ext cx="384048" cy="201168"/>
          </a:xfrm>
          <a:prstGeom prst="rect">
            <a:avLst/>
          </a:prstGeom>
          <a:noFill/>
          <a:ln/>
        </p:spPr>
        <p:txBody>
          <a:bodyPr wrap="square" lIns="0" tIns="0" rIns="0" bIns="0" rtlCol="0" anchor="ctr"/>
          <a:lstStyle/>
          <a:p>
            <a:pPr marL="0" indent="0" algn="ctr">
              <a:buNone/>
            </a:pPr>
            <a:r>
              <a:rPr lang="en-US" sz="1100" b="1" dirty="0">
                <a:solidFill>
                  <a:srgbClr val="FFFFFF"/>
                </a:solidFill>
              </a:rPr>
              <a:t>CO₂</a:t>
            </a:r>
            <a:endParaRPr lang="en-US" sz="1100" dirty="0"/>
          </a:p>
        </p:txBody>
      </p:sp>
      <p:sp>
        <p:nvSpPr>
          <p:cNvPr id="90" name="Interaction arrow"/>
          <p:cNvSpPr/>
          <p:nvPr/>
        </p:nvSpPr>
        <p:spPr>
          <a:xfrm>
            <a:off x="9180576" y="3602736"/>
            <a:ext cx="1325880" cy="0"/>
          </a:xfrm>
          <a:prstGeom prst="line">
            <a:avLst/>
          </a:prstGeom>
          <a:noFill/>
          <a:ln w="22225">
            <a:solidFill>
              <a:schemeClr val="accent6"/>
            </a:solidFill>
            <a:prstDash val="dash"/>
            <a:headEnd type="triangle"/>
            <a:tailEnd type="triangle"/>
          </a:ln>
        </p:spPr>
      </p:sp>
      <p:sp>
        <p:nvSpPr>
          <p:cNvPr id="91" name="Question mark"/>
          <p:cNvSpPr txBox="1"/>
          <p:nvPr/>
        </p:nvSpPr>
        <p:spPr>
          <a:xfrm>
            <a:off x="9660636" y="3236976"/>
            <a:ext cx="365760" cy="274320"/>
          </a:xfrm>
          <a:prstGeom prst="rect">
            <a:avLst/>
          </a:prstGeom>
          <a:noFill/>
          <a:ln/>
        </p:spPr>
        <p:txBody>
          <a:bodyPr wrap="square" lIns="0" tIns="0" rIns="0" bIns="0" rtlCol="0" anchor="ctr"/>
          <a:lstStyle/>
          <a:p>
            <a:pPr marL="0" indent="0" algn="ctr">
              <a:buNone/>
            </a:pPr>
            <a:r>
              <a:rPr lang="en-US" sz="1800" b="1" dirty="0">
                <a:solidFill>
                  <a:schemeClr val="accent5"/>
                </a:solidFill>
              </a:rPr>
              <a:t>?</a:t>
            </a:r>
            <a:endParaRPr lang="en-US" sz="1800" dirty="0"/>
          </a:p>
        </p:txBody>
      </p:sp>
      <p:sp>
        <p:nvSpPr>
          <p:cNvPr id="92" name="Card humidity text"/>
          <p:cNvSpPr txBox="1"/>
          <p:nvPr/>
        </p:nvSpPr>
        <p:spPr>
          <a:xfrm>
            <a:off x="8220456" y="3959352"/>
            <a:ext cx="3246120" cy="621792"/>
          </a:xfrm>
          <a:prstGeom prst="rect">
            <a:avLst/>
          </a:prstGeom>
          <a:noFill/>
          <a:ln/>
        </p:spPr>
        <p:txBody>
          <a:bodyPr wrap="square" lIns="0" tIns="0" rIns="0" bIns="0" rtlCol="0" anchor="t"/>
          <a:lstStyle/>
          <a:p>
            <a:pPr marL="0" indent="0">
              <a:buNone/>
            </a:pPr>
            <a:r>
              <a:rPr lang="en-US" sz="1250" dirty="0">
                <a:solidFill>
                  <a:schemeClr val="tx2"/>
                </a:solidFill>
              </a:rPr>
              <a:t>Water vapor may interact with porous materials and with CO₂ adsorption.</a:t>
            </a:r>
            <a:endParaRPr lang="en-US" sz="1250" dirty="0"/>
          </a:p>
          <a:p>
            <a:pPr marL="0" indent="0">
              <a:buNone/>
            </a:pPr>
            <a:r>
              <a:rPr lang="en-US" sz="1250" b="1" dirty="0">
                <a:solidFill>
                  <a:schemeClr val="accent3"/>
                </a:solidFill>
              </a:rPr>
              <a:t>Direction of effect is not assumed.</a:t>
            </a:r>
            <a:endParaRPr lang="en-US" sz="1250" dirty="0"/>
          </a:p>
        </p:txBody>
      </p:sp>
      <p:sp>
        <p:nvSpPr>
          <p:cNvPr id="93" name="Objective banner"/>
          <p:cNvSpPr/>
          <p:nvPr/>
        </p:nvSpPr>
        <p:spPr>
          <a:xfrm>
            <a:off x="448056" y="4773168"/>
            <a:ext cx="11292840" cy="1280160"/>
          </a:xfrm>
          <a:prstGeom prst="roundRect">
            <a:avLst>
              <a:gd name="adj" fmla="val 7143"/>
            </a:avLst>
          </a:prstGeom>
          <a:solidFill>
            <a:schemeClr val="accent3"/>
          </a:solidFill>
          <a:ln w="12700">
            <a:solidFill>
              <a:schemeClr val="accent3"/>
            </a:solidFill>
            <a:prstDash val="solid"/>
          </a:ln>
        </p:spPr>
      </p:sp>
      <p:sp>
        <p:nvSpPr>
          <p:cNvPr id="94" name="Question label"/>
          <p:cNvSpPr txBox="1"/>
          <p:nvPr/>
        </p:nvSpPr>
        <p:spPr>
          <a:xfrm>
            <a:off x="722376" y="4864608"/>
            <a:ext cx="5486400" cy="201168"/>
          </a:xfrm>
          <a:prstGeom prst="rect">
            <a:avLst/>
          </a:prstGeom>
          <a:noFill/>
          <a:ln/>
        </p:spPr>
        <p:txBody>
          <a:bodyPr wrap="square" lIns="0" tIns="0" rIns="0" bIns="0" rtlCol="0" anchor="t"/>
          <a:lstStyle/>
          <a:p>
            <a:pPr marL="0" indent="0">
              <a:buNone/>
            </a:pPr>
            <a:r>
              <a:rPr lang="en-US" sz="1100" b="1" kern="0" spc="100" dirty="0">
                <a:solidFill>
                  <a:srgbClr val="E6E3FF"/>
                </a:solidFill>
              </a:rPr>
              <a:t>CENTRAL RESEARCH QUESTION</a:t>
            </a:r>
            <a:endParaRPr lang="en-US" sz="1100" dirty="0"/>
          </a:p>
        </p:txBody>
      </p:sp>
      <p:sp>
        <p:nvSpPr>
          <p:cNvPr id="95" name="Research question"/>
          <p:cNvSpPr txBox="1"/>
          <p:nvPr/>
        </p:nvSpPr>
        <p:spPr>
          <a:xfrm>
            <a:off x="722376" y="5084064"/>
            <a:ext cx="10744200" cy="585216"/>
          </a:xfrm>
          <a:prstGeom prst="rect">
            <a:avLst/>
          </a:prstGeom>
          <a:noFill/>
          <a:ln/>
        </p:spPr>
        <p:txBody>
          <a:bodyPr wrap="square" lIns="0" tIns="0" rIns="0" bIns="0" rtlCol="0" anchor="ctr"/>
          <a:lstStyle/>
          <a:p>
            <a:pPr marL="0" indent="0">
              <a:buNone/>
            </a:pPr>
            <a:r>
              <a:rPr lang="en-US" sz="1900" b="1" dirty="0">
                <a:solidFill>
                  <a:srgbClr val="FFFFFF"/>
                </a:solidFill>
              </a:rPr>
              <a:t>How does humidity influence CO₂ adsorption and regeneration behavior in a bimetal-engineered MOF?</a:t>
            </a:r>
            <a:endParaRPr lang="en-US" sz="1900" dirty="0"/>
          </a:p>
        </p:txBody>
      </p:sp>
      <p:sp>
        <p:nvSpPr>
          <p:cNvPr id="96" name="Objective text"/>
          <p:cNvSpPr txBox="1"/>
          <p:nvPr/>
        </p:nvSpPr>
        <p:spPr>
          <a:xfrm>
            <a:off x="722376" y="5715000"/>
            <a:ext cx="10744200" cy="256032"/>
          </a:xfrm>
          <a:prstGeom prst="rect">
            <a:avLst/>
          </a:prstGeom>
          <a:noFill/>
          <a:ln/>
        </p:spPr>
        <p:txBody>
          <a:bodyPr wrap="square" lIns="0" tIns="0" rIns="0" bIns="0" rtlCol="0" anchor="t"/>
          <a:lstStyle/>
          <a:p>
            <a:pPr marL="0" indent="0">
              <a:buNone/>
            </a:pPr>
            <a:r>
              <a:rPr lang="en-US" sz="1250" b="1" dirty="0">
                <a:solidFill>
                  <a:srgbClr val="FFFFFF"/>
                </a:solidFill>
              </a:rPr>
              <a:t>Objective: </a:t>
            </a:r>
            <a:r>
              <a:rPr lang="en-US" sz="1250" dirty="0">
                <a:solidFill>
                  <a:srgbClr val="FFFFFF"/>
                </a:solidFill>
              </a:rPr>
              <a:t>to investigate a bimetal-engineered MOF for direct CO₂ capture from air and evaluate how humidity influences adsorption and regeneration.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lide title"/>
          <p:cNvSpPr txBox="1"/>
          <p:nvPr/>
        </p:nvSpPr>
        <p:spPr>
          <a:xfrm>
            <a:off x="448056" y="1700784"/>
            <a:ext cx="11292840" cy="502920"/>
          </a:xfrm>
          <a:prstGeom prst="rect">
            <a:avLst/>
          </a:prstGeom>
          <a:noFill/>
          <a:ln/>
        </p:spPr>
        <p:txBody>
          <a:bodyPr wrap="square" lIns="0" tIns="0" rIns="0" bIns="0" rtlCol="0" anchor="ctr"/>
          <a:lstStyle/>
          <a:p>
            <a:pPr marL="0" indent="0" algn="l">
              <a:buNone/>
            </a:pPr>
            <a:r>
              <a:rPr lang="en-US" sz="2600" b="1" dirty="0">
                <a:solidFill>
                  <a:schemeClr val="accent3"/>
                </a:solidFill>
              </a:rPr>
              <a:t>Material Synthesis and Experimental Progress</a:t>
            </a:r>
            <a:endParaRPr lang="en-US" sz="2600" dirty="0"/>
          </a:p>
        </p:txBody>
      </p:sp>
      <p:pic>
        <p:nvPicPr>
          <p:cNvPr id="100" name="Step image 1" descr="Illustration: weighing a solid reagent on an analytical balance"/>
          <p:cNvPicPr>
            <a:picLocks noChangeAspect="1"/>
          </p:cNvPicPr>
          <p:nvPr/>
        </p:nvPicPr>
        <p:blipFill>
          <a:blip r:embed="rId6"/>
          <a:srcRect/>
          <a:stretch>
            <a:fillRect/>
          </a:stretch>
        </p:blipFill>
        <p:spPr>
          <a:xfrm>
            <a:off x="448056" y="2286000"/>
            <a:ext cx="1380744" cy="841248"/>
          </a:xfrm>
          <a:prstGeom prst="rect">
            <a:avLst/>
          </a:prstGeom>
        </p:spPr>
      </p:pic>
      <p:sp>
        <p:nvSpPr>
          <p:cNvPr id="101" name="Step frame 1"/>
          <p:cNvSpPr/>
          <p:nvPr/>
        </p:nvSpPr>
        <p:spPr>
          <a:xfrm>
            <a:off x="448056" y="2286000"/>
            <a:ext cx="1380744" cy="841248"/>
          </a:xfrm>
          <a:prstGeom prst="rect">
            <a:avLst/>
          </a:prstGeom>
          <a:noFill/>
          <a:ln w="12700">
            <a:solidFill>
              <a:schemeClr val="accent1"/>
            </a:solidFill>
            <a:prstDash val="solid"/>
          </a:ln>
        </p:spPr>
      </p:sp>
      <p:sp>
        <p:nvSpPr>
          <p:cNvPr id="102" name="Step caption bg 1"/>
          <p:cNvSpPr/>
          <p:nvPr/>
        </p:nvSpPr>
        <p:spPr>
          <a:xfrm>
            <a:off x="448056" y="3163824"/>
            <a:ext cx="1380744" cy="210312"/>
          </a:xfrm>
          <a:prstGeom prst="roundRect">
            <a:avLst>
              <a:gd name="adj" fmla="val 26667"/>
            </a:avLst>
          </a:prstGeom>
          <a:solidFill>
            <a:schemeClr val="bg2"/>
          </a:solidFill>
          <a:ln w="12700">
            <a:solidFill>
              <a:schemeClr val="bg2"/>
            </a:solidFill>
            <a:prstDash val="solid"/>
          </a:ln>
        </p:spPr>
      </p:sp>
      <p:sp>
        <p:nvSpPr>
          <p:cNvPr id="103" name="Step caption 1"/>
          <p:cNvSpPr txBox="1"/>
          <p:nvPr/>
        </p:nvSpPr>
        <p:spPr>
          <a:xfrm>
            <a:off x="521208" y="3163824"/>
            <a:ext cx="1234440" cy="210312"/>
          </a:xfrm>
          <a:prstGeom prst="rect">
            <a:avLst/>
          </a:prstGeom>
          <a:noFill/>
          <a:ln/>
        </p:spPr>
        <p:txBody>
          <a:bodyPr wrap="none" lIns="0" tIns="0" rIns="0" bIns="0" rtlCol="0" anchor="ctr"/>
          <a:lstStyle/>
          <a:p>
            <a:pPr marL="0" indent="0">
              <a:buNone/>
            </a:pPr>
            <a:r>
              <a:rPr lang="en-US" sz="1000" b="1" dirty="0">
                <a:solidFill>
                  <a:schemeClr val="accent3"/>
                </a:solidFill>
              </a:rPr>
              <a:t>1  Weighing</a:t>
            </a:r>
            <a:endParaRPr lang="en-US" sz="1000" dirty="0"/>
          </a:p>
        </p:txBody>
      </p:sp>
      <p:pic>
        <p:nvPicPr>
          <p:cNvPr id="104" name="Step image 2" descr="Illustration: preparing the reagent solutions"/>
          <p:cNvPicPr>
            <a:picLocks noChangeAspect="1"/>
          </p:cNvPicPr>
          <p:nvPr/>
        </p:nvPicPr>
        <p:blipFill>
          <a:blip r:embed="rId7"/>
          <a:srcRect/>
          <a:stretch>
            <a:fillRect/>
          </a:stretch>
        </p:blipFill>
        <p:spPr>
          <a:xfrm>
            <a:off x="1920240" y="2286000"/>
            <a:ext cx="1380744" cy="841248"/>
          </a:xfrm>
          <a:prstGeom prst="rect">
            <a:avLst/>
          </a:prstGeom>
        </p:spPr>
      </p:pic>
      <p:sp>
        <p:nvSpPr>
          <p:cNvPr id="105" name="Step frame 2"/>
          <p:cNvSpPr/>
          <p:nvPr/>
        </p:nvSpPr>
        <p:spPr>
          <a:xfrm>
            <a:off x="1920240" y="2286000"/>
            <a:ext cx="1380744" cy="841248"/>
          </a:xfrm>
          <a:prstGeom prst="rect">
            <a:avLst/>
          </a:prstGeom>
          <a:noFill/>
          <a:ln w="12700">
            <a:solidFill>
              <a:schemeClr val="accent1"/>
            </a:solidFill>
            <a:prstDash val="solid"/>
          </a:ln>
        </p:spPr>
      </p:sp>
      <p:sp>
        <p:nvSpPr>
          <p:cNvPr id="106" name="Step caption bg 2"/>
          <p:cNvSpPr/>
          <p:nvPr/>
        </p:nvSpPr>
        <p:spPr>
          <a:xfrm>
            <a:off x="1920240" y="3163824"/>
            <a:ext cx="1380744" cy="210312"/>
          </a:xfrm>
          <a:prstGeom prst="roundRect">
            <a:avLst>
              <a:gd name="adj" fmla="val 26667"/>
            </a:avLst>
          </a:prstGeom>
          <a:solidFill>
            <a:schemeClr val="bg2"/>
          </a:solidFill>
          <a:ln w="12700">
            <a:solidFill>
              <a:schemeClr val="bg2"/>
            </a:solidFill>
            <a:prstDash val="solid"/>
          </a:ln>
        </p:spPr>
      </p:sp>
      <p:sp>
        <p:nvSpPr>
          <p:cNvPr id="107" name="Step caption 2"/>
          <p:cNvSpPr txBox="1"/>
          <p:nvPr/>
        </p:nvSpPr>
        <p:spPr>
          <a:xfrm>
            <a:off x="1993392" y="3163824"/>
            <a:ext cx="1234440" cy="210312"/>
          </a:xfrm>
          <a:prstGeom prst="rect">
            <a:avLst/>
          </a:prstGeom>
          <a:noFill/>
          <a:ln/>
        </p:spPr>
        <p:txBody>
          <a:bodyPr wrap="none" lIns="0" tIns="0" rIns="0" bIns="0" rtlCol="0" anchor="ctr"/>
          <a:lstStyle/>
          <a:p>
            <a:pPr marL="0" indent="0">
              <a:buNone/>
            </a:pPr>
            <a:r>
              <a:rPr lang="en-US" sz="1000" b="1" dirty="0">
                <a:solidFill>
                  <a:schemeClr val="accent3"/>
                </a:solidFill>
              </a:rPr>
              <a:t>2  Preparation</a:t>
            </a:r>
            <a:endParaRPr lang="en-US" sz="1000" dirty="0"/>
          </a:p>
        </p:txBody>
      </p:sp>
      <p:pic>
        <p:nvPicPr>
          <p:cNvPr id="108" name="Step image 3" descr="Illustration: mixing the solutions on a magnetic stirrer"/>
          <p:cNvPicPr>
            <a:picLocks noChangeAspect="1"/>
          </p:cNvPicPr>
          <p:nvPr/>
        </p:nvPicPr>
        <p:blipFill>
          <a:blip r:embed="rId8"/>
          <a:srcRect/>
          <a:stretch>
            <a:fillRect/>
          </a:stretch>
        </p:blipFill>
        <p:spPr>
          <a:xfrm>
            <a:off x="3392424" y="2286000"/>
            <a:ext cx="1380744" cy="841248"/>
          </a:xfrm>
          <a:prstGeom prst="rect">
            <a:avLst/>
          </a:prstGeom>
        </p:spPr>
      </p:pic>
      <p:sp>
        <p:nvSpPr>
          <p:cNvPr id="109" name="Step frame 3"/>
          <p:cNvSpPr/>
          <p:nvPr/>
        </p:nvSpPr>
        <p:spPr>
          <a:xfrm>
            <a:off x="3392424" y="2286000"/>
            <a:ext cx="1380744" cy="841248"/>
          </a:xfrm>
          <a:prstGeom prst="rect">
            <a:avLst/>
          </a:prstGeom>
          <a:noFill/>
          <a:ln w="12700">
            <a:solidFill>
              <a:schemeClr val="accent1"/>
            </a:solidFill>
            <a:prstDash val="solid"/>
          </a:ln>
        </p:spPr>
      </p:sp>
      <p:sp>
        <p:nvSpPr>
          <p:cNvPr id="110" name="Step caption bg 3"/>
          <p:cNvSpPr/>
          <p:nvPr/>
        </p:nvSpPr>
        <p:spPr>
          <a:xfrm>
            <a:off x="3392424" y="3163824"/>
            <a:ext cx="1380744" cy="210312"/>
          </a:xfrm>
          <a:prstGeom prst="roundRect">
            <a:avLst>
              <a:gd name="adj" fmla="val 26667"/>
            </a:avLst>
          </a:prstGeom>
          <a:solidFill>
            <a:schemeClr val="bg2"/>
          </a:solidFill>
          <a:ln w="12700">
            <a:solidFill>
              <a:schemeClr val="bg2"/>
            </a:solidFill>
            <a:prstDash val="solid"/>
          </a:ln>
        </p:spPr>
      </p:sp>
      <p:sp>
        <p:nvSpPr>
          <p:cNvPr id="111" name="Step caption 3"/>
          <p:cNvSpPr txBox="1"/>
          <p:nvPr/>
        </p:nvSpPr>
        <p:spPr>
          <a:xfrm>
            <a:off x="3465576" y="3163824"/>
            <a:ext cx="1234440" cy="210312"/>
          </a:xfrm>
          <a:prstGeom prst="rect">
            <a:avLst/>
          </a:prstGeom>
          <a:noFill/>
          <a:ln/>
        </p:spPr>
        <p:txBody>
          <a:bodyPr wrap="none" lIns="0" tIns="0" rIns="0" bIns="0" rtlCol="0" anchor="ctr"/>
          <a:lstStyle/>
          <a:p>
            <a:pPr marL="0" indent="0">
              <a:buNone/>
            </a:pPr>
            <a:r>
              <a:rPr lang="en-US" sz="1000" b="1" dirty="0">
                <a:solidFill>
                  <a:schemeClr val="accent3"/>
                </a:solidFill>
              </a:rPr>
              <a:t>3  Mixing</a:t>
            </a:r>
            <a:endParaRPr lang="en-US" sz="1000" dirty="0"/>
          </a:p>
        </p:txBody>
      </p:sp>
      <p:pic>
        <p:nvPicPr>
          <p:cNvPr id="112" name="Step image 4" descr="Illustration: heating the sealed reaction bottle in a laboratory oven"/>
          <p:cNvPicPr>
            <a:picLocks noChangeAspect="1"/>
          </p:cNvPicPr>
          <p:nvPr/>
        </p:nvPicPr>
        <p:blipFill>
          <a:blip r:embed="rId9"/>
          <a:srcRect/>
          <a:stretch>
            <a:fillRect/>
          </a:stretch>
        </p:blipFill>
        <p:spPr>
          <a:xfrm>
            <a:off x="4864608" y="2286000"/>
            <a:ext cx="1380744" cy="841248"/>
          </a:xfrm>
          <a:prstGeom prst="rect">
            <a:avLst/>
          </a:prstGeom>
        </p:spPr>
      </p:pic>
      <p:sp>
        <p:nvSpPr>
          <p:cNvPr id="113" name="Step frame 4"/>
          <p:cNvSpPr/>
          <p:nvPr/>
        </p:nvSpPr>
        <p:spPr>
          <a:xfrm>
            <a:off x="4864608" y="2286000"/>
            <a:ext cx="1380744" cy="841248"/>
          </a:xfrm>
          <a:prstGeom prst="rect">
            <a:avLst/>
          </a:prstGeom>
          <a:noFill/>
          <a:ln w="12700">
            <a:solidFill>
              <a:schemeClr val="accent1"/>
            </a:solidFill>
            <a:prstDash val="solid"/>
          </a:ln>
        </p:spPr>
      </p:sp>
      <p:sp>
        <p:nvSpPr>
          <p:cNvPr id="114" name="Step caption bg 4"/>
          <p:cNvSpPr/>
          <p:nvPr/>
        </p:nvSpPr>
        <p:spPr>
          <a:xfrm>
            <a:off x="4864608" y="3163824"/>
            <a:ext cx="1380744" cy="210312"/>
          </a:xfrm>
          <a:prstGeom prst="roundRect">
            <a:avLst>
              <a:gd name="adj" fmla="val 26667"/>
            </a:avLst>
          </a:prstGeom>
          <a:solidFill>
            <a:schemeClr val="bg2"/>
          </a:solidFill>
          <a:ln w="12700">
            <a:solidFill>
              <a:schemeClr val="bg2"/>
            </a:solidFill>
            <a:prstDash val="solid"/>
          </a:ln>
        </p:spPr>
      </p:sp>
      <p:sp>
        <p:nvSpPr>
          <p:cNvPr id="115" name="Step caption 4"/>
          <p:cNvSpPr txBox="1"/>
          <p:nvPr/>
        </p:nvSpPr>
        <p:spPr>
          <a:xfrm>
            <a:off x="4937760" y="3163824"/>
            <a:ext cx="1234440" cy="210312"/>
          </a:xfrm>
          <a:prstGeom prst="rect">
            <a:avLst/>
          </a:prstGeom>
          <a:noFill/>
          <a:ln/>
        </p:spPr>
        <p:txBody>
          <a:bodyPr wrap="none" lIns="0" tIns="0" rIns="0" bIns="0" rtlCol="0" anchor="ctr"/>
          <a:lstStyle/>
          <a:p>
            <a:pPr marL="0" indent="0">
              <a:buNone/>
            </a:pPr>
            <a:r>
              <a:rPr lang="en-US" sz="1000" b="1" dirty="0">
                <a:solidFill>
                  <a:schemeClr val="accent3"/>
                </a:solidFill>
              </a:rPr>
              <a:t>4  Heating</a:t>
            </a:r>
            <a:endParaRPr lang="en-US" sz="1000" dirty="0"/>
          </a:p>
        </p:txBody>
      </p:sp>
      <p:pic>
        <p:nvPicPr>
          <p:cNvPr id="116" name="Step image 5" descr="Photograph of the reaction vessel after heating, in the laboratory oven"/>
          <p:cNvPicPr>
            <a:picLocks noChangeAspect="1"/>
          </p:cNvPicPr>
          <p:nvPr/>
        </p:nvPicPr>
        <p:blipFill>
          <a:blip r:embed="rId3"/>
          <a:srcRect t="30303" b="17631"/>
          <a:stretch>
            <a:fillRect/>
          </a:stretch>
        </p:blipFill>
        <p:spPr>
          <a:xfrm>
            <a:off x="6336792" y="2286000"/>
            <a:ext cx="1380744" cy="841248"/>
          </a:xfrm>
          <a:prstGeom prst="rect">
            <a:avLst/>
          </a:prstGeom>
        </p:spPr>
      </p:pic>
      <p:sp>
        <p:nvSpPr>
          <p:cNvPr id="117" name="Step frame 5"/>
          <p:cNvSpPr/>
          <p:nvPr/>
        </p:nvSpPr>
        <p:spPr>
          <a:xfrm>
            <a:off x="6336792" y="2286000"/>
            <a:ext cx="1380744" cy="841248"/>
          </a:xfrm>
          <a:prstGeom prst="rect">
            <a:avLst/>
          </a:prstGeom>
          <a:noFill/>
          <a:ln w="12700">
            <a:solidFill>
              <a:schemeClr val="accent1"/>
            </a:solidFill>
            <a:prstDash val="solid"/>
          </a:ln>
        </p:spPr>
      </p:sp>
      <p:sp>
        <p:nvSpPr>
          <p:cNvPr id="118" name="Step caption bg 5"/>
          <p:cNvSpPr/>
          <p:nvPr/>
        </p:nvSpPr>
        <p:spPr>
          <a:xfrm>
            <a:off x="6336792" y="3163824"/>
            <a:ext cx="1380744" cy="210312"/>
          </a:xfrm>
          <a:prstGeom prst="roundRect">
            <a:avLst>
              <a:gd name="adj" fmla="val 26667"/>
            </a:avLst>
          </a:prstGeom>
          <a:solidFill>
            <a:schemeClr val="bg2"/>
          </a:solidFill>
          <a:ln w="12700">
            <a:solidFill>
              <a:schemeClr val="bg2"/>
            </a:solidFill>
            <a:prstDash val="solid"/>
          </a:ln>
        </p:spPr>
      </p:sp>
      <p:sp>
        <p:nvSpPr>
          <p:cNvPr id="119" name="Step caption 5"/>
          <p:cNvSpPr txBox="1"/>
          <p:nvPr/>
        </p:nvSpPr>
        <p:spPr>
          <a:xfrm>
            <a:off x="6409944" y="3163824"/>
            <a:ext cx="1234440" cy="210312"/>
          </a:xfrm>
          <a:prstGeom prst="rect">
            <a:avLst/>
          </a:prstGeom>
          <a:noFill/>
          <a:ln/>
        </p:spPr>
        <p:txBody>
          <a:bodyPr wrap="none" lIns="0" tIns="0" rIns="0" bIns="0" rtlCol="0" anchor="ctr"/>
          <a:lstStyle/>
          <a:p>
            <a:pPr marL="0" indent="0">
              <a:buNone/>
            </a:pPr>
            <a:r>
              <a:rPr lang="en-US" sz="1000" b="1" dirty="0">
                <a:solidFill>
                  <a:schemeClr val="accent3"/>
                </a:solidFill>
              </a:rPr>
              <a:t>5  After heating</a:t>
            </a:r>
            <a:endParaRPr lang="en-US" sz="1000" dirty="0"/>
          </a:p>
        </p:txBody>
      </p:sp>
      <p:pic>
        <p:nvPicPr>
          <p:cNvPr id="120" name="Step image 6" descr="Illustration: washing the solid product with solvent"/>
          <p:cNvPicPr>
            <a:picLocks noChangeAspect="1"/>
          </p:cNvPicPr>
          <p:nvPr/>
        </p:nvPicPr>
        <p:blipFill>
          <a:blip r:embed="rId10"/>
          <a:srcRect/>
          <a:stretch>
            <a:fillRect/>
          </a:stretch>
        </p:blipFill>
        <p:spPr>
          <a:xfrm>
            <a:off x="448056" y="3456432"/>
            <a:ext cx="1380744" cy="841248"/>
          </a:xfrm>
          <a:prstGeom prst="rect">
            <a:avLst/>
          </a:prstGeom>
        </p:spPr>
      </p:pic>
      <p:sp>
        <p:nvSpPr>
          <p:cNvPr id="121" name="Step frame 6"/>
          <p:cNvSpPr/>
          <p:nvPr/>
        </p:nvSpPr>
        <p:spPr>
          <a:xfrm>
            <a:off x="448056" y="3456432"/>
            <a:ext cx="1380744" cy="841248"/>
          </a:xfrm>
          <a:prstGeom prst="rect">
            <a:avLst/>
          </a:prstGeom>
          <a:noFill/>
          <a:ln w="12700">
            <a:solidFill>
              <a:schemeClr val="accent1"/>
            </a:solidFill>
            <a:prstDash val="solid"/>
          </a:ln>
        </p:spPr>
      </p:sp>
      <p:sp>
        <p:nvSpPr>
          <p:cNvPr id="122" name="Step caption bg 6"/>
          <p:cNvSpPr/>
          <p:nvPr/>
        </p:nvSpPr>
        <p:spPr>
          <a:xfrm>
            <a:off x="448056" y="4334256"/>
            <a:ext cx="1380744" cy="210312"/>
          </a:xfrm>
          <a:prstGeom prst="roundRect">
            <a:avLst>
              <a:gd name="adj" fmla="val 26667"/>
            </a:avLst>
          </a:prstGeom>
          <a:solidFill>
            <a:schemeClr val="bg2"/>
          </a:solidFill>
          <a:ln w="12700">
            <a:solidFill>
              <a:schemeClr val="bg2"/>
            </a:solidFill>
            <a:prstDash val="solid"/>
          </a:ln>
        </p:spPr>
      </p:sp>
      <p:sp>
        <p:nvSpPr>
          <p:cNvPr id="123" name="Step caption 6"/>
          <p:cNvSpPr txBox="1"/>
          <p:nvPr/>
        </p:nvSpPr>
        <p:spPr>
          <a:xfrm>
            <a:off x="521208" y="4334256"/>
            <a:ext cx="1234440" cy="210312"/>
          </a:xfrm>
          <a:prstGeom prst="rect">
            <a:avLst/>
          </a:prstGeom>
          <a:noFill/>
          <a:ln/>
        </p:spPr>
        <p:txBody>
          <a:bodyPr wrap="none" lIns="0" tIns="0" rIns="0" bIns="0" rtlCol="0" anchor="ctr"/>
          <a:lstStyle/>
          <a:p>
            <a:pPr marL="0" indent="0">
              <a:buNone/>
            </a:pPr>
            <a:r>
              <a:rPr lang="en-US" sz="1000" b="1" dirty="0">
                <a:solidFill>
                  <a:schemeClr val="accent3"/>
                </a:solidFill>
              </a:rPr>
              <a:t>6  Washing</a:t>
            </a:r>
            <a:endParaRPr lang="en-US" sz="1000" dirty="0"/>
          </a:p>
        </p:txBody>
      </p:sp>
      <p:pic>
        <p:nvPicPr>
          <p:cNvPr id="124" name="Step image 7" descr="Illustration: separating the solid product (centrifugation shown)"/>
          <p:cNvPicPr>
            <a:picLocks noChangeAspect="1"/>
          </p:cNvPicPr>
          <p:nvPr/>
        </p:nvPicPr>
        <p:blipFill>
          <a:blip r:embed="rId11"/>
          <a:srcRect/>
          <a:stretch>
            <a:fillRect/>
          </a:stretch>
        </p:blipFill>
        <p:spPr>
          <a:xfrm>
            <a:off x="1920240" y="3456432"/>
            <a:ext cx="1380744" cy="841248"/>
          </a:xfrm>
          <a:prstGeom prst="rect">
            <a:avLst/>
          </a:prstGeom>
        </p:spPr>
      </p:pic>
      <p:sp>
        <p:nvSpPr>
          <p:cNvPr id="125" name="Step frame 7"/>
          <p:cNvSpPr/>
          <p:nvPr/>
        </p:nvSpPr>
        <p:spPr>
          <a:xfrm>
            <a:off x="1920240" y="3456432"/>
            <a:ext cx="1380744" cy="841248"/>
          </a:xfrm>
          <a:prstGeom prst="rect">
            <a:avLst/>
          </a:prstGeom>
          <a:noFill/>
          <a:ln w="12700">
            <a:solidFill>
              <a:schemeClr val="accent1"/>
            </a:solidFill>
            <a:prstDash val="solid"/>
          </a:ln>
        </p:spPr>
      </p:sp>
      <p:sp>
        <p:nvSpPr>
          <p:cNvPr id="126" name="Step caption bg 7"/>
          <p:cNvSpPr/>
          <p:nvPr/>
        </p:nvSpPr>
        <p:spPr>
          <a:xfrm>
            <a:off x="1920240" y="4334256"/>
            <a:ext cx="1380744" cy="210312"/>
          </a:xfrm>
          <a:prstGeom prst="roundRect">
            <a:avLst>
              <a:gd name="adj" fmla="val 26667"/>
            </a:avLst>
          </a:prstGeom>
          <a:solidFill>
            <a:schemeClr val="bg2"/>
          </a:solidFill>
          <a:ln w="12700">
            <a:solidFill>
              <a:schemeClr val="bg2"/>
            </a:solidFill>
            <a:prstDash val="solid"/>
          </a:ln>
        </p:spPr>
      </p:sp>
      <p:sp>
        <p:nvSpPr>
          <p:cNvPr id="127" name="Step caption 7"/>
          <p:cNvSpPr txBox="1"/>
          <p:nvPr/>
        </p:nvSpPr>
        <p:spPr>
          <a:xfrm>
            <a:off x="1993392" y="4334256"/>
            <a:ext cx="1234440" cy="210312"/>
          </a:xfrm>
          <a:prstGeom prst="rect">
            <a:avLst/>
          </a:prstGeom>
          <a:noFill/>
          <a:ln/>
        </p:spPr>
        <p:txBody>
          <a:bodyPr wrap="none" lIns="0" tIns="0" rIns="0" bIns="0" rtlCol="0" anchor="ctr"/>
          <a:lstStyle/>
          <a:p>
            <a:pPr marL="0" indent="0">
              <a:buNone/>
            </a:pPr>
            <a:r>
              <a:rPr lang="en-US" sz="1000" b="1" dirty="0">
                <a:solidFill>
                  <a:schemeClr val="accent3"/>
                </a:solidFill>
              </a:rPr>
              <a:t>7  Separation</a:t>
            </a:r>
            <a:endParaRPr lang="en-US" sz="1000" dirty="0"/>
          </a:p>
        </p:txBody>
      </p:sp>
      <p:pic>
        <p:nvPicPr>
          <p:cNvPr id="128" name="Step image 8" descr="Illustration: drying the solid product with heat"/>
          <p:cNvPicPr>
            <a:picLocks noChangeAspect="1"/>
          </p:cNvPicPr>
          <p:nvPr/>
        </p:nvPicPr>
        <p:blipFill>
          <a:blip r:embed="rId12"/>
          <a:srcRect/>
          <a:stretch>
            <a:fillRect/>
          </a:stretch>
        </p:blipFill>
        <p:spPr>
          <a:xfrm>
            <a:off x="3392424" y="3456432"/>
            <a:ext cx="1380744" cy="841248"/>
          </a:xfrm>
          <a:prstGeom prst="rect">
            <a:avLst/>
          </a:prstGeom>
        </p:spPr>
      </p:pic>
      <p:sp>
        <p:nvSpPr>
          <p:cNvPr id="129" name="Step frame 8"/>
          <p:cNvSpPr/>
          <p:nvPr/>
        </p:nvSpPr>
        <p:spPr>
          <a:xfrm>
            <a:off x="3392424" y="3456432"/>
            <a:ext cx="1380744" cy="841248"/>
          </a:xfrm>
          <a:prstGeom prst="rect">
            <a:avLst/>
          </a:prstGeom>
          <a:noFill/>
          <a:ln w="12700">
            <a:solidFill>
              <a:schemeClr val="accent1"/>
            </a:solidFill>
            <a:prstDash val="solid"/>
          </a:ln>
        </p:spPr>
      </p:sp>
      <p:sp>
        <p:nvSpPr>
          <p:cNvPr id="130" name="Step caption bg 8"/>
          <p:cNvSpPr/>
          <p:nvPr/>
        </p:nvSpPr>
        <p:spPr>
          <a:xfrm>
            <a:off x="3392424" y="4334256"/>
            <a:ext cx="1380744" cy="210312"/>
          </a:xfrm>
          <a:prstGeom prst="roundRect">
            <a:avLst>
              <a:gd name="adj" fmla="val 26667"/>
            </a:avLst>
          </a:prstGeom>
          <a:solidFill>
            <a:schemeClr val="bg2"/>
          </a:solidFill>
          <a:ln w="12700">
            <a:solidFill>
              <a:schemeClr val="bg2"/>
            </a:solidFill>
            <a:prstDash val="solid"/>
          </a:ln>
        </p:spPr>
      </p:sp>
      <p:sp>
        <p:nvSpPr>
          <p:cNvPr id="131" name="Step caption 8"/>
          <p:cNvSpPr txBox="1"/>
          <p:nvPr/>
        </p:nvSpPr>
        <p:spPr>
          <a:xfrm>
            <a:off x="3465576" y="4334256"/>
            <a:ext cx="1234440" cy="210312"/>
          </a:xfrm>
          <a:prstGeom prst="rect">
            <a:avLst/>
          </a:prstGeom>
          <a:noFill/>
          <a:ln/>
        </p:spPr>
        <p:txBody>
          <a:bodyPr wrap="none" lIns="0" tIns="0" rIns="0" bIns="0" rtlCol="0" anchor="ctr"/>
          <a:lstStyle/>
          <a:p>
            <a:pPr marL="0" indent="0">
              <a:buNone/>
            </a:pPr>
            <a:r>
              <a:rPr lang="en-US" sz="1000" b="1" dirty="0">
                <a:solidFill>
                  <a:schemeClr val="accent3"/>
                </a:solidFill>
              </a:rPr>
              <a:t>8  Drying</a:t>
            </a:r>
            <a:endParaRPr lang="en-US" sz="1000" dirty="0"/>
          </a:p>
        </p:txBody>
      </p:sp>
      <p:pic>
        <p:nvPicPr>
          <p:cNvPr id="132" name="Step image 9" descr="Photograph of the dried MOF powder in a glass dish"/>
          <p:cNvPicPr>
            <a:picLocks noChangeAspect="1"/>
          </p:cNvPicPr>
          <p:nvPr/>
        </p:nvPicPr>
        <p:blipFill>
          <a:blip r:embed="rId4"/>
          <a:srcRect t="31429" b="12500"/>
          <a:stretch>
            <a:fillRect/>
          </a:stretch>
        </p:blipFill>
        <p:spPr>
          <a:xfrm>
            <a:off x="4864608" y="3456432"/>
            <a:ext cx="1380744" cy="841248"/>
          </a:xfrm>
          <a:prstGeom prst="rect">
            <a:avLst/>
          </a:prstGeom>
        </p:spPr>
      </p:pic>
      <p:sp>
        <p:nvSpPr>
          <p:cNvPr id="133" name="Step frame 9"/>
          <p:cNvSpPr/>
          <p:nvPr/>
        </p:nvSpPr>
        <p:spPr>
          <a:xfrm>
            <a:off x="4864608" y="3456432"/>
            <a:ext cx="1380744" cy="841248"/>
          </a:xfrm>
          <a:prstGeom prst="rect">
            <a:avLst/>
          </a:prstGeom>
          <a:noFill/>
          <a:ln w="12700">
            <a:solidFill>
              <a:schemeClr val="accent1"/>
            </a:solidFill>
            <a:prstDash val="solid"/>
          </a:ln>
        </p:spPr>
      </p:sp>
      <p:sp>
        <p:nvSpPr>
          <p:cNvPr id="134" name="Step caption bg 9"/>
          <p:cNvSpPr/>
          <p:nvPr/>
        </p:nvSpPr>
        <p:spPr>
          <a:xfrm>
            <a:off x="4864608" y="4334256"/>
            <a:ext cx="1380744" cy="210312"/>
          </a:xfrm>
          <a:prstGeom prst="roundRect">
            <a:avLst>
              <a:gd name="adj" fmla="val 26667"/>
            </a:avLst>
          </a:prstGeom>
          <a:solidFill>
            <a:schemeClr val="bg2"/>
          </a:solidFill>
          <a:ln w="12700">
            <a:solidFill>
              <a:schemeClr val="bg2"/>
            </a:solidFill>
            <a:prstDash val="solid"/>
          </a:ln>
        </p:spPr>
      </p:sp>
      <p:sp>
        <p:nvSpPr>
          <p:cNvPr id="135" name="Step caption 9"/>
          <p:cNvSpPr txBox="1"/>
          <p:nvPr/>
        </p:nvSpPr>
        <p:spPr>
          <a:xfrm>
            <a:off x="4937760" y="4334256"/>
            <a:ext cx="1234440" cy="210312"/>
          </a:xfrm>
          <a:prstGeom prst="rect">
            <a:avLst/>
          </a:prstGeom>
          <a:noFill/>
          <a:ln/>
        </p:spPr>
        <p:txBody>
          <a:bodyPr wrap="none" lIns="0" tIns="0" rIns="0" bIns="0" rtlCol="0" anchor="ctr"/>
          <a:lstStyle/>
          <a:p>
            <a:pPr marL="0" indent="0">
              <a:buNone/>
            </a:pPr>
            <a:r>
              <a:rPr lang="en-US" sz="1000" b="1" dirty="0">
                <a:solidFill>
                  <a:schemeClr val="accent3"/>
                </a:solidFill>
              </a:rPr>
              <a:t>9  After drying</a:t>
            </a:r>
            <a:endParaRPr lang="en-US" sz="1000" dirty="0"/>
          </a:p>
        </p:txBody>
      </p:sp>
      <p:pic>
        <p:nvPicPr>
          <p:cNvPr id="136" name="Step image 10" descr="Photograph of labelled sample vials after activation"/>
          <p:cNvPicPr>
            <a:picLocks noChangeAspect="1"/>
          </p:cNvPicPr>
          <p:nvPr/>
        </p:nvPicPr>
        <p:blipFill>
          <a:blip r:embed="rId5"/>
          <a:srcRect t="24465" b="14373"/>
          <a:stretch>
            <a:fillRect/>
          </a:stretch>
        </p:blipFill>
        <p:spPr>
          <a:xfrm>
            <a:off x="6336792" y="3456432"/>
            <a:ext cx="1380744" cy="841248"/>
          </a:xfrm>
          <a:prstGeom prst="rect">
            <a:avLst/>
          </a:prstGeom>
        </p:spPr>
      </p:pic>
      <p:sp>
        <p:nvSpPr>
          <p:cNvPr id="137" name="Step frame 10"/>
          <p:cNvSpPr/>
          <p:nvPr/>
        </p:nvSpPr>
        <p:spPr>
          <a:xfrm>
            <a:off x="6336792" y="3456432"/>
            <a:ext cx="1380744" cy="841248"/>
          </a:xfrm>
          <a:prstGeom prst="rect">
            <a:avLst/>
          </a:prstGeom>
          <a:noFill/>
          <a:ln w="12700">
            <a:solidFill>
              <a:schemeClr val="accent1"/>
            </a:solidFill>
            <a:prstDash val="solid"/>
          </a:ln>
        </p:spPr>
      </p:sp>
      <p:sp>
        <p:nvSpPr>
          <p:cNvPr id="138" name="Step caption bg 10"/>
          <p:cNvSpPr/>
          <p:nvPr/>
        </p:nvSpPr>
        <p:spPr>
          <a:xfrm>
            <a:off x="6336792" y="4334256"/>
            <a:ext cx="1380744" cy="210312"/>
          </a:xfrm>
          <a:prstGeom prst="roundRect">
            <a:avLst>
              <a:gd name="adj" fmla="val 26667"/>
            </a:avLst>
          </a:prstGeom>
          <a:solidFill>
            <a:schemeClr val="bg2"/>
          </a:solidFill>
          <a:ln w="12700">
            <a:solidFill>
              <a:schemeClr val="bg2"/>
            </a:solidFill>
            <a:prstDash val="solid"/>
          </a:ln>
        </p:spPr>
      </p:sp>
      <p:sp>
        <p:nvSpPr>
          <p:cNvPr id="139" name="Step caption 10"/>
          <p:cNvSpPr txBox="1"/>
          <p:nvPr/>
        </p:nvSpPr>
        <p:spPr>
          <a:xfrm>
            <a:off x="6409944" y="4334256"/>
            <a:ext cx="1234440" cy="210312"/>
          </a:xfrm>
          <a:prstGeom prst="rect">
            <a:avLst/>
          </a:prstGeom>
          <a:noFill/>
          <a:ln/>
        </p:spPr>
        <p:txBody>
          <a:bodyPr wrap="none" lIns="0" tIns="0" rIns="0" bIns="0" rtlCol="0" anchor="ctr"/>
          <a:lstStyle/>
          <a:p>
            <a:pPr marL="0" indent="0">
              <a:buNone/>
            </a:pPr>
            <a:r>
              <a:rPr lang="en-US" sz="1000" b="1" dirty="0">
                <a:solidFill>
                  <a:schemeClr val="accent3"/>
                </a:solidFill>
              </a:rPr>
              <a:t>10  After activation</a:t>
            </a:r>
            <a:endParaRPr lang="en-US" sz="1000" dirty="0"/>
          </a:p>
        </p:txBody>
      </p:sp>
      <p:sp>
        <p:nvSpPr>
          <p:cNvPr id="15" name="Matrix card"/>
          <p:cNvSpPr/>
          <p:nvPr/>
        </p:nvSpPr>
        <p:spPr>
          <a:xfrm>
            <a:off x="8037576" y="2286000"/>
            <a:ext cx="3703320" cy="2258568"/>
          </a:xfrm>
          <a:prstGeom prst="roundRect">
            <a:avLst>
              <a:gd name="adj" fmla="val 3239"/>
            </a:avLst>
          </a:prstGeom>
          <a:solidFill>
            <a:schemeClr val="bg2"/>
          </a:solidFill>
          <a:ln w="12700">
            <a:solidFill>
              <a:schemeClr val="bg2"/>
            </a:solidFill>
            <a:prstDash val="solid"/>
          </a:ln>
        </p:spPr>
      </p:sp>
      <p:sp>
        <p:nvSpPr>
          <p:cNvPr id="16" name="Matrix title"/>
          <p:cNvSpPr txBox="1"/>
          <p:nvPr/>
        </p:nvSpPr>
        <p:spPr>
          <a:xfrm>
            <a:off x="8202168" y="2395728"/>
            <a:ext cx="3374136" cy="256032"/>
          </a:xfrm>
          <a:prstGeom prst="rect">
            <a:avLst/>
          </a:prstGeom>
          <a:noFill/>
          <a:ln/>
        </p:spPr>
        <p:txBody>
          <a:bodyPr wrap="square" lIns="0" tIns="0" rIns="0" bIns="0" rtlCol="0" anchor="t"/>
          <a:lstStyle/>
          <a:p>
            <a:pPr marL="0" indent="0">
              <a:buNone/>
            </a:pPr>
            <a:r>
              <a:rPr lang="en-US" sz="1500" b="1" dirty="0">
                <a:solidFill>
                  <a:schemeClr val="accent3"/>
                </a:solidFill>
              </a:rPr>
              <a:t>12-sample matrix (solvothermal)</a:t>
            </a:r>
            <a:endParaRPr lang="en-US" sz="1500" dirty="0"/>
          </a:p>
        </p:txBody>
      </p:sp>
      <p:sp>
        <p:nvSpPr>
          <p:cNvPr id="17" name="Matrix subtitle"/>
          <p:cNvSpPr txBox="1"/>
          <p:nvPr/>
        </p:nvSpPr>
        <p:spPr>
          <a:xfrm>
            <a:off x="8202168" y="2688336"/>
            <a:ext cx="3374136" cy="457200"/>
          </a:xfrm>
          <a:prstGeom prst="rect">
            <a:avLst/>
          </a:prstGeom>
          <a:noFill/>
          <a:ln/>
        </p:spPr>
        <p:txBody>
          <a:bodyPr wrap="square" lIns="0" tIns="0" rIns="0" bIns="0" rtlCol="0" anchor="t"/>
          <a:lstStyle/>
          <a:p>
            <a:pPr marL="0" indent="0">
              <a:buNone/>
            </a:pPr>
            <a:r>
              <a:rPr lang="en-US" sz="1200" dirty="0">
                <a:solidFill>
                  <a:schemeClr val="tx2"/>
                </a:solidFill>
              </a:rPr>
              <a:t>6 metal compositions × 2 metal-to-linker ratios. White crystalline solids in all 12.</a:t>
            </a:r>
            <a:endParaRPr lang="en-US" sz="1200" dirty="0"/>
          </a:p>
        </p:txBody>
      </p:sp>
      <p:sp>
        <p:nvSpPr>
          <p:cNvPr id="18" name="Matrix comp label"/>
          <p:cNvSpPr txBox="1"/>
          <p:nvPr/>
        </p:nvSpPr>
        <p:spPr>
          <a:xfrm>
            <a:off x="8202168" y="3182112"/>
            <a:ext cx="612648" cy="274320"/>
          </a:xfrm>
          <a:prstGeom prst="rect">
            <a:avLst/>
          </a:prstGeom>
          <a:noFill/>
          <a:ln/>
        </p:spPr>
        <p:txBody>
          <a:bodyPr wrap="square" lIns="0" tIns="0" rIns="0" bIns="0" rtlCol="0" anchor="ctr"/>
          <a:lstStyle/>
          <a:p>
            <a:pPr marL="0" indent="0">
              <a:buNone/>
            </a:pPr>
            <a:r>
              <a:rPr lang="en-US" sz="1000" b="1" dirty="0">
                <a:solidFill>
                  <a:schemeClr val="accent6"/>
                </a:solidFill>
              </a:rPr>
              <a:t>Metal comp.</a:t>
            </a:r>
            <a:endParaRPr lang="en-US" sz="1000" dirty="0"/>
          </a:p>
        </p:txBody>
      </p:sp>
      <p:sp>
        <p:nvSpPr>
          <p:cNvPr id="19" name="Matrix col A"/>
          <p:cNvSpPr txBox="1"/>
          <p:nvPr/>
        </p:nvSpPr>
        <p:spPr>
          <a:xfrm>
            <a:off x="8769096" y="3182112"/>
            <a:ext cx="437388" cy="274320"/>
          </a:xfrm>
          <a:prstGeom prst="rect">
            <a:avLst/>
          </a:prstGeom>
          <a:noFill/>
          <a:ln/>
        </p:spPr>
        <p:txBody>
          <a:bodyPr wrap="square" lIns="0" tIns="0" rIns="0" bIns="0" rtlCol="0" anchor="ctr"/>
          <a:lstStyle/>
          <a:p>
            <a:pPr marL="0" indent="0" algn="ctr">
              <a:buNone/>
            </a:pPr>
            <a:r>
              <a:rPr lang="en-US" sz="1200" b="1" dirty="0">
                <a:solidFill>
                  <a:schemeClr val="accent3"/>
                </a:solidFill>
              </a:rPr>
              <a:t>A</a:t>
            </a:r>
            <a:endParaRPr lang="en-US" sz="1200" dirty="0"/>
          </a:p>
        </p:txBody>
      </p:sp>
      <p:sp>
        <p:nvSpPr>
          <p:cNvPr id="20" name="Matrix col B"/>
          <p:cNvSpPr txBox="1"/>
          <p:nvPr/>
        </p:nvSpPr>
        <p:spPr>
          <a:xfrm>
            <a:off x="9243060" y="3182112"/>
            <a:ext cx="437388" cy="274320"/>
          </a:xfrm>
          <a:prstGeom prst="rect">
            <a:avLst/>
          </a:prstGeom>
          <a:noFill/>
          <a:ln/>
        </p:spPr>
        <p:txBody>
          <a:bodyPr wrap="square" lIns="0" tIns="0" rIns="0" bIns="0" rtlCol="0" anchor="ctr"/>
          <a:lstStyle/>
          <a:p>
            <a:pPr marL="0" indent="0" algn="ctr">
              <a:buNone/>
            </a:pPr>
            <a:r>
              <a:rPr lang="en-US" sz="1200" b="1" dirty="0">
                <a:solidFill>
                  <a:schemeClr val="accent3"/>
                </a:solidFill>
              </a:rPr>
              <a:t>B</a:t>
            </a:r>
            <a:endParaRPr lang="en-US" sz="1200" dirty="0"/>
          </a:p>
        </p:txBody>
      </p:sp>
      <p:sp>
        <p:nvSpPr>
          <p:cNvPr id="21" name="Matrix col C"/>
          <p:cNvSpPr txBox="1"/>
          <p:nvPr/>
        </p:nvSpPr>
        <p:spPr>
          <a:xfrm>
            <a:off x="9717024" y="3182112"/>
            <a:ext cx="437388" cy="274320"/>
          </a:xfrm>
          <a:prstGeom prst="rect">
            <a:avLst/>
          </a:prstGeom>
          <a:noFill/>
          <a:ln/>
        </p:spPr>
        <p:txBody>
          <a:bodyPr wrap="square" lIns="0" tIns="0" rIns="0" bIns="0" rtlCol="0" anchor="ctr"/>
          <a:lstStyle/>
          <a:p>
            <a:pPr marL="0" indent="0" algn="ctr">
              <a:buNone/>
            </a:pPr>
            <a:r>
              <a:rPr lang="en-US" sz="1200" b="1" dirty="0">
                <a:solidFill>
                  <a:schemeClr val="accent3"/>
                </a:solidFill>
              </a:rPr>
              <a:t>C</a:t>
            </a:r>
            <a:endParaRPr lang="en-US" sz="1200" dirty="0"/>
          </a:p>
        </p:txBody>
      </p:sp>
      <p:sp>
        <p:nvSpPr>
          <p:cNvPr id="22" name="Matrix col D"/>
          <p:cNvSpPr txBox="1"/>
          <p:nvPr/>
        </p:nvSpPr>
        <p:spPr>
          <a:xfrm>
            <a:off x="10190988" y="3182112"/>
            <a:ext cx="437388" cy="274320"/>
          </a:xfrm>
          <a:prstGeom prst="rect">
            <a:avLst/>
          </a:prstGeom>
          <a:noFill/>
          <a:ln/>
        </p:spPr>
        <p:txBody>
          <a:bodyPr wrap="square" lIns="0" tIns="0" rIns="0" bIns="0" rtlCol="0" anchor="ctr"/>
          <a:lstStyle/>
          <a:p>
            <a:pPr marL="0" indent="0" algn="ctr">
              <a:buNone/>
            </a:pPr>
            <a:r>
              <a:rPr lang="en-US" sz="1200" b="1" dirty="0">
                <a:solidFill>
                  <a:schemeClr val="accent3"/>
                </a:solidFill>
              </a:rPr>
              <a:t>D</a:t>
            </a:r>
            <a:endParaRPr lang="en-US" sz="1200" dirty="0"/>
          </a:p>
        </p:txBody>
      </p:sp>
      <p:sp>
        <p:nvSpPr>
          <p:cNvPr id="23" name="Matrix col E"/>
          <p:cNvSpPr txBox="1"/>
          <p:nvPr/>
        </p:nvSpPr>
        <p:spPr>
          <a:xfrm>
            <a:off x="10664952" y="3182112"/>
            <a:ext cx="437388" cy="274320"/>
          </a:xfrm>
          <a:prstGeom prst="rect">
            <a:avLst/>
          </a:prstGeom>
          <a:noFill/>
          <a:ln/>
        </p:spPr>
        <p:txBody>
          <a:bodyPr wrap="square" lIns="0" tIns="0" rIns="0" bIns="0" rtlCol="0" anchor="ctr"/>
          <a:lstStyle/>
          <a:p>
            <a:pPr marL="0" indent="0" algn="ctr">
              <a:buNone/>
            </a:pPr>
            <a:r>
              <a:rPr lang="en-US" sz="1200" b="1" dirty="0">
                <a:solidFill>
                  <a:schemeClr val="accent3"/>
                </a:solidFill>
              </a:rPr>
              <a:t>E</a:t>
            </a:r>
            <a:endParaRPr lang="en-US" sz="1200" dirty="0"/>
          </a:p>
        </p:txBody>
      </p:sp>
      <p:sp>
        <p:nvSpPr>
          <p:cNvPr id="24" name="Matrix col F"/>
          <p:cNvSpPr txBox="1"/>
          <p:nvPr/>
        </p:nvSpPr>
        <p:spPr>
          <a:xfrm>
            <a:off x="11138916" y="3182112"/>
            <a:ext cx="437388" cy="274320"/>
          </a:xfrm>
          <a:prstGeom prst="rect">
            <a:avLst/>
          </a:prstGeom>
          <a:noFill/>
          <a:ln/>
        </p:spPr>
        <p:txBody>
          <a:bodyPr wrap="square" lIns="0" tIns="0" rIns="0" bIns="0" rtlCol="0" anchor="ctr"/>
          <a:lstStyle/>
          <a:p>
            <a:pPr marL="0" indent="0" algn="ctr">
              <a:buNone/>
            </a:pPr>
            <a:r>
              <a:rPr lang="en-US" sz="1200" b="1" dirty="0">
                <a:solidFill>
                  <a:schemeClr val="accent3"/>
                </a:solidFill>
              </a:rPr>
              <a:t>F</a:t>
            </a:r>
            <a:endParaRPr lang="en-US" sz="1200" dirty="0"/>
          </a:p>
        </p:txBody>
      </p:sp>
      <p:sp>
        <p:nvSpPr>
          <p:cNvPr id="25" name="Matrix row 1:1 ratio"/>
          <p:cNvSpPr txBox="1"/>
          <p:nvPr/>
        </p:nvSpPr>
        <p:spPr>
          <a:xfrm>
            <a:off x="8202168" y="3474720"/>
            <a:ext cx="612648" cy="274320"/>
          </a:xfrm>
          <a:prstGeom prst="rect">
            <a:avLst/>
          </a:prstGeom>
          <a:noFill/>
          <a:ln/>
        </p:spPr>
        <p:txBody>
          <a:bodyPr wrap="square" lIns="0" tIns="0" rIns="0" bIns="0" rtlCol="0" anchor="ctr"/>
          <a:lstStyle/>
          <a:p>
            <a:pPr marL="0" indent="0">
              <a:buNone/>
            </a:pPr>
            <a:r>
              <a:rPr lang="en-US" sz="950" b="1" dirty="0">
                <a:solidFill>
                  <a:schemeClr val="accent6"/>
                </a:solidFill>
              </a:rPr>
              <a:t>1:1 ratio</a:t>
            </a:r>
            <a:endParaRPr lang="en-US" sz="950" dirty="0"/>
          </a:p>
        </p:txBody>
      </p:sp>
      <p:sp>
        <p:nvSpPr>
          <p:cNvPr id="26" name="Sample A1-1"/>
          <p:cNvSpPr/>
          <p:nvPr/>
        </p:nvSpPr>
        <p:spPr>
          <a:xfrm>
            <a:off x="8769096" y="3474720"/>
            <a:ext cx="437388" cy="274320"/>
          </a:xfrm>
          <a:prstGeom prst="roundRect">
            <a:avLst>
              <a:gd name="adj" fmla="val 16667"/>
            </a:avLst>
          </a:prstGeom>
          <a:solidFill>
            <a:schemeClr val="accent3"/>
          </a:solidFill>
          <a:ln w="12700">
            <a:solidFill>
              <a:schemeClr val="accent3"/>
            </a:solidFill>
            <a:prstDash val="solid"/>
          </a:ln>
        </p:spPr>
      </p:sp>
      <p:sp>
        <p:nvSpPr>
          <p:cNvPr id="27" name="Sample label A1-1"/>
          <p:cNvSpPr txBox="1"/>
          <p:nvPr/>
        </p:nvSpPr>
        <p:spPr>
          <a:xfrm>
            <a:off x="8769096" y="3474720"/>
            <a:ext cx="437388" cy="274320"/>
          </a:xfrm>
          <a:prstGeom prst="rect">
            <a:avLst/>
          </a:prstGeom>
          <a:noFill/>
          <a:ln/>
        </p:spPr>
        <p:txBody>
          <a:bodyPr wrap="square" lIns="0" tIns="0" rIns="0" bIns="0" rtlCol="0" anchor="ctr"/>
          <a:lstStyle/>
          <a:p>
            <a:pPr marL="0" indent="0" algn="ctr">
              <a:buNone/>
            </a:pPr>
            <a:r>
              <a:rPr lang="en-US" sz="1000" b="1" dirty="0">
                <a:solidFill>
                  <a:srgbClr val="FFFFFF"/>
                </a:solidFill>
              </a:rPr>
              <a:t>A1-1</a:t>
            </a:r>
            <a:endParaRPr lang="en-US" sz="1000" dirty="0"/>
          </a:p>
        </p:txBody>
      </p:sp>
      <p:sp>
        <p:nvSpPr>
          <p:cNvPr id="28" name="Sample B1-1"/>
          <p:cNvSpPr/>
          <p:nvPr/>
        </p:nvSpPr>
        <p:spPr>
          <a:xfrm>
            <a:off x="9243060" y="3474720"/>
            <a:ext cx="437388" cy="274320"/>
          </a:xfrm>
          <a:prstGeom prst="roundRect">
            <a:avLst>
              <a:gd name="adj" fmla="val 16667"/>
            </a:avLst>
          </a:prstGeom>
          <a:solidFill>
            <a:schemeClr val="accent3"/>
          </a:solidFill>
          <a:ln w="12700">
            <a:solidFill>
              <a:schemeClr val="accent3"/>
            </a:solidFill>
            <a:prstDash val="solid"/>
          </a:ln>
        </p:spPr>
      </p:sp>
      <p:sp>
        <p:nvSpPr>
          <p:cNvPr id="29" name="Sample label B1-1"/>
          <p:cNvSpPr txBox="1"/>
          <p:nvPr/>
        </p:nvSpPr>
        <p:spPr>
          <a:xfrm>
            <a:off x="9243060" y="3474720"/>
            <a:ext cx="437388" cy="274320"/>
          </a:xfrm>
          <a:prstGeom prst="rect">
            <a:avLst/>
          </a:prstGeom>
          <a:noFill/>
          <a:ln/>
        </p:spPr>
        <p:txBody>
          <a:bodyPr wrap="square" lIns="0" tIns="0" rIns="0" bIns="0" rtlCol="0" anchor="ctr"/>
          <a:lstStyle/>
          <a:p>
            <a:pPr marL="0" indent="0" algn="ctr">
              <a:buNone/>
            </a:pPr>
            <a:r>
              <a:rPr lang="en-US" sz="1000" b="1" dirty="0">
                <a:solidFill>
                  <a:srgbClr val="FFFFFF"/>
                </a:solidFill>
              </a:rPr>
              <a:t>B1-1</a:t>
            </a:r>
            <a:endParaRPr lang="en-US" sz="1000" dirty="0"/>
          </a:p>
        </p:txBody>
      </p:sp>
      <p:sp>
        <p:nvSpPr>
          <p:cNvPr id="30" name="Sample C1-1"/>
          <p:cNvSpPr/>
          <p:nvPr/>
        </p:nvSpPr>
        <p:spPr>
          <a:xfrm>
            <a:off x="9717024" y="3474720"/>
            <a:ext cx="437388" cy="274320"/>
          </a:xfrm>
          <a:prstGeom prst="roundRect">
            <a:avLst>
              <a:gd name="adj" fmla="val 16667"/>
            </a:avLst>
          </a:prstGeom>
          <a:solidFill>
            <a:schemeClr val="accent3"/>
          </a:solidFill>
          <a:ln w="12700">
            <a:solidFill>
              <a:schemeClr val="accent3"/>
            </a:solidFill>
            <a:prstDash val="solid"/>
          </a:ln>
        </p:spPr>
      </p:sp>
      <p:sp>
        <p:nvSpPr>
          <p:cNvPr id="31" name="Sample label C1-1"/>
          <p:cNvSpPr txBox="1"/>
          <p:nvPr/>
        </p:nvSpPr>
        <p:spPr>
          <a:xfrm>
            <a:off x="9717024" y="3474720"/>
            <a:ext cx="437388" cy="274320"/>
          </a:xfrm>
          <a:prstGeom prst="rect">
            <a:avLst/>
          </a:prstGeom>
          <a:noFill/>
          <a:ln/>
        </p:spPr>
        <p:txBody>
          <a:bodyPr wrap="square" lIns="0" tIns="0" rIns="0" bIns="0" rtlCol="0" anchor="ctr"/>
          <a:lstStyle/>
          <a:p>
            <a:pPr marL="0" indent="0" algn="ctr">
              <a:buNone/>
            </a:pPr>
            <a:r>
              <a:rPr lang="en-US" sz="1000" b="1" dirty="0">
                <a:solidFill>
                  <a:srgbClr val="FFFFFF"/>
                </a:solidFill>
              </a:rPr>
              <a:t>C1-1</a:t>
            </a:r>
            <a:endParaRPr lang="en-US" sz="1000" dirty="0"/>
          </a:p>
        </p:txBody>
      </p:sp>
      <p:sp>
        <p:nvSpPr>
          <p:cNvPr id="32" name="Sample D1-1"/>
          <p:cNvSpPr/>
          <p:nvPr/>
        </p:nvSpPr>
        <p:spPr>
          <a:xfrm>
            <a:off x="10190988" y="3474720"/>
            <a:ext cx="437388" cy="274320"/>
          </a:xfrm>
          <a:prstGeom prst="roundRect">
            <a:avLst>
              <a:gd name="adj" fmla="val 16667"/>
            </a:avLst>
          </a:prstGeom>
          <a:solidFill>
            <a:schemeClr val="accent3"/>
          </a:solidFill>
          <a:ln w="12700">
            <a:solidFill>
              <a:schemeClr val="accent3"/>
            </a:solidFill>
            <a:prstDash val="solid"/>
          </a:ln>
        </p:spPr>
      </p:sp>
      <p:sp>
        <p:nvSpPr>
          <p:cNvPr id="33" name="Sample label D1-1"/>
          <p:cNvSpPr txBox="1"/>
          <p:nvPr/>
        </p:nvSpPr>
        <p:spPr>
          <a:xfrm>
            <a:off x="10190988" y="3474720"/>
            <a:ext cx="437388" cy="274320"/>
          </a:xfrm>
          <a:prstGeom prst="rect">
            <a:avLst/>
          </a:prstGeom>
          <a:noFill/>
          <a:ln/>
        </p:spPr>
        <p:txBody>
          <a:bodyPr wrap="square" lIns="0" tIns="0" rIns="0" bIns="0" rtlCol="0" anchor="ctr"/>
          <a:lstStyle/>
          <a:p>
            <a:pPr marL="0" indent="0" algn="ctr">
              <a:buNone/>
            </a:pPr>
            <a:r>
              <a:rPr lang="en-US" sz="1000" b="1" dirty="0">
                <a:solidFill>
                  <a:srgbClr val="FFFFFF"/>
                </a:solidFill>
              </a:rPr>
              <a:t>D1-1</a:t>
            </a:r>
            <a:endParaRPr lang="en-US" sz="1000" dirty="0"/>
          </a:p>
        </p:txBody>
      </p:sp>
      <p:sp>
        <p:nvSpPr>
          <p:cNvPr id="34" name="Sample E1-1"/>
          <p:cNvSpPr/>
          <p:nvPr/>
        </p:nvSpPr>
        <p:spPr>
          <a:xfrm>
            <a:off x="10664952" y="3474720"/>
            <a:ext cx="437388" cy="274320"/>
          </a:xfrm>
          <a:prstGeom prst="roundRect">
            <a:avLst>
              <a:gd name="adj" fmla="val 16667"/>
            </a:avLst>
          </a:prstGeom>
          <a:solidFill>
            <a:schemeClr val="accent3"/>
          </a:solidFill>
          <a:ln w="12700">
            <a:solidFill>
              <a:schemeClr val="accent3"/>
            </a:solidFill>
            <a:prstDash val="solid"/>
          </a:ln>
        </p:spPr>
      </p:sp>
      <p:sp>
        <p:nvSpPr>
          <p:cNvPr id="35" name="Sample label E1-1"/>
          <p:cNvSpPr txBox="1"/>
          <p:nvPr/>
        </p:nvSpPr>
        <p:spPr>
          <a:xfrm>
            <a:off x="10664952" y="3474720"/>
            <a:ext cx="437388" cy="274320"/>
          </a:xfrm>
          <a:prstGeom prst="rect">
            <a:avLst/>
          </a:prstGeom>
          <a:noFill/>
          <a:ln/>
        </p:spPr>
        <p:txBody>
          <a:bodyPr wrap="square" lIns="0" tIns="0" rIns="0" bIns="0" rtlCol="0" anchor="ctr"/>
          <a:lstStyle/>
          <a:p>
            <a:pPr marL="0" indent="0" algn="ctr">
              <a:buNone/>
            </a:pPr>
            <a:r>
              <a:rPr lang="en-US" sz="1000" b="1" dirty="0">
                <a:solidFill>
                  <a:srgbClr val="FFFFFF"/>
                </a:solidFill>
              </a:rPr>
              <a:t>E1-1</a:t>
            </a:r>
            <a:endParaRPr lang="en-US" sz="1000" dirty="0"/>
          </a:p>
        </p:txBody>
      </p:sp>
      <p:sp>
        <p:nvSpPr>
          <p:cNvPr id="36" name="Sample F1-1"/>
          <p:cNvSpPr/>
          <p:nvPr/>
        </p:nvSpPr>
        <p:spPr>
          <a:xfrm>
            <a:off x="11138916" y="3474720"/>
            <a:ext cx="437388" cy="274320"/>
          </a:xfrm>
          <a:prstGeom prst="roundRect">
            <a:avLst>
              <a:gd name="adj" fmla="val 16667"/>
            </a:avLst>
          </a:prstGeom>
          <a:solidFill>
            <a:schemeClr val="accent3"/>
          </a:solidFill>
          <a:ln w="12700">
            <a:solidFill>
              <a:schemeClr val="accent3"/>
            </a:solidFill>
            <a:prstDash val="solid"/>
          </a:ln>
        </p:spPr>
      </p:sp>
      <p:sp>
        <p:nvSpPr>
          <p:cNvPr id="37" name="Sample label F1-1"/>
          <p:cNvSpPr txBox="1"/>
          <p:nvPr/>
        </p:nvSpPr>
        <p:spPr>
          <a:xfrm>
            <a:off x="11138916" y="3474720"/>
            <a:ext cx="437388" cy="274320"/>
          </a:xfrm>
          <a:prstGeom prst="rect">
            <a:avLst/>
          </a:prstGeom>
          <a:noFill/>
          <a:ln/>
        </p:spPr>
        <p:txBody>
          <a:bodyPr wrap="square" lIns="0" tIns="0" rIns="0" bIns="0" rtlCol="0" anchor="ctr"/>
          <a:lstStyle/>
          <a:p>
            <a:pPr marL="0" indent="0" algn="ctr">
              <a:buNone/>
            </a:pPr>
            <a:r>
              <a:rPr lang="en-US" sz="1000" b="1" dirty="0">
                <a:solidFill>
                  <a:srgbClr val="FFFFFF"/>
                </a:solidFill>
              </a:rPr>
              <a:t>F1-1</a:t>
            </a:r>
            <a:endParaRPr lang="en-US" sz="1000" dirty="0"/>
          </a:p>
        </p:txBody>
      </p:sp>
      <p:sp>
        <p:nvSpPr>
          <p:cNvPr id="38" name="Matrix row 2:1 ratio"/>
          <p:cNvSpPr txBox="1"/>
          <p:nvPr/>
        </p:nvSpPr>
        <p:spPr>
          <a:xfrm>
            <a:off x="8202168" y="3794760"/>
            <a:ext cx="612648" cy="274320"/>
          </a:xfrm>
          <a:prstGeom prst="rect">
            <a:avLst/>
          </a:prstGeom>
          <a:noFill/>
          <a:ln/>
        </p:spPr>
        <p:txBody>
          <a:bodyPr wrap="square" lIns="0" tIns="0" rIns="0" bIns="0" rtlCol="0" anchor="ctr"/>
          <a:lstStyle/>
          <a:p>
            <a:pPr marL="0" indent="0">
              <a:buNone/>
            </a:pPr>
            <a:r>
              <a:rPr lang="en-US" sz="950" b="1" dirty="0">
                <a:solidFill>
                  <a:schemeClr val="accent6"/>
                </a:solidFill>
              </a:rPr>
              <a:t>2:1 ratio</a:t>
            </a:r>
            <a:endParaRPr lang="en-US" sz="950" dirty="0"/>
          </a:p>
        </p:txBody>
      </p:sp>
      <p:sp>
        <p:nvSpPr>
          <p:cNvPr id="39" name="Sample A2-1"/>
          <p:cNvSpPr/>
          <p:nvPr/>
        </p:nvSpPr>
        <p:spPr>
          <a:xfrm>
            <a:off x="8769096" y="3794760"/>
            <a:ext cx="437388" cy="274320"/>
          </a:xfrm>
          <a:prstGeom prst="roundRect">
            <a:avLst>
              <a:gd name="adj" fmla="val 16667"/>
            </a:avLst>
          </a:prstGeom>
          <a:solidFill>
            <a:schemeClr val="accent2"/>
          </a:solidFill>
          <a:ln w="12700">
            <a:solidFill>
              <a:schemeClr val="accent2"/>
            </a:solidFill>
            <a:prstDash val="solid"/>
          </a:ln>
        </p:spPr>
      </p:sp>
      <p:sp>
        <p:nvSpPr>
          <p:cNvPr id="40" name="Sample label A2-1"/>
          <p:cNvSpPr txBox="1"/>
          <p:nvPr/>
        </p:nvSpPr>
        <p:spPr>
          <a:xfrm>
            <a:off x="8769096" y="3794760"/>
            <a:ext cx="437388" cy="274320"/>
          </a:xfrm>
          <a:prstGeom prst="rect">
            <a:avLst/>
          </a:prstGeom>
          <a:noFill/>
          <a:ln/>
        </p:spPr>
        <p:txBody>
          <a:bodyPr wrap="square" lIns="0" tIns="0" rIns="0" bIns="0" rtlCol="0" anchor="ctr"/>
          <a:lstStyle/>
          <a:p>
            <a:pPr marL="0" indent="0" algn="ctr">
              <a:buNone/>
            </a:pPr>
            <a:r>
              <a:rPr lang="en-US" sz="1000" b="1" dirty="0">
                <a:solidFill>
                  <a:srgbClr val="FFFFFF"/>
                </a:solidFill>
              </a:rPr>
              <a:t>A2-1</a:t>
            </a:r>
            <a:endParaRPr lang="en-US" sz="1000" dirty="0"/>
          </a:p>
        </p:txBody>
      </p:sp>
      <p:sp>
        <p:nvSpPr>
          <p:cNvPr id="41" name="Sample B2-1"/>
          <p:cNvSpPr/>
          <p:nvPr/>
        </p:nvSpPr>
        <p:spPr>
          <a:xfrm>
            <a:off x="9243060" y="3794760"/>
            <a:ext cx="437388" cy="274320"/>
          </a:xfrm>
          <a:prstGeom prst="roundRect">
            <a:avLst>
              <a:gd name="adj" fmla="val 16667"/>
            </a:avLst>
          </a:prstGeom>
          <a:solidFill>
            <a:schemeClr val="accent2"/>
          </a:solidFill>
          <a:ln w="12700">
            <a:solidFill>
              <a:schemeClr val="accent2"/>
            </a:solidFill>
            <a:prstDash val="solid"/>
          </a:ln>
        </p:spPr>
      </p:sp>
      <p:sp>
        <p:nvSpPr>
          <p:cNvPr id="42" name="Sample label B2-1"/>
          <p:cNvSpPr txBox="1"/>
          <p:nvPr/>
        </p:nvSpPr>
        <p:spPr>
          <a:xfrm>
            <a:off x="9243060" y="3794760"/>
            <a:ext cx="437388" cy="274320"/>
          </a:xfrm>
          <a:prstGeom prst="rect">
            <a:avLst/>
          </a:prstGeom>
          <a:noFill/>
          <a:ln/>
        </p:spPr>
        <p:txBody>
          <a:bodyPr wrap="square" lIns="0" tIns="0" rIns="0" bIns="0" rtlCol="0" anchor="ctr"/>
          <a:lstStyle/>
          <a:p>
            <a:pPr marL="0" indent="0" algn="ctr">
              <a:buNone/>
            </a:pPr>
            <a:r>
              <a:rPr lang="en-US" sz="1000" b="1" dirty="0">
                <a:solidFill>
                  <a:srgbClr val="FFFFFF"/>
                </a:solidFill>
              </a:rPr>
              <a:t>B2-1</a:t>
            </a:r>
            <a:endParaRPr lang="en-US" sz="1000" dirty="0"/>
          </a:p>
        </p:txBody>
      </p:sp>
      <p:sp>
        <p:nvSpPr>
          <p:cNvPr id="43" name="Sample C2-1"/>
          <p:cNvSpPr/>
          <p:nvPr/>
        </p:nvSpPr>
        <p:spPr>
          <a:xfrm>
            <a:off x="9717024" y="3794760"/>
            <a:ext cx="437388" cy="274320"/>
          </a:xfrm>
          <a:prstGeom prst="roundRect">
            <a:avLst>
              <a:gd name="adj" fmla="val 16667"/>
            </a:avLst>
          </a:prstGeom>
          <a:solidFill>
            <a:schemeClr val="accent3"/>
          </a:solidFill>
          <a:ln w="12700">
            <a:solidFill>
              <a:schemeClr val="accent3"/>
            </a:solidFill>
            <a:prstDash val="solid"/>
          </a:ln>
        </p:spPr>
      </p:sp>
      <p:sp>
        <p:nvSpPr>
          <p:cNvPr id="44" name="Sample label C2-1"/>
          <p:cNvSpPr txBox="1"/>
          <p:nvPr/>
        </p:nvSpPr>
        <p:spPr>
          <a:xfrm>
            <a:off x="9717024" y="3794760"/>
            <a:ext cx="437388" cy="274320"/>
          </a:xfrm>
          <a:prstGeom prst="rect">
            <a:avLst/>
          </a:prstGeom>
          <a:noFill/>
          <a:ln/>
        </p:spPr>
        <p:txBody>
          <a:bodyPr wrap="square" lIns="0" tIns="0" rIns="0" bIns="0" rtlCol="0" anchor="ctr"/>
          <a:lstStyle/>
          <a:p>
            <a:pPr marL="0" indent="0" algn="ctr">
              <a:buNone/>
            </a:pPr>
            <a:r>
              <a:rPr lang="en-US" sz="1000" b="1" dirty="0">
                <a:solidFill>
                  <a:srgbClr val="FFFFFF"/>
                </a:solidFill>
              </a:rPr>
              <a:t>C2-1</a:t>
            </a:r>
            <a:endParaRPr lang="en-US" sz="1000" dirty="0"/>
          </a:p>
        </p:txBody>
      </p:sp>
      <p:sp>
        <p:nvSpPr>
          <p:cNvPr id="45" name="Sample D2-1"/>
          <p:cNvSpPr/>
          <p:nvPr/>
        </p:nvSpPr>
        <p:spPr>
          <a:xfrm>
            <a:off x="10190988" y="3794760"/>
            <a:ext cx="437388" cy="274320"/>
          </a:xfrm>
          <a:prstGeom prst="roundRect">
            <a:avLst>
              <a:gd name="adj" fmla="val 16667"/>
            </a:avLst>
          </a:prstGeom>
          <a:solidFill>
            <a:schemeClr val="accent3"/>
          </a:solidFill>
          <a:ln w="12700">
            <a:solidFill>
              <a:schemeClr val="accent3"/>
            </a:solidFill>
            <a:prstDash val="solid"/>
          </a:ln>
        </p:spPr>
      </p:sp>
      <p:sp>
        <p:nvSpPr>
          <p:cNvPr id="46" name="Sample label D2-1"/>
          <p:cNvSpPr txBox="1"/>
          <p:nvPr/>
        </p:nvSpPr>
        <p:spPr>
          <a:xfrm>
            <a:off x="10190988" y="3794760"/>
            <a:ext cx="437388" cy="274320"/>
          </a:xfrm>
          <a:prstGeom prst="rect">
            <a:avLst/>
          </a:prstGeom>
          <a:noFill/>
          <a:ln/>
        </p:spPr>
        <p:txBody>
          <a:bodyPr wrap="square" lIns="0" tIns="0" rIns="0" bIns="0" rtlCol="0" anchor="ctr"/>
          <a:lstStyle/>
          <a:p>
            <a:pPr marL="0" indent="0" algn="ctr">
              <a:buNone/>
            </a:pPr>
            <a:r>
              <a:rPr lang="en-US" sz="1000" b="1" dirty="0">
                <a:solidFill>
                  <a:srgbClr val="FFFFFF"/>
                </a:solidFill>
              </a:rPr>
              <a:t>D2-1</a:t>
            </a:r>
            <a:endParaRPr lang="en-US" sz="1000" dirty="0"/>
          </a:p>
        </p:txBody>
      </p:sp>
      <p:sp>
        <p:nvSpPr>
          <p:cNvPr id="47" name="Sample E2-1"/>
          <p:cNvSpPr/>
          <p:nvPr/>
        </p:nvSpPr>
        <p:spPr>
          <a:xfrm>
            <a:off x="10664952" y="3794760"/>
            <a:ext cx="437388" cy="274320"/>
          </a:xfrm>
          <a:prstGeom prst="roundRect">
            <a:avLst>
              <a:gd name="adj" fmla="val 16667"/>
            </a:avLst>
          </a:prstGeom>
          <a:solidFill>
            <a:schemeClr val="accent3"/>
          </a:solidFill>
          <a:ln w="12700">
            <a:solidFill>
              <a:schemeClr val="accent3"/>
            </a:solidFill>
            <a:prstDash val="solid"/>
          </a:ln>
        </p:spPr>
      </p:sp>
      <p:sp>
        <p:nvSpPr>
          <p:cNvPr id="48" name="Sample label E2-1"/>
          <p:cNvSpPr txBox="1"/>
          <p:nvPr/>
        </p:nvSpPr>
        <p:spPr>
          <a:xfrm>
            <a:off x="10664952" y="3794760"/>
            <a:ext cx="437388" cy="274320"/>
          </a:xfrm>
          <a:prstGeom prst="rect">
            <a:avLst/>
          </a:prstGeom>
          <a:noFill/>
          <a:ln/>
        </p:spPr>
        <p:txBody>
          <a:bodyPr wrap="square" lIns="0" tIns="0" rIns="0" bIns="0" rtlCol="0" anchor="ctr"/>
          <a:lstStyle/>
          <a:p>
            <a:pPr marL="0" indent="0" algn="ctr">
              <a:buNone/>
            </a:pPr>
            <a:r>
              <a:rPr lang="en-US" sz="1000" b="1" dirty="0">
                <a:solidFill>
                  <a:srgbClr val="FFFFFF"/>
                </a:solidFill>
              </a:rPr>
              <a:t>E2-1</a:t>
            </a:r>
            <a:endParaRPr lang="en-US" sz="1000" dirty="0"/>
          </a:p>
        </p:txBody>
      </p:sp>
      <p:sp>
        <p:nvSpPr>
          <p:cNvPr id="49" name="Sample F2-1"/>
          <p:cNvSpPr/>
          <p:nvPr/>
        </p:nvSpPr>
        <p:spPr>
          <a:xfrm>
            <a:off x="11138916" y="3794760"/>
            <a:ext cx="437388" cy="274320"/>
          </a:xfrm>
          <a:prstGeom prst="roundRect">
            <a:avLst>
              <a:gd name="adj" fmla="val 16667"/>
            </a:avLst>
          </a:prstGeom>
          <a:solidFill>
            <a:schemeClr val="accent3"/>
          </a:solidFill>
          <a:ln w="12700">
            <a:solidFill>
              <a:schemeClr val="accent3"/>
            </a:solidFill>
            <a:prstDash val="solid"/>
          </a:ln>
        </p:spPr>
      </p:sp>
      <p:sp>
        <p:nvSpPr>
          <p:cNvPr id="50" name="Sample label F2-1"/>
          <p:cNvSpPr txBox="1"/>
          <p:nvPr/>
        </p:nvSpPr>
        <p:spPr>
          <a:xfrm>
            <a:off x="11138916" y="3794760"/>
            <a:ext cx="437388" cy="274320"/>
          </a:xfrm>
          <a:prstGeom prst="rect">
            <a:avLst/>
          </a:prstGeom>
          <a:noFill/>
          <a:ln/>
        </p:spPr>
        <p:txBody>
          <a:bodyPr wrap="square" lIns="0" tIns="0" rIns="0" bIns="0" rtlCol="0" anchor="ctr"/>
          <a:lstStyle/>
          <a:p>
            <a:pPr marL="0" indent="0" algn="ctr">
              <a:buNone/>
            </a:pPr>
            <a:r>
              <a:rPr lang="en-US" sz="1000" b="1" dirty="0">
                <a:solidFill>
                  <a:srgbClr val="FFFFFF"/>
                </a:solidFill>
              </a:rPr>
              <a:t>F2-1</a:t>
            </a:r>
            <a:endParaRPr lang="en-US" sz="1000" dirty="0"/>
          </a:p>
        </p:txBody>
      </p:sp>
      <p:sp>
        <p:nvSpPr>
          <p:cNvPr id="51" name="Legend synthesized"/>
          <p:cNvSpPr/>
          <p:nvPr/>
        </p:nvSpPr>
        <p:spPr>
          <a:xfrm>
            <a:off x="8202168" y="4270248"/>
            <a:ext cx="182880" cy="128016"/>
          </a:xfrm>
          <a:prstGeom prst="roundRect">
            <a:avLst>
              <a:gd name="adj" fmla="val 21429"/>
            </a:avLst>
          </a:prstGeom>
          <a:solidFill>
            <a:schemeClr val="accent3"/>
          </a:solidFill>
          <a:ln w="12700">
            <a:solidFill>
              <a:schemeClr val="accent3"/>
            </a:solidFill>
            <a:prstDash val="solid"/>
          </a:ln>
        </p:spPr>
      </p:sp>
      <p:sp>
        <p:nvSpPr>
          <p:cNvPr id="52" name="Legend synthesized label"/>
          <p:cNvSpPr txBox="1"/>
          <p:nvPr/>
        </p:nvSpPr>
        <p:spPr>
          <a:xfrm>
            <a:off x="8449056" y="4233672"/>
            <a:ext cx="914400" cy="201168"/>
          </a:xfrm>
          <a:prstGeom prst="rect">
            <a:avLst/>
          </a:prstGeom>
          <a:noFill/>
          <a:ln/>
        </p:spPr>
        <p:txBody>
          <a:bodyPr wrap="square" lIns="0" tIns="0" rIns="0" bIns="0" rtlCol="0" anchor="ctr"/>
          <a:lstStyle/>
          <a:p>
            <a:pPr marL="0" indent="0">
              <a:buNone/>
            </a:pPr>
            <a:r>
              <a:rPr lang="en-US" sz="1050" dirty="0">
                <a:solidFill>
                  <a:schemeClr val="tx2"/>
                </a:solidFill>
              </a:rPr>
              <a:t>synthesized</a:t>
            </a:r>
            <a:endParaRPr lang="en-US" sz="1050" dirty="0"/>
          </a:p>
        </p:txBody>
      </p:sp>
      <p:sp>
        <p:nvSpPr>
          <p:cNvPr id="53" name="Legend highlighted"/>
          <p:cNvSpPr/>
          <p:nvPr/>
        </p:nvSpPr>
        <p:spPr>
          <a:xfrm>
            <a:off x="9390888" y="4270248"/>
            <a:ext cx="182880" cy="128016"/>
          </a:xfrm>
          <a:prstGeom prst="roundRect">
            <a:avLst>
              <a:gd name="adj" fmla="val 21429"/>
            </a:avLst>
          </a:prstGeom>
          <a:solidFill>
            <a:schemeClr val="accent2"/>
          </a:solidFill>
          <a:ln w="12700">
            <a:solidFill>
              <a:schemeClr val="accent2"/>
            </a:solidFill>
            <a:prstDash val="solid"/>
          </a:ln>
        </p:spPr>
      </p:sp>
      <p:sp>
        <p:nvSpPr>
          <p:cNvPr id="54" name="Legend highlighted label"/>
          <p:cNvSpPr txBox="1"/>
          <p:nvPr/>
        </p:nvSpPr>
        <p:spPr>
          <a:xfrm>
            <a:off x="9637776" y="4233672"/>
            <a:ext cx="1920240" cy="201168"/>
          </a:xfrm>
          <a:prstGeom prst="rect">
            <a:avLst/>
          </a:prstGeom>
          <a:noFill/>
          <a:ln/>
        </p:spPr>
        <p:txBody>
          <a:bodyPr wrap="square" lIns="0" tIns="0" rIns="0" bIns="0" rtlCol="0" anchor="ctr"/>
          <a:lstStyle/>
          <a:p>
            <a:pPr marL="0" indent="0">
              <a:buNone/>
            </a:pPr>
            <a:r>
              <a:rPr lang="en-US" sz="1050" dirty="0">
                <a:solidFill>
                  <a:schemeClr val="tx2"/>
                </a:solidFill>
              </a:rPr>
              <a:t>highlighted in characterization</a:t>
            </a:r>
            <a:endParaRPr lang="en-US" sz="1050" dirty="0"/>
          </a:p>
        </p:txBody>
      </p:sp>
      <p:sp>
        <p:nvSpPr>
          <p:cNvPr id="55" name="Tracker label"/>
          <p:cNvSpPr txBox="1"/>
          <p:nvPr/>
        </p:nvSpPr>
        <p:spPr>
          <a:xfrm>
            <a:off x="448056" y="4663440"/>
            <a:ext cx="3657600" cy="182880"/>
          </a:xfrm>
          <a:prstGeom prst="rect">
            <a:avLst/>
          </a:prstGeom>
          <a:noFill/>
          <a:ln/>
        </p:spPr>
        <p:txBody>
          <a:bodyPr wrap="square" lIns="0" tIns="0" rIns="0" bIns="0" rtlCol="0" anchor="t"/>
          <a:lstStyle/>
          <a:p>
            <a:pPr marL="0" indent="0">
              <a:buNone/>
            </a:pPr>
            <a:r>
              <a:rPr lang="en-US" sz="1100" b="1" kern="0" spc="100" dirty="0">
                <a:solidFill>
                  <a:schemeClr val="accent3"/>
                </a:solidFill>
              </a:rPr>
              <a:t>RESEARCH PROGRESS</a:t>
            </a:r>
            <a:endParaRPr lang="en-US" sz="1100" dirty="0"/>
          </a:p>
        </p:txBody>
      </p:sp>
      <p:sp>
        <p:nvSpPr>
          <p:cNvPr id="56" name="Step 1"/>
          <p:cNvSpPr/>
          <p:nvPr/>
        </p:nvSpPr>
        <p:spPr>
          <a:xfrm>
            <a:off x="448056" y="4901184"/>
            <a:ext cx="1737360" cy="1097280"/>
          </a:xfrm>
          <a:prstGeom prst="roundRect">
            <a:avLst>
              <a:gd name="adj" fmla="val 6667"/>
            </a:avLst>
          </a:prstGeom>
          <a:solidFill>
            <a:schemeClr val="bg2"/>
          </a:solidFill>
          <a:ln w="15875">
            <a:solidFill>
              <a:schemeClr val="accent3"/>
            </a:solidFill>
            <a:prstDash val="solid"/>
          </a:ln>
        </p:spPr>
      </p:sp>
      <p:sp>
        <p:nvSpPr>
          <p:cNvPr id="57" name="Step text 1"/>
          <p:cNvSpPr txBox="1"/>
          <p:nvPr/>
        </p:nvSpPr>
        <p:spPr>
          <a:xfrm>
            <a:off x="557784" y="4992624"/>
            <a:ext cx="1517904" cy="548640"/>
          </a:xfrm>
          <a:prstGeom prst="rect">
            <a:avLst/>
          </a:prstGeom>
          <a:noFill/>
          <a:ln/>
        </p:spPr>
        <p:txBody>
          <a:bodyPr wrap="square" lIns="0" tIns="0" rIns="0" bIns="0" rtlCol="0" anchor="t"/>
          <a:lstStyle/>
          <a:p>
            <a:pPr marL="0" indent="0">
              <a:buNone/>
            </a:pPr>
            <a:r>
              <a:rPr lang="en-US" sz="1200" b="1" dirty="0">
                <a:solidFill>
                  <a:schemeClr val="accent3"/>
                </a:solidFill>
              </a:rPr>
              <a:t>1 · Material preparation</a:t>
            </a:r>
            <a:endParaRPr lang="en-US" sz="1200" dirty="0"/>
          </a:p>
        </p:txBody>
      </p:sp>
      <p:sp>
        <p:nvSpPr>
          <p:cNvPr id="58" name="Status step 1"/>
          <p:cNvSpPr/>
          <p:nvPr/>
        </p:nvSpPr>
        <p:spPr>
          <a:xfrm>
            <a:off x="557784" y="5650992"/>
            <a:ext cx="868680" cy="237744"/>
          </a:xfrm>
          <a:prstGeom prst="roundRect">
            <a:avLst>
              <a:gd name="adj" fmla="val 50000"/>
            </a:avLst>
          </a:prstGeom>
          <a:solidFill>
            <a:schemeClr val="accent3"/>
          </a:solidFill>
          <a:ln w="12700">
            <a:solidFill>
              <a:schemeClr val="accent3"/>
            </a:solidFill>
            <a:prstDash val="solid"/>
          </a:ln>
        </p:spPr>
      </p:sp>
      <p:sp>
        <p:nvSpPr>
          <p:cNvPr id="59" name="Status step 1 label"/>
          <p:cNvSpPr txBox="1"/>
          <p:nvPr/>
        </p:nvSpPr>
        <p:spPr>
          <a:xfrm>
            <a:off x="557784" y="5650992"/>
            <a:ext cx="868680" cy="237744"/>
          </a:xfrm>
          <a:prstGeom prst="rect">
            <a:avLst/>
          </a:prstGeom>
          <a:noFill/>
          <a:ln/>
        </p:spPr>
        <p:txBody>
          <a:bodyPr wrap="square" lIns="0" tIns="0" rIns="0" bIns="0" rtlCol="0" anchor="ctr"/>
          <a:lstStyle/>
          <a:p>
            <a:pPr marL="0" indent="0" algn="ctr">
              <a:buNone/>
            </a:pPr>
            <a:r>
              <a:rPr lang="en-US" sz="1050" b="1" dirty="0">
                <a:solidFill>
                  <a:srgbClr val="FFFFFF"/>
                </a:solidFill>
              </a:rPr>
              <a:t>Completed</a:t>
            </a:r>
            <a:endParaRPr lang="en-US" sz="1050" dirty="0"/>
          </a:p>
        </p:txBody>
      </p:sp>
      <p:sp>
        <p:nvSpPr>
          <p:cNvPr id="60" name="Step 2"/>
          <p:cNvSpPr/>
          <p:nvPr/>
        </p:nvSpPr>
        <p:spPr>
          <a:xfrm>
            <a:off x="2359152" y="4901184"/>
            <a:ext cx="1737360" cy="1097280"/>
          </a:xfrm>
          <a:prstGeom prst="roundRect">
            <a:avLst>
              <a:gd name="adj" fmla="val 6667"/>
            </a:avLst>
          </a:prstGeom>
          <a:solidFill>
            <a:schemeClr val="bg2"/>
          </a:solidFill>
          <a:ln w="15875">
            <a:solidFill>
              <a:schemeClr val="accent3"/>
            </a:solidFill>
            <a:prstDash val="solid"/>
          </a:ln>
        </p:spPr>
      </p:sp>
      <p:sp>
        <p:nvSpPr>
          <p:cNvPr id="61" name="Step text 2"/>
          <p:cNvSpPr txBox="1"/>
          <p:nvPr/>
        </p:nvSpPr>
        <p:spPr>
          <a:xfrm>
            <a:off x="2468880" y="4992624"/>
            <a:ext cx="1517904" cy="548640"/>
          </a:xfrm>
          <a:prstGeom prst="rect">
            <a:avLst/>
          </a:prstGeom>
          <a:noFill/>
          <a:ln/>
        </p:spPr>
        <p:txBody>
          <a:bodyPr wrap="square" lIns="0" tIns="0" rIns="0" bIns="0" rtlCol="0" anchor="t"/>
          <a:lstStyle/>
          <a:p>
            <a:pPr marL="0" indent="0">
              <a:buNone/>
            </a:pPr>
            <a:r>
              <a:rPr lang="en-US" sz="1200" b="1" dirty="0">
                <a:solidFill>
                  <a:schemeClr val="accent3"/>
                </a:solidFill>
              </a:rPr>
              <a:t>2 · Characterization (XRD, FTIR)</a:t>
            </a:r>
            <a:endParaRPr lang="en-US" sz="1200" dirty="0"/>
          </a:p>
        </p:txBody>
      </p:sp>
      <p:sp>
        <p:nvSpPr>
          <p:cNvPr id="62" name="Status step 2"/>
          <p:cNvSpPr/>
          <p:nvPr/>
        </p:nvSpPr>
        <p:spPr>
          <a:xfrm>
            <a:off x="2468880" y="5650992"/>
            <a:ext cx="868680" cy="237744"/>
          </a:xfrm>
          <a:prstGeom prst="roundRect">
            <a:avLst>
              <a:gd name="adj" fmla="val 50000"/>
            </a:avLst>
          </a:prstGeom>
          <a:solidFill>
            <a:schemeClr val="accent3"/>
          </a:solidFill>
          <a:ln w="12700">
            <a:solidFill>
              <a:schemeClr val="accent3"/>
            </a:solidFill>
            <a:prstDash val="solid"/>
          </a:ln>
        </p:spPr>
      </p:sp>
      <p:sp>
        <p:nvSpPr>
          <p:cNvPr id="63" name="Status step 2 label"/>
          <p:cNvSpPr txBox="1"/>
          <p:nvPr/>
        </p:nvSpPr>
        <p:spPr>
          <a:xfrm>
            <a:off x="2468880" y="5650992"/>
            <a:ext cx="868680" cy="237744"/>
          </a:xfrm>
          <a:prstGeom prst="rect">
            <a:avLst/>
          </a:prstGeom>
          <a:noFill/>
          <a:ln/>
        </p:spPr>
        <p:txBody>
          <a:bodyPr wrap="square" lIns="0" tIns="0" rIns="0" bIns="0" rtlCol="0" anchor="ctr"/>
          <a:lstStyle/>
          <a:p>
            <a:pPr marL="0" indent="0" algn="ctr">
              <a:buNone/>
            </a:pPr>
            <a:r>
              <a:rPr lang="en-US" sz="1050" b="1" dirty="0">
                <a:solidFill>
                  <a:srgbClr val="FFFFFF"/>
                </a:solidFill>
              </a:rPr>
              <a:t>Completed</a:t>
            </a:r>
            <a:endParaRPr lang="en-US" sz="1050" dirty="0"/>
          </a:p>
        </p:txBody>
      </p:sp>
      <p:sp>
        <p:nvSpPr>
          <p:cNvPr id="64" name="Step 3"/>
          <p:cNvSpPr/>
          <p:nvPr/>
        </p:nvSpPr>
        <p:spPr>
          <a:xfrm>
            <a:off x="4270248" y="4901184"/>
            <a:ext cx="1737360" cy="1097280"/>
          </a:xfrm>
          <a:prstGeom prst="roundRect">
            <a:avLst>
              <a:gd name="adj" fmla="val 6667"/>
            </a:avLst>
          </a:prstGeom>
          <a:solidFill>
            <a:srgbClr val="FFFFFF"/>
          </a:solidFill>
          <a:ln w="15875">
            <a:solidFill>
              <a:schemeClr val="accent1"/>
            </a:solidFill>
            <a:prstDash val="dash"/>
          </a:ln>
        </p:spPr>
      </p:sp>
      <p:sp>
        <p:nvSpPr>
          <p:cNvPr id="65" name="Step text 3"/>
          <p:cNvSpPr txBox="1"/>
          <p:nvPr/>
        </p:nvSpPr>
        <p:spPr>
          <a:xfrm>
            <a:off x="4379976" y="4992624"/>
            <a:ext cx="1517904" cy="548640"/>
          </a:xfrm>
          <a:prstGeom prst="rect">
            <a:avLst/>
          </a:prstGeom>
          <a:noFill/>
          <a:ln/>
        </p:spPr>
        <p:txBody>
          <a:bodyPr wrap="square" lIns="0" tIns="0" rIns="0" bIns="0" rtlCol="0" anchor="t"/>
          <a:lstStyle/>
          <a:p>
            <a:pPr marL="0" indent="0">
              <a:buNone/>
            </a:pPr>
            <a:r>
              <a:rPr lang="en-US" sz="1200" b="1" dirty="0">
                <a:solidFill>
                  <a:schemeClr val="accent6"/>
                </a:solidFill>
              </a:rPr>
              <a:t>3 · CO₂ adsorption evaluation</a:t>
            </a:r>
            <a:endParaRPr lang="en-US" sz="1200" dirty="0"/>
          </a:p>
        </p:txBody>
      </p:sp>
      <p:sp>
        <p:nvSpPr>
          <p:cNvPr id="66" name="Status step 3"/>
          <p:cNvSpPr/>
          <p:nvPr/>
        </p:nvSpPr>
        <p:spPr>
          <a:xfrm>
            <a:off x="4379976" y="5650992"/>
            <a:ext cx="731520" cy="237744"/>
          </a:xfrm>
          <a:prstGeom prst="roundRect">
            <a:avLst>
              <a:gd name="adj" fmla="val 50000"/>
            </a:avLst>
          </a:prstGeom>
          <a:solidFill>
            <a:srgbClr val="FFFFFF"/>
          </a:solidFill>
          <a:ln w="12700">
            <a:solidFill>
              <a:schemeClr val="accent6"/>
            </a:solidFill>
            <a:prstDash val="solid"/>
          </a:ln>
        </p:spPr>
      </p:sp>
      <p:sp>
        <p:nvSpPr>
          <p:cNvPr id="67" name="Status step 3 label"/>
          <p:cNvSpPr txBox="1"/>
          <p:nvPr/>
        </p:nvSpPr>
        <p:spPr>
          <a:xfrm>
            <a:off x="4379976" y="5650992"/>
            <a:ext cx="731520" cy="237744"/>
          </a:xfrm>
          <a:prstGeom prst="rect">
            <a:avLst/>
          </a:prstGeom>
          <a:noFill/>
          <a:ln/>
        </p:spPr>
        <p:txBody>
          <a:bodyPr wrap="square" lIns="0" tIns="0" rIns="0" bIns="0" rtlCol="0" anchor="ctr"/>
          <a:lstStyle/>
          <a:p>
            <a:pPr marL="0" indent="0" algn="ctr">
              <a:buNone/>
            </a:pPr>
            <a:r>
              <a:rPr lang="en-US" sz="1050" b="1" dirty="0">
                <a:solidFill>
                  <a:schemeClr val="accent6"/>
                </a:solidFill>
              </a:rPr>
              <a:t>Planned</a:t>
            </a:r>
            <a:endParaRPr lang="en-US" sz="1050" dirty="0"/>
          </a:p>
        </p:txBody>
      </p:sp>
      <p:sp>
        <p:nvSpPr>
          <p:cNvPr id="68" name="Step 4"/>
          <p:cNvSpPr/>
          <p:nvPr/>
        </p:nvSpPr>
        <p:spPr>
          <a:xfrm>
            <a:off x="6181344" y="4901184"/>
            <a:ext cx="1737360" cy="1097280"/>
          </a:xfrm>
          <a:prstGeom prst="roundRect">
            <a:avLst>
              <a:gd name="adj" fmla="val 6667"/>
            </a:avLst>
          </a:prstGeom>
          <a:solidFill>
            <a:srgbClr val="FFFFFF"/>
          </a:solidFill>
          <a:ln w="15875">
            <a:solidFill>
              <a:schemeClr val="accent1"/>
            </a:solidFill>
            <a:prstDash val="dash"/>
          </a:ln>
        </p:spPr>
      </p:sp>
      <p:sp>
        <p:nvSpPr>
          <p:cNvPr id="69" name="Step text 4"/>
          <p:cNvSpPr txBox="1"/>
          <p:nvPr/>
        </p:nvSpPr>
        <p:spPr>
          <a:xfrm>
            <a:off x="6291072" y="4992624"/>
            <a:ext cx="1517904" cy="548640"/>
          </a:xfrm>
          <a:prstGeom prst="rect">
            <a:avLst/>
          </a:prstGeom>
          <a:noFill/>
          <a:ln/>
        </p:spPr>
        <p:txBody>
          <a:bodyPr wrap="square" lIns="0" tIns="0" rIns="0" bIns="0" rtlCol="0" anchor="t"/>
          <a:lstStyle/>
          <a:p>
            <a:pPr marL="0" indent="0">
              <a:buNone/>
            </a:pPr>
            <a:r>
              <a:rPr lang="en-US" sz="1200" b="1" dirty="0">
                <a:solidFill>
                  <a:schemeClr val="accent6"/>
                </a:solidFill>
              </a:rPr>
              <a:t>4 · Humidity-controlled experiments</a:t>
            </a:r>
            <a:endParaRPr lang="en-US" sz="1200" dirty="0"/>
          </a:p>
        </p:txBody>
      </p:sp>
      <p:sp>
        <p:nvSpPr>
          <p:cNvPr id="70" name="Status step 4"/>
          <p:cNvSpPr/>
          <p:nvPr/>
        </p:nvSpPr>
        <p:spPr>
          <a:xfrm>
            <a:off x="6291072" y="5650992"/>
            <a:ext cx="731520" cy="237744"/>
          </a:xfrm>
          <a:prstGeom prst="roundRect">
            <a:avLst>
              <a:gd name="adj" fmla="val 50000"/>
            </a:avLst>
          </a:prstGeom>
          <a:solidFill>
            <a:srgbClr val="FFFFFF"/>
          </a:solidFill>
          <a:ln w="12700">
            <a:solidFill>
              <a:schemeClr val="accent6"/>
            </a:solidFill>
            <a:prstDash val="solid"/>
          </a:ln>
        </p:spPr>
      </p:sp>
      <p:sp>
        <p:nvSpPr>
          <p:cNvPr id="71" name="Status step 4 label"/>
          <p:cNvSpPr txBox="1"/>
          <p:nvPr/>
        </p:nvSpPr>
        <p:spPr>
          <a:xfrm>
            <a:off x="6291072" y="5650992"/>
            <a:ext cx="731520" cy="237744"/>
          </a:xfrm>
          <a:prstGeom prst="rect">
            <a:avLst/>
          </a:prstGeom>
          <a:noFill/>
          <a:ln/>
        </p:spPr>
        <p:txBody>
          <a:bodyPr wrap="square" lIns="0" tIns="0" rIns="0" bIns="0" rtlCol="0" anchor="ctr"/>
          <a:lstStyle/>
          <a:p>
            <a:pPr marL="0" indent="0" algn="ctr">
              <a:buNone/>
            </a:pPr>
            <a:r>
              <a:rPr lang="en-US" sz="1050" b="1" dirty="0">
                <a:solidFill>
                  <a:schemeClr val="accent6"/>
                </a:solidFill>
              </a:rPr>
              <a:t>Planned</a:t>
            </a:r>
            <a:endParaRPr lang="en-US" sz="1050" dirty="0"/>
          </a:p>
        </p:txBody>
      </p:sp>
      <p:sp>
        <p:nvSpPr>
          <p:cNvPr id="72" name="Step 5"/>
          <p:cNvSpPr/>
          <p:nvPr/>
        </p:nvSpPr>
        <p:spPr>
          <a:xfrm>
            <a:off x="8092440" y="4901184"/>
            <a:ext cx="1737360" cy="1097280"/>
          </a:xfrm>
          <a:prstGeom prst="roundRect">
            <a:avLst>
              <a:gd name="adj" fmla="val 6667"/>
            </a:avLst>
          </a:prstGeom>
          <a:solidFill>
            <a:srgbClr val="FFFFFF"/>
          </a:solidFill>
          <a:ln w="15875">
            <a:solidFill>
              <a:schemeClr val="accent1"/>
            </a:solidFill>
            <a:prstDash val="dash"/>
          </a:ln>
        </p:spPr>
      </p:sp>
      <p:sp>
        <p:nvSpPr>
          <p:cNvPr id="73" name="Step text 5"/>
          <p:cNvSpPr txBox="1"/>
          <p:nvPr/>
        </p:nvSpPr>
        <p:spPr>
          <a:xfrm>
            <a:off x="8202168" y="4992624"/>
            <a:ext cx="1517904" cy="548640"/>
          </a:xfrm>
          <a:prstGeom prst="rect">
            <a:avLst/>
          </a:prstGeom>
          <a:noFill/>
          <a:ln/>
        </p:spPr>
        <p:txBody>
          <a:bodyPr wrap="square" lIns="0" tIns="0" rIns="0" bIns="0" rtlCol="0" anchor="t"/>
          <a:lstStyle/>
          <a:p>
            <a:pPr marL="0" indent="0">
              <a:buNone/>
            </a:pPr>
            <a:r>
              <a:rPr lang="en-US" sz="1200" b="1" dirty="0">
                <a:solidFill>
                  <a:schemeClr val="accent6"/>
                </a:solidFill>
              </a:rPr>
              <a:t>5 · Regeneration assessment</a:t>
            </a:r>
            <a:endParaRPr lang="en-US" sz="1200" dirty="0"/>
          </a:p>
        </p:txBody>
      </p:sp>
      <p:sp>
        <p:nvSpPr>
          <p:cNvPr id="74" name="Status step 5"/>
          <p:cNvSpPr/>
          <p:nvPr/>
        </p:nvSpPr>
        <p:spPr>
          <a:xfrm>
            <a:off x="8202168" y="5650992"/>
            <a:ext cx="731520" cy="237744"/>
          </a:xfrm>
          <a:prstGeom prst="roundRect">
            <a:avLst>
              <a:gd name="adj" fmla="val 50000"/>
            </a:avLst>
          </a:prstGeom>
          <a:solidFill>
            <a:srgbClr val="FFFFFF"/>
          </a:solidFill>
          <a:ln w="12700">
            <a:solidFill>
              <a:schemeClr val="accent6"/>
            </a:solidFill>
            <a:prstDash val="solid"/>
          </a:ln>
        </p:spPr>
      </p:sp>
      <p:sp>
        <p:nvSpPr>
          <p:cNvPr id="75" name="Status step 5 label"/>
          <p:cNvSpPr txBox="1"/>
          <p:nvPr/>
        </p:nvSpPr>
        <p:spPr>
          <a:xfrm>
            <a:off x="8202168" y="5650992"/>
            <a:ext cx="731520" cy="237744"/>
          </a:xfrm>
          <a:prstGeom prst="rect">
            <a:avLst/>
          </a:prstGeom>
          <a:noFill/>
          <a:ln/>
        </p:spPr>
        <p:txBody>
          <a:bodyPr wrap="square" lIns="0" tIns="0" rIns="0" bIns="0" rtlCol="0" anchor="ctr"/>
          <a:lstStyle/>
          <a:p>
            <a:pPr marL="0" indent="0" algn="ctr">
              <a:buNone/>
            </a:pPr>
            <a:r>
              <a:rPr lang="en-US" sz="1050" b="1" dirty="0">
                <a:solidFill>
                  <a:schemeClr val="accent6"/>
                </a:solidFill>
              </a:rPr>
              <a:t>Planned</a:t>
            </a:r>
            <a:endParaRPr lang="en-US" sz="1050" dirty="0"/>
          </a:p>
        </p:txBody>
      </p:sp>
      <p:sp>
        <p:nvSpPr>
          <p:cNvPr id="76" name="Step 6"/>
          <p:cNvSpPr/>
          <p:nvPr/>
        </p:nvSpPr>
        <p:spPr>
          <a:xfrm>
            <a:off x="10003536" y="4901184"/>
            <a:ext cx="1737360" cy="1097280"/>
          </a:xfrm>
          <a:prstGeom prst="roundRect">
            <a:avLst>
              <a:gd name="adj" fmla="val 6667"/>
            </a:avLst>
          </a:prstGeom>
          <a:solidFill>
            <a:srgbClr val="FFFFFF"/>
          </a:solidFill>
          <a:ln w="15875">
            <a:solidFill>
              <a:schemeClr val="accent1"/>
            </a:solidFill>
            <a:prstDash val="dash"/>
          </a:ln>
        </p:spPr>
      </p:sp>
      <p:sp>
        <p:nvSpPr>
          <p:cNvPr id="77" name="Step text 6"/>
          <p:cNvSpPr txBox="1"/>
          <p:nvPr/>
        </p:nvSpPr>
        <p:spPr>
          <a:xfrm>
            <a:off x="10113264" y="4992624"/>
            <a:ext cx="1517904" cy="548640"/>
          </a:xfrm>
          <a:prstGeom prst="rect">
            <a:avLst/>
          </a:prstGeom>
          <a:noFill/>
          <a:ln/>
        </p:spPr>
        <p:txBody>
          <a:bodyPr wrap="square" lIns="0" tIns="0" rIns="0" bIns="0" rtlCol="0" anchor="t"/>
          <a:lstStyle/>
          <a:p>
            <a:pPr marL="0" indent="0">
              <a:buNone/>
            </a:pPr>
            <a:r>
              <a:rPr lang="en-US" sz="1200" b="1" dirty="0">
                <a:solidFill>
                  <a:schemeClr val="accent6"/>
                </a:solidFill>
              </a:rPr>
              <a:t>6 · Performance analysis</a:t>
            </a:r>
            <a:endParaRPr lang="en-US" sz="1200" dirty="0"/>
          </a:p>
        </p:txBody>
      </p:sp>
      <p:sp>
        <p:nvSpPr>
          <p:cNvPr id="78" name="Status step 6"/>
          <p:cNvSpPr/>
          <p:nvPr/>
        </p:nvSpPr>
        <p:spPr>
          <a:xfrm>
            <a:off x="10113264" y="5650992"/>
            <a:ext cx="731520" cy="237744"/>
          </a:xfrm>
          <a:prstGeom prst="roundRect">
            <a:avLst>
              <a:gd name="adj" fmla="val 50000"/>
            </a:avLst>
          </a:prstGeom>
          <a:solidFill>
            <a:srgbClr val="FFFFFF"/>
          </a:solidFill>
          <a:ln w="12700">
            <a:solidFill>
              <a:schemeClr val="accent6"/>
            </a:solidFill>
            <a:prstDash val="solid"/>
          </a:ln>
        </p:spPr>
      </p:sp>
      <p:sp>
        <p:nvSpPr>
          <p:cNvPr id="79" name="Status step 6 label"/>
          <p:cNvSpPr txBox="1"/>
          <p:nvPr/>
        </p:nvSpPr>
        <p:spPr>
          <a:xfrm>
            <a:off x="10113264" y="5650992"/>
            <a:ext cx="731520" cy="237744"/>
          </a:xfrm>
          <a:prstGeom prst="rect">
            <a:avLst/>
          </a:prstGeom>
          <a:noFill/>
          <a:ln/>
        </p:spPr>
        <p:txBody>
          <a:bodyPr wrap="square" lIns="0" tIns="0" rIns="0" bIns="0" rtlCol="0" anchor="ctr"/>
          <a:lstStyle/>
          <a:p>
            <a:pPr marL="0" indent="0" algn="ctr">
              <a:buNone/>
            </a:pPr>
            <a:r>
              <a:rPr lang="en-US" sz="1050" b="1" dirty="0">
                <a:solidFill>
                  <a:schemeClr val="accent6"/>
                </a:solidFill>
              </a:rPr>
              <a:t>Planned</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lide title"/>
          <p:cNvSpPr txBox="1"/>
          <p:nvPr/>
        </p:nvSpPr>
        <p:spPr>
          <a:xfrm>
            <a:off x="448056" y="1700784"/>
            <a:ext cx="11292840" cy="502920"/>
          </a:xfrm>
          <a:prstGeom prst="rect">
            <a:avLst/>
          </a:prstGeom>
          <a:noFill/>
          <a:ln/>
        </p:spPr>
        <p:txBody>
          <a:bodyPr wrap="square" lIns="0" tIns="0" rIns="0" bIns="0" rtlCol="0" anchor="ctr"/>
          <a:lstStyle/>
          <a:p>
            <a:pPr marL="0" indent="0" algn="l">
              <a:buNone/>
            </a:pPr>
            <a:r>
              <a:rPr lang="en-US" sz="2600" b="1" dirty="0">
                <a:solidFill>
                  <a:schemeClr val="accent3"/>
                </a:solidFill>
              </a:rPr>
              <a:t>Experimental Characterization: XRD and FTIR</a:t>
            </a:r>
            <a:endParaRPr lang="en-US" sz="2600" dirty="0"/>
          </a:p>
        </p:txBody>
      </p:sp>
      <p:pic>
        <p:nvPicPr>
          <p:cNvPr id="3" name="Original XRD figure" descr="Original XRD patterns of the 12 synthesized samples (A1-1 to F2-1)"/>
          <p:cNvPicPr>
            <a:picLocks noChangeAspect="1"/>
          </p:cNvPicPr>
          <p:nvPr/>
        </p:nvPicPr>
        <p:blipFill>
          <a:blip r:embed="rId3"/>
          <a:stretch>
            <a:fillRect/>
          </a:stretch>
        </p:blipFill>
        <p:spPr>
          <a:xfrm>
            <a:off x="448056" y="2267712"/>
            <a:ext cx="4465015" cy="2834640"/>
          </a:xfrm>
          <a:prstGeom prst="rect">
            <a:avLst/>
          </a:prstGeom>
        </p:spPr>
      </p:pic>
      <p:pic>
        <p:nvPicPr>
          <p:cNvPr id="4" name="Original FTIR figure" descr="Original FTIR spectra of the 12 synthesized samples"/>
          <p:cNvPicPr>
            <a:picLocks noChangeAspect="1"/>
          </p:cNvPicPr>
          <p:nvPr/>
        </p:nvPicPr>
        <p:blipFill>
          <a:blip r:embed="rId4"/>
          <a:stretch>
            <a:fillRect/>
          </a:stretch>
        </p:blipFill>
        <p:spPr>
          <a:xfrm>
            <a:off x="5638190" y="2267712"/>
            <a:ext cx="6102706" cy="2834640"/>
          </a:xfrm>
          <a:prstGeom prst="rect">
            <a:avLst/>
          </a:prstGeom>
        </p:spPr>
      </p:pic>
      <p:sp>
        <p:nvSpPr>
          <p:cNvPr id="5" name="Highlight XRD B2-1 panel"/>
          <p:cNvSpPr/>
          <p:nvPr/>
        </p:nvSpPr>
        <p:spPr>
          <a:xfrm>
            <a:off x="1957231" y="2276216"/>
            <a:ext cx="1446665" cy="680314"/>
          </a:xfrm>
          <a:prstGeom prst="rect">
            <a:avLst/>
          </a:prstGeom>
          <a:solidFill>
            <a:srgbClr val="FFFFFF">
              <a:alpha val="0"/>
            </a:srgbClr>
          </a:solidFill>
          <a:ln w="31750">
            <a:solidFill>
              <a:schemeClr val="accent2"/>
            </a:solidFill>
            <a:prstDash val="solid"/>
          </a:ln>
        </p:spPr>
      </p:sp>
      <p:sp>
        <p:nvSpPr>
          <p:cNvPr id="6" name="Highlight FTIR B2-1 panel"/>
          <p:cNvSpPr/>
          <p:nvPr/>
        </p:nvSpPr>
        <p:spPr>
          <a:xfrm>
            <a:off x="5674807" y="2290389"/>
            <a:ext cx="1470752" cy="708660"/>
          </a:xfrm>
          <a:prstGeom prst="rect">
            <a:avLst/>
          </a:prstGeom>
          <a:solidFill>
            <a:srgbClr val="FFFFFF">
              <a:alpha val="0"/>
            </a:srgbClr>
          </a:solidFill>
          <a:ln w="31750">
            <a:solidFill>
              <a:schemeClr val="accent2"/>
            </a:solidFill>
            <a:prstDash val="solid"/>
          </a:ln>
        </p:spPr>
      </p:sp>
      <p:sp>
        <p:nvSpPr>
          <p:cNvPr id="7" name="XRD box"/>
          <p:cNvSpPr/>
          <p:nvPr/>
        </p:nvSpPr>
        <p:spPr>
          <a:xfrm>
            <a:off x="448056" y="5175504"/>
            <a:ext cx="4465015" cy="859536"/>
          </a:xfrm>
          <a:prstGeom prst="roundRect">
            <a:avLst>
              <a:gd name="adj" fmla="val 8511"/>
            </a:avLst>
          </a:prstGeom>
          <a:solidFill>
            <a:schemeClr val="bg2"/>
          </a:solidFill>
          <a:ln w="12700">
            <a:solidFill>
              <a:schemeClr val="bg2"/>
            </a:solidFill>
            <a:prstDash val="solid"/>
          </a:ln>
        </p:spPr>
      </p:sp>
      <p:sp>
        <p:nvSpPr>
          <p:cNvPr id="8" name="XRD tag"/>
          <p:cNvSpPr/>
          <p:nvPr/>
        </p:nvSpPr>
        <p:spPr>
          <a:xfrm>
            <a:off x="585216" y="5248656"/>
            <a:ext cx="548640" cy="237744"/>
          </a:xfrm>
          <a:prstGeom prst="roundRect">
            <a:avLst>
              <a:gd name="adj" fmla="val 50000"/>
            </a:avLst>
          </a:prstGeom>
          <a:solidFill>
            <a:schemeClr val="accent3"/>
          </a:solidFill>
          <a:ln w="12700">
            <a:solidFill>
              <a:schemeClr val="accent3"/>
            </a:solidFill>
            <a:prstDash val="solid"/>
          </a:ln>
        </p:spPr>
      </p:sp>
      <p:sp>
        <p:nvSpPr>
          <p:cNvPr id="9" name="XRD tag label"/>
          <p:cNvSpPr txBox="1"/>
          <p:nvPr/>
        </p:nvSpPr>
        <p:spPr>
          <a:xfrm>
            <a:off x="585216" y="5248656"/>
            <a:ext cx="548640" cy="237744"/>
          </a:xfrm>
          <a:prstGeom prst="rect">
            <a:avLst/>
          </a:prstGeom>
          <a:noFill/>
          <a:ln/>
        </p:spPr>
        <p:txBody>
          <a:bodyPr wrap="square" lIns="0" tIns="0" rIns="0" bIns="0" rtlCol="0" anchor="ctr"/>
          <a:lstStyle/>
          <a:p>
            <a:pPr marL="0" indent="0" algn="ctr">
              <a:buNone/>
            </a:pPr>
            <a:r>
              <a:rPr lang="en-US" sz="1050" b="1" dirty="0">
                <a:solidFill>
                  <a:srgbClr val="FFFFFF"/>
                </a:solidFill>
              </a:rPr>
              <a:t>XRD</a:t>
            </a:r>
            <a:endParaRPr lang="en-US" sz="1050" dirty="0"/>
          </a:p>
        </p:txBody>
      </p:sp>
      <p:sp>
        <p:nvSpPr>
          <p:cNvPr id="10" name="XRD purpose"/>
          <p:cNvSpPr txBox="1"/>
          <p:nvPr/>
        </p:nvSpPr>
        <p:spPr>
          <a:xfrm>
            <a:off x="1225296" y="5248656"/>
            <a:ext cx="3550615" cy="237744"/>
          </a:xfrm>
          <a:prstGeom prst="rect">
            <a:avLst/>
          </a:prstGeom>
          <a:noFill/>
          <a:ln/>
        </p:spPr>
        <p:txBody>
          <a:bodyPr wrap="square" lIns="0" tIns="0" rIns="0" bIns="0" rtlCol="0" anchor="ctr"/>
          <a:lstStyle/>
          <a:p>
            <a:pPr marL="0" indent="0">
              <a:buNone/>
            </a:pPr>
            <a:r>
              <a:rPr lang="en-US" sz="1300" b="1" dirty="0">
                <a:solidFill>
                  <a:schemeClr val="accent3"/>
                </a:solidFill>
              </a:rPr>
              <a:t>Crystalline structure and phase</a:t>
            </a:r>
            <a:endParaRPr lang="en-US" sz="1300" dirty="0"/>
          </a:p>
        </p:txBody>
      </p:sp>
      <p:sp>
        <p:nvSpPr>
          <p:cNvPr id="11" name="XRD chip label"/>
          <p:cNvSpPr txBox="1"/>
          <p:nvPr/>
        </p:nvSpPr>
        <p:spPr>
          <a:xfrm>
            <a:off x="585216" y="5541264"/>
            <a:ext cx="822960" cy="219456"/>
          </a:xfrm>
          <a:prstGeom prst="rect">
            <a:avLst/>
          </a:prstGeom>
          <a:noFill/>
          <a:ln/>
        </p:spPr>
        <p:txBody>
          <a:bodyPr wrap="square" lIns="0" tIns="0" rIns="0" bIns="0" rtlCol="0" anchor="ctr"/>
          <a:lstStyle/>
          <a:p>
            <a:pPr marL="0" indent="0">
              <a:buNone/>
            </a:pPr>
            <a:r>
              <a:rPr lang="en-US" sz="1100" b="1" dirty="0">
                <a:solidFill>
                  <a:srgbClr val="B8531A"/>
                </a:solidFill>
              </a:rPr>
              <a:t>B2-1 · 2θ:</a:t>
            </a:r>
            <a:endParaRPr lang="en-US" sz="1100" dirty="0"/>
          </a:p>
        </p:txBody>
      </p:sp>
      <p:sp>
        <p:nvSpPr>
          <p:cNvPr id="12" name="XRD peak chip 9.36°"/>
          <p:cNvSpPr/>
          <p:nvPr/>
        </p:nvSpPr>
        <p:spPr>
          <a:xfrm>
            <a:off x="1408176" y="5541264"/>
            <a:ext cx="585216" cy="219456"/>
          </a:xfrm>
          <a:prstGeom prst="roundRect">
            <a:avLst>
              <a:gd name="adj" fmla="val 50000"/>
            </a:avLst>
          </a:prstGeom>
          <a:solidFill>
            <a:srgbClr val="FFF0E6"/>
          </a:solidFill>
          <a:ln w="12700">
            <a:solidFill>
              <a:schemeClr val="accent2"/>
            </a:solidFill>
            <a:prstDash val="solid"/>
          </a:ln>
        </p:spPr>
      </p:sp>
      <p:sp>
        <p:nvSpPr>
          <p:cNvPr id="13" name="XRD peak label 9.36°"/>
          <p:cNvSpPr txBox="1"/>
          <p:nvPr/>
        </p:nvSpPr>
        <p:spPr>
          <a:xfrm>
            <a:off x="1408176" y="5541264"/>
            <a:ext cx="585216" cy="219456"/>
          </a:xfrm>
          <a:prstGeom prst="rect">
            <a:avLst/>
          </a:prstGeom>
          <a:noFill/>
          <a:ln/>
        </p:spPr>
        <p:txBody>
          <a:bodyPr wrap="square" lIns="0" tIns="0" rIns="0" bIns="0" rtlCol="0" anchor="ctr"/>
          <a:lstStyle/>
          <a:p>
            <a:pPr marL="0" indent="0" algn="ctr">
              <a:buNone/>
            </a:pPr>
            <a:r>
              <a:rPr lang="en-US" sz="1050" b="1" dirty="0">
                <a:solidFill>
                  <a:srgbClr val="B8531A"/>
                </a:solidFill>
              </a:rPr>
              <a:t>9.36°</a:t>
            </a:r>
            <a:endParaRPr lang="en-US" sz="1050" dirty="0"/>
          </a:p>
        </p:txBody>
      </p:sp>
      <p:sp>
        <p:nvSpPr>
          <p:cNvPr id="14" name="XRD peak chip 12.10°"/>
          <p:cNvSpPr/>
          <p:nvPr/>
        </p:nvSpPr>
        <p:spPr>
          <a:xfrm>
            <a:off x="2048256" y="5541264"/>
            <a:ext cx="585216" cy="219456"/>
          </a:xfrm>
          <a:prstGeom prst="roundRect">
            <a:avLst>
              <a:gd name="adj" fmla="val 50000"/>
            </a:avLst>
          </a:prstGeom>
          <a:solidFill>
            <a:srgbClr val="FFF0E6"/>
          </a:solidFill>
          <a:ln w="12700">
            <a:solidFill>
              <a:schemeClr val="accent2"/>
            </a:solidFill>
            <a:prstDash val="solid"/>
          </a:ln>
        </p:spPr>
      </p:sp>
      <p:sp>
        <p:nvSpPr>
          <p:cNvPr id="15" name="XRD peak label 12.10°"/>
          <p:cNvSpPr txBox="1"/>
          <p:nvPr/>
        </p:nvSpPr>
        <p:spPr>
          <a:xfrm>
            <a:off x="2048256" y="5541264"/>
            <a:ext cx="585216" cy="219456"/>
          </a:xfrm>
          <a:prstGeom prst="rect">
            <a:avLst/>
          </a:prstGeom>
          <a:noFill/>
          <a:ln/>
        </p:spPr>
        <p:txBody>
          <a:bodyPr wrap="square" lIns="0" tIns="0" rIns="0" bIns="0" rtlCol="0" anchor="ctr"/>
          <a:lstStyle/>
          <a:p>
            <a:pPr marL="0" indent="0" algn="ctr">
              <a:buNone/>
            </a:pPr>
            <a:r>
              <a:rPr lang="en-US" sz="1050" b="1" dirty="0">
                <a:solidFill>
                  <a:srgbClr val="B8531A"/>
                </a:solidFill>
              </a:rPr>
              <a:t>12.10°</a:t>
            </a:r>
            <a:endParaRPr lang="en-US" sz="1050" dirty="0"/>
          </a:p>
        </p:txBody>
      </p:sp>
      <p:sp>
        <p:nvSpPr>
          <p:cNvPr id="16" name="XRD peak chip 17.56°"/>
          <p:cNvSpPr/>
          <p:nvPr/>
        </p:nvSpPr>
        <p:spPr>
          <a:xfrm>
            <a:off x="2688336" y="5541264"/>
            <a:ext cx="585216" cy="219456"/>
          </a:xfrm>
          <a:prstGeom prst="roundRect">
            <a:avLst>
              <a:gd name="adj" fmla="val 50000"/>
            </a:avLst>
          </a:prstGeom>
          <a:solidFill>
            <a:srgbClr val="FFF0E6"/>
          </a:solidFill>
          <a:ln w="12700">
            <a:solidFill>
              <a:schemeClr val="accent2"/>
            </a:solidFill>
            <a:prstDash val="solid"/>
          </a:ln>
        </p:spPr>
      </p:sp>
      <p:sp>
        <p:nvSpPr>
          <p:cNvPr id="17" name="XRD peak label 17.56°"/>
          <p:cNvSpPr txBox="1"/>
          <p:nvPr/>
        </p:nvSpPr>
        <p:spPr>
          <a:xfrm>
            <a:off x="2688336" y="5541264"/>
            <a:ext cx="585216" cy="219456"/>
          </a:xfrm>
          <a:prstGeom prst="rect">
            <a:avLst/>
          </a:prstGeom>
          <a:noFill/>
          <a:ln/>
        </p:spPr>
        <p:txBody>
          <a:bodyPr wrap="square" lIns="0" tIns="0" rIns="0" bIns="0" rtlCol="0" anchor="ctr"/>
          <a:lstStyle/>
          <a:p>
            <a:pPr marL="0" indent="0" algn="ctr">
              <a:buNone/>
            </a:pPr>
            <a:r>
              <a:rPr lang="en-US" sz="1050" b="1" dirty="0">
                <a:solidFill>
                  <a:srgbClr val="B8531A"/>
                </a:solidFill>
              </a:rPr>
              <a:t>17.56°</a:t>
            </a:r>
            <a:endParaRPr lang="en-US" sz="1050" dirty="0"/>
          </a:p>
        </p:txBody>
      </p:sp>
      <p:sp>
        <p:nvSpPr>
          <p:cNvPr id="18" name="XRD peak chip 24.34°"/>
          <p:cNvSpPr/>
          <p:nvPr/>
        </p:nvSpPr>
        <p:spPr>
          <a:xfrm>
            <a:off x="3328416" y="5541264"/>
            <a:ext cx="585216" cy="219456"/>
          </a:xfrm>
          <a:prstGeom prst="roundRect">
            <a:avLst>
              <a:gd name="adj" fmla="val 50000"/>
            </a:avLst>
          </a:prstGeom>
          <a:solidFill>
            <a:srgbClr val="FFF0E6"/>
          </a:solidFill>
          <a:ln w="12700">
            <a:solidFill>
              <a:schemeClr val="accent2"/>
            </a:solidFill>
            <a:prstDash val="solid"/>
          </a:ln>
        </p:spPr>
      </p:sp>
      <p:sp>
        <p:nvSpPr>
          <p:cNvPr id="19" name="XRD peak label 24.34°"/>
          <p:cNvSpPr txBox="1"/>
          <p:nvPr/>
        </p:nvSpPr>
        <p:spPr>
          <a:xfrm>
            <a:off x="3328416" y="5541264"/>
            <a:ext cx="585216" cy="219456"/>
          </a:xfrm>
          <a:prstGeom prst="rect">
            <a:avLst/>
          </a:prstGeom>
          <a:noFill/>
          <a:ln/>
        </p:spPr>
        <p:txBody>
          <a:bodyPr wrap="square" lIns="0" tIns="0" rIns="0" bIns="0" rtlCol="0" anchor="ctr"/>
          <a:lstStyle/>
          <a:p>
            <a:pPr marL="0" indent="0" algn="ctr">
              <a:buNone/>
            </a:pPr>
            <a:r>
              <a:rPr lang="en-US" sz="1050" b="1" dirty="0">
                <a:solidFill>
                  <a:srgbClr val="B8531A"/>
                </a:solidFill>
              </a:rPr>
              <a:t>24.34°</a:t>
            </a:r>
            <a:endParaRPr lang="en-US" sz="1050" dirty="0"/>
          </a:p>
        </p:txBody>
      </p:sp>
      <p:sp>
        <p:nvSpPr>
          <p:cNvPr id="20" name="XRD peak chip 26.08°"/>
          <p:cNvSpPr/>
          <p:nvPr/>
        </p:nvSpPr>
        <p:spPr>
          <a:xfrm>
            <a:off x="3968496" y="5541264"/>
            <a:ext cx="585216" cy="219456"/>
          </a:xfrm>
          <a:prstGeom prst="roundRect">
            <a:avLst>
              <a:gd name="adj" fmla="val 50000"/>
            </a:avLst>
          </a:prstGeom>
          <a:solidFill>
            <a:srgbClr val="FFF0E6"/>
          </a:solidFill>
          <a:ln w="12700">
            <a:solidFill>
              <a:schemeClr val="accent2"/>
            </a:solidFill>
            <a:prstDash val="solid"/>
          </a:ln>
        </p:spPr>
      </p:sp>
      <p:sp>
        <p:nvSpPr>
          <p:cNvPr id="21" name="XRD peak label 26.08°"/>
          <p:cNvSpPr txBox="1"/>
          <p:nvPr/>
        </p:nvSpPr>
        <p:spPr>
          <a:xfrm>
            <a:off x="3968496" y="5541264"/>
            <a:ext cx="585216" cy="219456"/>
          </a:xfrm>
          <a:prstGeom prst="rect">
            <a:avLst/>
          </a:prstGeom>
          <a:noFill/>
          <a:ln/>
        </p:spPr>
        <p:txBody>
          <a:bodyPr wrap="square" lIns="0" tIns="0" rIns="0" bIns="0" rtlCol="0" anchor="ctr"/>
          <a:lstStyle/>
          <a:p>
            <a:pPr marL="0" indent="0" algn="ctr">
              <a:buNone/>
            </a:pPr>
            <a:r>
              <a:rPr lang="en-US" sz="1050" b="1" dirty="0">
                <a:solidFill>
                  <a:srgbClr val="B8531A"/>
                </a:solidFill>
              </a:rPr>
              <a:t>26.08°</a:t>
            </a:r>
            <a:endParaRPr lang="en-US" sz="1050" dirty="0"/>
          </a:p>
        </p:txBody>
      </p:sp>
      <p:sp>
        <p:nvSpPr>
          <p:cNvPr id="22" name="XRD significance"/>
          <p:cNvSpPr txBox="1"/>
          <p:nvPr/>
        </p:nvSpPr>
        <p:spPr>
          <a:xfrm>
            <a:off x="585216" y="5815584"/>
            <a:ext cx="4190695" cy="201168"/>
          </a:xfrm>
          <a:prstGeom prst="rect">
            <a:avLst/>
          </a:prstGeom>
          <a:noFill/>
          <a:ln/>
        </p:spPr>
        <p:txBody>
          <a:bodyPr wrap="square" lIns="0" tIns="0" rIns="0" bIns="0" rtlCol="0" anchor="ctr"/>
          <a:lstStyle/>
          <a:p>
            <a:pPr marL="0" indent="0">
              <a:buNone/>
            </a:pPr>
            <a:r>
              <a:rPr lang="en-US" sz="1100" dirty="0">
                <a:solidFill>
                  <a:schemeClr val="tx2"/>
                </a:solidFill>
              </a:rPr>
              <a:t>Defined peaks support crystallinity; phase assignment pending</a:t>
            </a:r>
            <a:endParaRPr lang="en-US" sz="1100" dirty="0"/>
          </a:p>
        </p:txBody>
      </p:sp>
      <p:sp>
        <p:nvSpPr>
          <p:cNvPr id="23" name="FTIR box"/>
          <p:cNvSpPr/>
          <p:nvPr/>
        </p:nvSpPr>
        <p:spPr>
          <a:xfrm>
            <a:off x="5638190" y="5175504"/>
            <a:ext cx="6102706" cy="859536"/>
          </a:xfrm>
          <a:prstGeom prst="roundRect">
            <a:avLst>
              <a:gd name="adj" fmla="val 8511"/>
            </a:avLst>
          </a:prstGeom>
          <a:solidFill>
            <a:schemeClr val="bg2"/>
          </a:solidFill>
          <a:ln w="12700">
            <a:solidFill>
              <a:schemeClr val="bg2"/>
            </a:solidFill>
            <a:prstDash val="solid"/>
          </a:ln>
        </p:spPr>
      </p:sp>
      <p:sp>
        <p:nvSpPr>
          <p:cNvPr id="24" name="FTIR tag"/>
          <p:cNvSpPr/>
          <p:nvPr/>
        </p:nvSpPr>
        <p:spPr>
          <a:xfrm>
            <a:off x="5775350" y="5248656"/>
            <a:ext cx="548640" cy="237744"/>
          </a:xfrm>
          <a:prstGeom prst="roundRect">
            <a:avLst>
              <a:gd name="adj" fmla="val 50000"/>
            </a:avLst>
          </a:prstGeom>
          <a:solidFill>
            <a:schemeClr val="accent3"/>
          </a:solidFill>
          <a:ln w="12700">
            <a:solidFill>
              <a:schemeClr val="accent3"/>
            </a:solidFill>
            <a:prstDash val="solid"/>
          </a:ln>
        </p:spPr>
      </p:sp>
      <p:sp>
        <p:nvSpPr>
          <p:cNvPr id="25" name="FTIR tag label"/>
          <p:cNvSpPr txBox="1"/>
          <p:nvPr/>
        </p:nvSpPr>
        <p:spPr>
          <a:xfrm>
            <a:off x="5775350" y="5248656"/>
            <a:ext cx="548640" cy="237744"/>
          </a:xfrm>
          <a:prstGeom prst="rect">
            <a:avLst/>
          </a:prstGeom>
          <a:noFill/>
          <a:ln/>
        </p:spPr>
        <p:txBody>
          <a:bodyPr wrap="square" lIns="0" tIns="0" rIns="0" bIns="0" rtlCol="0" anchor="ctr"/>
          <a:lstStyle/>
          <a:p>
            <a:pPr marL="0" indent="0" algn="ctr">
              <a:buNone/>
            </a:pPr>
            <a:r>
              <a:rPr lang="en-US" sz="1050" b="1" dirty="0">
                <a:solidFill>
                  <a:srgbClr val="FFFFFF"/>
                </a:solidFill>
              </a:rPr>
              <a:t>FTIR</a:t>
            </a:r>
            <a:endParaRPr lang="en-US" sz="1050" dirty="0"/>
          </a:p>
        </p:txBody>
      </p:sp>
      <p:sp>
        <p:nvSpPr>
          <p:cNvPr id="26" name="FTIR purpose"/>
          <p:cNvSpPr txBox="1"/>
          <p:nvPr/>
        </p:nvSpPr>
        <p:spPr>
          <a:xfrm>
            <a:off x="6415430" y="5248656"/>
            <a:ext cx="5188306" cy="237744"/>
          </a:xfrm>
          <a:prstGeom prst="rect">
            <a:avLst/>
          </a:prstGeom>
          <a:noFill/>
          <a:ln/>
        </p:spPr>
        <p:txBody>
          <a:bodyPr wrap="square" lIns="0" tIns="0" rIns="0" bIns="0" rtlCol="0" anchor="ctr"/>
          <a:lstStyle/>
          <a:p>
            <a:pPr marL="0" indent="0">
              <a:buNone/>
            </a:pPr>
            <a:r>
              <a:rPr lang="en-US" sz="1300" b="1" dirty="0">
                <a:solidFill>
                  <a:schemeClr val="accent3"/>
                </a:solidFill>
              </a:rPr>
              <a:t>Functional groups and chemical interactions</a:t>
            </a:r>
            <a:endParaRPr lang="en-US" sz="1300" dirty="0"/>
          </a:p>
        </p:txBody>
      </p:sp>
      <p:sp>
        <p:nvSpPr>
          <p:cNvPr id="27" name="FTIR chip label"/>
          <p:cNvSpPr txBox="1"/>
          <p:nvPr/>
        </p:nvSpPr>
        <p:spPr>
          <a:xfrm>
            <a:off x="5775350" y="5541264"/>
            <a:ext cx="548640" cy="219456"/>
          </a:xfrm>
          <a:prstGeom prst="rect">
            <a:avLst/>
          </a:prstGeom>
          <a:noFill/>
          <a:ln/>
        </p:spPr>
        <p:txBody>
          <a:bodyPr wrap="square" lIns="0" tIns="0" rIns="0" bIns="0" rtlCol="0" anchor="ctr"/>
          <a:lstStyle/>
          <a:p>
            <a:pPr marL="0" indent="0">
              <a:buNone/>
            </a:pPr>
            <a:r>
              <a:rPr lang="en-US" sz="1100" b="1" dirty="0">
                <a:solidFill>
                  <a:srgbClr val="B8531A"/>
                </a:solidFill>
              </a:rPr>
              <a:t>Bands:</a:t>
            </a:r>
            <a:endParaRPr lang="en-US" sz="1100" dirty="0"/>
          </a:p>
        </p:txBody>
      </p:sp>
      <p:sp>
        <p:nvSpPr>
          <p:cNvPr id="28" name="FTIR chip ~1600 cm⁻¹"/>
          <p:cNvSpPr/>
          <p:nvPr/>
        </p:nvSpPr>
        <p:spPr>
          <a:xfrm>
            <a:off x="6323990" y="5541264"/>
            <a:ext cx="1051560" cy="219456"/>
          </a:xfrm>
          <a:prstGeom prst="roundRect">
            <a:avLst>
              <a:gd name="adj" fmla="val 50000"/>
            </a:avLst>
          </a:prstGeom>
          <a:solidFill>
            <a:srgbClr val="FFF0E6"/>
          </a:solidFill>
          <a:ln w="12700">
            <a:solidFill>
              <a:schemeClr val="accent2"/>
            </a:solidFill>
            <a:prstDash val="solid"/>
          </a:ln>
        </p:spPr>
      </p:sp>
      <p:sp>
        <p:nvSpPr>
          <p:cNvPr id="29" name="FTIR chip label ~1600 cm⁻¹"/>
          <p:cNvSpPr txBox="1"/>
          <p:nvPr/>
        </p:nvSpPr>
        <p:spPr>
          <a:xfrm>
            <a:off x="6323990" y="5541264"/>
            <a:ext cx="1051560" cy="219456"/>
          </a:xfrm>
          <a:prstGeom prst="rect">
            <a:avLst/>
          </a:prstGeom>
          <a:noFill/>
          <a:ln/>
        </p:spPr>
        <p:txBody>
          <a:bodyPr wrap="square" lIns="0" tIns="0" rIns="0" bIns="0" rtlCol="0" anchor="ctr"/>
          <a:lstStyle/>
          <a:p>
            <a:pPr marL="0" indent="0" algn="ctr">
              <a:buNone/>
            </a:pPr>
            <a:r>
              <a:rPr lang="en-US" sz="1050" b="1" dirty="0">
                <a:solidFill>
                  <a:srgbClr val="B8531A"/>
                </a:solidFill>
              </a:rPr>
              <a:t>~1600 cm⁻¹</a:t>
            </a:r>
            <a:endParaRPr lang="en-US" sz="1050" dirty="0"/>
          </a:p>
        </p:txBody>
      </p:sp>
      <p:sp>
        <p:nvSpPr>
          <p:cNvPr id="30" name="FTIR chip ~1400 cm⁻¹"/>
          <p:cNvSpPr/>
          <p:nvPr/>
        </p:nvSpPr>
        <p:spPr>
          <a:xfrm>
            <a:off x="7448702" y="5541264"/>
            <a:ext cx="1051560" cy="219456"/>
          </a:xfrm>
          <a:prstGeom prst="roundRect">
            <a:avLst>
              <a:gd name="adj" fmla="val 50000"/>
            </a:avLst>
          </a:prstGeom>
          <a:solidFill>
            <a:srgbClr val="FFF0E6"/>
          </a:solidFill>
          <a:ln w="12700">
            <a:solidFill>
              <a:schemeClr val="accent2"/>
            </a:solidFill>
            <a:prstDash val="solid"/>
          </a:ln>
        </p:spPr>
      </p:sp>
      <p:sp>
        <p:nvSpPr>
          <p:cNvPr id="31" name="FTIR chip label ~1400 cm⁻¹"/>
          <p:cNvSpPr txBox="1"/>
          <p:nvPr/>
        </p:nvSpPr>
        <p:spPr>
          <a:xfrm>
            <a:off x="7448702" y="5541264"/>
            <a:ext cx="1051560" cy="219456"/>
          </a:xfrm>
          <a:prstGeom prst="rect">
            <a:avLst/>
          </a:prstGeom>
          <a:noFill/>
          <a:ln/>
        </p:spPr>
        <p:txBody>
          <a:bodyPr wrap="square" lIns="0" tIns="0" rIns="0" bIns="0" rtlCol="0" anchor="ctr"/>
          <a:lstStyle/>
          <a:p>
            <a:pPr marL="0" indent="0" algn="ctr">
              <a:buNone/>
            </a:pPr>
            <a:r>
              <a:rPr lang="en-US" sz="1050" b="1" dirty="0">
                <a:solidFill>
                  <a:srgbClr val="B8531A"/>
                </a:solidFill>
              </a:rPr>
              <a:t>~1400 cm⁻¹</a:t>
            </a:r>
            <a:endParaRPr lang="en-US" sz="1050" dirty="0"/>
          </a:p>
        </p:txBody>
      </p:sp>
      <p:sp>
        <p:nvSpPr>
          <p:cNvPr id="32" name="FTIR chip COO⁻ (carboxylate)"/>
          <p:cNvSpPr/>
          <p:nvPr/>
        </p:nvSpPr>
        <p:spPr>
          <a:xfrm>
            <a:off x="8573414" y="5541264"/>
            <a:ext cx="1508760" cy="219456"/>
          </a:xfrm>
          <a:prstGeom prst="roundRect">
            <a:avLst>
              <a:gd name="adj" fmla="val 50000"/>
            </a:avLst>
          </a:prstGeom>
          <a:solidFill>
            <a:srgbClr val="FFF0E6"/>
          </a:solidFill>
          <a:ln w="12700">
            <a:solidFill>
              <a:schemeClr val="accent2"/>
            </a:solidFill>
            <a:prstDash val="solid"/>
          </a:ln>
        </p:spPr>
      </p:sp>
      <p:sp>
        <p:nvSpPr>
          <p:cNvPr id="33" name="FTIR chip label COO⁻ (carboxylate)"/>
          <p:cNvSpPr txBox="1"/>
          <p:nvPr/>
        </p:nvSpPr>
        <p:spPr>
          <a:xfrm>
            <a:off x="8573414" y="5541264"/>
            <a:ext cx="1508760" cy="219456"/>
          </a:xfrm>
          <a:prstGeom prst="rect">
            <a:avLst/>
          </a:prstGeom>
          <a:noFill/>
          <a:ln/>
        </p:spPr>
        <p:txBody>
          <a:bodyPr wrap="square" lIns="0" tIns="0" rIns="0" bIns="0" rtlCol="0" anchor="ctr"/>
          <a:lstStyle/>
          <a:p>
            <a:pPr marL="0" indent="0" algn="ctr">
              <a:buNone/>
            </a:pPr>
            <a:r>
              <a:rPr lang="en-US" sz="1050" b="1" dirty="0">
                <a:solidFill>
                  <a:srgbClr val="B8531A"/>
                </a:solidFill>
              </a:rPr>
              <a:t>COO⁻ (carboxylate)</a:t>
            </a:r>
            <a:endParaRPr lang="en-US" sz="1050" dirty="0"/>
          </a:p>
        </p:txBody>
      </p:sp>
      <p:sp>
        <p:nvSpPr>
          <p:cNvPr id="34" name="FTIR significance"/>
          <p:cNvSpPr txBox="1"/>
          <p:nvPr/>
        </p:nvSpPr>
        <p:spPr>
          <a:xfrm>
            <a:off x="5775350" y="5815584"/>
            <a:ext cx="5828386" cy="201168"/>
          </a:xfrm>
          <a:prstGeom prst="rect">
            <a:avLst/>
          </a:prstGeom>
          <a:noFill/>
          <a:ln/>
        </p:spPr>
        <p:txBody>
          <a:bodyPr wrap="square" lIns="0" tIns="0" rIns="0" bIns="0" rtlCol="0" anchor="ctr"/>
          <a:lstStyle/>
          <a:p>
            <a:pPr marL="0" indent="0">
              <a:buNone/>
            </a:pPr>
            <a:r>
              <a:rPr lang="en-US" sz="1100" dirty="0">
                <a:solidFill>
                  <a:schemeClr val="tx2"/>
                </a:solidFill>
              </a:rPr>
              <a:t>Strong carboxylate bands support carboxylate–metal-center coordination</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title"/>
          <p:cNvSpPr txBox="1"/>
          <p:nvPr/>
        </p:nvSpPr>
        <p:spPr>
          <a:xfrm>
            <a:off x="448056" y="1700784"/>
            <a:ext cx="11292840" cy="502920"/>
          </a:xfrm>
          <a:prstGeom prst="rect">
            <a:avLst/>
          </a:prstGeom>
          <a:noFill/>
          <a:ln/>
        </p:spPr>
        <p:txBody>
          <a:bodyPr wrap="square" lIns="0" tIns="0" rIns="0" bIns="0" rtlCol="0" anchor="ctr"/>
          <a:lstStyle/>
          <a:p>
            <a:pPr marL="0" indent="0" algn="l">
              <a:buNone/>
            </a:pPr>
            <a:r>
              <a:rPr lang="en-US" sz="2600" b="1" dirty="0">
                <a:solidFill>
                  <a:schemeClr val="accent3"/>
                </a:solidFill>
              </a:rPr>
              <a:t>CO₂ Adsorption, Humidity and Regeneration</a:t>
            </a:r>
            <a:endParaRPr lang="en-US" sz="2600" dirty="0"/>
          </a:p>
        </p:txBody>
      </p:sp>
      <p:sp>
        <p:nvSpPr>
          <p:cNvPr id="3" name="Process node 1"/>
          <p:cNvSpPr/>
          <p:nvPr/>
        </p:nvSpPr>
        <p:spPr>
          <a:xfrm>
            <a:off x="448056" y="2286000"/>
            <a:ext cx="2468880" cy="1207008"/>
          </a:xfrm>
          <a:prstGeom prst="roundRect">
            <a:avLst>
              <a:gd name="adj" fmla="val 6061"/>
            </a:avLst>
          </a:prstGeom>
          <a:solidFill>
            <a:schemeClr val="bg2"/>
          </a:solidFill>
          <a:ln w="15875">
            <a:solidFill>
              <a:schemeClr val="accent3"/>
            </a:solidFill>
            <a:prstDash val="solid"/>
          </a:ln>
        </p:spPr>
      </p:sp>
      <p:sp>
        <p:nvSpPr>
          <p:cNvPr id="4" name="Process title 1"/>
          <p:cNvSpPr txBox="1"/>
          <p:nvPr/>
        </p:nvSpPr>
        <p:spPr>
          <a:xfrm>
            <a:off x="557784" y="2377440"/>
            <a:ext cx="2249424" cy="420624"/>
          </a:xfrm>
          <a:prstGeom prst="rect">
            <a:avLst/>
          </a:prstGeom>
          <a:noFill/>
          <a:ln/>
        </p:spPr>
        <p:txBody>
          <a:bodyPr wrap="square" lIns="0" tIns="0" rIns="0" bIns="0" rtlCol="0" anchor="t"/>
          <a:lstStyle/>
          <a:p>
            <a:pPr marL="0" indent="0">
              <a:buNone/>
            </a:pPr>
            <a:r>
              <a:rPr lang="en-US" sz="1250" b="1" dirty="0">
                <a:solidFill>
                  <a:schemeClr val="accent3"/>
                </a:solidFill>
              </a:rPr>
              <a:t>1 · CO₂ capture</a:t>
            </a:r>
            <a:endParaRPr lang="en-US" sz="1250" dirty="0"/>
          </a:p>
        </p:txBody>
      </p:sp>
      <p:sp>
        <p:nvSpPr>
          <p:cNvPr id="5" name="Process sub 1"/>
          <p:cNvSpPr txBox="1"/>
          <p:nvPr/>
        </p:nvSpPr>
        <p:spPr>
          <a:xfrm>
            <a:off x="557784" y="2816352"/>
            <a:ext cx="2249424" cy="365760"/>
          </a:xfrm>
          <a:prstGeom prst="rect">
            <a:avLst/>
          </a:prstGeom>
          <a:noFill/>
          <a:ln/>
        </p:spPr>
        <p:txBody>
          <a:bodyPr wrap="square" lIns="0" tIns="0" rIns="0" bIns="0" rtlCol="0" anchor="t"/>
          <a:lstStyle/>
          <a:p>
            <a:pPr marL="0" indent="0">
              <a:buNone/>
            </a:pPr>
            <a:r>
              <a:rPr lang="en-US" sz="1150" dirty="0">
                <a:solidFill>
                  <a:schemeClr val="tx2"/>
                </a:solidFill>
              </a:rPr>
              <a:t>Adsorption of CO₂ by the bimetal MOF</a:t>
            </a:r>
            <a:endParaRPr lang="en-US" sz="1150" dirty="0"/>
          </a:p>
        </p:txBody>
      </p:sp>
      <p:sp>
        <p:nvSpPr>
          <p:cNvPr id="6" name="Status node 1"/>
          <p:cNvSpPr/>
          <p:nvPr/>
        </p:nvSpPr>
        <p:spPr>
          <a:xfrm>
            <a:off x="557784" y="3218688"/>
            <a:ext cx="731520" cy="237744"/>
          </a:xfrm>
          <a:prstGeom prst="roundRect">
            <a:avLst>
              <a:gd name="adj" fmla="val 50000"/>
            </a:avLst>
          </a:prstGeom>
          <a:solidFill>
            <a:srgbClr val="FFFFFF"/>
          </a:solidFill>
          <a:ln w="12700">
            <a:solidFill>
              <a:schemeClr val="accent6"/>
            </a:solidFill>
            <a:prstDash val="solid"/>
          </a:ln>
        </p:spPr>
      </p:sp>
      <p:sp>
        <p:nvSpPr>
          <p:cNvPr id="7" name="Status node 1 label"/>
          <p:cNvSpPr txBox="1"/>
          <p:nvPr/>
        </p:nvSpPr>
        <p:spPr>
          <a:xfrm>
            <a:off x="557784" y="3218688"/>
            <a:ext cx="731520" cy="237744"/>
          </a:xfrm>
          <a:prstGeom prst="rect">
            <a:avLst/>
          </a:prstGeom>
          <a:noFill/>
          <a:ln/>
        </p:spPr>
        <p:txBody>
          <a:bodyPr wrap="square" lIns="0" tIns="0" rIns="0" bIns="0" rtlCol="0" anchor="ctr"/>
          <a:lstStyle/>
          <a:p>
            <a:pPr marL="0" indent="0" algn="ctr">
              <a:buNone/>
            </a:pPr>
            <a:r>
              <a:rPr lang="en-US" sz="1050" b="1" dirty="0">
                <a:solidFill>
                  <a:schemeClr val="accent6"/>
                </a:solidFill>
              </a:rPr>
              <a:t>Planned</a:t>
            </a:r>
            <a:endParaRPr lang="en-US" sz="1050" dirty="0"/>
          </a:p>
        </p:txBody>
      </p:sp>
      <p:sp>
        <p:nvSpPr>
          <p:cNvPr id="8" name="Process arrow 1"/>
          <p:cNvSpPr/>
          <p:nvPr/>
        </p:nvSpPr>
        <p:spPr>
          <a:xfrm>
            <a:off x="2971800" y="2889504"/>
            <a:ext cx="362712" cy="0"/>
          </a:xfrm>
          <a:prstGeom prst="line">
            <a:avLst/>
          </a:prstGeom>
          <a:noFill/>
          <a:ln w="28575">
            <a:solidFill>
              <a:schemeClr val="accent3"/>
            </a:solidFill>
            <a:prstDash val="solid"/>
            <a:tailEnd type="triangle"/>
          </a:ln>
        </p:spPr>
      </p:sp>
      <p:sp>
        <p:nvSpPr>
          <p:cNvPr id="9" name="Process node 2"/>
          <p:cNvSpPr/>
          <p:nvPr/>
        </p:nvSpPr>
        <p:spPr>
          <a:xfrm>
            <a:off x="3389376" y="2286000"/>
            <a:ext cx="2468880" cy="1207008"/>
          </a:xfrm>
          <a:prstGeom prst="roundRect">
            <a:avLst>
              <a:gd name="adj" fmla="val 6061"/>
            </a:avLst>
          </a:prstGeom>
          <a:solidFill>
            <a:schemeClr val="bg2"/>
          </a:solidFill>
          <a:ln w="15875">
            <a:solidFill>
              <a:schemeClr val="accent3"/>
            </a:solidFill>
            <a:prstDash val="solid"/>
          </a:ln>
        </p:spPr>
      </p:sp>
      <p:sp>
        <p:nvSpPr>
          <p:cNvPr id="10" name="Process title 2"/>
          <p:cNvSpPr txBox="1"/>
          <p:nvPr/>
        </p:nvSpPr>
        <p:spPr>
          <a:xfrm>
            <a:off x="3499104" y="2377440"/>
            <a:ext cx="2249424" cy="420624"/>
          </a:xfrm>
          <a:prstGeom prst="rect">
            <a:avLst/>
          </a:prstGeom>
          <a:noFill/>
          <a:ln/>
        </p:spPr>
        <p:txBody>
          <a:bodyPr wrap="square" lIns="0" tIns="0" rIns="0" bIns="0" rtlCol="0" anchor="t"/>
          <a:lstStyle/>
          <a:p>
            <a:pPr marL="0" indent="0">
              <a:buNone/>
            </a:pPr>
            <a:r>
              <a:rPr lang="en-US" sz="1250" b="1" dirty="0">
                <a:solidFill>
                  <a:schemeClr val="accent3"/>
                </a:solidFill>
              </a:rPr>
              <a:t>2 · Humidity-controlled investigation</a:t>
            </a:r>
            <a:endParaRPr lang="en-US" sz="1250" dirty="0"/>
          </a:p>
        </p:txBody>
      </p:sp>
      <p:sp>
        <p:nvSpPr>
          <p:cNvPr id="11" name="Process sub 2"/>
          <p:cNvSpPr txBox="1"/>
          <p:nvPr/>
        </p:nvSpPr>
        <p:spPr>
          <a:xfrm>
            <a:off x="3499104" y="2816352"/>
            <a:ext cx="2249424" cy="365760"/>
          </a:xfrm>
          <a:prstGeom prst="rect">
            <a:avLst/>
          </a:prstGeom>
          <a:noFill/>
          <a:ln/>
        </p:spPr>
        <p:txBody>
          <a:bodyPr wrap="square" lIns="0" tIns="0" rIns="0" bIns="0" rtlCol="0" anchor="t"/>
          <a:lstStyle/>
          <a:p>
            <a:pPr marL="0" indent="0">
              <a:buNone/>
            </a:pPr>
            <a:r>
              <a:rPr lang="en-US" sz="1150" dirty="0">
                <a:solidFill>
                  <a:schemeClr val="tx2"/>
                </a:solidFill>
              </a:rPr>
              <a:t>Dry versus humid conditions</a:t>
            </a:r>
            <a:endParaRPr lang="en-US" sz="1150" dirty="0"/>
          </a:p>
        </p:txBody>
      </p:sp>
      <p:sp>
        <p:nvSpPr>
          <p:cNvPr id="12" name="Status node 2"/>
          <p:cNvSpPr/>
          <p:nvPr/>
        </p:nvSpPr>
        <p:spPr>
          <a:xfrm>
            <a:off x="3499104" y="3218688"/>
            <a:ext cx="731520" cy="237744"/>
          </a:xfrm>
          <a:prstGeom prst="roundRect">
            <a:avLst>
              <a:gd name="adj" fmla="val 50000"/>
            </a:avLst>
          </a:prstGeom>
          <a:solidFill>
            <a:srgbClr val="FFFFFF"/>
          </a:solidFill>
          <a:ln w="12700">
            <a:solidFill>
              <a:schemeClr val="accent6"/>
            </a:solidFill>
            <a:prstDash val="solid"/>
          </a:ln>
        </p:spPr>
      </p:sp>
      <p:sp>
        <p:nvSpPr>
          <p:cNvPr id="13" name="Status node 2 label"/>
          <p:cNvSpPr txBox="1"/>
          <p:nvPr/>
        </p:nvSpPr>
        <p:spPr>
          <a:xfrm>
            <a:off x="3499104" y="3218688"/>
            <a:ext cx="731520" cy="237744"/>
          </a:xfrm>
          <a:prstGeom prst="rect">
            <a:avLst/>
          </a:prstGeom>
          <a:noFill/>
          <a:ln/>
        </p:spPr>
        <p:txBody>
          <a:bodyPr wrap="square" lIns="0" tIns="0" rIns="0" bIns="0" rtlCol="0" anchor="ctr"/>
          <a:lstStyle/>
          <a:p>
            <a:pPr marL="0" indent="0" algn="ctr">
              <a:buNone/>
            </a:pPr>
            <a:r>
              <a:rPr lang="en-US" sz="1050" b="1" dirty="0">
                <a:solidFill>
                  <a:schemeClr val="accent6"/>
                </a:solidFill>
              </a:rPr>
              <a:t>Planned</a:t>
            </a:r>
            <a:endParaRPr lang="en-US" sz="1050" dirty="0"/>
          </a:p>
        </p:txBody>
      </p:sp>
      <p:sp>
        <p:nvSpPr>
          <p:cNvPr id="14" name="Process arrow 2"/>
          <p:cNvSpPr/>
          <p:nvPr/>
        </p:nvSpPr>
        <p:spPr>
          <a:xfrm>
            <a:off x="5913120" y="2889504"/>
            <a:ext cx="362712" cy="0"/>
          </a:xfrm>
          <a:prstGeom prst="line">
            <a:avLst/>
          </a:prstGeom>
          <a:noFill/>
          <a:ln w="28575">
            <a:solidFill>
              <a:schemeClr val="accent3"/>
            </a:solidFill>
            <a:prstDash val="solid"/>
            <a:tailEnd type="triangle"/>
          </a:ln>
        </p:spPr>
      </p:sp>
      <p:sp>
        <p:nvSpPr>
          <p:cNvPr id="15" name="Process node 3"/>
          <p:cNvSpPr/>
          <p:nvPr/>
        </p:nvSpPr>
        <p:spPr>
          <a:xfrm>
            <a:off x="6330696" y="2286000"/>
            <a:ext cx="2468880" cy="1207008"/>
          </a:xfrm>
          <a:prstGeom prst="roundRect">
            <a:avLst>
              <a:gd name="adj" fmla="val 6061"/>
            </a:avLst>
          </a:prstGeom>
          <a:solidFill>
            <a:schemeClr val="bg2"/>
          </a:solidFill>
          <a:ln w="15875">
            <a:solidFill>
              <a:schemeClr val="accent3"/>
            </a:solidFill>
            <a:prstDash val="solid"/>
          </a:ln>
        </p:spPr>
      </p:sp>
      <p:sp>
        <p:nvSpPr>
          <p:cNvPr id="16" name="Process title 3"/>
          <p:cNvSpPr txBox="1"/>
          <p:nvPr/>
        </p:nvSpPr>
        <p:spPr>
          <a:xfrm>
            <a:off x="6440424" y="2377440"/>
            <a:ext cx="2249424" cy="420624"/>
          </a:xfrm>
          <a:prstGeom prst="rect">
            <a:avLst/>
          </a:prstGeom>
          <a:noFill/>
          <a:ln/>
        </p:spPr>
        <p:txBody>
          <a:bodyPr wrap="square" lIns="0" tIns="0" rIns="0" bIns="0" rtlCol="0" anchor="t"/>
          <a:lstStyle/>
          <a:p>
            <a:pPr marL="0" indent="0">
              <a:buNone/>
            </a:pPr>
            <a:r>
              <a:rPr lang="en-US" sz="1250" b="1" dirty="0">
                <a:solidFill>
                  <a:schemeClr val="accent3"/>
                </a:solidFill>
              </a:rPr>
              <a:t>3 · Regeneration</a:t>
            </a:r>
            <a:endParaRPr lang="en-US" sz="1250" dirty="0"/>
          </a:p>
        </p:txBody>
      </p:sp>
      <p:sp>
        <p:nvSpPr>
          <p:cNvPr id="17" name="Process sub 3"/>
          <p:cNvSpPr txBox="1"/>
          <p:nvPr/>
        </p:nvSpPr>
        <p:spPr>
          <a:xfrm>
            <a:off x="6440424" y="2816352"/>
            <a:ext cx="2249424" cy="365760"/>
          </a:xfrm>
          <a:prstGeom prst="rect">
            <a:avLst/>
          </a:prstGeom>
          <a:noFill/>
          <a:ln/>
        </p:spPr>
        <p:txBody>
          <a:bodyPr wrap="square" lIns="0" tIns="0" rIns="0" bIns="0" rtlCol="0" anchor="t"/>
          <a:lstStyle/>
          <a:p>
            <a:pPr marL="0" indent="0">
              <a:buNone/>
            </a:pPr>
            <a:r>
              <a:rPr lang="en-US" sz="1150" dirty="0">
                <a:solidFill>
                  <a:schemeClr val="tx2"/>
                </a:solidFill>
              </a:rPr>
              <a:t>CO₂ release and recovery of the material</a:t>
            </a:r>
            <a:endParaRPr lang="en-US" sz="1150" dirty="0"/>
          </a:p>
        </p:txBody>
      </p:sp>
      <p:sp>
        <p:nvSpPr>
          <p:cNvPr id="18" name="Status node 3"/>
          <p:cNvSpPr/>
          <p:nvPr/>
        </p:nvSpPr>
        <p:spPr>
          <a:xfrm>
            <a:off x="6440424" y="3218688"/>
            <a:ext cx="731520" cy="237744"/>
          </a:xfrm>
          <a:prstGeom prst="roundRect">
            <a:avLst>
              <a:gd name="adj" fmla="val 50000"/>
            </a:avLst>
          </a:prstGeom>
          <a:solidFill>
            <a:srgbClr val="FFFFFF"/>
          </a:solidFill>
          <a:ln w="12700">
            <a:solidFill>
              <a:schemeClr val="accent6"/>
            </a:solidFill>
            <a:prstDash val="solid"/>
          </a:ln>
        </p:spPr>
      </p:sp>
      <p:sp>
        <p:nvSpPr>
          <p:cNvPr id="19" name="Status node 3 label"/>
          <p:cNvSpPr txBox="1"/>
          <p:nvPr/>
        </p:nvSpPr>
        <p:spPr>
          <a:xfrm>
            <a:off x="6440424" y="3218688"/>
            <a:ext cx="731520" cy="237744"/>
          </a:xfrm>
          <a:prstGeom prst="rect">
            <a:avLst/>
          </a:prstGeom>
          <a:noFill/>
          <a:ln/>
        </p:spPr>
        <p:txBody>
          <a:bodyPr wrap="square" lIns="0" tIns="0" rIns="0" bIns="0" rtlCol="0" anchor="ctr"/>
          <a:lstStyle/>
          <a:p>
            <a:pPr marL="0" indent="0" algn="ctr">
              <a:buNone/>
            </a:pPr>
            <a:r>
              <a:rPr lang="en-US" sz="1050" b="1" dirty="0">
                <a:solidFill>
                  <a:schemeClr val="accent6"/>
                </a:solidFill>
              </a:rPr>
              <a:t>Planned</a:t>
            </a:r>
            <a:endParaRPr lang="en-US" sz="1050" dirty="0"/>
          </a:p>
        </p:txBody>
      </p:sp>
      <p:sp>
        <p:nvSpPr>
          <p:cNvPr id="20" name="Process arrow 3"/>
          <p:cNvSpPr/>
          <p:nvPr/>
        </p:nvSpPr>
        <p:spPr>
          <a:xfrm>
            <a:off x="8854440" y="2889504"/>
            <a:ext cx="362712" cy="0"/>
          </a:xfrm>
          <a:prstGeom prst="line">
            <a:avLst/>
          </a:prstGeom>
          <a:noFill/>
          <a:ln w="28575">
            <a:solidFill>
              <a:schemeClr val="accent3"/>
            </a:solidFill>
            <a:prstDash val="solid"/>
            <a:tailEnd type="triangle"/>
          </a:ln>
        </p:spPr>
      </p:sp>
      <p:sp>
        <p:nvSpPr>
          <p:cNvPr id="21" name="Process node 4"/>
          <p:cNvSpPr/>
          <p:nvPr/>
        </p:nvSpPr>
        <p:spPr>
          <a:xfrm>
            <a:off x="9272016" y="2286000"/>
            <a:ext cx="2468880" cy="1207008"/>
          </a:xfrm>
          <a:prstGeom prst="roundRect">
            <a:avLst>
              <a:gd name="adj" fmla="val 6061"/>
            </a:avLst>
          </a:prstGeom>
          <a:solidFill>
            <a:schemeClr val="bg2"/>
          </a:solidFill>
          <a:ln w="15875">
            <a:solidFill>
              <a:schemeClr val="accent3"/>
            </a:solidFill>
            <a:prstDash val="solid"/>
          </a:ln>
        </p:spPr>
      </p:sp>
      <p:sp>
        <p:nvSpPr>
          <p:cNvPr id="22" name="Process title 4"/>
          <p:cNvSpPr txBox="1"/>
          <p:nvPr/>
        </p:nvSpPr>
        <p:spPr>
          <a:xfrm>
            <a:off x="9381744" y="2377440"/>
            <a:ext cx="2249424" cy="420624"/>
          </a:xfrm>
          <a:prstGeom prst="rect">
            <a:avLst/>
          </a:prstGeom>
          <a:noFill/>
          <a:ln/>
        </p:spPr>
        <p:txBody>
          <a:bodyPr wrap="square" lIns="0" tIns="0" rIns="0" bIns="0" rtlCol="0" anchor="t"/>
          <a:lstStyle/>
          <a:p>
            <a:pPr marL="0" indent="0">
              <a:buNone/>
            </a:pPr>
            <a:r>
              <a:rPr lang="en-US" sz="1250" b="1" dirty="0">
                <a:solidFill>
                  <a:schemeClr val="accent3"/>
                </a:solidFill>
              </a:rPr>
              <a:t>4 · Potential material reuse</a:t>
            </a:r>
            <a:endParaRPr lang="en-US" sz="1250" dirty="0"/>
          </a:p>
        </p:txBody>
      </p:sp>
      <p:sp>
        <p:nvSpPr>
          <p:cNvPr id="23" name="Process sub 4"/>
          <p:cNvSpPr txBox="1"/>
          <p:nvPr/>
        </p:nvSpPr>
        <p:spPr>
          <a:xfrm>
            <a:off x="9381744" y="2816352"/>
            <a:ext cx="2249424" cy="365760"/>
          </a:xfrm>
          <a:prstGeom prst="rect">
            <a:avLst/>
          </a:prstGeom>
          <a:noFill/>
          <a:ln/>
        </p:spPr>
        <p:txBody>
          <a:bodyPr wrap="square" lIns="0" tIns="0" rIns="0" bIns="0" rtlCol="0" anchor="t"/>
          <a:lstStyle/>
          <a:p>
            <a:pPr marL="0" indent="0">
              <a:buNone/>
            </a:pPr>
            <a:r>
              <a:rPr lang="en-US" sz="1150" dirty="0">
                <a:solidFill>
                  <a:schemeClr val="tx2"/>
                </a:solidFill>
              </a:rPr>
              <a:t>Repeated capture–regeneration cycles</a:t>
            </a:r>
            <a:endParaRPr lang="en-US" sz="1150" dirty="0"/>
          </a:p>
        </p:txBody>
      </p:sp>
      <p:sp>
        <p:nvSpPr>
          <p:cNvPr id="24" name="Status node 4"/>
          <p:cNvSpPr/>
          <p:nvPr/>
        </p:nvSpPr>
        <p:spPr>
          <a:xfrm>
            <a:off x="9381744" y="3218688"/>
            <a:ext cx="731520" cy="237744"/>
          </a:xfrm>
          <a:prstGeom prst="roundRect">
            <a:avLst>
              <a:gd name="adj" fmla="val 50000"/>
            </a:avLst>
          </a:prstGeom>
          <a:solidFill>
            <a:srgbClr val="FFFFFF"/>
          </a:solidFill>
          <a:ln w="12700">
            <a:solidFill>
              <a:schemeClr val="accent6"/>
            </a:solidFill>
            <a:prstDash val="solid"/>
          </a:ln>
        </p:spPr>
      </p:sp>
      <p:sp>
        <p:nvSpPr>
          <p:cNvPr id="25" name="Status node 4 label"/>
          <p:cNvSpPr txBox="1"/>
          <p:nvPr/>
        </p:nvSpPr>
        <p:spPr>
          <a:xfrm>
            <a:off x="9381744" y="3218688"/>
            <a:ext cx="731520" cy="237744"/>
          </a:xfrm>
          <a:prstGeom prst="rect">
            <a:avLst/>
          </a:prstGeom>
          <a:noFill/>
          <a:ln/>
        </p:spPr>
        <p:txBody>
          <a:bodyPr wrap="square" lIns="0" tIns="0" rIns="0" bIns="0" rtlCol="0" anchor="ctr"/>
          <a:lstStyle/>
          <a:p>
            <a:pPr marL="0" indent="0" algn="ctr">
              <a:buNone/>
            </a:pPr>
            <a:r>
              <a:rPr lang="en-US" sz="1050" b="1" dirty="0">
                <a:solidFill>
                  <a:schemeClr val="accent6"/>
                </a:solidFill>
              </a:rPr>
              <a:t>Planned</a:t>
            </a:r>
            <a:endParaRPr lang="en-US" sz="1050" dirty="0"/>
          </a:p>
        </p:txBody>
      </p:sp>
      <p:sp>
        <p:nvSpPr>
          <p:cNvPr id="26" name="Loop down"/>
          <p:cNvSpPr/>
          <p:nvPr/>
        </p:nvSpPr>
        <p:spPr>
          <a:xfrm>
            <a:off x="10506456" y="3493008"/>
            <a:ext cx="0" cy="201168"/>
          </a:xfrm>
          <a:prstGeom prst="line">
            <a:avLst/>
          </a:prstGeom>
          <a:noFill/>
          <a:ln w="19050">
            <a:solidFill>
              <a:schemeClr val="accent6"/>
            </a:solidFill>
            <a:prstDash val="dash"/>
          </a:ln>
        </p:spPr>
      </p:sp>
      <p:sp>
        <p:nvSpPr>
          <p:cNvPr id="27" name="Loop across"/>
          <p:cNvSpPr/>
          <p:nvPr/>
        </p:nvSpPr>
        <p:spPr>
          <a:xfrm>
            <a:off x="1682496" y="3694176"/>
            <a:ext cx="8823960" cy="0"/>
          </a:xfrm>
          <a:prstGeom prst="line">
            <a:avLst/>
          </a:prstGeom>
          <a:noFill/>
          <a:ln w="19050">
            <a:solidFill>
              <a:schemeClr val="accent6"/>
            </a:solidFill>
            <a:prstDash val="dash"/>
          </a:ln>
        </p:spPr>
      </p:sp>
      <p:sp>
        <p:nvSpPr>
          <p:cNvPr id="28" name="Loop up"/>
          <p:cNvSpPr/>
          <p:nvPr/>
        </p:nvSpPr>
        <p:spPr>
          <a:xfrm flipV="1">
            <a:off x="1682496" y="3493008"/>
            <a:ext cx="0" cy="201168"/>
          </a:xfrm>
          <a:prstGeom prst="line">
            <a:avLst/>
          </a:prstGeom>
          <a:noFill/>
          <a:ln w="19050">
            <a:solidFill>
              <a:schemeClr val="accent6"/>
            </a:solidFill>
            <a:prstDash val="dash"/>
            <a:tailEnd type="triangle"/>
          </a:ln>
        </p:spPr>
      </p:sp>
      <p:sp>
        <p:nvSpPr>
          <p:cNvPr id="29" name="Loop label"/>
          <p:cNvSpPr txBox="1"/>
          <p:nvPr/>
        </p:nvSpPr>
        <p:spPr>
          <a:xfrm>
            <a:off x="4494276" y="3584448"/>
            <a:ext cx="3200400" cy="219456"/>
          </a:xfrm>
          <a:prstGeom prst="rect">
            <a:avLst/>
          </a:prstGeom>
          <a:solidFill>
            <a:srgbClr val="FFFFFF"/>
          </a:solidFill>
          <a:ln/>
        </p:spPr>
        <p:txBody>
          <a:bodyPr wrap="square" lIns="0" tIns="0" rIns="0" bIns="0" rtlCol="0" anchor="ctr"/>
          <a:lstStyle/>
          <a:p>
            <a:pPr marL="0" indent="0" algn="ctr">
              <a:buNone/>
            </a:pPr>
            <a:r>
              <a:rPr lang="en-US" sz="1100" b="1" i="1" dirty="0">
                <a:solidFill>
                  <a:schemeClr val="accent6"/>
                </a:solidFill>
              </a:rPr>
              <a:t>Cycle repeated to assess reuse (planned)</a:t>
            </a:r>
            <a:endParaRPr lang="en-US" sz="1100" dirty="0"/>
          </a:p>
        </p:txBody>
      </p:sp>
      <p:sp>
        <p:nvSpPr>
          <p:cNvPr id="30" name="DRY CONDITION panel"/>
          <p:cNvSpPr/>
          <p:nvPr/>
        </p:nvSpPr>
        <p:spPr>
          <a:xfrm>
            <a:off x="448056" y="3840480"/>
            <a:ext cx="5029200" cy="987552"/>
          </a:xfrm>
          <a:prstGeom prst="roundRect">
            <a:avLst>
              <a:gd name="adj" fmla="val 7407"/>
            </a:avLst>
          </a:prstGeom>
          <a:solidFill>
            <a:srgbClr val="FFF0E6"/>
          </a:solidFill>
          <a:ln w="15875">
            <a:solidFill>
              <a:schemeClr val="accent2"/>
            </a:solidFill>
            <a:prstDash val="solid"/>
          </a:ln>
        </p:spPr>
      </p:sp>
      <p:sp>
        <p:nvSpPr>
          <p:cNvPr id="31" name="DRY CONDITION title"/>
          <p:cNvSpPr txBox="1"/>
          <p:nvPr/>
        </p:nvSpPr>
        <p:spPr>
          <a:xfrm>
            <a:off x="612648" y="3913632"/>
            <a:ext cx="4700016" cy="237744"/>
          </a:xfrm>
          <a:prstGeom prst="rect">
            <a:avLst/>
          </a:prstGeom>
          <a:noFill/>
          <a:ln/>
        </p:spPr>
        <p:txBody>
          <a:bodyPr wrap="square" lIns="0" tIns="0" rIns="0" bIns="0" rtlCol="0" anchor="ctr"/>
          <a:lstStyle/>
          <a:p>
            <a:pPr marL="0" indent="0">
              <a:buNone/>
            </a:pPr>
            <a:r>
              <a:rPr lang="en-US" sz="1200" b="1" kern="0" spc="100" dirty="0">
                <a:solidFill>
                  <a:srgbClr val="B8531A"/>
                </a:solidFill>
              </a:rPr>
              <a:t>DRY CONDITION</a:t>
            </a:r>
            <a:endParaRPr lang="en-US" sz="1200" dirty="0"/>
          </a:p>
        </p:txBody>
      </p:sp>
      <p:sp>
        <p:nvSpPr>
          <p:cNvPr id="32" name="DRY CONDITION text"/>
          <p:cNvSpPr txBox="1"/>
          <p:nvPr/>
        </p:nvSpPr>
        <p:spPr>
          <a:xfrm>
            <a:off x="612648" y="4178808"/>
            <a:ext cx="4700016" cy="256032"/>
          </a:xfrm>
          <a:prstGeom prst="rect">
            <a:avLst/>
          </a:prstGeom>
          <a:noFill/>
          <a:ln/>
        </p:spPr>
        <p:txBody>
          <a:bodyPr wrap="square" lIns="0" tIns="0" rIns="0" bIns="0" rtlCol="0" anchor="ctr"/>
          <a:lstStyle/>
          <a:p>
            <a:pPr marL="0" indent="0">
              <a:buNone/>
            </a:pPr>
            <a:r>
              <a:rPr lang="en-US" sz="1250" dirty="0">
                <a:solidFill>
                  <a:schemeClr val="tx2"/>
                </a:solidFill>
              </a:rPr>
              <a:t>Reference case without water vapor; conditions to be defined.</a:t>
            </a:r>
            <a:endParaRPr lang="en-US" sz="1250" dirty="0"/>
          </a:p>
        </p:txBody>
      </p:sp>
      <p:sp>
        <p:nvSpPr>
          <p:cNvPr id="33" name="DRY CONDITION sequence"/>
          <p:cNvSpPr txBox="1"/>
          <p:nvPr/>
        </p:nvSpPr>
        <p:spPr>
          <a:xfrm>
            <a:off x="612648" y="4480560"/>
            <a:ext cx="4700016" cy="256032"/>
          </a:xfrm>
          <a:prstGeom prst="rect">
            <a:avLst/>
          </a:prstGeom>
          <a:noFill/>
          <a:ln/>
        </p:spPr>
        <p:txBody>
          <a:bodyPr wrap="square" lIns="0" tIns="0" rIns="0" bIns="0" rtlCol="0" anchor="ctr"/>
          <a:lstStyle/>
          <a:p>
            <a:pPr marL="0" indent="0">
              <a:buNone/>
            </a:pPr>
            <a:r>
              <a:rPr lang="en-US" sz="1250" b="1" dirty="0">
                <a:solidFill>
                  <a:srgbClr val="B8531A"/>
                </a:solidFill>
              </a:rPr>
              <a:t>Adsorb CO₂  →  Regenerate  →  Compare</a:t>
            </a:r>
            <a:endParaRPr lang="en-US" sz="1250" dirty="0"/>
          </a:p>
        </p:txBody>
      </p:sp>
      <p:sp>
        <p:nvSpPr>
          <p:cNvPr id="34" name="HUMID CONDITION panel"/>
          <p:cNvSpPr/>
          <p:nvPr/>
        </p:nvSpPr>
        <p:spPr>
          <a:xfrm>
            <a:off x="6711696" y="3840480"/>
            <a:ext cx="5029200" cy="987552"/>
          </a:xfrm>
          <a:prstGeom prst="roundRect">
            <a:avLst>
              <a:gd name="adj" fmla="val 7407"/>
            </a:avLst>
          </a:prstGeom>
          <a:solidFill>
            <a:srgbClr val="E8F1FB"/>
          </a:solidFill>
          <a:ln w="15875">
            <a:solidFill>
              <a:schemeClr val="accent4"/>
            </a:solidFill>
            <a:prstDash val="solid"/>
          </a:ln>
        </p:spPr>
      </p:sp>
      <p:sp>
        <p:nvSpPr>
          <p:cNvPr id="35" name="HUMID CONDITION title"/>
          <p:cNvSpPr txBox="1"/>
          <p:nvPr/>
        </p:nvSpPr>
        <p:spPr>
          <a:xfrm>
            <a:off x="6876288" y="3913632"/>
            <a:ext cx="4700016" cy="237744"/>
          </a:xfrm>
          <a:prstGeom prst="rect">
            <a:avLst/>
          </a:prstGeom>
          <a:noFill/>
          <a:ln/>
        </p:spPr>
        <p:txBody>
          <a:bodyPr wrap="square" lIns="0" tIns="0" rIns="0" bIns="0" rtlCol="0" anchor="ctr"/>
          <a:lstStyle/>
          <a:p>
            <a:pPr marL="0" indent="0">
              <a:buNone/>
            </a:pPr>
            <a:r>
              <a:rPr lang="en-US" sz="1200" b="1" kern="0" spc="100" dirty="0">
                <a:solidFill>
                  <a:srgbClr val="2A6BB0"/>
                </a:solidFill>
              </a:rPr>
              <a:t>HUMID CONDITION</a:t>
            </a:r>
            <a:endParaRPr lang="en-US" sz="1200" dirty="0"/>
          </a:p>
        </p:txBody>
      </p:sp>
      <p:sp>
        <p:nvSpPr>
          <p:cNvPr id="36" name="HUMID CONDITION text"/>
          <p:cNvSpPr txBox="1"/>
          <p:nvPr/>
        </p:nvSpPr>
        <p:spPr>
          <a:xfrm>
            <a:off x="6876288" y="4178808"/>
            <a:ext cx="4700016" cy="256032"/>
          </a:xfrm>
          <a:prstGeom prst="rect">
            <a:avLst/>
          </a:prstGeom>
          <a:noFill/>
          <a:ln/>
        </p:spPr>
        <p:txBody>
          <a:bodyPr wrap="square" lIns="0" tIns="0" rIns="0" bIns="0" rtlCol="0" anchor="ctr"/>
          <a:lstStyle/>
          <a:p>
            <a:pPr marL="0" indent="0">
              <a:buNone/>
            </a:pPr>
            <a:r>
              <a:rPr lang="en-US" sz="1250" dirty="0">
                <a:solidFill>
                  <a:schemeClr val="tx2"/>
                </a:solidFill>
              </a:rPr>
              <a:t>Water vapor present, as in ambient air; conditions to be defined.</a:t>
            </a:r>
            <a:endParaRPr lang="en-US" sz="1250" dirty="0"/>
          </a:p>
        </p:txBody>
      </p:sp>
      <p:sp>
        <p:nvSpPr>
          <p:cNvPr id="37" name="HUMID CONDITION sequence"/>
          <p:cNvSpPr txBox="1"/>
          <p:nvPr/>
        </p:nvSpPr>
        <p:spPr>
          <a:xfrm>
            <a:off x="6876288" y="4480560"/>
            <a:ext cx="4700016" cy="256032"/>
          </a:xfrm>
          <a:prstGeom prst="rect">
            <a:avLst/>
          </a:prstGeom>
          <a:noFill/>
          <a:ln/>
        </p:spPr>
        <p:txBody>
          <a:bodyPr wrap="square" lIns="0" tIns="0" rIns="0" bIns="0" rtlCol="0" anchor="ctr"/>
          <a:lstStyle/>
          <a:p>
            <a:pPr marL="0" indent="0">
              <a:buNone/>
            </a:pPr>
            <a:r>
              <a:rPr lang="en-US" sz="1250" b="1" dirty="0">
                <a:solidFill>
                  <a:srgbClr val="2A6BB0"/>
                </a:solidFill>
              </a:rPr>
              <a:t>Adsorb CO₂  →  Regenerate  →  Compare</a:t>
            </a:r>
            <a:endParaRPr lang="en-US" sz="1250" dirty="0"/>
          </a:p>
        </p:txBody>
      </p:sp>
      <p:sp>
        <p:nvSpPr>
          <p:cNvPr id="38" name="vs circle"/>
          <p:cNvSpPr/>
          <p:nvPr/>
        </p:nvSpPr>
        <p:spPr>
          <a:xfrm>
            <a:off x="5820156" y="4059936"/>
            <a:ext cx="548640" cy="548640"/>
          </a:xfrm>
          <a:prstGeom prst="ellipse">
            <a:avLst/>
          </a:prstGeom>
          <a:solidFill>
            <a:schemeClr val="accent3"/>
          </a:solidFill>
          <a:ln w="12700">
            <a:solidFill>
              <a:schemeClr val="accent3"/>
            </a:solidFill>
            <a:prstDash val="solid"/>
          </a:ln>
        </p:spPr>
      </p:sp>
      <p:sp>
        <p:nvSpPr>
          <p:cNvPr id="39" name="vs label"/>
          <p:cNvSpPr txBox="1"/>
          <p:nvPr/>
        </p:nvSpPr>
        <p:spPr>
          <a:xfrm>
            <a:off x="5820156" y="4059936"/>
            <a:ext cx="548640" cy="548640"/>
          </a:xfrm>
          <a:prstGeom prst="rect">
            <a:avLst/>
          </a:prstGeom>
          <a:noFill/>
          <a:ln/>
        </p:spPr>
        <p:txBody>
          <a:bodyPr wrap="square" lIns="0" tIns="0" rIns="0" bIns="0" rtlCol="0" anchor="ctr"/>
          <a:lstStyle/>
          <a:p>
            <a:pPr marL="0" indent="0" algn="ctr">
              <a:buNone/>
            </a:pPr>
            <a:r>
              <a:rPr lang="en-US" sz="1500" b="1" dirty="0">
                <a:solidFill>
                  <a:srgbClr val="FFFFFF"/>
                </a:solidFill>
              </a:rPr>
              <a:t>vs</a:t>
            </a:r>
            <a:endParaRPr lang="en-US" sz="1500" dirty="0"/>
          </a:p>
        </p:txBody>
      </p:sp>
      <p:sp>
        <p:nvSpPr>
          <p:cNvPr id="40" name="Rationale card"/>
          <p:cNvSpPr/>
          <p:nvPr/>
        </p:nvSpPr>
        <p:spPr>
          <a:xfrm>
            <a:off x="448056" y="4937760"/>
            <a:ext cx="5532120" cy="1097280"/>
          </a:xfrm>
          <a:prstGeom prst="roundRect">
            <a:avLst>
              <a:gd name="adj" fmla="val 6667"/>
            </a:avLst>
          </a:prstGeom>
          <a:solidFill>
            <a:schemeClr val="bg2"/>
          </a:solidFill>
          <a:ln w="12700">
            <a:solidFill>
              <a:schemeClr val="bg2"/>
            </a:solidFill>
            <a:prstDash val="solid"/>
          </a:ln>
        </p:spPr>
      </p:sp>
      <p:sp>
        <p:nvSpPr>
          <p:cNvPr id="41" name="Rationale text"/>
          <p:cNvSpPr txBox="1"/>
          <p:nvPr/>
        </p:nvSpPr>
        <p:spPr>
          <a:xfrm>
            <a:off x="612648" y="5029200"/>
            <a:ext cx="5202936" cy="914400"/>
          </a:xfrm>
          <a:prstGeom prst="rect">
            <a:avLst/>
          </a:prstGeom>
          <a:noFill/>
          <a:ln/>
        </p:spPr>
        <p:txBody>
          <a:bodyPr wrap="square" lIns="0" tIns="0" rIns="0" bIns="0" rtlCol="0" anchor="t"/>
          <a:lstStyle/>
          <a:p>
            <a:pPr marL="0" indent="0">
              <a:spcAft>
                <a:spcPts val="400"/>
              </a:spcAft>
              <a:buNone/>
            </a:pPr>
            <a:r>
              <a:rPr lang="en-US" sz="1200" b="1" dirty="0">
                <a:solidFill>
                  <a:schemeClr val="accent3"/>
                </a:solidFill>
              </a:rPr>
              <a:t>Why test humidity: </a:t>
            </a:r>
            <a:r>
              <a:rPr lang="en-US" sz="1200" dirty="0">
                <a:solidFill>
                  <a:schemeClr val="tx2"/>
                </a:solidFill>
              </a:rPr>
              <a:t>ambient air contains water vapor, which may change how the MOF interacts with CO₂; the effect must be measured, not assumed.</a:t>
            </a:r>
            <a:endParaRPr lang="en-US" sz="1200" dirty="0"/>
          </a:p>
          <a:p>
            <a:pPr marL="0" indent="0">
              <a:spcAft>
                <a:spcPts val="400"/>
              </a:spcAft>
              <a:buNone/>
            </a:pPr>
            <a:r>
              <a:rPr lang="en-US" sz="1200" b="1" dirty="0">
                <a:solidFill>
                  <a:schemeClr val="accent3"/>
                </a:solidFill>
              </a:rPr>
              <a:t>Why regenerate: </a:t>
            </a:r>
            <a:r>
              <a:rPr lang="en-US" sz="1200" dirty="0">
                <a:solidFill>
                  <a:schemeClr val="tx2"/>
                </a:solidFill>
              </a:rPr>
              <a:t>reuse requires that CO₂ can be released and the material recovered.</a:t>
            </a:r>
            <a:endParaRPr lang="en-US" sz="1200" dirty="0"/>
          </a:p>
        </p:txBody>
      </p:sp>
      <p:sp>
        <p:nvSpPr>
          <p:cNvPr id="42" name="Status card"/>
          <p:cNvSpPr/>
          <p:nvPr/>
        </p:nvSpPr>
        <p:spPr>
          <a:xfrm>
            <a:off x="6208776" y="4937760"/>
            <a:ext cx="5532120" cy="1097280"/>
          </a:xfrm>
          <a:prstGeom prst="roundRect">
            <a:avLst>
              <a:gd name="adj" fmla="val 6667"/>
            </a:avLst>
          </a:prstGeom>
          <a:solidFill>
            <a:schemeClr val="bg2"/>
          </a:solidFill>
          <a:ln w="12700">
            <a:solidFill>
              <a:schemeClr val="bg2"/>
            </a:solidFill>
            <a:prstDash val="solid"/>
          </a:ln>
        </p:spPr>
      </p:sp>
      <p:sp>
        <p:nvSpPr>
          <p:cNvPr id="43" name="Status completed"/>
          <p:cNvSpPr/>
          <p:nvPr/>
        </p:nvSpPr>
        <p:spPr>
          <a:xfrm>
            <a:off x="6373368" y="5047488"/>
            <a:ext cx="960120" cy="237744"/>
          </a:xfrm>
          <a:prstGeom prst="roundRect">
            <a:avLst>
              <a:gd name="adj" fmla="val 50000"/>
            </a:avLst>
          </a:prstGeom>
          <a:solidFill>
            <a:schemeClr val="accent3"/>
          </a:solidFill>
          <a:ln w="12700">
            <a:solidFill>
              <a:schemeClr val="accent3"/>
            </a:solidFill>
            <a:prstDash val="solid"/>
          </a:ln>
        </p:spPr>
      </p:sp>
      <p:sp>
        <p:nvSpPr>
          <p:cNvPr id="44" name="Status completed label"/>
          <p:cNvSpPr txBox="1"/>
          <p:nvPr/>
        </p:nvSpPr>
        <p:spPr>
          <a:xfrm>
            <a:off x="6373368" y="5047488"/>
            <a:ext cx="960120" cy="237744"/>
          </a:xfrm>
          <a:prstGeom prst="rect">
            <a:avLst/>
          </a:prstGeom>
          <a:noFill/>
          <a:ln/>
        </p:spPr>
        <p:txBody>
          <a:bodyPr wrap="square" lIns="0" tIns="0" rIns="0" bIns="0" rtlCol="0" anchor="ctr"/>
          <a:lstStyle/>
          <a:p>
            <a:pPr marL="0" indent="0" algn="ctr">
              <a:buNone/>
            </a:pPr>
            <a:r>
              <a:rPr lang="en-US" sz="1050" b="1" dirty="0">
                <a:solidFill>
                  <a:srgbClr val="FFFFFF"/>
                </a:solidFill>
              </a:rPr>
              <a:t>Completed</a:t>
            </a:r>
            <a:endParaRPr lang="en-US" sz="1050" dirty="0"/>
          </a:p>
        </p:txBody>
      </p:sp>
      <p:sp>
        <p:nvSpPr>
          <p:cNvPr id="45" name="Completed text"/>
          <p:cNvSpPr txBox="1"/>
          <p:nvPr/>
        </p:nvSpPr>
        <p:spPr>
          <a:xfrm>
            <a:off x="7470648" y="5038344"/>
            <a:ext cx="4114800" cy="256032"/>
          </a:xfrm>
          <a:prstGeom prst="rect">
            <a:avLst/>
          </a:prstGeom>
          <a:noFill/>
          <a:ln/>
        </p:spPr>
        <p:txBody>
          <a:bodyPr wrap="square" lIns="0" tIns="0" rIns="0" bIns="0" rtlCol="0" anchor="ctr"/>
          <a:lstStyle/>
          <a:p>
            <a:pPr marL="0" indent="0">
              <a:buNone/>
            </a:pPr>
            <a:r>
              <a:rPr lang="en-US" sz="1200" dirty="0">
                <a:solidFill>
                  <a:schemeClr val="tx2"/>
                </a:solidFill>
              </a:rPr>
              <a:t>Synthesis, XRD, FTIR (material characterization only)</a:t>
            </a:r>
            <a:endParaRPr lang="en-US" sz="1200" dirty="0"/>
          </a:p>
        </p:txBody>
      </p:sp>
      <p:sp>
        <p:nvSpPr>
          <p:cNvPr id="46" name="Status planned"/>
          <p:cNvSpPr/>
          <p:nvPr/>
        </p:nvSpPr>
        <p:spPr>
          <a:xfrm>
            <a:off x="6373368" y="5394960"/>
            <a:ext cx="960120" cy="237744"/>
          </a:xfrm>
          <a:prstGeom prst="roundRect">
            <a:avLst>
              <a:gd name="adj" fmla="val 50000"/>
            </a:avLst>
          </a:prstGeom>
          <a:solidFill>
            <a:srgbClr val="FFFFFF"/>
          </a:solidFill>
          <a:ln w="12700">
            <a:solidFill>
              <a:schemeClr val="accent6"/>
            </a:solidFill>
            <a:prstDash val="solid"/>
          </a:ln>
        </p:spPr>
      </p:sp>
      <p:sp>
        <p:nvSpPr>
          <p:cNvPr id="47" name="Status planned label"/>
          <p:cNvSpPr txBox="1"/>
          <p:nvPr/>
        </p:nvSpPr>
        <p:spPr>
          <a:xfrm>
            <a:off x="6373368" y="5394960"/>
            <a:ext cx="960120" cy="237744"/>
          </a:xfrm>
          <a:prstGeom prst="rect">
            <a:avLst/>
          </a:prstGeom>
          <a:noFill/>
          <a:ln/>
        </p:spPr>
        <p:txBody>
          <a:bodyPr wrap="square" lIns="0" tIns="0" rIns="0" bIns="0" rtlCol="0" anchor="ctr"/>
          <a:lstStyle/>
          <a:p>
            <a:pPr marL="0" indent="0" algn="ctr">
              <a:buNone/>
            </a:pPr>
            <a:r>
              <a:rPr lang="en-US" sz="1050" b="1" dirty="0">
                <a:solidFill>
                  <a:schemeClr val="accent6"/>
                </a:solidFill>
              </a:rPr>
              <a:t>Planned</a:t>
            </a:r>
            <a:endParaRPr lang="en-US" sz="1050" dirty="0"/>
          </a:p>
        </p:txBody>
      </p:sp>
      <p:sp>
        <p:nvSpPr>
          <p:cNvPr id="48" name="Planned text"/>
          <p:cNvSpPr txBox="1"/>
          <p:nvPr/>
        </p:nvSpPr>
        <p:spPr>
          <a:xfrm>
            <a:off x="7470648" y="5385816"/>
            <a:ext cx="4114800" cy="256032"/>
          </a:xfrm>
          <a:prstGeom prst="rect">
            <a:avLst/>
          </a:prstGeom>
          <a:noFill/>
          <a:ln/>
        </p:spPr>
        <p:txBody>
          <a:bodyPr wrap="square" lIns="0" tIns="0" rIns="0" bIns="0" rtlCol="0" anchor="ctr"/>
          <a:lstStyle/>
          <a:p>
            <a:pPr marL="0" indent="0">
              <a:buNone/>
            </a:pPr>
            <a:r>
              <a:rPr lang="en-US" sz="1200" dirty="0">
                <a:solidFill>
                  <a:schemeClr val="tx2"/>
                </a:solidFill>
              </a:rPr>
              <a:t>CO₂ adsorption, dry vs humid tests, regeneration, cycling</a:t>
            </a:r>
            <a:endParaRPr lang="en-US" sz="1200" dirty="0"/>
          </a:p>
        </p:txBody>
      </p:sp>
      <p:sp>
        <p:nvSpPr>
          <p:cNvPr id="49" name="Not yet text"/>
          <p:cNvSpPr txBox="1"/>
          <p:nvPr/>
        </p:nvSpPr>
        <p:spPr>
          <a:xfrm>
            <a:off x="6373368" y="5724144"/>
            <a:ext cx="5202936" cy="237744"/>
          </a:xfrm>
          <a:prstGeom prst="rect">
            <a:avLst/>
          </a:prstGeom>
          <a:noFill/>
          <a:ln/>
        </p:spPr>
        <p:txBody>
          <a:bodyPr wrap="square" lIns="0" tIns="0" rIns="0" bIns="0" rtlCol="0" anchor="ctr"/>
          <a:lstStyle/>
          <a:p>
            <a:pPr marL="0" indent="0">
              <a:buNone/>
            </a:pPr>
            <a:r>
              <a:rPr lang="en-US" sz="1100" i="1" dirty="0">
                <a:solidFill>
                  <a:schemeClr val="accent5"/>
                </a:solidFill>
              </a:rPr>
              <a:t>Not yet demonstrated: CO₂ capacity, humidity response, regeneration</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lide title"/>
          <p:cNvSpPr txBox="1"/>
          <p:nvPr/>
        </p:nvSpPr>
        <p:spPr>
          <a:xfrm>
            <a:off x="448056" y="1700784"/>
            <a:ext cx="11292840" cy="502920"/>
          </a:xfrm>
          <a:prstGeom prst="rect">
            <a:avLst/>
          </a:prstGeom>
          <a:noFill/>
          <a:ln/>
        </p:spPr>
        <p:txBody>
          <a:bodyPr wrap="square" lIns="0" tIns="0" rIns="0" bIns="0" rtlCol="0" anchor="ctr"/>
          <a:lstStyle/>
          <a:p>
            <a:pPr marL="0" indent="0" algn="l">
              <a:buNone/>
            </a:pPr>
            <a:r>
              <a:rPr lang="en-US" sz="2600" b="1" dirty="0">
                <a:solidFill>
                  <a:schemeClr val="accent3"/>
                </a:solidFill>
              </a:rPr>
              <a:t>Current Findings, Future Work and Expected Outcomes</a:t>
            </a:r>
            <a:endParaRPr lang="en-US" sz="2600" dirty="0"/>
          </a:p>
        </p:txBody>
      </p:sp>
      <p:sp>
        <p:nvSpPr>
          <p:cNvPr id="3" name="Column body 1"/>
          <p:cNvSpPr/>
          <p:nvPr/>
        </p:nvSpPr>
        <p:spPr>
          <a:xfrm>
            <a:off x="448056" y="2286000"/>
            <a:ext cx="3630168" cy="3154680"/>
          </a:xfrm>
          <a:prstGeom prst="roundRect">
            <a:avLst>
              <a:gd name="adj" fmla="val 2319"/>
            </a:avLst>
          </a:prstGeom>
          <a:solidFill>
            <a:schemeClr val="bg2"/>
          </a:solidFill>
          <a:ln w="12700">
            <a:solidFill>
              <a:schemeClr val="bg2"/>
            </a:solidFill>
            <a:prstDash val="solid"/>
          </a:ln>
        </p:spPr>
      </p:sp>
      <p:sp>
        <p:nvSpPr>
          <p:cNvPr id="4" name="Column header 1"/>
          <p:cNvSpPr/>
          <p:nvPr/>
        </p:nvSpPr>
        <p:spPr>
          <a:xfrm>
            <a:off x="448056" y="2286000"/>
            <a:ext cx="3630168" cy="457200"/>
          </a:xfrm>
          <a:prstGeom prst="roundRect">
            <a:avLst>
              <a:gd name="adj" fmla="val 16000"/>
            </a:avLst>
          </a:prstGeom>
          <a:solidFill>
            <a:schemeClr val="accent3"/>
          </a:solidFill>
          <a:ln w="12700">
            <a:solidFill>
              <a:schemeClr val="accent3"/>
            </a:solidFill>
            <a:prstDash val="solid"/>
          </a:ln>
        </p:spPr>
      </p:sp>
      <p:sp>
        <p:nvSpPr>
          <p:cNvPr id="5" name="Column title 1"/>
          <p:cNvSpPr txBox="1"/>
          <p:nvPr/>
        </p:nvSpPr>
        <p:spPr>
          <a:xfrm>
            <a:off x="630936" y="2286000"/>
            <a:ext cx="3264408" cy="457200"/>
          </a:xfrm>
          <a:prstGeom prst="rect">
            <a:avLst/>
          </a:prstGeom>
          <a:noFill/>
          <a:ln/>
        </p:spPr>
        <p:txBody>
          <a:bodyPr wrap="square" lIns="0" tIns="0" rIns="0" bIns="0" rtlCol="0" anchor="ctr"/>
          <a:lstStyle/>
          <a:p>
            <a:pPr marL="0" indent="0">
              <a:buNone/>
            </a:pPr>
            <a:r>
              <a:rPr lang="en-US" sz="1600" b="1" dirty="0">
                <a:solidFill>
                  <a:srgbClr val="FFFFFF"/>
                </a:solidFill>
              </a:rPr>
              <a:t>A · Current findings</a:t>
            </a:r>
            <a:endParaRPr lang="en-US" sz="1600" dirty="0"/>
          </a:p>
        </p:txBody>
      </p:sp>
      <p:sp>
        <p:nvSpPr>
          <p:cNvPr id="6" name="Column label 1"/>
          <p:cNvSpPr txBox="1"/>
          <p:nvPr/>
        </p:nvSpPr>
        <p:spPr>
          <a:xfrm>
            <a:off x="630936" y="2834640"/>
            <a:ext cx="3264408" cy="201168"/>
          </a:xfrm>
          <a:prstGeom prst="rect">
            <a:avLst/>
          </a:prstGeom>
          <a:noFill/>
          <a:ln/>
        </p:spPr>
        <p:txBody>
          <a:bodyPr wrap="square" lIns="0" tIns="0" rIns="0" bIns="0" rtlCol="0" anchor="t"/>
          <a:lstStyle/>
          <a:p>
            <a:pPr marL="0" indent="0">
              <a:buNone/>
            </a:pPr>
            <a:r>
              <a:rPr lang="en-US" sz="1050" b="1" kern="0" spc="50" dirty="0">
                <a:solidFill>
                  <a:schemeClr val="accent3"/>
                </a:solidFill>
              </a:rPr>
              <a:t>SUPPORTED BY CURRENT DATA</a:t>
            </a:r>
            <a:endParaRPr lang="en-US" sz="1050" dirty="0"/>
          </a:p>
        </p:txBody>
      </p:sp>
      <p:sp>
        <p:nvSpPr>
          <p:cNvPr id="7" name="Column body 2"/>
          <p:cNvSpPr/>
          <p:nvPr/>
        </p:nvSpPr>
        <p:spPr>
          <a:xfrm>
            <a:off x="4279392" y="2286000"/>
            <a:ext cx="3630168" cy="3154680"/>
          </a:xfrm>
          <a:prstGeom prst="roundRect">
            <a:avLst>
              <a:gd name="adj" fmla="val 2319"/>
            </a:avLst>
          </a:prstGeom>
          <a:solidFill>
            <a:schemeClr val="bg2"/>
          </a:solidFill>
          <a:ln w="12700">
            <a:solidFill>
              <a:schemeClr val="bg2"/>
            </a:solidFill>
            <a:prstDash val="solid"/>
          </a:ln>
        </p:spPr>
      </p:sp>
      <p:sp>
        <p:nvSpPr>
          <p:cNvPr id="8" name="Column header 2"/>
          <p:cNvSpPr/>
          <p:nvPr/>
        </p:nvSpPr>
        <p:spPr>
          <a:xfrm>
            <a:off x="4279392" y="2286000"/>
            <a:ext cx="3630168" cy="457200"/>
          </a:xfrm>
          <a:prstGeom prst="roundRect">
            <a:avLst>
              <a:gd name="adj" fmla="val 16000"/>
            </a:avLst>
          </a:prstGeom>
          <a:solidFill>
            <a:schemeClr val="accent4"/>
          </a:solidFill>
          <a:ln w="12700">
            <a:solidFill>
              <a:schemeClr val="accent4"/>
            </a:solidFill>
            <a:prstDash val="solid"/>
          </a:ln>
        </p:spPr>
      </p:sp>
      <p:sp>
        <p:nvSpPr>
          <p:cNvPr id="9" name="Column title 2"/>
          <p:cNvSpPr txBox="1"/>
          <p:nvPr/>
        </p:nvSpPr>
        <p:spPr>
          <a:xfrm>
            <a:off x="4462272" y="2286000"/>
            <a:ext cx="3264408" cy="457200"/>
          </a:xfrm>
          <a:prstGeom prst="rect">
            <a:avLst/>
          </a:prstGeom>
          <a:noFill/>
          <a:ln/>
        </p:spPr>
        <p:txBody>
          <a:bodyPr wrap="square" lIns="0" tIns="0" rIns="0" bIns="0" rtlCol="0" anchor="ctr"/>
          <a:lstStyle/>
          <a:p>
            <a:pPr marL="0" indent="0">
              <a:buNone/>
            </a:pPr>
            <a:r>
              <a:rPr lang="en-US" sz="1600" b="1" dirty="0">
                <a:solidFill>
                  <a:srgbClr val="FFFFFF"/>
                </a:solidFill>
              </a:rPr>
              <a:t>B · Future work</a:t>
            </a:r>
            <a:endParaRPr lang="en-US" sz="1600" dirty="0"/>
          </a:p>
        </p:txBody>
      </p:sp>
      <p:sp>
        <p:nvSpPr>
          <p:cNvPr id="10" name="Column label 2"/>
          <p:cNvSpPr txBox="1"/>
          <p:nvPr/>
        </p:nvSpPr>
        <p:spPr>
          <a:xfrm>
            <a:off x="4462272" y="2834640"/>
            <a:ext cx="3264408" cy="201168"/>
          </a:xfrm>
          <a:prstGeom prst="rect">
            <a:avLst/>
          </a:prstGeom>
          <a:noFill/>
          <a:ln/>
        </p:spPr>
        <p:txBody>
          <a:bodyPr wrap="square" lIns="0" tIns="0" rIns="0" bIns="0" rtlCol="0" anchor="t"/>
          <a:lstStyle/>
          <a:p>
            <a:pPr marL="0" indent="0">
              <a:buNone/>
            </a:pPr>
            <a:r>
              <a:rPr lang="en-US" sz="1050" b="1" kern="0" spc="50" dirty="0">
                <a:solidFill>
                  <a:srgbClr val="2A6BB0"/>
                </a:solidFill>
              </a:rPr>
              <a:t>PLANNED — NOT YET PERFORMED</a:t>
            </a:r>
            <a:endParaRPr lang="en-US" sz="1050" dirty="0"/>
          </a:p>
        </p:txBody>
      </p:sp>
      <p:sp>
        <p:nvSpPr>
          <p:cNvPr id="11" name="Column body 3"/>
          <p:cNvSpPr/>
          <p:nvPr/>
        </p:nvSpPr>
        <p:spPr>
          <a:xfrm>
            <a:off x="8110728" y="2286000"/>
            <a:ext cx="3630168" cy="3154680"/>
          </a:xfrm>
          <a:prstGeom prst="roundRect">
            <a:avLst>
              <a:gd name="adj" fmla="val 2319"/>
            </a:avLst>
          </a:prstGeom>
          <a:solidFill>
            <a:schemeClr val="bg2"/>
          </a:solidFill>
          <a:ln w="12700">
            <a:solidFill>
              <a:schemeClr val="bg2"/>
            </a:solidFill>
            <a:prstDash val="solid"/>
          </a:ln>
        </p:spPr>
      </p:sp>
      <p:sp>
        <p:nvSpPr>
          <p:cNvPr id="12" name="Column header 3"/>
          <p:cNvSpPr/>
          <p:nvPr/>
        </p:nvSpPr>
        <p:spPr>
          <a:xfrm>
            <a:off x="8110728" y="2286000"/>
            <a:ext cx="3630168" cy="457200"/>
          </a:xfrm>
          <a:prstGeom prst="roundRect">
            <a:avLst>
              <a:gd name="adj" fmla="val 16000"/>
            </a:avLst>
          </a:prstGeom>
          <a:solidFill>
            <a:schemeClr val="accent2"/>
          </a:solidFill>
          <a:ln w="12700">
            <a:solidFill>
              <a:schemeClr val="accent2"/>
            </a:solidFill>
            <a:prstDash val="solid"/>
          </a:ln>
        </p:spPr>
      </p:sp>
      <p:sp>
        <p:nvSpPr>
          <p:cNvPr id="13" name="Column title 3"/>
          <p:cNvSpPr txBox="1"/>
          <p:nvPr/>
        </p:nvSpPr>
        <p:spPr>
          <a:xfrm>
            <a:off x="8293608" y="2286000"/>
            <a:ext cx="3264408" cy="457200"/>
          </a:xfrm>
          <a:prstGeom prst="rect">
            <a:avLst/>
          </a:prstGeom>
          <a:noFill/>
          <a:ln/>
        </p:spPr>
        <p:txBody>
          <a:bodyPr wrap="square" lIns="0" tIns="0" rIns="0" bIns="0" rtlCol="0" anchor="ctr"/>
          <a:lstStyle/>
          <a:p>
            <a:pPr marL="0" indent="0">
              <a:buNone/>
            </a:pPr>
            <a:r>
              <a:rPr lang="en-US" sz="1600" b="1" dirty="0">
                <a:solidFill>
                  <a:srgbClr val="FFFFFF"/>
                </a:solidFill>
              </a:rPr>
              <a:t>C · Expected outcomes</a:t>
            </a:r>
            <a:endParaRPr lang="en-US" sz="1600" dirty="0"/>
          </a:p>
        </p:txBody>
      </p:sp>
      <p:sp>
        <p:nvSpPr>
          <p:cNvPr id="14" name="Column label 3"/>
          <p:cNvSpPr txBox="1"/>
          <p:nvPr/>
        </p:nvSpPr>
        <p:spPr>
          <a:xfrm>
            <a:off x="8293608" y="2834640"/>
            <a:ext cx="3264408" cy="201168"/>
          </a:xfrm>
          <a:prstGeom prst="rect">
            <a:avLst/>
          </a:prstGeom>
          <a:noFill/>
          <a:ln/>
        </p:spPr>
        <p:txBody>
          <a:bodyPr wrap="square" lIns="0" tIns="0" rIns="0" bIns="0" rtlCol="0" anchor="t"/>
          <a:lstStyle/>
          <a:p>
            <a:pPr marL="0" indent="0">
              <a:buNone/>
            </a:pPr>
            <a:r>
              <a:rPr lang="en-US" sz="1050" b="1" kern="0" spc="50" dirty="0">
                <a:solidFill>
                  <a:srgbClr val="B8531A"/>
                </a:solidFill>
              </a:rPr>
              <a:t>EXPECTED — NOT CONFIRMED RESULTS</a:t>
            </a:r>
            <a:endParaRPr lang="en-US" sz="1050" dirty="0"/>
          </a:p>
        </p:txBody>
      </p:sp>
      <p:sp>
        <p:nvSpPr>
          <p:cNvPr id="15" name="Findings text"/>
          <p:cNvSpPr txBox="1"/>
          <p:nvPr/>
        </p:nvSpPr>
        <p:spPr>
          <a:xfrm>
            <a:off x="630936" y="3090672"/>
            <a:ext cx="3264408" cy="2286000"/>
          </a:xfrm>
          <a:prstGeom prst="rect">
            <a:avLst/>
          </a:prstGeom>
          <a:noFill/>
          <a:ln/>
        </p:spPr>
        <p:txBody>
          <a:bodyPr wrap="square" lIns="0" tIns="0" rIns="0" bIns="0" rtlCol="0" anchor="t"/>
          <a:lstStyle/>
          <a:p>
            <a:pPr marL="0" indent="0">
              <a:spcAft>
                <a:spcPts val="700"/>
              </a:spcAft>
              <a:buNone/>
            </a:pPr>
            <a:r>
              <a:rPr lang="en-US" sz="1250" b="1" dirty="0">
                <a:solidFill>
                  <a:schemeClr val="accent3"/>
                </a:solidFill>
              </a:rPr>
              <a:t>XRD: </a:t>
            </a:r>
            <a:r>
              <a:rPr lang="en-US" sz="1250" dirty="0">
                <a:solidFill>
                  <a:schemeClr val="tx2"/>
                </a:solidFill>
              </a:rPr>
              <a:t>defined peaks at ~9.36°, 12.10°, 17.56° and reflections at ~24.34°, 26.08° support a crystalline material</a:t>
            </a:r>
            <a:endParaRPr lang="en-US" sz="1250" dirty="0"/>
          </a:p>
          <a:p>
            <a:pPr marL="0" indent="0">
              <a:spcAft>
                <a:spcPts val="700"/>
              </a:spcAft>
              <a:buNone/>
            </a:pPr>
            <a:r>
              <a:rPr lang="en-US" sz="1250" b="1" dirty="0">
                <a:solidFill>
                  <a:schemeClr val="accent3"/>
                </a:solidFill>
              </a:rPr>
              <a:t>FTIR: </a:t>
            </a:r>
            <a:r>
              <a:rPr lang="en-US" sz="1250" dirty="0">
                <a:solidFill>
                  <a:schemeClr val="tx2"/>
                </a:solidFill>
              </a:rPr>
              <a:t>strong bands at ~1600 and ~1400 cm⁻¹ support carboxylate–metal coordination</a:t>
            </a:r>
            <a:endParaRPr lang="en-US" sz="1250" dirty="0"/>
          </a:p>
          <a:p>
            <a:pPr marL="0" indent="0">
              <a:spcAft>
                <a:spcPts val="700"/>
              </a:spcAft>
              <a:buNone/>
            </a:pPr>
            <a:r>
              <a:rPr lang="en-US" sz="1250" b="1" dirty="0">
                <a:solidFill>
                  <a:schemeClr val="accent3"/>
                </a:solidFill>
              </a:rPr>
              <a:t>Samples: </a:t>
            </a:r>
            <a:r>
              <a:rPr lang="en-US" sz="1250" dirty="0">
                <a:solidFill>
                  <a:schemeClr val="tx2"/>
                </a:solidFill>
              </a:rPr>
              <a:t>12 synthesized; white crystalline solids in all</a:t>
            </a:r>
            <a:endParaRPr lang="en-US" sz="1250" dirty="0"/>
          </a:p>
          <a:p>
            <a:pPr marL="0" indent="0">
              <a:spcAft>
                <a:spcPts val="700"/>
              </a:spcAft>
              <a:buNone/>
            </a:pPr>
            <a:r>
              <a:rPr lang="en-US" sz="1250" b="1" i="1" dirty="0">
                <a:solidFill>
                  <a:schemeClr val="accent5"/>
                </a:solidFill>
              </a:rPr>
              <a:t>Not yet shown: CO₂ capacity, humidity response, regeneration</a:t>
            </a:r>
            <a:endParaRPr lang="en-US" sz="1250" dirty="0"/>
          </a:p>
        </p:txBody>
      </p:sp>
      <p:sp>
        <p:nvSpPr>
          <p:cNvPr id="16" name="Future work text"/>
          <p:cNvSpPr txBox="1"/>
          <p:nvPr/>
        </p:nvSpPr>
        <p:spPr>
          <a:xfrm>
            <a:off x="4462272" y="3090672"/>
            <a:ext cx="3264408" cy="2286000"/>
          </a:xfrm>
          <a:prstGeom prst="rect">
            <a:avLst/>
          </a:prstGeom>
          <a:noFill/>
          <a:ln/>
        </p:spPr>
        <p:txBody>
          <a:bodyPr wrap="square" lIns="0" tIns="0" rIns="0" bIns="0" rtlCol="0" anchor="t"/>
          <a:lstStyle/>
          <a:p>
            <a:pPr marL="342900" indent="-342900">
              <a:spcAft>
                <a:spcPts val="700"/>
              </a:spcAft>
              <a:buSzPct val="100000"/>
              <a:buFont typeface="+mj-lt"/>
              <a:buAutoNum type="arabicPeriod"/>
            </a:pPr>
            <a:r>
              <a:rPr lang="en-US" sz="1350" dirty="0">
                <a:solidFill>
                  <a:schemeClr val="tx2"/>
                </a:solidFill>
              </a:rPr>
              <a:t>Further structural and chemical characterization, if needed</a:t>
            </a:r>
            <a:endParaRPr lang="en-US" sz="1350" dirty="0"/>
          </a:p>
          <a:p>
            <a:pPr marL="342900" indent="-342900">
              <a:spcAft>
                <a:spcPts val="700"/>
              </a:spcAft>
              <a:buSzPct val="100000"/>
              <a:buFont typeface="+mj-lt"/>
              <a:buAutoNum type="arabicPeriod"/>
            </a:pPr>
            <a:r>
              <a:rPr lang="en-US" sz="1350" dirty="0">
                <a:solidFill>
                  <a:schemeClr val="tx2"/>
                </a:solidFill>
              </a:rPr>
              <a:t>CO₂ adsorption evaluation</a:t>
            </a:r>
            <a:endParaRPr lang="en-US" sz="1350" dirty="0"/>
          </a:p>
          <a:p>
            <a:pPr marL="342900" indent="-342900">
              <a:spcAft>
                <a:spcPts val="700"/>
              </a:spcAft>
              <a:buSzPct val="100000"/>
              <a:buFont typeface="+mj-lt"/>
              <a:buAutoNum type="arabicPeriod"/>
            </a:pPr>
            <a:r>
              <a:rPr lang="en-US" sz="1350" dirty="0">
                <a:solidFill>
                  <a:schemeClr val="tx2"/>
                </a:solidFill>
              </a:rPr>
              <a:t>Controlled dry-versus-humid experiments</a:t>
            </a:r>
            <a:endParaRPr lang="en-US" sz="1350" dirty="0"/>
          </a:p>
          <a:p>
            <a:pPr marL="342900" indent="-342900">
              <a:spcAft>
                <a:spcPts val="700"/>
              </a:spcAft>
              <a:buSzPct val="100000"/>
              <a:buFont typeface="+mj-lt"/>
              <a:buAutoNum type="arabicPeriod"/>
            </a:pPr>
            <a:r>
              <a:rPr lang="en-US" sz="1350" dirty="0">
                <a:solidFill>
                  <a:schemeClr val="tx2"/>
                </a:solidFill>
              </a:rPr>
              <a:t>Regeneration and CO₂-release evaluation</a:t>
            </a:r>
            <a:endParaRPr lang="en-US" sz="1350" dirty="0"/>
          </a:p>
          <a:p>
            <a:pPr marL="342900" indent="-342900">
              <a:spcAft>
                <a:spcPts val="700"/>
              </a:spcAft>
              <a:buSzPct val="100000"/>
              <a:buFont typeface="+mj-lt"/>
              <a:buAutoNum type="arabicPeriod"/>
            </a:pPr>
            <a:r>
              <a:rPr lang="en-US" sz="1350" dirty="0">
                <a:solidFill>
                  <a:schemeClr val="tx2"/>
                </a:solidFill>
              </a:rPr>
              <a:t>Repeated-cycle testing to assess reuse</a:t>
            </a:r>
            <a:endParaRPr lang="en-US" sz="1350" dirty="0"/>
          </a:p>
        </p:txBody>
      </p:sp>
      <p:sp>
        <p:nvSpPr>
          <p:cNvPr id="17" name="Expected outcomes text"/>
          <p:cNvSpPr txBox="1"/>
          <p:nvPr/>
        </p:nvSpPr>
        <p:spPr>
          <a:xfrm>
            <a:off x="8293608" y="3090672"/>
            <a:ext cx="3264408" cy="228600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2"/>
                </a:solidFill>
              </a:rPr>
              <a:t>How metal composition and metal-to-linker ratio may influence CO₂ adsorption</a:t>
            </a:r>
            <a:endParaRPr lang="en-US" sz="1350" dirty="0"/>
          </a:p>
          <a:p>
            <a:pPr marL="342900" indent="-342900">
              <a:spcAft>
                <a:spcPts val="700"/>
              </a:spcAft>
              <a:buSzPct val="100000"/>
              <a:buChar char="•"/>
            </a:pPr>
            <a:r>
              <a:rPr lang="en-US" sz="1350" dirty="0">
                <a:solidFill>
                  <a:schemeClr val="tx2"/>
                </a:solidFill>
              </a:rPr>
              <a:t>How humidity may influence adsorption and regeneration; direction not presumed</a:t>
            </a:r>
            <a:endParaRPr lang="en-US" sz="1350" dirty="0"/>
          </a:p>
          <a:p>
            <a:pPr marL="342900" indent="-342900">
              <a:spcAft>
                <a:spcPts val="700"/>
              </a:spcAft>
              <a:buSzPct val="100000"/>
              <a:buChar char="•"/>
            </a:pPr>
            <a:r>
              <a:rPr lang="en-US" sz="1350" dirty="0">
                <a:solidFill>
                  <a:schemeClr val="tx2"/>
                </a:solidFill>
              </a:rPr>
              <a:t>Whether regeneration supports repeated use of the material</a:t>
            </a:r>
            <a:endParaRPr lang="en-US" sz="1350" dirty="0"/>
          </a:p>
        </p:txBody>
      </p:sp>
      <p:sp>
        <p:nvSpPr>
          <p:cNvPr id="18" name="Goal banner"/>
          <p:cNvSpPr/>
          <p:nvPr/>
        </p:nvSpPr>
        <p:spPr>
          <a:xfrm>
            <a:off x="448056" y="5532120"/>
            <a:ext cx="11292840" cy="502920"/>
          </a:xfrm>
          <a:prstGeom prst="roundRect">
            <a:avLst>
              <a:gd name="adj" fmla="val 18182"/>
            </a:avLst>
          </a:prstGeom>
          <a:solidFill>
            <a:schemeClr val="accent3"/>
          </a:solidFill>
          <a:ln w="12700">
            <a:solidFill>
              <a:schemeClr val="accent3"/>
            </a:solidFill>
            <a:prstDash val="solid"/>
          </a:ln>
        </p:spPr>
      </p:sp>
      <p:sp>
        <p:nvSpPr>
          <p:cNvPr id="19" name="Goal text"/>
          <p:cNvSpPr txBox="1"/>
          <p:nvPr/>
        </p:nvSpPr>
        <p:spPr>
          <a:xfrm>
            <a:off x="722376" y="5532120"/>
            <a:ext cx="10744200" cy="502920"/>
          </a:xfrm>
          <a:prstGeom prst="rect">
            <a:avLst/>
          </a:prstGeom>
          <a:noFill/>
          <a:ln/>
        </p:spPr>
        <p:txBody>
          <a:bodyPr wrap="square" lIns="0" tIns="0" rIns="0" bIns="0" rtlCol="0" anchor="ctr"/>
          <a:lstStyle/>
          <a:p>
            <a:pPr marL="0" indent="0">
              <a:buNone/>
            </a:pPr>
            <a:r>
              <a:rPr lang="en-US" sz="1450" b="1" dirty="0">
                <a:solidFill>
                  <a:srgbClr val="E6E3FF"/>
                </a:solidFill>
              </a:rPr>
              <a:t>Broader goal: </a:t>
            </a:r>
            <a:r>
              <a:rPr lang="en-US" sz="1450" b="1" dirty="0">
                <a:solidFill>
                  <a:srgbClr val="FFFFFF"/>
                </a:solidFill>
              </a:rPr>
              <a:t>advancing MOF-based approaches for CO₂ capture under environmentally relevant conditions</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661CDFE-41D0-D3F3-D225-C63CE209D543}"/>
              </a:ext>
            </a:extLst>
          </p:cNvPr>
          <p:cNvSpPr txBox="1"/>
          <p:nvPr/>
        </p:nvSpPr>
        <p:spPr>
          <a:xfrm>
            <a:off x="656790" y="2844225"/>
            <a:ext cx="7400000" cy="584775"/>
          </a:xfrm>
          <a:prstGeom prst="rect">
            <a:avLst/>
          </a:prstGeom>
          <a:noFill/>
        </p:spPr>
        <p:txBody>
          <a:bodyPr wrap="square">
            <a:spAutoFit/>
          </a:bodyPr>
          <a:lstStyle/>
          <a:p>
            <a:r>
              <a:rPr lang="en-US" sz="2800" b="1" dirty="0">
                <a:solidFill>
                  <a:schemeClr val="bg1"/>
                </a:solidFill>
                <a:latin typeface="Arial" pitchFamily="34" charset="0"/>
                <a:ea typeface="Arial" pitchFamily="34" charset="-122"/>
                <a:cs typeface="Arial" pitchFamily="34" charset="-120"/>
              </a:rPr>
              <a:t>Capturing CO₂ Directly from Air: Bimetal-Engineered MOFs with Moisture-Responsive Regeneration</a:t>
            </a:r>
            <a:endParaRPr lang="en-SA" sz="2800" dirty="0"/>
          </a:p>
        </p:txBody>
      </p:sp>
    </p:spTree>
    <p:extLst>
      <p:ext uri="{BB962C8B-B14F-4D97-AF65-F5344CB8AC3E}">
        <p14:creationId xmlns:p14="http://schemas.microsoft.com/office/powerpoint/2010/main" val="41554791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900376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2" hasCustomPrompt="1"/>
          </p:nvPr>
        </p:nvSpPr>
        <p:spPr>
          <a:xfrm>
            <a:off x="1074828" y="3187072"/>
            <a:ext cx="2564901" cy="919739"/>
          </a:xfrm>
          <a:prstGeom prst="rect">
            <a:avLst/>
          </a:prstGeom>
          <a:noFill/>
          <a:ln/>
        </p:spPr>
        <p:txBody>
          <a:bodyPr wrap="square" lIns="0" tIns="0" rIns="0" bIns="0" rtlCol="0" anchor="ctr"/>
          <a:lstStyle/>
          <a:p>
            <a:pPr marL="0" indent="0" algn="l">
              <a:buNone/>
            </a:pPr>
            <a:r>
              <a:rPr lang="en-US" sz="3200" b="1" dirty="0">
                <a:solidFill>
                  <a:schemeClr val="bg1"/>
                </a:solidFill>
                <a:latin typeface="Arial" pitchFamily="34" charset="0"/>
                <a:ea typeface="Arial" pitchFamily="34" charset="-122"/>
                <a:cs typeface="Arial" pitchFamily="34" charset="-120"/>
              </a:rPr>
              <a:t>Thank You</a:t>
            </a:r>
            <a:endParaRPr lang="en-US" sz="3200" dirty="0"/>
          </a:p>
        </p:txBody>
      </p:sp>
    </p:spTree>
  </p:cSld>
  <p:clrMapOvr>
    <a:masterClrMapping/>
  </p:clrMapOvr>
</p:sld>
</file>

<file path=ppt/theme/theme1.xml><?xml version="1.0" encoding="utf-8"?>
<a:theme xmlns:a="http://schemas.openxmlformats.org/drawingml/2006/main" name="WPC 2026 Scientific">
  <a:themeElements>
    <a:clrScheme name="WPC 2026 Scientific">
      <a:dk1>
        <a:srgbClr val="1C1C1C"/>
      </a:dk1>
      <a:lt1>
        <a:srgbClr val="FFFFFF"/>
      </a:lt1>
      <a:dk2>
        <a:srgbClr val="24212C"/>
      </a:dk2>
      <a:lt2>
        <a:srgbClr val="F4F2FF"/>
      </a:lt2>
      <a:accent1>
        <a:srgbClr val="A299FF"/>
      </a:accent1>
      <a:accent2>
        <a:srgbClr val="FC833C"/>
      </a:accent2>
      <a:accent3>
        <a:srgbClr val="5B4BC4"/>
      </a:accent3>
      <a:accent4>
        <a:srgbClr val="3D8BD9"/>
      </a:accent4>
      <a:accent5>
        <a:srgbClr val="E5533D"/>
      </a:accent5>
      <a:accent6>
        <a:srgbClr val="6B6B76"/>
      </a:accent6>
      <a:hlink>
        <a:srgbClr val="5B4BC4"/>
      </a:hlink>
      <a:folHlink>
        <a:srgbClr val="8E7CC3"/>
      </a:folHlink>
    </a:clrScheme>
    <a:fontScheme name="WPC 2026 Scientifi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9</Slides>
  <Notes>7</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WPC 2026 Scientific</vt:lpstr>
      <vt:lpstr>Capturing CO₂ Directly from Air:  Bimetal-Engineered MOFs with Moisture-Responsive Regeneration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Capturing CO₂ Directly from Air – MOF-based approaches for CO₂ capture</dc:title>
  <dc:subject>25th WPC Energy Congress 2026 – Block 4: Energy Technologies – Future Pathways</dc:subject>
  <dc:creator>Raghad AlSawilam</dc:creator>
  <cp:lastModifiedBy>Raghad Sultan Abdelrhaman ALSAWILAM</cp:lastModifiedBy>
  <cp:revision>19</cp:revision>
  <dcterms:created xsi:type="dcterms:W3CDTF">2026-10-07T18:58:42Z</dcterms:created>
  <dcterms:modified xsi:type="dcterms:W3CDTF">2026-10-11T15:52:33Z</dcterms:modified>
</cp:coreProperties>
</file>