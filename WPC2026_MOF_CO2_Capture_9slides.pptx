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0" r:id="rId5"/>
    <p:sldId id="267" r:id="rId6"/>
    <p:sldId id="261" r:id="rId7"/>
    <p:sldId id="265" r:id="rId8"/>
    <p:sldId id="266"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0779E0-D329-6F88-E47F-9C901D885E07}">
          <p14:sldIdLst>
            <p14:sldId id="256"/>
            <p14:sldId id="257"/>
            <p14:sldId id="258"/>
          </p14:sldIdLst>
        </p14:section>
        <p14:section name="Research 1 (Main)" id="{0F79CB11-F936-C6F6-6E53-C9A177FFCFB3}">
          <p14:sldIdLst>
            <p14:sldId id="260"/>
            <p14:sldId id="267"/>
            <p14:sldId id="261"/>
          </p14:sldIdLst>
        </p14:section>
        <p14:section name="Research 2 (Complementary)" id="{BEE1C086-9ED5-915E-D5BD-899AF5ECFB71}">
          <p14:sldIdLst>
            <p14:sldId id="265"/>
            <p14:sldId id="266"/>
          </p14:sldIdLst>
        </p14:section>
        <p14:section name="Closing" id="{46DF172D-13D0-7366-97A9-DF2EA8C8182B}">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7B1FCFD-B869-A44D-BD5E-F9D8CFCD140A}" type="datetimeFigureOut">
              <a:rPr lang="en-SA" smtClean="0"/>
              <a:t>11/10/2026 R</a:t>
            </a:fld>
            <a:endParaRPr lang="en-SA"/>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0C32F1F-0ECB-D040-92D6-BA57159F8670}" type="slidenum">
              <a:rPr lang="en-SA" smtClean="0"/>
              <a:t>‹#›</a:t>
            </a:fld>
            <a:endParaRPr lang="en-SA"/>
          </a:p>
        </p:txBody>
      </p:sp>
    </p:spTree>
    <p:extLst>
      <p:ext uri="{BB962C8B-B14F-4D97-AF65-F5344CB8AC3E}">
        <p14:creationId xmlns:p14="http://schemas.microsoft.com/office/powerpoint/2010/main" val="543305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Good morning/afternoon. I am Raghad AlSawilam from the Advanced Materials Technologies Institute at KACST, supervised by Dr. Lana Alghamdi. Today I will present our study on bimetal-engineered metal–organic frameworks for capturing CO₂ directly from air, with moisture-responsive regeneration.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(about 1.5-2 min). Research background, research gap and objective.</a:t>
            </a:r>
          </a:p>
          <a:p>
            <a:r>
              <a:rPr lang="en-US" dirty="0"/>
              <a:t>Introduce yourself and the team (KACST, Advanced Materials Technologies Institute). Metal-organic frameworks are porous crystalline solids built from metal nodes joined by organic linkers; their tunable pores and chemistry make them candidate materials for CO2 capture. Direct air capture is demanding because CO2 in ambient air is dilute (roughly 420 ppm), so a sorbent has to capture it at very low partial pressure, and ambient air always carries water vapor. Water vapor may compete with CO2 for adsorption sites or alter how CO2 binds - the direction of that effect is not assumed. Research gap: for the bimetal-engineered MOF developed here, the influence of humidity on CO2 adsorption and regeneration has not yet been investigated. State the question slowly: how does humidity influence CO2 adsorption and regeneration behavior in a bimetal-engineered MOF? Objective: to characterize and compare the 12 synthesized samples, select the best-characterized candidate, and then investigate how humidity may influence CO2 adsorption and regeneration. Transition: first, how the 12 samples were prepared.</a:t>
            </a:r>
          </a:p>
          <a:p>
            <a:r>
              <a:rPr lang="en-US" dirty="0"/>
              <a:t>(The three diagrams are schematic and not to scale. No CO2 capture performance is claimed for this material.)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(about 1.5 min). Material synthesis of all 12 samples and experimental progress.</a:t>
            </a:r>
          </a:p>
          <a:p>
            <a:r>
              <a:rPr lang="en-US" dirty="0"/>
              <a:t>Section A: the ten laboratory photographs follow the synthesis in process order - weighing, preparation, mixing, heating, the reaction vessel after heating, washing, separation by centrifugation, drying, the dried powder, and the labelled vials after activation. Section B: all twelve mixed-metal MOF samples were synthesized by the solvothermal route - six metal compositions (A to F) at two metal-to-linker ratios (1:1 and 2:1). The code combines composition and ratio, so B2-1 is composition B at the 2:1 ratio. White crystalline solids were obtained in all twelve. Composition details are not disclosed. All twelve samples are compared on the next two slides - XRD first, then FTIR - and the best-characterized candidate is selected from that comparison on slide 6. Section C: synthesis, XRD/FTIR of all twelve samples and the evidence-based selection are completed; CO2 adsorption, dry-versus-humid comparison, regeneration and cycling are planned and have not yet been performed.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(about 2.5 min). Comparative XRD analysis of all 12 samples.</a:t>
            </a:r>
          </a:p>
          <a:p>
            <a:r>
              <a:rPr lang="en-US" dirty="0"/>
              <a:t>Left: my original, unmodified XRD figure - rows 1-2 are the 2:1 series, rows 3-4 the 1:1 series. Middle: the peak positions exactly as labelled in the figure. Similarities: every pattern has sharp reflections near 9.1-9.5, 11.5-12.1 and 17.1-17.6 degrees 2-theta, so all twelve samples are crystalline and appear to share a closely related structure. Differences and what they may mean: first, the metal-to-linker ratio matters - in all six 2:1 samples the ~12 degree reflection sits at 12.04-12.10 degrees, while in the 1:1 series it spreads from 11.52 to 12.12 degrees; a lower angle means a slightly larger lattice spacing. Second, A1-1, B1-1 and C1-1 show an extra reflection at 18.2-18.4 degrees and F1-1 one at 14.76 degrees; these may come from a secondary crystalline phase or residual precursor, which cannot be identified without reference patterns. Third, E1-1 has its whole set shifted to lower angle - a lattice change or a different phase; the cause is not determined. Fourth, A1-1, C1-1 and F1-1 (and to a lesser extent D2-1) have raised, noisy backgrounds, which may indicate lower long-range order. Shortlist criteria: complete common set, sharp peaks on a low flat background, and no extra or shifted reflections - met by B2-1, C2-1, E2-1, F2-1 and D1-1. Limitations: panels are scaled individually, so intensities are not compared between samples; no phase, crystallinity score or crystallite size is assigned; XRD quality alone does not predict CO2 uptake.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(about 2.5 min). Comparative FTIR analysis of all 12 samples.</a:t>
            </a:r>
          </a:p>
          <a:p>
            <a:r>
              <a:rPr lang="en-US" dirty="0"/>
              <a:t>Left: my original, unmodified FTIR figure with all twelve spectra and the labels printed in it. Significance: the strong bands near 1600 and 1400 cm-1 are the asymmetric and symmetric stretching modes of deprotonated carboxylate groups. They appear in all twelve samples, which is consistent with linker carboxylates bound to metal centers, as expected for a MOF. To confirm the binding mode we still need the free-linker spectrum - for example, whether the acid C=O band near 1700 cm-1 disappears - and precise band positions to evaluate the separation between the two bands. Differences: in eight samples the ~1600 cm-1 band is the strongest in the cluster; in A2-1, C1-1 and F1-1 the ~1400 cm-1 band is about as strong, and in A1-1 it is stronger, which may point to a different coordination environment. B1-1 and E1-1 show a weak extra band above about 1650 cm-1, possibly residual uncoordinated carboxylic acid. The noisy region near 2200-1950 cm-1, strongest in C1-1 and F1-1, is measurement-related and is not interpreted. Agreement with XRD: every sample that deviates in FTIR also has extra, shifted or less-defined XRD features; only D2-1 is flagged by XRD but consistent by FTIR. Conclusion: FTIR supports carboxylate-metal coordination in all twelve samples and identifies six spectra that match the majority pattern; it cannot by itself confirm the full structure, the coordination mode or CO2 adsorption performance. The printed ratings are qualitative labels from the source figure, and small band shifts cannot be resolved because the spectra are photographs.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(about 2 min). Evidence-based sample selection and planned experiments.</a:t>
            </a:r>
          </a:p>
          <a:p>
            <a:r>
              <a:rPr lang="en-US" dirty="0"/>
              <a:t>Top row - completed: how the twelve samples were narrowed down. Step 1: all twelve were synthesized and measured by XRD and FTIR. Step 2, XRD screen: keep samples with the complete common reflection set, sharp peaks on a low background and no extra or shifted reflections - B2-1, C2-1, E2-1, F2-1 and D1-1. Excluded: A1-1, B1-1, C1-1 and F1-1 for extra reflections, E1-1 for a shifted set, D2-1 for a rougher background, A2-1 because only three peaks are labelled. Step 3, FTIR check: all five show both carboxylate bands in the majority pattern and no extra band; independently, every sample FTIR flags was also flagged by XRD. Step 4: B2-1 is the lead because it meets every criterion in both techniques and carries the top qualitative rating in the original FTIR figure; C2-1, E2-1, F2-1 and D1-1 also pass and are kept as alternates, but the data do not support ranking them. Important: best-characterized does not mean highest CO2 capacity - no sample's CO2 adsorption has been measured yet. Bottom row - planned, not yet performed: CO2 adsorption evaluation starting with B2-1 and then the shortlist; a dry-versus-humid comparison with the same procedure; regeneration and CO2 release with recovery of the sorbent; and repeated-cycle testing to assess potential reuse. Close with the broader goal - advancing MOF-based approaches for CO2 capture under environmentally relevant conditions -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To close: our study combines bimetal engineering with the evaluation of humidity and regeneration, as one route to advancing MOF-based direct air capture of CO₂. Thank you —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PC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25th WPC Energy Congress logo"/>
          <p:cNvPicPr>
            <a:picLocks noChangeAspect="1"/>
          </p:cNvPicPr>
          <p:nvPr/>
        </p:nvPicPr>
        <p:blipFill>
          <a:blip r:embed="rId3"/>
          <a:stretch>
            <a:fillRect/>
          </a:stretch>
        </p:blipFill>
        <p:spPr>
          <a:xfrm>
            <a:off x="512064" y="493776"/>
            <a:ext cx="3273552" cy="1380744"/>
          </a:xfrm>
          <a:prstGeom prst="rect">
            <a:avLst/>
          </a:prstGeom>
        </p:spPr>
      </p:pic>
      <p:pic>
        <p:nvPicPr>
          <p:cNvPr id="3" name="Image 1" descr="WPC Energy and Ministry of Energy logos"/>
          <p:cNvPicPr>
            <a:picLocks noChangeAspect="1"/>
          </p:cNvPicPr>
          <p:nvPr/>
        </p:nvPicPr>
        <p:blipFill>
          <a:blip r:embed="rId4"/>
          <a:stretch>
            <a:fillRect/>
          </a:stretch>
        </p:blipFill>
        <p:spPr>
          <a:xfrm>
            <a:off x="8421624" y="594360"/>
            <a:ext cx="3383280" cy="676656"/>
          </a:xfrm>
          <a:prstGeom prst="rect">
            <a:avLst/>
          </a:prstGeom>
        </p:spPr>
      </p:pic>
      <p:sp>
        <p:nvSpPr>
          <p:cNvPr id="4" name="Text 0"/>
          <p:cNvSpPr/>
          <p:nvPr/>
        </p:nvSpPr>
        <p:spPr>
          <a:xfrm>
            <a:off x="393192" y="6382512"/>
            <a:ext cx="2743200" cy="274320"/>
          </a:xfrm>
          <a:prstGeom prst="rect">
            <a:avLst/>
          </a:prstGeom>
          <a:no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Poster Presenter</a:t>
            </a:r>
            <a:endParaRPr lang="en-US" sz="1200" dirty="0"/>
          </a:p>
        </p:txBody>
      </p:sp>
      <p:sp>
        <p:nvSpPr>
          <p:cNvPr id="5" name="Text 1"/>
          <p:cNvSpPr>
            <a:spLocks noGrp="1"/>
          </p:cNvSpPr>
          <p:nvPr>
            <p:ph type="title" idx="103" hasCustomPrompt="1"/>
          </p:nvPr>
        </p:nvSpPr>
        <p:spPr>
          <a:xfrm>
            <a:off x="621792" y="1993392"/>
            <a:ext cx="6766560" cy="1481328"/>
          </a:xfrm>
          <a:prstGeom prst="rect">
            <a:avLst/>
          </a:prstGeom>
          <a:noFill/>
          <a:ln/>
        </p:spPr>
        <p:txBody>
          <a:bodyPr wrap="square" rtlCol="0"/>
          <a:lstStyle>
            <a:lvl1pPr marL="0" indent="0" algn="l">
              <a:buNone/>
              <a:defRPr lang="en-US" sz="3000" b="1" dirty="0">
                <a:solidFill>
                  <a:schemeClr val="bg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6" name="Text 1"/>
          <p:cNvSpPr>
            <a:spLocks noGrp="1"/>
          </p:cNvSpPr>
          <p:nvPr>
            <p:ph type="body" idx="104" hasCustomPrompt="1"/>
          </p:nvPr>
        </p:nvSpPr>
        <p:spPr>
          <a:xfrm>
            <a:off x="621792" y="3547872"/>
            <a:ext cx="6766560" cy="310896"/>
          </a:xfrm>
          <a:prstGeom prst="rect">
            <a:avLst/>
          </a:prstGeom>
          <a:noFill/>
          <a:ln/>
        </p:spPr>
        <p:txBody>
          <a:bodyPr wrap="square" rtlCol="0"/>
          <a:lstStyle>
            <a:lvl1pPr marL="0" indent="0" algn="l">
              <a:buNone/>
              <a:defRPr lang="en-US" sz="1600" dirty="0">
                <a:solidFill>
                  <a:srgbClr val="D9D4FF"/>
                </a:solidFill>
                <a:latin typeface="Arial" pitchFamily="34" charset="0"/>
                <a:ea typeface="Arial" pitchFamily="34" charset="-122"/>
                <a:cs typeface="Arial" pitchFamily="34" charset="-120"/>
              </a:defRPr>
            </a:lvl1pPr>
          </a:lstStyle>
          <a:p>
            <a:pPr marL="0" indent="0" algn="l">
              <a:buNone/>
            </a:pPr>
            <a:endParaRPr lang="en-US" sz="1600" dirty="0"/>
          </a:p>
        </p:txBody>
      </p:sp>
      <p:sp>
        <p:nvSpPr>
          <p:cNvPr id="7" name="Text 1"/>
          <p:cNvSpPr>
            <a:spLocks noGrp="1"/>
          </p:cNvSpPr>
          <p:nvPr>
            <p:ph type="body" idx="105" hasCustomPrompt="1"/>
          </p:nvPr>
        </p:nvSpPr>
        <p:spPr>
          <a:xfrm>
            <a:off x="621792" y="4005072"/>
            <a:ext cx="6766560" cy="384048"/>
          </a:xfrm>
          <a:prstGeom prst="rect">
            <a:avLst/>
          </a:prstGeom>
          <a:noFill/>
          <a:ln/>
        </p:spPr>
        <p:txBody>
          <a:bodyPr wrap="square" rtlCol="0"/>
          <a:lstStyle>
            <a:lvl1pPr marL="0" indent="0" algn="l">
              <a:buNone/>
              <a:defRPr lang="en-US" sz="2400" b="1" dirty="0">
                <a:solidFill>
                  <a:schemeClr val="accent1"/>
                </a:solidFill>
                <a:latin typeface="Arial" pitchFamily="34" charset="0"/>
                <a:ea typeface="Arial" pitchFamily="34" charset="-122"/>
                <a:cs typeface="Arial" pitchFamily="34" charset="-120"/>
              </a:defRPr>
            </a:lvl1pPr>
          </a:lstStyle>
          <a:p>
            <a:pPr marL="0" indent="0" algn="l">
              <a:buNone/>
            </a:pPr>
            <a:endParaRPr lang="en-US" sz="2400" dirty="0"/>
          </a:p>
        </p:txBody>
      </p:sp>
      <p:sp>
        <p:nvSpPr>
          <p:cNvPr id="8" name="Text 1"/>
          <p:cNvSpPr>
            <a:spLocks noGrp="1"/>
          </p:cNvSpPr>
          <p:nvPr>
            <p:ph type="body" idx="106" hasCustomPrompt="1"/>
          </p:nvPr>
        </p:nvSpPr>
        <p:spPr>
          <a:xfrm>
            <a:off x="621792" y="4425696"/>
            <a:ext cx="6766560" cy="274320"/>
          </a:xfrm>
          <a:prstGeom prst="rect">
            <a:avLst/>
          </a:prstGeom>
          <a:noFill/>
          <a:ln/>
        </p:spPr>
        <p:txBody>
          <a:bodyPr wrap="square" rtlCol="0"/>
          <a:lstStyle>
            <a:lvl1pPr marL="0" indent="0" algn="l">
              <a:buNone/>
              <a:defRPr lang="en-US" sz="1600" dirty="0">
                <a:solidFill>
                  <a:schemeClr val="bg1"/>
                </a:solidFill>
                <a:latin typeface="Arial" pitchFamily="34" charset="0"/>
                <a:ea typeface="Arial" pitchFamily="34" charset="-122"/>
                <a:cs typeface="Arial" pitchFamily="34" charset="-120"/>
              </a:defRPr>
            </a:lvl1pPr>
          </a:lstStyle>
          <a:p>
            <a:pPr marL="0" indent="0" algn="l">
              <a:buNone/>
            </a:pPr>
            <a:endParaRPr lang="en-US" sz="1600" dirty="0"/>
          </a:p>
        </p:txBody>
      </p:sp>
      <p:sp>
        <p:nvSpPr>
          <p:cNvPr id="9" name="Text 1"/>
          <p:cNvSpPr>
            <a:spLocks noGrp="1"/>
          </p:cNvSpPr>
          <p:nvPr>
            <p:ph type="body" idx="107" hasCustomPrompt="1"/>
          </p:nvPr>
        </p:nvSpPr>
        <p:spPr>
          <a:xfrm>
            <a:off x="621792" y="4718304"/>
            <a:ext cx="6766560" cy="274320"/>
          </a:xfrm>
          <a:prstGeom prst="rect">
            <a:avLst/>
          </a:prstGeom>
          <a:noFill/>
          <a:ln/>
        </p:spPr>
        <p:txBody>
          <a:bodyPr wrap="square" rtlCol="0"/>
          <a:lstStyle>
            <a:lvl1pPr marL="0" indent="0" algn="l">
              <a:buNone/>
              <a:defRPr lang="en-US" sz="1600" dirty="0">
                <a:solidFill>
                  <a:schemeClr val="bg1"/>
                </a:solidFill>
                <a:latin typeface="Arial" pitchFamily="34" charset="0"/>
                <a:ea typeface="Arial" pitchFamily="34" charset="-122"/>
                <a:cs typeface="Arial" pitchFamily="34" charset="-120"/>
              </a:defRPr>
            </a:lvl1pPr>
          </a:lstStyle>
          <a:p>
            <a:pPr marL="0" indent="0" algn="l">
              <a:buNone/>
            </a:pPr>
            <a:endParaRPr lang="en-US" sz="1600" dirty="0"/>
          </a:p>
        </p:txBody>
      </p:sp>
      <p:sp>
        <p:nvSpPr>
          <p:cNvPr id="10" name="Text 1"/>
          <p:cNvSpPr>
            <a:spLocks noGrp="1"/>
          </p:cNvSpPr>
          <p:nvPr>
            <p:ph type="body" idx="108" hasCustomPrompt="1"/>
          </p:nvPr>
        </p:nvSpPr>
        <p:spPr>
          <a:xfrm>
            <a:off x="621792" y="5102352"/>
            <a:ext cx="6766560" cy="493776"/>
          </a:xfrm>
          <a:prstGeom prst="rect">
            <a:avLst/>
          </a:prstGeom>
          <a:noFill/>
          <a:ln/>
        </p:spPr>
        <p:txBody>
          <a:bodyPr wrap="square" rtlCol="0"/>
          <a:lstStyle>
            <a:lvl1pPr marL="0" indent="0" algn="l">
              <a:buNone/>
              <a:defRPr lang="en-US" sz="1400" b="1" dirty="0">
                <a:solidFill>
                  <a:schemeClr val="bg1"/>
                </a:solidFill>
                <a:latin typeface="Arial" pitchFamily="34" charset="0"/>
                <a:ea typeface="Arial" pitchFamily="34" charset="-122"/>
                <a:cs typeface="Arial" pitchFamily="34" charset="-120"/>
              </a:defRPr>
            </a:lvl1pPr>
          </a:lstStyle>
          <a:p>
            <a:pPr marL="0" indent="0" algn="l">
              <a:buNone/>
            </a:pPr>
            <a:endParaRPr lang="en-US" sz="1400" dirty="0"/>
          </a:p>
        </p:txBody>
      </p:sp>
      <p:sp>
        <p:nvSpPr>
          <p:cNvPr id="11" name="Text 1"/>
          <p:cNvSpPr>
            <a:spLocks noGrp="1"/>
          </p:cNvSpPr>
          <p:nvPr>
            <p:ph type="body" idx="109" hasCustomPrompt="1"/>
          </p:nvPr>
        </p:nvSpPr>
        <p:spPr>
          <a:xfrm>
            <a:off x="621792" y="5687568"/>
            <a:ext cx="6766560" cy="274320"/>
          </a:xfrm>
          <a:prstGeom prst="rect">
            <a:avLst/>
          </a:prstGeom>
          <a:noFill/>
          <a:ln/>
        </p:spPr>
        <p:txBody>
          <a:bodyPr wrap="square" rtlCol="0"/>
          <a:lstStyle>
            <a:lvl1pPr marL="0" indent="0" algn="l">
              <a:buNone/>
              <a:defRPr lang="en-US" sz="1400" b="1" dirty="0">
                <a:solidFill>
                  <a:srgbClr val="FFB98F"/>
                </a:solidFill>
                <a:latin typeface="Arial" pitchFamily="34" charset="0"/>
                <a:ea typeface="Arial" pitchFamily="34" charset="-122"/>
                <a:cs typeface="Arial" pitchFamily="34" charset="-120"/>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PC_CONTENT">
    <p:bg>
      <p:bgPr>
        <a:solidFill>
          <a:schemeClr val="bg1"/>
        </a:solidFill>
        <a:effectLst/>
      </p:bgPr>
    </p:bg>
    <p:spTree>
      <p:nvGrpSpPr>
        <p:cNvPr id="1" name=""/>
        <p:cNvGrpSpPr/>
        <p:nvPr/>
      </p:nvGrpSpPr>
      <p:grpSpPr>
        <a:xfrm>
          <a:off x="0" y="0"/>
          <a:ext cx="0" cy="0"/>
          <a:chOff x="0" y="0"/>
          <a:chExt cx="0" cy="0"/>
        </a:xfrm>
      </p:grpSpPr>
      <p:pic>
        <p:nvPicPr>
          <p:cNvPr id="2" name="Image 0" descr="WPC Block 4 header and footer artwork"/>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448056" y="768096"/>
            <a:ext cx="5486400" cy="365760"/>
          </a:xfrm>
          <a:prstGeom prst="rect">
            <a:avLst/>
          </a:prstGeom>
          <a:noFill/>
          <a:ln/>
        </p:spPr>
        <p:txBody>
          <a:bodyPr wrap="square" lIns="0" tIns="0" rIns="0" bIns="0" rtlCol="0" anchor="ctr"/>
          <a:lstStyle/>
          <a:p>
            <a:pPr marL="0" indent="0">
              <a:buNone/>
            </a:pPr>
            <a:r>
              <a:rPr lang="en-US" sz="2400" b="1" dirty="0">
                <a:solidFill>
                  <a:schemeClr val="bg1"/>
                </a:solidFill>
                <a:latin typeface="Calibri" pitchFamily="34" charset="0"/>
                <a:ea typeface="Calibri" pitchFamily="34" charset="-122"/>
                <a:cs typeface="Calibri" pitchFamily="34" charset="-120"/>
              </a:rPr>
              <a:t>Energy Technologies</a:t>
            </a:r>
            <a:endParaRPr lang="en-US" sz="2400" dirty="0"/>
          </a:p>
        </p:txBody>
      </p:sp>
      <p:sp>
        <p:nvSpPr>
          <p:cNvPr id="4" name="Text 1"/>
          <p:cNvSpPr/>
          <p:nvPr/>
        </p:nvSpPr>
        <p:spPr>
          <a:xfrm>
            <a:off x="448056" y="1133856"/>
            <a:ext cx="5486400" cy="365760"/>
          </a:xfrm>
          <a:prstGeom prst="rect">
            <a:avLst/>
          </a:prstGeom>
          <a:noFill/>
          <a:ln/>
        </p:spPr>
        <p:txBody>
          <a:bodyPr wrap="square" lIns="0" tIns="0" rIns="0" bIns="0" rtlCol="0" anchor="ctr"/>
          <a:lstStyle/>
          <a:p>
            <a:pPr marL="0" indent="0">
              <a:buNone/>
            </a:pPr>
            <a:r>
              <a:rPr lang="en-US" sz="2400" b="1" dirty="0">
                <a:solidFill>
                  <a:schemeClr val="bg1"/>
                </a:solidFill>
                <a:latin typeface="Calibri" pitchFamily="34" charset="0"/>
                <a:ea typeface="Calibri" pitchFamily="34" charset="-122"/>
                <a:cs typeface="Calibri" pitchFamily="34" charset="-120"/>
              </a:rPr>
              <a:t>-Future Pathways</a:t>
            </a:r>
            <a:endParaRPr lang="en-US" sz="2400" dirty="0"/>
          </a:p>
        </p:txBody>
      </p:sp>
      <p:sp>
        <p:nvSpPr>
          <p:cNvPr id="5" name="Text 2"/>
          <p:cNvSpPr/>
          <p:nvPr/>
        </p:nvSpPr>
        <p:spPr>
          <a:xfrm>
            <a:off x="393192" y="6382512"/>
            <a:ext cx="2743200" cy="274320"/>
          </a:xfrm>
          <a:prstGeom prst="rect">
            <a:avLst/>
          </a:prstGeom>
          <a:noFill/>
          <a:ln/>
        </p:spPr>
        <p:txBody>
          <a:bodyPr wrap="square" lIns="0" tIns="0" rIns="0" bIns="0" rtlCol="0" anchor="ctr"/>
          <a:lstStyle/>
          <a:p>
            <a:pPr marL="0" indent="0">
              <a:buNone/>
            </a:pPr>
            <a:r>
              <a:rPr lang="en-US" sz="1200" b="1" dirty="0">
                <a:solidFill>
                  <a:schemeClr val="tx1"/>
                </a:solidFill>
                <a:latin typeface="Arial" pitchFamily="34" charset="0"/>
                <a:ea typeface="Arial" pitchFamily="34" charset="-122"/>
                <a:cs typeface="Arial" pitchFamily="34" charset="-120"/>
              </a:rPr>
              <a:t>Raghad AlSawilam | KACST</a:t>
            </a:r>
            <a:endParaRPr lang="en-US" sz="1200" dirty="0"/>
          </a:p>
        </p:txBody>
      </p:sp>
      <p:sp>
        <p:nvSpPr>
          <p:cNvPr id="6" name="Text 3"/>
          <p:cNvSpPr>
            <a:spLocks noGrp="1"/>
          </p:cNvSpPr>
          <p:nvPr>
            <p:ph type="title" idx="104" hasCustomPrompt="1"/>
          </p:nvPr>
        </p:nvSpPr>
        <p:spPr>
          <a:xfrm>
            <a:off x="448056" y="1828800"/>
            <a:ext cx="11292840" cy="457200"/>
          </a:xfrm>
          <a:prstGeom prst="rect">
            <a:avLst/>
          </a:prstGeom>
          <a:noFill/>
          <a:ln/>
        </p:spPr>
        <p:txBody>
          <a:bodyPr wrap="square" rtlCol="0"/>
          <a:lstStyle>
            <a:lvl1pPr marL="0" indent="0" algn="l">
              <a:buNone/>
              <a:defRPr lang="en-US" sz="2400" b="1" dirty="0">
                <a:solidFill>
                  <a:schemeClr val="accent1"/>
                </a:solidFill>
                <a:latin typeface="Arial" pitchFamily="34" charset="0"/>
                <a:ea typeface="Arial" pitchFamily="34" charset="-122"/>
                <a:cs typeface="Arial" pitchFamily="34" charset="-120"/>
              </a:defRPr>
            </a:lvl1pPr>
          </a:lstStyle>
          <a:p>
            <a:pPr marL="0" indent="0" algn="l">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PC_THANK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25th WPC Energy Congress logo"/>
          <p:cNvPicPr>
            <a:picLocks noChangeAspect="1"/>
          </p:cNvPicPr>
          <p:nvPr/>
        </p:nvPicPr>
        <p:blipFill>
          <a:blip r:embed="rId3"/>
          <a:stretch>
            <a:fillRect/>
          </a:stretch>
        </p:blipFill>
        <p:spPr>
          <a:xfrm>
            <a:off x="512064" y="493776"/>
            <a:ext cx="3273552" cy="1380744"/>
          </a:xfrm>
          <a:prstGeom prst="rect">
            <a:avLst/>
          </a:prstGeom>
        </p:spPr>
      </p:pic>
      <p:pic>
        <p:nvPicPr>
          <p:cNvPr id="3" name="Image 1" descr="WPC Energy and Ministry of Energy logos"/>
          <p:cNvPicPr>
            <a:picLocks noChangeAspect="1"/>
          </p:cNvPicPr>
          <p:nvPr/>
        </p:nvPicPr>
        <p:blipFill>
          <a:blip r:embed="rId4"/>
          <a:stretch>
            <a:fillRect/>
          </a:stretch>
        </p:blipFill>
        <p:spPr>
          <a:xfrm>
            <a:off x="8421624" y="594360"/>
            <a:ext cx="3383280" cy="676656"/>
          </a:xfrm>
          <a:prstGeom prst="rect">
            <a:avLst/>
          </a:prstGeom>
        </p:spPr>
      </p:pic>
      <p:sp>
        <p:nvSpPr>
          <p:cNvPr id="4" name="Text 0"/>
          <p:cNvSpPr>
            <a:spLocks noGrp="1"/>
          </p:cNvSpPr>
          <p:nvPr>
            <p:ph type="title" idx="102" hasCustomPrompt="1"/>
          </p:nvPr>
        </p:nvSpPr>
        <p:spPr>
          <a:xfrm>
            <a:off x="612648" y="3163824"/>
            <a:ext cx="6035040" cy="566928"/>
          </a:xfrm>
          <a:prstGeom prst="rect">
            <a:avLst/>
          </a:prstGeom>
          <a:noFill/>
          <a:ln/>
        </p:spPr>
        <p:txBody>
          <a:bodyPr wrap="square" rtlCol="0"/>
          <a:lstStyle>
            <a:lvl1pPr marL="0" indent="0" algn="l">
              <a:buNone/>
              <a:defRPr lang="en-US" sz="3200" b="1" dirty="0">
                <a:solidFill>
                  <a:schemeClr val="bg1"/>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5" name="Text 0"/>
          <p:cNvSpPr>
            <a:spLocks noGrp="1"/>
          </p:cNvSpPr>
          <p:nvPr>
            <p:ph type="body" idx="103" hasCustomPrompt="1"/>
          </p:nvPr>
        </p:nvSpPr>
        <p:spPr>
          <a:xfrm>
            <a:off x="612648" y="3803904"/>
            <a:ext cx="6035040" cy="329184"/>
          </a:xfrm>
          <a:prstGeom prst="rect">
            <a:avLst/>
          </a:prstGeom>
          <a:noFill/>
          <a:ln/>
        </p:spPr>
        <p:txBody>
          <a:bodyPr wrap="square" rtlCol="0"/>
          <a:lstStyle>
            <a:lvl1pPr marL="0" indent="0" algn="l">
              <a:buNone/>
              <a:defRPr lang="en-US" sz="2000" dirty="0">
                <a:solidFill>
                  <a:srgbClr val="D9D4FF"/>
                </a:solidFill>
                <a:latin typeface="Arial" pitchFamily="34" charset="0"/>
                <a:ea typeface="Arial" pitchFamily="34" charset="-122"/>
                <a:cs typeface="Arial" pitchFamily="34" charset="-120"/>
              </a:defRPr>
            </a:lvl1pPr>
          </a:lstStyle>
          <a:p>
            <a:pPr marL="0" indent="0" algn="l">
              <a:buNone/>
            </a:pPr>
            <a:endParaRPr lang="en-US" sz="2000" dirty="0"/>
          </a:p>
        </p:txBody>
      </p:sp>
      <p:sp>
        <p:nvSpPr>
          <p:cNvPr id="6" name="Text 0"/>
          <p:cNvSpPr>
            <a:spLocks noGrp="1"/>
          </p:cNvSpPr>
          <p:nvPr>
            <p:ph type="body" idx="104" hasCustomPrompt="1"/>
          </p:nvPr>
        </p:nvSpPr>
        <p:spPr>
          <a:xfrm>
            <a:off x="612648" y="4443984"/>
            <a:ext cx="6035040" cy="329184"/>
          </a:xfrm>
          <a:prstGeom prst="rect">
            <a:avLst/>
          </a:prstGeom>
          <a:noFill/>
          <a:ln/>
        </p:spPr>
        <p:txBody>
          <a:bodyPr wrap="square" rtlCol="0"/>
          <a:lstStyle>
            <a:lvl1pPr marL="0" indent="0" algn="l">
              <a:buNone/>
              <a:defRPr lang="en-US" sz="2000" b="1" dirty="0">
                <a:solidFill>
                  <a:schemeClr val="accent1"/>
                </a:solidFill>
                <a:latin typeface="Arial" pitchFamily="34" charset="0"/>
                <a:ea typeface="Arial" pitchFamily="34" charset="-122"/>
                <a:cs typeface="Arial" pitchFamily="34" charset="-120"/>
              </a:defRPr>
            </a:lvl1pPr>
          </a:lstStyle>
          <a:p>
            <a:pPr marL="0" indent="0" algn="l">
              <a:buNone/>
            </a:pPr>
            <a:endParaRPr lang="en-US" sz="2000" dirty="0"/>
          </a:p>
        </p:txBody>
      </p:sp>
      <p:sp>
        <p:nvSpPr>
          <p:cNvPr id="7" name="Text 0"/>
          <p:cNvSpPr>
            <a:spLocks noGrp="1"/>
          </p:cNvSpPr>
          <p:nvPr>
            <p:ph type="body" idx="105" hasCustomPrompt="1"/>
          </p:nvPr>
        </p:nvSpPr>
        <p:spPr>
          <a:xfrm>
            <a:off x="612648" y="4791456"/>
            <a:ext cx="6035040" cy="292608"/>
          </a:xfrm>
          <a:prstGeom prst="rect">
            <a:avLst/>
          </a:prstGeom>
          <a:noFill/>
          <a:ln/>
        </p:spPr>
        <p:txBody>
          <a:bodyPr wrap="square" rtlCol="0"/>
          <a:lstStyle>
            <a:lvl1pPr marL="0" indent="0" algn="l">
              <a:buNone/>
              <a:defRPr lang="en-US" sz="1600" dirty="0">
                <a:solidFill>
                  <a:schemeClr val="bg1"/>
                </a:solidFill>
                <a:latin typeface="Arial" pitchFamily="34" charset="0"/>
                <a:ea typeface="Arial" pitchFamily="34" charset="-122"/>
                <a:cs typeface="Arial" pitchFamily="34" charset="-120"/>
              </a:defRPr>
            </a:lvl1pPr>
          </a:lstStyle>
          <a:p>
            <a:pPr marL="0" indent="0" algn="l">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53BF-6A52-3A55-4E2D-0173CF4D76A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490DE4B1-D593-CC3C-F804-C5E68548321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7CE087ED-D878-7E75-58E1-816B23E8037A}"/>
              </a:ext>
            </a:extLst>
          </p:cNvPr>
          <p:cNvSpPr>
            <a:spLocks noGrp="1"/>
          </p:cNvSpPr>
          <p:nvPr>
            <p:ph type="dt" sz="half" idx="10"/>
          </p:nvPr>
        </p:nvSpPr>
        <p:spPr>
          <a:xfrm>
            <a:off x="331304" y="6356350"/>
            <a:ext cx="2743200" cy="365125"/>
          </a:xfrm>
          <a:prstGeom prst="rect">
            <a:avLst/>
          </a:prstGeom>
        </p:spPr>
        <p:txBody>
          <a:bodyPr/>
          <a:lstStyle/>
          <a:p>
            <a:fld id="{D2196A8F-0171-AF4D-9E96-F285C400C663}" type="datetimeFigureOut">
              <a:rPr lang="en-AE" smtClean="0"/>
              <a:t>10/11/26</a:t>
            </a:fld>
            <a:endParaRPr lang="en-AE"/>
          </a:p>
        </p:txBody>
      </p:sp>
      <p:sp>
        <p:nvSpPr>
          <p:cNvPr id="5" name="Footer Placeholder 4">
            <a:extLst>
              <a:ext uri="{FF2B5EF4-FFF2-40B4-BE49-F238E27FC236}">
                <a16:creationId xmlns:a16="http://schemas.microsoft.com/office/drawing/2014/main" id="{F76FF3D5-7242-66B9-CDA4-F58A025BDA7C}"/>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1B34FD92-AAFC-CC11-DA0D-9CFEC4C4B7A0}"/>
              </a:ext>
            </a:extLst>
          </p:cNvPr>
          <p:cNvSpPr>
            <a:spLocks noGrp="1"/>
          </p:cNvSpPr>
          <p:nvPr>
            <p:ph type="sldNum" sz="quarter" idx="12"/>
          </p:nvPr>
        </p:nvSpPr>
        <p:spPr>
          <a:xfrm>
            <a:off x="331304" y="6356350"/>
            <a:ext cx="2743200" cy="365125"/>
          </a:xfrm>
          <a:prstGeom prst="rect">
            <a:avLst/>
          </a:prstGeom>
        </p:spPr>
        <p:txBody>
          <a:bodyPr/>
          <a:lstStyle/>
          <a:p>
            <a:fld id="{388DA25C-1014-654B-B0A9-357B89C41D9C}" type="slidenum">
              <a:rPr lang="en-AE" smtClean="0"/>
              <a:t>‹#›</a:t>
            </a:fld>
            <a:endParaRPr lang="en-AE"/>
          </a:p>
        </p:txBody>
      </p:sp>
    </p:spTree>
    <p:extLst>
      <p:ext uri="{BB962C8B-B14F-4D97-AF65-F5344CB8AC3E}">
        <p14:creationId xmlns:p14="http://schemas.microsoft.com/office/powerpoint/2010/main" val="39035159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 Id="rId100" Type="http://schemas.openxmlformats.org/officeDocument/2006/relationships/image" Target="../media/image15.png"/><Relationship Id="rId101" Type="http://schemas.openxmlformats.org/officeDocument/2006/relationships/image" Target="../media/image16.png"/><Relationship Id="rId102" Type="http://schemas.openxmlformats.org/officeDocument/2006/relationships/image" Target="../media/image17.png"/><Relationship Id="rId103" Type="http://schemas.openxmlformats.org/officeDocument/2006/relationships/image" Target="../media/image18.png"/><Relationship Id="rId104" Type="http://schemas.openxmlformats.org/officeDocument/2006/relationships/image" Target="../media/image9.png"/><Relationship Id="rId105" Type="http://schemas.openxmlformats.org/officeDocument/2006/relationships/image" Target="../media/image19.png"/><Relationship Id="rId106" Type="http://schemas.openxmlformats.org/officeDocument/2006/relationships/image" Target="../media/image20.png"/><Relationship Id="rId107" Type="http://schemas.openxmlformats.org/officeDocument/2006/relationships/image" Target="../media/image21.png"/><Relationship Id="rId108" Type="http://schemas.openxmlformats.org/officeDocument/2006/relationships/image" Target="../media/image13.jpg"/><Relationship Id="rId109"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 Id="rId100" Type="http://schemas.openxmlformats.org/officeDocument/2006/relationships/image" Target="../media/image2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 Id="rId100"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3" hasCustomPrompt="1"/>
          </p:nvPr>
        </p:nvSpPr>
        <p:spPr>
          <a:xfrm>
            <a:off x="633832" y="1900000"/>
            <a:ext cx="6900000" cy="1700000"/>
          </a:xfrm>
          <a:prstGeom prst="rect">
            <a:avLst/>
          </a:prstGeom>
          <a:noFill/>
          <a:ln/>
        </p:spPr>
        <p:txBody>
          <a:bodyPr wrap="square" lIns="0" tIns="0" rIns="0" bIns="0" rtlCol="0" anchor="b"/>
          <a:lstStyle/>
          <a:p>
            <a:pPr marL="0" indent="0" algn="l">
              <a:buNone/>
            </a:pPr>
            <a:r>
              <a:rPr lang="en-US" sz="2800" b="1" dirty="0">
                <a:solidFill>
                  <a:schemeClr val="bg1"/>
                </a:solidFill>
                <a:latin typeface="Arial" pitchFamily="34" charset="0"/>
                <a:ea typeface="Arial" pitchFamily="34" charset="-122"/>
                <a:cs typeface="Arial" pitchFamily="34" charset="-120"/>
              </a:rPr>
              <a:t>Capturing CO₂ Directly from Air: </a:t>
            </a:r>
            <a:br>
              <a:rPr lang="en-US" sz="2800" b="1" dirty="0">
                <a:solidFill>
                  <a:schemeClr val="bg1"/>
                </a:solidFill>
                <a:latin typeface="Arial" pitchFamily="34" charset="0"/>
                <a:ea typeface="Arial" pitchFamily="34" charset="-122"/>
                <a:cs typeface="Arial" pitchFamily="34" charset="-120"/>
              </a:rPr>
            </a:br>
            <a:r>
              <a:rPr lang="en-US" sz="2800" b="1" dirty="0">
                <a:solidFill>
                  <a:schemeClr val="bg1"/>
                </a:solidFill>
                <a:latin typeface="Arial" pitchFamily="34" charset="0"/>
                <a:ea typeface="Arial" pitchFamily="34" charset="-122"/>
                <a:cs typeface="Arial" pitchFamily="34" charset="-120"/>
              </a:rPr>
              <a:t>Bimetal-Engineered MOFs with Moisture-Responsive Regeneration</a:t>
            </a:r>
          </a:p>
        </p:txBody>
      </p:sp>
      <p:sp>
        <p:nvSpPr>
          <p:cNvPr id="6" name="Text 1"/>
          <p:cNvSpPr>
            <a:spLocks noGrp="1"/>
          </p:cNvSpPr>
          <p:nvPr>
            <p:ph type="body" idx="107" hasCustomPrompt="1"/>
          </p:nvPr>
        </p:nvSpPr>
        <p:spPr>
          <a:xfrm>
            <a:off x="502921" y="4897402"/>
            <a:ext cx="6766560" cy="274320"/>
          </a:xfrm>
          <a:prstGeom prst="rect">
            <a:avLst/>
          </a:prstGeom>
          <a:noFill/>
          <a:ln/>
        </p:spPr>
        <p:txBody>
          <a:bodyPr wrap="square" lIns="0" tIns="0" rIns="0" bIns="0" rtlCol="0" anchor="t"/>
          <a:lstStyle/>
          <a:p>
            <a:pPr marL="0" indent="0" algn="l">
              <a:buNone/>
            </a:pPr>
            <a:r>
              <a:rPr lang="en-US" sz="2000" dirty="0">
                <a:solidFill>
                  <a:srgbClr val="D9D4FF"/>
                </a:solidFill>
                <a:latin typeface="Arial" pitchFamily="34" charset="0"/>
                <a:ea typeface="Arial" pitchFamily="34" charset="-122"/>
                <a:cs typeface="Arial" pitchFamily="34" charset="-120"/>
              </a:rPr>
              <a:t>Supervisor: </a:t>
            </a:r>
            <a:r>
              <a:rPr lang="en-US" sz="2000" dirty="0">
                <a:solidFill>
                  <a:schemeClr val="bg1"/>
                </a:solidFill>
                <a:latin typeface="Arial" pitchFamily="34" charset="0"/>
                <a:ea typeface="Arial" pitchFamily="34" charset="-122"/>
                <a:cs typeface="Arial" pitchFamily="34" charset="-120"/>
              </a:rPr>
              <a:t>Dr. Lana Alghamdi</a:t>
            </a:r>
            <a:endParaRPr lang="en-US" sz="2000" dirty="0"/>
          </a:p>
        </p:txBody>
      </p:sp>
      <p:sp>
        <p:nvSpPr>
          <p:cNvPr id="7" name="Text 1"/>
          <p:cNvSpPr>
            <a:spLocks noGrp="1"/>
          </p:cNvSpPr>
          <p:nvPr>
            <p:ph type="body" idx="108" hasCustomPrompt="1"/>
          </p:nvPr>
        </p:nvSpPr>
        <p:spPr>
          <a:xfrm>
            <a:off x="534925" y="5427793"/>
            <a:ext cx="6766560" cy="493776"/>
          </a:xfrm>
          <a:prstGeom prst="rect">
            <a:avLst/>
          </a:prstGeom>
          <a:noFill/>
          <a:ln/>
        </p:spPr>
        <p:txBody>
          <a:bodyPr wrap="square" lIns="0" tIns="0" rIns="0" bIns="0" rtlCol="0" anchor="t"/>
          <a:lstStyle/>
          <a:p>
            <a:pPr marL="0" indent="0" algn="l">
              <a:buNone/>
            </a:pPr>
            <a:r>
              <a:rPr lang="en-US" sz="2000" b="1" dirty="0">
                <a:solidFill>
                  <a:schemeClr val="bg1"/>
                </a:solidFill>
                <a:latin typeface="Arial" pitchFamily="34" charset="0"/>
                <a:ea typeface="Arial" pitchFamily="34" charset="-122"/>
                <a:cs typeface="Arial" pitchFamily="34" charset="-120"/>
              </a:rPr>
              <a:t>Advanced Materials Technologies Institute</a:t>
            </a:r>
            <a:endParaRPr lang="en-US" sz="2000" dirty="0"/>
          </a:p>
          <a:p>
            <a:pPr marL="0" indent="0" algn="l">
              <a:buNone/>
            </a:pPr>
            <a:r>
              <a:rPr lang="en-US" sz="1800" b="1" dirty="0">
                <a:solidFill>
                  <a:schemeClr val="bg1"/>
                </a:solidFill>
                <a:latin typeface="Arial" pitchFamily="34" charset="0"/>
                <a:ea typeface="Arial" pitchFamily="34" charset="-122"/>
                <a:cs typeface="Arial" pitchFamily="34" charset="-120"/>
              </a:rPr>
              <a:t>King Abdulaziz City for Science and Technology (KACST)</a:t>
            </a:r>
            <a:endParaRPr lang="en-US" sz="1800" dirty="0"/>
          </a:p>
        </p:txBody>
      </p:sp>
      <p:sp>
        <p:nvSpPr>
          <p:cNvPr id="4" name="Text 1"/>
          <p:cNvSpPr>
            <a:spLocks noGrp="1"/>
          </p:cNvSpPr>
          <p:nvPr>
            <p:ph type="body" idx="105" hasCustomPrompt="1"/>
          </p:nvPr>
        </p:nvSpPr>
        <p:spPr>
          <a:xfrm>
            <a:off x="594360" y="3842021"/>
            <a:ext cx="6766560" cy="384048"/>
          </a:xfrm>
          <a:prstGeom prst="rect">
            <a:avLst/>
          </a:prstGeom>
          <a:noFill/>
          <a:ln/>
        </p:spPr>
        <p:txBody>
          <a:bodyPr wrap="square" lIns="0" tIns="0" rIns="0" bIns="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Raghad AlSawilam</a:t>
            </a:r>
            <a:endParaRPr lang="en-US" sz="2400" dirty="0"/>
          </a:p>
        </p:txBody>
      </p:sp>
      <p:sp>
        <p:nvSpPr>
          <p:cNvPr id="9" name="Title visual panel"/>
          <p:cNvSpPr/>
          <p:nvPr/>
        </p:nvSpPr>
        <p:spPr>
          <a:xfrm>
            <a:off x="7680960" y="1993392"/>
            <a:ext cx="4050792" cy="3877056"/>
          </a:xfrm>
          <a:prstGeom prst="roundRect">
            <a:avLst>
              <a:gd name="adj" fmla="val 2358"/>
            </a:avLst>
          </a:prstGeom>
          <a:solidFill>
            <a:srgbClr val="000000">
              <a:alpha val="58000"/>
            </a:srgbClr>
          </a:solidFill>
          <a:ln w="6350">
            <a:solidFill>
              <a:srgbClr val="FFFFFF">
                <a:alpha val="30000"/>
              </a:srgbClr>
            </a:solidFill>
            <a:prstDash val="solid"/>
          </a:ln>
        </p:spPr>
      </p:sp>
      <p:sp>
        <p:nvSpPr>
          <p:cNvPr id="10" name="Section label FROM AMBIENT AIR TO CO₂ CAPTURE"/>
          <p:cNvSpPr txBox="1"/>
          <p:nvPr/>
        </p:nvSpPr>
        <p:spPr>
          <a:xfrm>
            <a:off x="7909560" y="2139696"/>
            <a:ext cx="3566160" cy="219456"/>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FROM AMBIENT AIR TO CO₂ CAPTURE</a:t>
            </a:r>
            <a:endParaRPr lang="en-US" sz="1000" dirty="0"/>
          </a:p>
        </p:txBody>
      </p:sp>
      <p:sp>
        <p:nvSpPr>
          <p:cNvPr id="11" name="Title stage 1 glyph box"/>
          <p:cNvSpPr/>
          <p:nvPr/>
        </p:nvSpPr>
        <p:spPr>
          <a:xfrm>
            <a:off x="7909560" y="2496312"/>
            <a:ext cx="1280160" cy="676656"/>
          </a:xfrm>
          <a:prstGeom prst="roundRect">
            <a:avLst>
              <a:gd name="adj" fmla="val 10811"/>
            </a:avLst>
          </a:prstGeom>
          <a:solidFill>
            <a:srgbClr val="FFFFFF">
              <a:alpha val="12000"/>
            </a:srgbClr>
          </a:solidFill>
          <a:ln w="6350">
            <a:solidFill>
              <a:srgbClr val="FFFFFF">
                <a:alpha val="25000"/>
              </a:srgbClr>
            </a:solidFill>
            <a:prstDash val="solid"/>
          </a:ln>
        </p:spPr>
      </p:sp>
      <p:sp>
        <p:nvSpPr>
          <p:cNvPr id="12" name="Title air N2/O2 atom"/>
          <p:cNvSpPr/>
          <p:nvPr/>
        </p:nvSpPr>
        <p:spPr>
          <a:xfrm>
            <a:off x="8070537" y="2594476"/>
            <a:ext cx="132857" cy="132857"/>
          </a:xfrm>
          <a:prstGeom prst="ellipse">
            <a:avLst/>
          </a:prstGeom>
          <a:solidFill>
            <a:srgbClr val="B4B8C5"/>
          </a:solidFill>
          <a:ln w="9525">
            <a:solidFill>
              <a:srgbClr val="FFFFFF"/>
            </a:solidFill>
            <a:prstDash val="solid"/>
          </a:ln>
        </p:spPr>
      </p:sp>
      <p:sp>
        <p:nvSpPr>
          <p:cNvPr id="13" name="Title air N2/O2 atom"/>
          <p:cNvSpPr/>
          <p:nvPr/>
        </p:nvSpPr>
        <p:spPr>
          <a:xfrm>
            <a:off x="8166194" y="2594476"/>
            <a:ext cx="132857" cy="132857"/>
          </a:xfrm>
          <a:prstGeom prst="ellipse">
            <a:avLst/>
          </a:prstGeom>
          <a:solidFill>
            <a:srgbClr val="B4B8C5"/>
          </a:solidFill>
          <a:ln w="9525">
            <a:solidFill>
              <a:srgbClr val="FFFFFF"/>
            </a:solidFill>
            <a:prstDash val="solid"/>
          </a:ln>
        </p:spPr>
      </p:sp>
      <p:sp>
        <p:nvSpPr>
          <p:cNvPr id="14" name="Title air N2/O2 atom"/>
          <p:cNvSpPr/>
          <p:nvPr/>
        </p:nvSpPr>
        <p:spPr>
          <a:xfrm>
            <a:off x="8478817" y="2976695"/>
            <a:ext cx="132857" cy="132857"/>
          </a:xfrm>
          <a:prstGeom prst="ellipse">
            <a:avLst/>
          </a:prstGeom>
          <a:solidFill>
            <a:srgbClr val="B4B8C5"/>
          </a:solidFill>
          <a:ln w="9525">
            <a:solidFill>
              <a:srgbClr val="FFFFFF"/>
            </a:solidFill>
            <a:prstDash val="solid"/>
          </a:ln>
        </p:spPr>
      </p:sp>
      <p:sp>
        <p:nvSpPr>
          <p:cNvPr id="15" name="Title air N2/O2 atom"/>
          <p:cNvSpPr/>
          <p:nvPr/>
        </p:nvSpPr>
        <p:spPr>
          <a:xfrm>
            <a:off x="8574474" y="2976695"/>
            <a:ext cx="132857" cy="132857"/>
          </a:xfrm>
          <a:prstGeom prst="ellipse">
            <a:avLst/>
          </a:prstGeom>
          <a:solidFill>
            <a:srgbClr val="B4B8C5"/>
          </a:solidFill>
          <a:ln w="9525">
            <a:solidFill>
              <a:srgbClr val="FFFFFF"/>
            </a:solidFill>
            <a:prstDash val="solid"/>
          </a:ln>
        </p:spPr>
      </p:sp>
      <p:sp>
        <p:nvSpPr>
          <p:cNvPr id="16" name="Title air N2/O2 atom"/>
          <p:cNvSpPr/>
          <p:nvPr/>
        </p:nvSpPr>
        <p:spPr>
          <a:xfrm>
            <a:off x="8826289" y="2577102"/>
            <a:ext cx="132857" cy="132857"/>
          </a:xfrm>
          <a:prstGeom prst="ellipse">
            <a:avLst/>
          </a:prstGeom>
          <a:solidFill>
            <a:srgbClr val="B4B8C5"/>
          </a:solidFill>
          <a:ln w="9525">
            <a:solidFill>
              <a:srgbClr val="FFFFFF"/>
            </a:solidFill>
            <a:prstDash val="solid"/>
          </a:ln>
        </p:spPr>
      </p:sp>
      <p:sp>
        <p:nvSpPr>
          <p:cNvPr id="17" name="Title air N2/O2 atom"/>
          <p:cNvSpPr/>
          <p:nvPr/>
        </p:nvSpPr>
        <p:spPr>
          <a:xfrm>
            <a:off x="8921946" y="2577102"/>
            <a:ext cx="132857" cy="132857"/>
          </a:xfrm>
          <a:prstGeom prst="ellipse">
            <a:avLst/>
          </a:prstGeom>
          <a:solidFill>
            <a:srgbClr val="B4B8C5"/>
          </a:solidFill>
          <a:ln w="9525">
            <a:solidFill>
              <a:srgbClr val="FFFFFF"/>
            </a:solidFill>
            <a:prstDash val="solid"/>
          </a:ln>
        </p:spPr>
      </p:sp>
      <p:sp>
        <p:nvSpPr>
          <p:cNvPr id="18" name="Title air N2/O2 atom"/>
          <p:cNvSpPr/>
          <p:nvPr/>
        </p:nvSpPr>
        <p:spPr>
          <a:xfrm>
            <a:off x="8001043" y="3002755"/>
            <a:ext cx="132857" cy="132857"/>
          </a:xfrm>
          <a:prstGeom prst="ellipse">
            <a:avLst/>
          </a:prstGeom>
          <a:solidFill>
            <a:srgbClr val="B4B8C5"/>
          </a:solidFill>
          <a:ln w="9525">
            <a:solidFill>
              <a:srgbClr val="FFFFFF"/>
            </a:solidFill>
            <a:prstDash val="solid"/>
          </a:ln>
        </p:spPr>
      </p:sp>
      <p:sp>
        <p:nvSpPr>
          <p:cNvPr id="19" name="Title air N2/O2 atom"/>
          <p:cNvSpPr/>
          <p:nvPr/>
        </p:nvSpPr>
        <p:spPr>
          <a:xfrm>
            <a:off x="8096700" y="3002755"/>
            <a:ext cx="132857" cy="132857"/>
          </a:xfrm>
          <a:prstGeom prst="ellipse">
            <a:avLst/>
          </a:prstGeom>
          <a:solidFill>
            <a:srgbClr val="B4B8C5"/>
          </a:solidFill>
          <a:ln w="9525">
            <a:solidFill>
              <a:srgbClr val="FFFFFF"/>
            </a:solidFill>
            <a:prstDash val="solid"/>
          </a:ln>
        </p:spPr>
      </p:sp>
      <p:sp>
        <p:nvSpPr>
          <p:cNvPr id="20" name="Title air CO2 O"/>
          <p:cNvSpPr/>
          <p:nvPr/>
        </p:nvSpPr>
        <p:spPr>
          <a:xfrm>
            <a:off x="8419338" y="2604106"/>
            <a:ext cx="113597" cy="113597"/>
          </a:xfrm>
          <a:prstGeom prst="ellipse">
            <a:avLst/>
          </a:prstGeom>
          <a:solidFill>
            <a:schemeClr val="accent5"/>
          </a:solidFill>
          <a:ln w="9525">
            <a:solidFill>
              <a:srgbClr val="FFFFFF"/>
            </a:solidFill>
            <a:prstDash val="solid"/>
          </a:ln>
        </p:spPr>
      </p:sp>
      <p:sp>
        <p:nvSpPr>
          <p:cNvPr id="21" name="Title air CO2 O"/>
          <p:cNvSpPr/>
          <p:nvPr/>
        </p:nvSpPr>
        <p:spPr>
          <a:xfrm>
            <a:off x="8601093" y="2604106"/>
            <a:ext cx="113597" cy="113597"/>
          </a:xfrm>
          <a:prstGeom prst="ellipse">
            <a:avLst/>
          </a:prstGeom>
          <a:solidFill>
            <a:schemeClr val="accent5"/>
          </a:solidFill>
          <a:ln w="9525">
            <a:solidFill>
              <a:srgbClr val="FFFFFF"/>
            </a:solidFill>
            <a:prstDash val="solid"/>
          </a:ln>
        </p:spPr>
      </p:sp>
      <p:sp>
        <p:nvSpPr>
          <p:cNvPr id="22" name="Title air CO2 C"/>
          <p:cNvSpPr/>
          <p:nvPr/>
        </p:nvSpPr>
        <p:spPr>
          <a:xfrm>
            <a:off x="8514759" y="2608650"/>
            <a:ext cx="104509" cy="104509"/>
          </a:xfrm>
          <a:prstGeom prst="ellipse">
            <a:avLst/>
          </a:prstGeom>
          <a:solidFill>
            <a:schemeClr val="tx2"/>
          </a:solidFill>
          <a:ln w="9525">
            <a:solidFill>
              <a:srgbClr val="FFFFFF"/>
            </a:solidFill>
            <a:prstDash val="solid"/>
          </a:ln>
        </p:spPr>
      </p:sp>
      <p:sp>
        <p:nvSpPr>
          <p:cNvPr id="23" name="Title air H2O H"/>
          <p:cNvSpPr/>
          <p:nvPr/>
        </p:nvSpPr>
        <p:spPr>
          <a:xfrm>
            <a:off x="8890163" y="3047756"/>
            <a:ext cx="71811" cy="71811"/>
          </a:xfrm>
          <a:prstGeom prst="ellipse">
            <a:avLst/>
          </a:prstGeom>
          <a:solidFill>
            <a:schemeClr val="bg1"/>
          </a:solidFill>
          <a:ln w="9525">
            <a:solidFill>
              <a:srgbClr val="8D96AA"/>
            </a:solidFill>
            <a:prstDash val="solid"/>
          </a:ln>
        </p:spPr>
      </p:sp>
      <p:sp>
        <p:nvSpPr>
          <p:cNvPr id="24" name="Title air H2O H"/>
          <p:cNvSpPr/>
          <p:nvPr/>
        </p:nvSpPr>
        <p:spPr>
          <a:xfrm>
            <a:off x="9005987" y="3047756"/>
            <a:ext cx="71811" cy="71811"/>
          </a:xfrm>
          <a:prstGeom prst="ellipse">
            <a:avLst/>
          </a:prstGeom>
          <a:solidFill>
            <a:schemeClr val="bg1"/>
          </a:solidFill>
          <a:ln w="9525">
            <a:solidFill>
              <a:srgbClr val="8D96AA"/>
            </a:solidFill>
            <a:prstDash val="solid"/>
          </a:ln>
        </p:spPr>
      </p:sp>
      <p:sp>
        <p:nvSpPr>
          <p:cNvPr id="25" name="Title air H2O O"/>
          <p:cNvSpPr/>
          <p:nvPr/>
        </p:nvSpPr>
        <p:spPr>
          <a:xfrm>
            <a:off x="8926068" y="2982316"/>
            <a:ext cx="115824" cy="115824"/>
          </a:xfrm>
          <a:prstGeom prst="ellipse">
            <a:avLst/>
          </a:prstGeom>
          <a:solidFill>
            <a:schemeClr val="accent4"/>
          </a:solidFill>
          <a:ln w="9525">
            <a:solidFill>
              <a:srgbClr val="FFFFFF"/>
            </a:solidFill>
            <a:prstDash val="solid"/>
          </a:ln>
        </p:spPr>
      </p:sp>
      <p:sp>
        <p:nvSpPr>
          <p:cNvPr id="26" name="Text 24"/>
          <p:cNvSpPr txBox="1"/>
          <p:nvPr/>
        </p:nvSpPr>
        <p:spPr>
          <a:xfrm>
            <a:off x="9372600" y="2569464"/>
            <a:ext cx="2194560" cy="274320"/>
          </a:xfrm>
          <a:prstGeom prst="rect">
            <a:avLst/>
          </a:prstGeom>
          <a:noFill/>
          <a:ln/>
        </p:spPr>
        <p:txBody>
          <a:bodyPr wrap="square" lIns="0" tIns="0" rIns="0" bIns="0" rtlCol="0" anchor="ctr"/>
          <a:lstStyle/>
          <a:p>
            <a:pPr marL="0" indent="0">
              <a:buNone/>
            </a:pPr>
            <a:r>
              <a:rPr lang="en-US" sz="1400" b="1" dirty="0">
                <a:solidFill>
                  <a:schemeClr val="bg1"/>
                </a:solidFill>
                <a:latin typeface="Arial" pitchFamily="34" charset="0"/>
                <a:ea typeface="Arial" pitchFamily="34" charset="-122"/>
                <a:cs typeface="Arial" pitchFamily="34" charset="-120"/>
              </a:rPr>
              <a:t>Ambient Air</a:t>
            </a:r>
            <a:endParaRPr lang="en-US" sz="1400" dirty="0"/>
          </a:p>
        </p:txBody>
      </p:sp>
      <p:sp>
        <p:nvSpPr>
          <p:cNvPr id="27" name="Text 25"/>
          <p:cNvSpPr txBox="1"/>
          <p:nvPr/>
        </p:nvSpPr>
        <p:spPr>
          <a:xfrm>
            <a:off x="9372600" y="2843784"/>
            <a:ext cx="2240280" cy="292608"/>
          </a:xfrm>
          <a:prstGeom prst="rect">
            <a:avLst/>
          </a:prstGeom>
          <a:noFill/>
          <a:ln/>
        </p:spPr>
        <p:txBody>
          <a:bodyPr wrap="square" lIns="0" tIns="0" rIns="0" bIns="0" rtlCol="0" anchor="t"/>
          <a:lstStyle/>
          <a:p>
            <a:pPr marL="0" indent="0">
              <a:buNone/>
            </a:pPr>
            <a:r>
              <a:rPr lang="en-US" sz="1050" dirty="0">
                <a:solidFill>
                  <a:srgbClr val="D9D4FF"/>
                </a:solidFill>
                <a:latin typeface="Arial" pitchFamily="34" charset="0"/>
                <a:ea typeface="Arial" pitchFamily="34" charset="-122"/>
                <a:cs typeface="Arial" pitchFamily="34" charset="-120"/>
              </a:rPr>
              <a:t>Low CO₂ concentration, with water vapor</a:t>
            </a:r>
            <a:endParaRPr lang="en-US" sz="1050" dirty="0"/>
          </a:p>
        </p:txBody>
      </p:sp>
      <p:sp>
        <p:nvSpPr>
          <p:cNvPr id="28" name="Title flow arrow 1"/>
          <p:cNvSpPr/>
          <p:nvPr/>
        </p:nvSpPr>
        <p:spPr>
          <a:xfrm>
            <a:off x="8476488" y="3191256"/>
            <a:ext cx="146304" cy="137160"/>
          </a:xfrm>
          <a:prstGeom prst="downArrow">
            <a:avLst/>
          </a:prstGeom>
          <a:solidFill>
            <a:schemeClr val="accent1"/>
          </a:solidFill>
          <a:ln w="12700">
            <a:solidFill>
              <a:schemeClr val="accent1"/>
            </a:solidFill>
            <a:prstDash val="solid"/>
          </a:ln>
        </p:spPr>
      </p:sp>
      <p:sp>
        <p:nvSpPr>
          <p:cNvPr id="29" name="Title stage 2 glyph box"/>
          <p:cNvSpPr/>
          <p:nvPr/>
        </p:nvSpPr>
        <p:spPr>
          <a:xfrm>
            <a:off x="7909560" y="3337560"/>
            <a:ext cx="1280160" cy="676656"/>
          </a:xfrm>
          <a:prstGeom prst="roundRect">
            <a:avLst>
              <a:gd name="adj" fmla="val 10811"/>
            </a:avLst>
          </a:prstGeom>
          <a:solidFill>
            <a:srgbClr val="FFFFFF">
              <a:alpha val="12000"/>
            </a:srgbClr>
          </a:solidFill>
          <a:ln w="6350">
            <a:solidFill>
              <a:srgbClr val="FFFFFF">
                <a:alpha val="25000"/>
              </a:srgbClr>
            </a:solidFill>
            <a:prstDash val="solid"/>
          </a:ln>
        </p:spPr>
      </p:sp>
      <p:sp>
        <p:nvSpPr>
          <p:cNvPr id="30" name="Title CO2 O"/>
          <p:cNvSpPr/>
          <p:nvPr/>
        </p:nvSpPr>
        <p:spPr>
          <a:xfrm>
            <a:off x="8193024" y="3538728"/>
            <a:ext cx="274320" cy="274320"/>
          </a:xfrm>
          <a:prstGeom prst="ellipse">
            <a:avLst/>
          </a:prstGeom>
          <a:solidFill>
            <a:schemeClr val="accent5"/>
          </a:solidFill>
          <a:ln w="9525">
            <a:solidFill>
              <a:srgbClr val="FFFFFF"/>
            </a:solidFill>
            <a:prstDash val="solid"/>
          </a:ln>
        </p:spPr>
      </p:sp>
      <p:sp>
        <p:nvSpPr>
          <p:cNvPr id="31" name="Title CO2 O"/>
          <p:cNvSpPr/>
          <p:nvPr/>
        </p:nvSpPr>
        <p:spPr>
          <a:xfrm>
            <a:off x="8631936" y="3538728"/>
            <a:ext cx="274320" cy="274320"/>
          </a:xfrm>
          <a:prstGeom prst="ellipse">
            <a:avLst/>
          </a:prstGeom>
          <a:solidFill>
            <a:schemeClr val="accent5"/>
          </a:solidFill>
          <a:ln w="9525">
            <a:solidFill>
              <a:srgbClr val="FFFFFF"/>
            </a:solidFill>
            <a:prstDash val="solid"/>
          </a:ln>
        </p:spPr>
      </p:sp>
      <p:sp>
        <p:nvSpPr>
          <p:cNvPr id="32" name="Title CO2 C"/>
          <p:cNvSpPr/>
          <p:nvPr/>
        </p:nvSpPr>
        <p:spPr>
          <a:xfrm>
            <a:off x="8423453" y="3549701"/>
            <a:ext cx="252374" cy="252374"/>
          </a:xfrm>
          <a:prstGeom prst="ellipse">
            <a:avLst/>
          </a:prstGeom>
          <a:solidFill>
            <a:schemeClr val="tx2"/>
          </a:solidFill>
          <a:ln w="9525">
            <a:solidFill>
              <a:srgbClr val="FFFFFF"/>
            </a:solidFill>
            <a:prstDash val="solid"/>
          </a:ln>
        </p:spPr>
      </p:sp>
      <p:sp>
        <p:nvSpPr>
          <p:cNvPr id="33" name="Text 31"/>
          <p:cNvSpPr txBox="1"/>
          <p:nvPr/>
        </p:nvSpPr>
        <p:spPr>
          <a:xfrm>
            <a:off x="9372600" y="3410712"/>
            <a:ext cx="2194560" cy="274320"/>
          </a:xfrm>
          <a:prstGeom prst="rect">
            <a:avLst/>
          </a:prstGeom>
          <a:noFill/>
          <a:ln/>
        </p:spPr>
        <p:txBody>
          <a:bodyPr wrap="square" lIns="0" tIns="0" rIns="0" bIns="0" rtlCol="0" anchor="ctr"/>
          <a:lstStyle/>
          <a:p>
            <a:pPr marL="0" indent="0">
              <a:buNone/>
            </a:pPr>
            <a:r>
              <a:rPr lang="en-US" sz="1400" b="1" dirty="0">
                <a:solidFill>
                  <a:schemeClr val="bg1"/>
                </a:solidFill>
                <a:latin typeface="Arial" pitchFamily="34" charset="0"/>
                <a:ea typeface="Arial" pitchFamily="34" charset="-122"/>
                <a:cs typeface="Arial" pitchFamily="34" charset="-120"/>
              </a:rPr>
              <a:t>CO₂</a:t>
            </a:r>
            <a:endParaRPr lang="en-US" sz="1400" dirty="0"/>
          </a:p>
        </p:txBody>
      </p:sp>
      <p:sp>
        <p:nvSpPr>
          <p:cNvPr id="34" name="Text 32"/>
          <p:cNvSpPr txBox="1"/>
          <p:nvPr/>
        </p:nvSpPr>
        <p:spPr>
          <a:xfrm>
            <a:off x="9372600" y="3685032"/>
            <a:ext cx="2240280" cy="292608"/>
          </a:xfrm>
          <a:prstGeom prst="rect">
            <a:avLst/>
          </a:prstGeom>
          <a:noFill/>
          <a:ln/>
        </p:spPr>
        <p:txBody>
          <a:bodyPr wrap="square" lIns="0" tIns="0" rIns="0" bIns="0" rtlCol="0" anchor="t"/>
          <a:lstStyle/>
          <a:p>
            <a:pPr marL="0" indent="0">
              <a:buNone/>
            </a:pPr>
            <a:r>
              <a:rPr lang="en-US" sz="1050" dirty="0">
                <a:solidFill>
                  <a:srgbClr val="D9D4FF"/>
                </a:solidFill>
                <a:latin typeface="Arial" pitchFamily="34" charset="0"/>
                <a:ea typeface="Arial" pitchFamily="34" charset="-122"/>
                <a:cs typeface="Arial" pitchFamily="34" charset="-120"/>
              </a:rPr>
              <a:t>The target molecule</a:t>
            </a:r>
            <a:endParaRPr lang="en-US" sz="1050" dirty="0"/>
          </a:p>
        </p:txBody>
      </p:sp>
      <p:sp>
        <p:nvSpPr>
          <p:cNvPr id="35" name="Title flow arrow 2"/>
          <p:cNvSpPr/>
          <p:nvPr/>
        </p:nvSpPr>
        <p:spPr>
          <a:xfrm>
            <a:off x="8476488" y="4032504"/>
            <a:ext cx="146304" cy="137160"/>
          </a:xfrm>
          <a:prstGeom prst="downArrow">
            <a:avLst/>
          </a:prstGeom>
          <a:solidFill>
            <a:schemeClr val="accent1"/>
          </a:solidFill>
          <a:ln w="12700">
            <a:solidFill>
              <a:schemeClr val="accent1"/>
            </a:solidFill>
            <a:prstDash val="solid"/>
          </a:ln>
        </p:spPr>
      </p:sp>
      <p:sp>
        <p:nvSpPr>
          <p:cNvPr id="36" name="Title stage 3 glyph box"/>
          <p:cNvSpPr/>
          <p:nvPr/>
        </p:nvSpPr>
        <p:spPr>
          <a:xfrm>
            <a:off x="7909560" y="4178808"/>
            <a:ext cx="1280160" cy="676656"/>
          </a:xfrm>
          <a:prstGeom prst="roundRect">
            <a:avLst>
              <a:gd name="adj" fmla="val 10811"/>
            </a:avLst>
          </a:prstGeom>
          <a:solidFill>
            <a:srgbClr val="FFFFFF">
              <a:alpha val="12000"/>
            </a:srgbClr>
          </a:solidFill>
          <a:ln w="6350">
            <a:solidFill>
              <a:srgbClr val="FFFFFF">
                <a:alpha val="25000"/>
              </a:srgbClr>
            </a:solidFill>
            <a:prstDash val="solid"/>
          </a:ln>
        </p:spPr>
      </p:sp>
      <p:sp>
        <p:nvSpPr>
          <p:cNvPr id="37" name="Title MOF linker"/>
          <p:cNvSpPr/>
          <p:nvPr/>
        </p:nvSpPr>
        <p:spPr>
          <a:xfrm>
            <a:off x="8321040" y="4288536"/>
            <a:ext cx="457200" cy="0"/>
          </a:xfrm>
          <a:prstGeom prst="line">
            <a:avLst/>
          </a:prstGeom>
          <a:noFill/>
          <a:ln w="38100">
            <a:solidFill>
              <a:srgbClr val="BDB6F5"/>
            </a:solidFill>
            <a:prstDash val="solid"/>
          </a:ln>
        </p:spPr>
      </p:sp>
      <p:sp>
        <p:nvSpPr>
          <p:cNvPr id="38" name="Title MOF linker"/>
          <p:cNvSpPr/>
          <p:nvPr/>
        </p:nvSpPr>
        <p:spPr>
          <a:xfrm>
            <a:off x="8321040" y="4288536"/>
            <a:ext cx="0" cy="457200"/>
          </a:xfrm>
          <a:prstGeom prst="line">
            <a:avLst/>
          </a:prstGeom>
          <a:noFill/>
          <a:ln w="38100">
            <a:solidFill>
              <a:srgbClr val="BDB6F5"/>
            </a:solidFill>
            <a:prstDash val="solid"/>
          </a:ln>
        </p:spPr>
      </p:sp>
      <p:sp>
        <p:nvSpPr>
          <p:cNvPr id="39" name="Title MOF linker"/>
          <p:cNvSpPr/>
          <p:nvPr/>
        </p:nvSpPr>
        <p:spPr>
          <a:xfrm>
            <a:off x="8778240" y="4288536"/>
            <a:ext cx="0" cy="457200"/>
          </a:xfrm>
          <a:prstGeom prst="line">
            <a:avLst/>
          </a:prstGeom>
          <a:noFill/>
          <a:ln w="38100">
            <a:solidFill>
              <a:srgbClr val="BDB6F5"/>
            </a:solidFill>
            <a:prstDash val="solid"/>
          </a:ln>
        </p:spPr>
      </p:sp>
      <p:sp>
        <p:nvSpPr>
          <p:cNvPr id="40" name="Title MOF linker"/>
          <p:cNvSpPr/>
          <p:nvPr/>
        </p:nvSpPr>
        <p:spPr>
          <a:xfrm>
            <a:off x="8321040" y="4745736"/>
            <a:ext cx="457200" cy="0"/>
          </a:xfrm>
          <a:prstGeom prst="line">
            <a:avLst/>
          </a:prstGeom>
          <a:noFill/>
          <a:ln w="38100">
            <a:solidFill>
              <a:srgbClr val="BDB6F5"/>
            </a:solidFill>
            <a:prstDash val="solid"/>
          </a:ln>
        </p:spPr>
      </p:sp>
      <p:sp>
        <p:nvSpPr>
          <p:cNvPr id="41" name="Title MOF linker ring"/>
          <p:cNvSpPr/>
          <p:nvPr/>
        </p:nvSpPr>
        <p:spPr>
          <a:xfrm>
            <a:off x="8494776" y="4240530"/>
            <a:ext cx="109728" cy="96012"/>
          </a:xfrm>
          <a:prstGeom prst="hexagon">
            <a:avLst/>
          </a:prstGeom>
          <a:solidFill>
            <a:schemeClr val="tx2"/>
          </a:solidFill>
          <a:ln w="9525">
            <a:solidFill>
              <a:schemeClr val="accent1"/>
            </a:solidFill>
            <a:prstDash val="solid"/>
          </a:ln>
        </p:spPr>
      </p:sp>
      <p:sp>
        <p:nvSpPr>
          <p:cNvPr id="42" name="Title MOF linker ring"/>
          <p:cNvSpPr/>
          <p:nvPr/>
        </p:nvSpPr>
        <p:spPr>
          <a:xfrm rot="5400000">
            <a:off x="8266176" y="4469130"/>
            <a:ext cx="109728" cy="96012"/>
          </a:xfrm>
          <a:prstGeom prst="hexagon">
            <a:avLst/>
          </a:prstGeom>
          <a:solidFill>
            <a:schemeClr val="tx2"/>
          </a:solidFill>
          <a:ln w="9525">
            <a:solidFill>
              <a:schemeClr val="accent1"/>
            </a:solidFill>
            <a:prstDash val="solid"/>
          </a:ln>
        </p:spPr>
      </p:sp>
      <p:sp>
        <p:nvSpPr>
          <p:cNvPr id="43" name="Title MOF linker ring"/>
          <p:cNvSpPr/>
          <p:nvPr/>
        </p:nvSpPr>
        <p:spPr>
          <a:xfrm rot="5400000">
            <a:off x="8723376" y="4469130"/>
            <a:ext cx="109728" cy="96012"/>
          </a:xfrm>
          <a:prstGeom prst="hexagon">
            <a:avLst/>
          </a:prstGeom>
          <a:solidFill>
            <a:schemeClr val="tx2"/>
          </a:solidFill>
          <a:ln w="9525">
            <a:solidFill>
              <a:schemeClr val="accent1"/>
            </a:solidFill>
            <a:prstDash val="solid"/>
          </a:ln>
        </p:spPr>
      </p:sp>
      <p:sp>
        <p:nvSpPr>
          <p:cNvPr id="44" name="Title MOF linker ring"/>
          <p:cNvSpPr/>
          <p:nvPr/>
        </p:nvSpPr>
        <p:spPr>
          <a:xfrm>
            <a:off x="8494776" y="4697730"/>
            <a:ext cx="109728" cy="96012"/>
          </a:xfrm>
          <a:prstGeom prst="hexagon">
            <a:avLst/>
          </a:prstGeom>
          <a:solidFill>
            <a:schemeClr val="tx2"/>
          </a:solidFill>
          <a:ln w="9525">
            <a:solidFill>
              <a:schemeClr val="accent1"/>
            </a:solidFill>
            <a:prstDash val="solid"/>
          </a:ln>
        </p:spPr>
      </p:sp>
      <p:sp>
        <p:nvSpPr>
          <p:cNvPr id="45" name="Title MOF metal node"/>
          <p:cNvSpPr/>
          <p:nvPr/>
        </p:nvSpPr>
        <p:spPr>
          <a:xfrm>
            <a:off x="8243316" y="4210812"/>
            <a:ext cx="155448" cy="155448"/>
          </a:xfrm>
          <a:prstGeom prst="diamond">
            <a:avLst/>
          </a:prstGeom>
          <a:solidFill>
            <a:schemeClr val="accent1"/>
          </a:solidFill>
          <a:ln w="9525">
            <a:solidFill>
              <a:schemeClr val="bg1"/>
            </a:solidFill>
            <a:prstDash val="solid"/>
          </a:ln>
        </p:spPr>
      </p:sp>
      <p:sp>
        <p:nvSpPr>
          <p:cNvPr id="46" name="Title MOF metal node"/>
          <p:cNvSpPr/>
          <p:nvPr/>
        </p:nvSpPr>
        <p:spPr>
          <a:xfrm>
            <a:off x="8700516" y="4210812"/>
            <a:ext cx="155448" cy="155448"/>
          </a:xfrm>
          <a:prstGeom prst="diamond">
            <a:avLst/>
          </a:prstGeom>
          <a:solidFill>
            <a:schemeClr val="accent1"/>
          </a:solidFill>
          <a:ln w="9525">
            <a:solidFill>
              <a:schemeClr val="bg1"/>
            </a:solidFill>
            <a:prstDash val="solid"/>
          </a:ln>
        </p:spPr>
      </p:sp>
      <p:sp>
        <p:nvSpPr>
          <p:cNvPr id="47" name="Title MOF metal node"/>
          <p:cNvSpPr/>
          <p:nvPr/>
        </p:nvSpPr>
        <p:spPr>
          <a:xfrm>
            <a:off x="8243316" y="4668012"/>
            <a:ext cx="155448" cy="155448"/>
          </a:xfrm>
          <a:prstGeom prst="diamond">
            <a:avLst/>
          </a:prstGeom>
          <a:solidFill>
            <a:schemeClr val="accent1"/>
          </a:solidFill>
          <a:ln w="9525">
            <a:solidFill>
              <a:schemeClr val="bg1"/>
            </a:solidFill>
            <a:prstDash val="solid"/>
          </a:ln>
        </p:spPr>
      </p:sp>
      <p:sp>
        <p:nvSpPr>
          <p:cNvPr id="48" name="Title MOF metal node"/>
          <p:cNvSpPr/>
          <p:nvPr/>
        </p:nvSpPr>
        <p:spPr>
          <a:xfrm>
            <a:off x="8700516" y="4668012"/>
            <a:ext cx="155448" cy="155448"/>
          </a:xfrm>
          <a:prstGeom prst="diamond">
            <a:avLst/>
          </a:prstGeom>
          <a:solidFill>
            <a:schemeClr val="accent1"/>
          </a:solidFill>
          <a:ln w="9525">
            <a:solidFill>
              <a:schemeClr val="bg1"/>
            </a:solidFill>
            <a:prstDash val="solid"/>
          </a:ln>
        </p:spPr>
      </p:sp>
      <p:sp>
        <p:nvSpPr>
          <p:cNvPr id="49" name="Text 47"/>
          <p:cNvSpPr txBox="1"/>
          <p:nvPr/>
        </p:nvSpPr>
        <p:spPr>
          <a:xfrm>
            <a:off x="9372600" y="4251960"/>
            <a:ext cx="2194560" cy="274320"/>
          </a:xfrm>
          <a:prstGeom prst="rect">
            <a:avLst/>
          </a:prstGeom>
          <a:noFill/>
          <a:ln/>
        </p:spPr>
        <p:txBody>
          <a:bodyPr wrap="square" lIns="0" tIns="0" rIns="0" bIns="0" rtlCol="0" anchor="ctr"/>
          <a:lstStyle/>
          <a:p>
            <a:pPr marL="0" indent="0">
              <a:buNone/>
            </a:pPr>
            <a:r>
              <a:rPr lang="en-US" sz="1400" b="1" dirty="0">
                <a:solidFill>
                  <a:schemeClr val="bg1"/>
                </a:solidFill>
                <a:latin typeface="Arial" pitchFamily="34" charset="0"/>
                <a:ea typeface="Arial" pitchFamily="34" charset="-122"/>
                <a:cs typeface="Arial" pitchFamily="34" charset="-120"/>
              </a:rPr>
              <a:t>Porous MOF</a:t>
            </a:r>
            <a:endParaRPr lang="en-US" sz="1400" dirty="0"/>
          </a:p>
        </p:txBody>
      </p:sp>
      <p:sp>
        <p:nvSpPr>
          <p:cNvPr id="50" name="Text 48"/>
          <p:cNvSpPr txBox="1"/>
          <p:nvPr/>
        </p:nvSpPr>
        <p:spPr>
          <a:xfrm>
            <a:off x="9372600" y="4526280"/>
            <a:ext cx="2240280" cy="292608"/>
          </a:xfrm>
          <a:prstGeom prst="rect">
            <a:avLst/>
          </a:prstGeom>
          <a:noFill/>
          <a:ln/>
        </p:spPr>
        <p:txBody>
          <a:bodyPr wrap="square" lIns="0" tIns="0" rIns="0" bIns="0" rtlCol="0" anchor="t"/>
          <a:lstStyle/>
          <a:p>
            <a:pPr marL="0" indent="0">
              <a:buNone/>
            </a:pPr>
            <a:r>
              <a:rPr lang="en-US" sz="1050" dirty="0">
                <a:solidFill>
                  <a:srgbClr val="D9D4FF"/>
                </a:solidFill>
                <a:latin typeface="Arial" pitchFamily="34" charset="0"/>
                <a:ea typeface="Arial" pitchFamily="34" charset="-122"/>
                <a:cs typeface="Arial" pitchFamily="34" charset="-120"/>
              </a:rPr>
              <a:t>Metal nodes joined by organic linkers</a:t>
            </a:r>
            <a:endParaRPr lang="en-US" sz="1050" dirty="0"/>
          </a:p>
        </p:txBody>
      </p:sp>
      <p:sp>
        <p:nvSpPr>
          <p:cNvPr id="51" name="Title flow arrow 3"/>
          <p:cNvSpPr/>
          <p:nvPr/>
        </p:nvSpPr>
        <p:spPr>
          <a:xfrm>
            <a:off x="8476488" y="4873752"/>
            <a:ext cx="146304" cy="137160"/>
          </a:xfrm>
          <a:prstGeom prst="downArrow">
            <a:avLst/>
          </a:prstGeom>
          <a:solidFill>
            <a:schemeClr val="accent1"/>
          </a:solidFill>
          <a:ln w="12700">
            <a:solidFill>
              <a:schemeClr val="accent1"/>
            </a:solidFill>
            <a:prstDash val="solid"/>
          </a:ln>
        </p:spPr>
      </p:sp>
      <p:sp>
        <p:nvSpPr>
          <p:cNvPr id="52" name="Title stage 4 glyph box"/>
          <p:cNvSpPr/>
          <p:nvPr/>
        </p:nvSpPr>
        <p:spPr>
          <a:xfrm>
            <a:off x="7909560" y="5020056"/>
            <a:ext cx="1280160" cy="676656"/>
          </a:xfrm>
          <a:prstGeom prst="roundRect">
            <a:avLst>
              <a:gd name="adj" fmla="val 10811"/>
            </a:avLst>
          </a:prstGeom>
          <a:solidFill>
            <a:srgbClr val="FFFFFF">
              <a:alpha val="12000"/>
            </a:srgbClr>
          </a:solidFill>
          <a:ln w="6350">
            <a:solidFill>
              <a:srgbClr val="FFFFFF">
                <a:alpha val="25000"/>
              </a:srgbClr>
            </a:solidFill>
            <a:prstDash val="solid"/>
          </a:ln>
        </p:spPr>
      </p:sp>
      <p:sp>
        <p:nvSpPr>
          <p:cNvPr id="53" name="Title MOF CO2 linker"/>
          <p:cNvSpPr/>
          <p:nvPr/>
        </p:nvSpPr>
        <p:spPr>
          <a:xfrm>
            <a:off x="8321040" y="5129784"/>
            <a:ext cx="457200" cy="0"/>
          </a:xfrm>
          <a:prstGeom prst="line">
            <a:avLst/>
          </a:prstGeom>
          <a:noFill/>
          <a:ln w="38100">
            <a:solidFill>
              <a:srgbClr val="BDB6F5"/>
            </a:solidFill>
            <a:prstDash val="solid"/>
          </a:ln>
        </p:spPr>
      </p:sp>
      <p:sp>
        <p:nvSpPr>
          <p:cNvPr id="54" name="Title MOF CO2 linker"/>
          <p:cNvSpPr/>
          <p:nvPr/>
        </p:nvSpPr>
        <p:spPr>
          <a:xfrm>
            <a:off x="8321040" y="5129784"/>
            <a:ext cx="0" cy="457200"/>
          </a:xfrm>
          <a:prstGeom prst="line">
            <a:avLst/>
          </a:prstGeom>
          <a:noFill/>
          <a:ln w="38100">
            <a:solidFill>
              <a:srgbClr val="BDB6F5"/>
            </a:solidFill>
            <a:prstDash val="solid"/>
          </a:ln>
        </p:spPr>
      </p:sp>
      <p:sp>
        <p:nvSpPr>
          <p:cNvPr id="55" name="Title MOF CO2 linker"/>
          <p:cNvSpPr/>
          <p:nvPr/>
        </p:nvSpPr>
        <p:spPr>
          <a:xfrm>
            <a:off x="8778240" y="5129784"/>
            <a:ext cx="0" cy="457200"/>
          </a:xfrm>
          <a:prstGeom prst="line">
            <a:avLst/>
          </a:prstGeom>
          <a:noFill/>
          <a:ln w="38100">
            <a:solidFill>
              <a:srgbClr val="BDB6F5"/>
            </a:solidFill>
            <a:prstDash val="solid"/>
          </a:ln>
        </p:spPr>
      </p:sp>
      <p:sp>
        <p:nvSpPr>
          <p:cNvPr id="56" name="Title MOF CO2 linker"/>
          <p:cNvSpPr/>
          <p:nvPr/>
        </p:nvSpPr>
        <p:spPr>
          <a:xfrm>
            <a:off x="8321040" y="5586984"/>
            <a:ext cx="457200" cy="0"/>
          </a:xfrm>
          <a:prstGeom prst="line">
            <a:avLst/>
          </a:prstGeom>
          <a:noFill/>
          <a:ln w="38100">
            <a:solidFill>
              <a:srgbClr val="BDB6F5"/>
            </a:solidFill>
            <a:prstDash val="solid"/>
          </a:ln>
        </p:spPr>
      </p:sp>
      <p:sp>
        <p:nvSpPr>
          <p:cNvPr id="57" name="Title MOF CO2 linker ring"/>
          <p:cNvSpPr/>
          <p:nvPr/>
        </p:nvSpPr>
        <p:spPr>
          <a:xfrm>
            <a:off x="8494776" y="5081778"/>
            <a:ext cx="109728" cy="96012"/>
          </a:xfrm>
          <a:prstGeom prst="hexagon">
            <a:avLst/>
          </a:prstGeom>
          <a:solidFill>
            <a:schemeClr val="tx2"/>
          </a:solidFill>
          <a:ln w="9525">
            <a:solidFill>
              <a:schemeClr val="accent1"/>
            </a:solidFill>
            <a:prstDash val="solid"/>
          </a:ln>
        </p:spPr>
      </p:sp>
      <p:sp>
        <p:nvSpPr>
          <p:cNvPr id="58" name="Title MOF CO2 linker ring"/>
          <p:cNvSpPr/>
          <p:nvPr/>
        </p:nvSpPr>
        <p:spPr>
          <a:xfrm rot="5400000">
            <a:off x="8266176" y="5310378"/>
            <a:ext cx="109728" cy="96012"/>
          </a:xfrm>
          <a:prstGeom prst="hexagon">
            <a:avLst/>
          </a:prstGeom>
          <a:solidFill>
            <a:schemeClr val="tx2"/>
          </a:solidFill>
          <a:ln w="9525">
            <a:solidFill>
              <a:schemeClr val="accent1"/>
            </a:solidFill>
            <a:prstDash val="solid"/>
          </a:ln>
        </p:spPr>
      </p:sp>
      <p:sp>
        <p:nvSpPr>
          <p:cNvPr id="59" name="Title MOF CO2 linker ring"/>
          <p:cNvSpPr/>
          <p:nvPr/>
        </p:nvSpPr>
        <p:spPr>
          <a:xfrm rot="5400000">
            <a:off x="8723376" y="5310378"/>
            <a:ext cx="109728" cy="96012"/>
          </a:xfrm>
          <a:prstGeom prst="hexagon">
            <a:avLst/>
          </a:prstGeom>
          <a:solidFill>
            <a:schemeClr val="tx2"/>
          </a:solidFill>
          <a:ln w="9525">
            <a:solidFill>
              <a:schemeClr val="accent1"/>
            </a:solidFill>
            <a:prstDash val="solid"/>
          </a:ln>
        </p:spPr>
      </p:sp>
      <p:sp>
        <p:nvSpPr>
          <p:cNvPr id="60" name="Title MOF CO2 linker ring"/>
          <p:cNvSpPr/>
          <p:nvPr/>
        </p:nvSpPr>
        <p:spPr>
          <a:xfrm>
            <a:off x="8494776" y="5538978"/>
            <a:ext cx="109728" cy="96012"/>
          </a:xfrm>
          <a:prstGeom prst="hexagon">
            <a:avLst/>
          </a:prstGeom>
          <a:solidFill>
            <a:schemeClr val="tx2"/>
          </a:solidFill>
          <a:ln w="9525">
            <a:solidFill>
              <a:schemeClr val="accent1"/>
            </a:solidFill>
            <a:prstDash val="solid"/>
          </a:ln>
        </p:spPr>
      </p:sp>
      <p:sp>
        <p:nvSpPr>
          <p:cNvPr id="61" name="Title MOF CO2 metal node"/>
          <p:cNvSpPr/>
          <p:nvPr/>
        </p:nvSpPr>
        <p:spPr>
          <a:xfrm>
            <a:off x="8243316" y="5052060"/>
            <a:ext cx="155448" cy="155448"/>
          </a:xfrm>
          <a:prstGeom prst="diamond">
            <a:avLst/>
          </a:prstGeom>
          <a:solidFill>
            <a:schemeClr val="accent1"/>
          </a:solidFill>
          <a:ln w="9525">
            <a:solidFill>
              <a:schemeClr val="bg1"/>
            </a:solidFill>
            <a:prstDash val="solid"/>
          </a:ln>
        </p:spPr>
      </p:sp>
      <p:sp>
        <p:nvSpPr>
          <p:cNvPr id="62" name="Title MOF CO2 metal node"/>
          <p:cNvSpPr/>
          <p:nvPr/>
        </p:nvSpPr>
        <p:spPr>
          <a:xfrm>
            <a:off x="8700516" y="5052060"/>
            <a:ext cx="155448" cy="155448"/>
          </a:xfrm>
          <a:prstGeom prst="diamond">
            <a:avLst/>
          </a:prstGeom>
          <a:solidFill>
            <a:schemeClr val="accent1"/>
          </a:solidFill>
          <a:ln w="9525">
            <a:solidFill>
              <a:schemeClr val="bg1"/>
            </a:solidFill>
            <a:prstDash val="solid"/>
          </a:ln>
        </p:spPr>
      </p:sp>
      <p:sp>
        <p:nvSpPr>
          <p:cNvPr id="63" name="Title MOF CO2 metal node"/>
          <p:cNvSpPr/>
          <p:nvPr/>
        </p:nvSpPr>
        <p:spPr>
          <a:xfrm>
            <a:off x="8243316" y="5509260"/>
            <a:ext cx="155448" cy="155448"/>
          </a:xfrm>
          <a:prstGeom prst="diamond">
            <a:avLst/>
          </a:prstGeom>
          <a:solidFill>
            <a:schemeClr val="accent1"/>
          </a:solidFill>
          <a:ln w="9525">
            <a:solidFill>
              <a:schemeClr val="bg1"/>
            </a:solidFill>
            <a:prstDash val="solid"/>
          </a:ln>
        </p:spPr>
      </p:sp>
      <p:sp>
        <p:nvSpPr>
          <p:cNvPr id="64" name="Title MOF CO2 metal node"/>
          <p:cNvSpPr/>
          <p:nvPr/>
        </p:nvSpPr>
        <p:spPr>
          <a:xfrm>
            <a:off x="8700516" y="5509260"/>
            <a:ext cx="155448" cy="155448"/>
          </a:xfrm>
          <a:prstGeom prst="diamond">
            <a:avLst/>
          </a:prstGeom>
          <a:solidFill>
            <a:schemeClr val="accent1"/>
          </a:solidFill>
          <a:ln w="9525">
            <a:solidFill>
              <a:schemeClr val="bg1"/>
            </a:solidFill>
            <a:prstDash val="solid"/>
          </a:ln>
        </p:spPr>
      </p:sp>
      <p:sp>
        <p:nvSpPr>
          <p:cNvPr id="65" name="Title MOF CO2 guest CO2 O"/>
          <p:cNvSpPr/>
          <p:nvPr/>
        </p:nvSpPr>
        <p:spPr>
          <a:xfrm>
            <a:off x="8412480" y="5305630"/>
            <a:ext cx="105508" cy="105508"/>
          </a:xfrm>
          <a:prstGeom prst="ellipse">
            <a:avLst/>
          </a:prstGeom>
          <a:solidFill>
            <a:schemeClr val="accent5"/>
          </a:solidFill>
          <a:ln w="9525">
            <a:solidFill>
              <a:srgbClr val="FFFFFF"/>
            </a:solidFill>
            <a:prstDash val="solid"/>
          </a:ln>
        </p:spPr>
      </p:sp>
      <p:sp>
        <p:nvSpPr>
          <p:cNvPr id="66" name="Title MOF CO2 guest CO2 O"/>
          <p:cNvSpPr/>
          <p:nvPr/>
        </p:nvSpPr>
        <p:spPr>
          <a:xfrm>
            <a:off x="8581292" y="5305630"/>
            <a:ext cx="105508" cy="105508"/>
          </a:xfrm>
          <a:prstGeom prst="ellipse">
            <a:avLst/>
          </a:prstGeom>
          <a:solidFill>
            <a:schemeClr val="accent5"/>
          </a:solidFill>
          <a:ln w="9525">
            <a:solidFill>
              <a:srgbClr val="FFFFFF"/>
            </a:solidFill>
            <a:prstDash val="solid"/>
          </a:ln>
        </p:spPr>
      </p:sp>
      <p:sp>
        <p:nvSpPr>
          <p:cNvPr id="67" name="Title MOF CO2 guest CO2 C"/>
          <p:cNvSpPr/>
          <p:nvPr/>
        </p:nvSpPr>
        <p:spPr>
          <a:xfrm>
            <a:off x="8501106" y="5309850"/>
            <a:ext cx="97067" cy="97067"/>
          </a:xfrm>
          <a:prstGeom prst="ellipse">
            <a:avLst/>
          </a:prstGeom>
          <a:solidFill>
            <a:schemeClr val="tx2"/>
          </a:solidFill>
          <a:ln w="9525">
            <a:solidFill>
              <a:srgbClr val="FFFFFF"/>
            </a:solidFill>
            <a:prstDash val="solid"/>
          </a:ln>
        </p:spPr>
      </p:sp>
      <p:sp>
        <p:nvSpPr>
          <p:cNvPr id="68" name="Text 66"/>
          <p:cNvSpPr txBox="1"/>
          <p:nvPr/>
        </p:nvSpPr>
        <p:spPr>
          <a:xfrm>
            <a:off x="9372600" y="5093208"/>
            <a:ext cx="2194560" cy="274320"/>
          </a:xfrm>
          <a:prstGeom prst="rect">
            <a:avLst/>
          </a:prstGeom>
          <a:noFill/>
          <a:ln/>
        </p:spPr>
        <p:txBody>
          <a:bodyPr wrap="square" lIns="0" tIns="0" rIns="0" bIns="0" rtlCol="0" anchor="ctr"/>
          <a:lstStyle/>
          <a:p>
            <a:pPr marL="0" indent="0">
              <a:buNone/>
            </a:pPr>
            <a:r>
              <a:rPr lang="en-US" sz="1400" b="1" dirty="0">
                <a:solidFill>
                  <a:schemeClr val="bg1"/>
                </a:solidFill>
                <a:latin typeface="Arial" pitchFamily="34" charset="0"/>
                <a:ea typeface="Arial" pitchFamily="34" charset="-122"/>
                <a:cs typeface="Arial" pitchFamily="34" charset="-120"/>
              </a:rPr>
              <a:t>CO₂ Capture</a:t>
            </a:r>
            <a:endParaRPr lang="en-US" sz="1400" dirty="0"/>
          </a:p>
        </p:txBody>
      </p:sp>
      <p:sp>
        <p:nvSpPr>
          <p:cNvPr id="69" name="Text 67"/>
          <p:cNvSpPr txBox="1"/>
          <p:nvPr/>
        </p:nvSpPr>
        <p:spPr>
          <a:xfrm>
            <a:off x="9372600" y="5367528"/>
            <a:ext cx="2240280" cy="292608"/>
          </a:xfrm>
          <a:prstGeom prst="rect">
            <a:avLst/>
          </a:prstGeom>
          <a:noFill/>
          <a:ln/>
        </p:spPr>
        <p:txBody>
          <a:bodyPr wrap="square" lIns="0" tIns="0" rIns="0" bIns="0" rtlCol="0" anchor="t"/>
          <a:lstStyle/>
          <a:p>
            <a:pPr marL="0" indent="0">
              <a:buNone/>
            </a:pPr>
            <a:r>
              <a:rPr lang="en-US" sz="1050" dirty="0">
                <a:solidFill>
                  <a:srgbClr val="D9D4FF"/>
                </a:solidFill>
                <a:latin typeface="Arial" pitchFamily="34" charset="0"/>
                <a:ea typeface="Arial" pitchFamily="34" charset="-122"/>
                <a:cs typeface="Arial" pitchFamily="34" charset="-120"/>
              </a:rPr>
              <a:t>CO₂ held within the pores</a:t>
            </a:r>
            <a:endParaRPr lang="en-US" sz="1050" dirty="0"/>
          </a:p>
        </p:txBody>
      </p:sp>
      <p:sp>
        <p:nvSpPr>
          <p:cNvPr id="76" name="Text 1">
            <a:extLst>
              <a:ext uri="{FF2B5EF4-FFF2-40B4-BE49-F238E27FC236}">
                <a16:creationId xmlns:a16="http://schemas.microsoft.com/office/drawing/2014/main" id="{A053D6B6-139B-8662-ECE5-041E5F50D213}"/>
              </a:ext>
            </a:extLst>
          </p:cNvPr>
          <p:cNvSpPr>
            <a:spLocks noGrp="1"/>
          </p:cNvSpPr>
          <p:nvPr/>
        </p:nvSpPr>
        <p:spPr>
          <a:xfrm>
            <a:off x="579120" y="4257283"/>
            <a:ext cx="6766560" cy="384048"/>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2400" b="1" kern="1200" dirty="0">
                <a:solidFill>
                  <a:schemeClr val="accent1"/>
                </a:solidFill>
                <a:latin typeface="Arial" pitchFamily="34" charset="0"/>
                <a:ea typeface="Arial" pitchFamily="34" charset="-122"/>
                <a:cs typeface="Arial"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SA" i="0" dirty="0">
                <a:effectLst/>
                <a:cs typeface="Arial" panose="020B0604020202020204" pitchFamily="34" charset="0"/>
              </a:rPr>
              <a:t>Fahadh Mohammad</a:t>
            </a:r>
            <a:endParaRPr lang="en-SA" dirty="0">
              <a:effectLst/>
              <a:cs typeface="Arial" panose="020B0604020202020204" pitchFamily="34" charset="0"/>
            </a:endParaRPr>
          </a:p>
          <a:p>
            <a:pPr marL="0" indent="0" algn="l">
              <a:buNone/>
            </a:pPr>
            <a:endParaRPr lang="en-US" dirty="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title"/>
          <p:cNvSpPr txBox="1"/>
          <p:nvPr/>
        </p:nvSpPr>
        <p:spPr>
          <a:xfrm>
            <a:off x="448056" y="1700784"/>
            <a:ext cx="11292840" cy="502920"/>
          </a:xfrm>
          <a:prstGeom prst="rect">
            <a:avLst/>
          </a:prstGeom>
          <a:noFill/>
          <a:ln/>
        </p:spPr>
        <p:txBody>
          <a:bodyPr wrap="square" lIns="0" tIns="0" rIns="0" bIns="0" rtlCol="0" anchor="ctr"/>
          <a:lstStyle/>
          <a:p>
            <a:pPr marL="0" indent="0" algn="l">
              <a:buNone/>
            </a:pPr>
            <a:r>
              <a:rPr lang="en-US" sz="2600" b="1" dirty="0">
                <a:solidFill>
                  <a:schemeClr val="accent3"/>
                </a:solidFill>
              </a:rPr>
              <a:t>Bimetal-Engineered MOF for Direct Air CO₂ Capture</a:t>
            </a:r>
            <a:endParaRPr lang="en-US" sz="2600" dirty="0"/>
          </a:p>
        </p:txBody>
      </p:sp>
      <p:sp>
        <p:nvSpPr>
          <p:cNvPr id="3" name="Slide subtitle"/>
          <p:cNvSpPr txBox="1"/>
          <p:nvPr/>
        </p:nvSpPr>
        <p:spPr>
          <a:xfrm>
            <a:off x="448056" y="2212848"/>
            <a:ext cx="7315200" cy="256032"/>
          </a:xfrm>
          <a:prstGeom prst="rect">
            <a:avLst/>
          </a:prstGeom>
          <a:noFill/>
          <a:ln/>
        </p:spPr>
        <p:txBody>
          <a:bodyPr wrap="square" lIns="0" tIns="0" rIns="0" bIns="0" rtlCol="0" anchor="ctr"/>
          <a:lstStyle/>
          <a:p>
            <a:pPr marL="0" indent="0" algn="l">
              <a:buNone/>
            </a:pPr>
            <a:r>
              <a:rPr lang="en-US" sz="1300" i="1" dirty="0">
                <a:solidFill>
                  <a:schemeClr val="accent6"/>
                </a:solidFill>
              </a:rPr>
              <a:t>Research background, research gap and objective</a:t>
            </a:r>
            <a:endParaRPr lang="en-US" sz="1300" dirty="0"/>
          </a:p>
        </p:txBody>
      </p:sp>
      <p:sp>
        <p:nvSpPr>
          <p:cNvPr id="4" name="Card MOF"/>
          <p:cNvSpPr/>
          <p:nvPr/>
        </p:nvSpPr>
        <p:spPr>
          <a:xfrm>
            <a:off x="448056" y="2542032"/>
            <a:ext cx="3611880" cy="2048256"/>
          </a:xfrm>
          <a:prstGeom prst="roundRect">
            <a:avLst>
              <a:gd name="adj" fmla="val 3478"/>
            </a:avLst>
          </a:prstGeom>
          <a:solidFill>
            <a:schemeClr val="bg2"/>
          </a:solidFill>
          <a:ln w="12700">
            <a:solidFill>
              <a:schemeClr val="bg2"/>
            </a:solidFill>
            <a:prstDash val="solid"/>
          </a:ln>
        </p:spPr>
      </p:sp>
      <p:sp>
        <p:nvSpPr>
          <p:cNvPr id="5" name="Number 1"/>
          <p:cNvSpPr/>
          <p:nvPr/>
        </p:nvSpPr>
        <p:spPr>
          <a:xfrm>
            <a:off x="585216" y="2660904"/>
            <a:ext cx="292608" cy="292608"/>
          </a:xfrm>
          <a:prstGeom prst="ellipse">
            <a:avLst/>
          </a:prstGeom>
          <a:solidFill>
            <a:schemeClr val="accent3"/>
          </a:solidFill>
          <a:ln w="12700">
            <a:solidFill>
              <a:schemeClr val="accent3"/>
            </a:solidFill>
            <a:prstDash val="solid"/>
          </a:ln>
        </p:spPr>
      </p:sp>
      <p:sp>
        <p:nvSpPr>
          <p:cNvPr id="6" name="Number 1 label"/>
          <p:cNvSpPr txBox="1"/>
          <p:nvPr/>
        </p:nvSpPr>
        <p:spPr>
          <a:xfrm>
            <a:off x="585216" y="26609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Card title 1"/>
          <p:cNvSpPr txBox="1"/>
          <p:nvPr/>
        </p:nvSpPr>
        <p:spPr>
          <a:xfrm>
            <a:off x="978408" y="2660904"/>
            <a:ext cx="2926080" cy="292608"/>
          </a:xfrm>
          <a:prstGeom prst="rect">
            <a:avLst/>
          </a:prstGeom>
          <a:noFill/>
          <a:ln/>
        </p:spPr>
        <p:txBody>
          <a:bodyPr wrap="square" lIns="0" tIns="0" rIns="0" bIns="0" rtlCol="0" anchor="ctr"/>
          <a:lstStyle/>
          <a:p>
            <a:pPr marL="0" indent="0">
              <a:buNone/>
            </a:pPr>
            <a:r>
              <a:rPr lang="en-US" sz="1500" b="1" dirty="0">
                <a:solidFill>
                  <a:schemeClr val="accent3"/>
                </a:solidFill>
              </a:rPr>
              <a:t>What is a MOF?</a:t>
            </a:r>
            <a:endParaRPr lang="en-US" sz="1500" dirty="0"/>
          </a:p>
        </p:txBody>
      </p:sp>
      <p:sp>
        <p:nvSpPr>
          <p:cNvPr id="8" name="Linker h 00"/>
          <p:cNvSpPr/>
          <p:nvPr/>
        </p:nvSpPr>
        <p:spPr>
          <a:xfrm>
            <a:off x="950976" y="3200400"/>
            <a:ext cx="640080" cy="0"/>
          </a:xfrm>
          <a:prstGeom prst="line">
            <a:avLst/>
          </a:prstGeom>
          <a:noFill/>
          <a:ln w="38100">
            <a:solidFill>
              <a:schemeClr val="accent1"/>
            </a:solidFill>
            <a:prstDash val="solid"/>
          </a:ln>
        </p:spPr>
      </p:sp>
      <p:sp>
        <p:nvSpPr>
          <p:cNvPr id="9" name="Linker v 00"/>
          <p:cNvSpPr/>
          <p:nvPr/>
        </p:nvSpPr>
        <p:spPr>
          <a:xfrm>
            <a:off x="950976" y="3200400"/>
            <a:ext cx="0" cy="457200"/>
          </a:xfrm>
          <a:prstGeom prst="line">
            <a:avLst/>
          </a:prstGeom>
          <a:noFill/>
          <a:ln w="38100">
            <a:solidFill>
              <a:schemeClr val="accent1"/>
            </a:solidFill>
            <a:prstDash val="solid"/>
          </a:ln>
        </p:spPr>
      </p:sp>
      <p:sp>
        <p:nvSpPr>
          <p:cNvPr id="10" name="Linker h 01"/>
          <p:cNvSpPr/>
          <p:nvPr/>
        </p:nvSpPr>
        <p:spPr>
          <a:xfrm>
            <a:off x="1591056" y="3200400"/>
            <a:ext cx="640080" cy="0"/>
          </a:xfrm>
          <a:prstGeom prst="line">
            <a:avLst/>
          </a:prstGeom>
          <a:noFill/>
          <a:ln w="38100">
            <a:solidFill>
              <a:schemeClr val="accent1"/>
            </a:solidFill>
            <a:prstDash val="solid"/>
          </a:ln>
        </p:spPr>
      </p:sp>
      <p:sp>
        <p:nvSpPr>
          <p:cNvPr id="11" name="Linker v 01"/>
          <p:cNvSpPr/>
          <p:nvPr/>
        </p:nvSpPr>
        <p:spPr>
          <a:xfrm>
            <a:off x="1591056" y="3200400"/>
            <a:ext cx="0" cy="457200"/>
          </a:xfrm>
          <a:prstGeom prst="line">
            <a:avLst/>
          </a:prstGeom>
          <a:noFill/>
          <a:ln w="38100">
            <a:solidFill>
              <a:schemeClr val="accent1"/>
            </a:solidFill>
            <a:prstDash val="solid"/>
          </a:ln>
        </p:spPr>
      </p:sp>
      <p:sp>
        <p:nvSpPr>
          <p:cNvPr id="12" name="Linker v 02"/>
          <p:cNvSpPr/>
          <p:nvPr/>
        </p:nvSpPr>
        <p:spPr>
          <a:xfrm>
            <a:off x="2231136" y="3200400"/>
            <a:ext cx="0" cy="457200"/>
          </a:xfrm>
          <a:prstGeom prst="line">
            <a:avLst/>
          </a:prstGeom>
          <a:noFill/>
          <a:ln w="38100">
            <a:solidFill>
              <a:schemeClr val="accent1"/>
            </a:solidFill>
            <a:prstDash val="solid"/>
          </a:ln>
        </p:spPr>
      </p:sp>
      <p:sp>
        <p:nvSpPr>
          <p:cNvPr id="13" name="Linker h 10"/>
          <p:cNvSpPr/>
          <p:nvPr/>
        </p:nvSpPr>
        <p:spPr>
          <a:xfrm>
            <a:off x="950976" y="3657600"/>
            <a:ext cx="640080" cy="0"/>
          </a:xfrm>
          <a:prstGeom prst="line">
            <a:avLst/>
          </a:prstGeom>
          <a:noFill/>
          <a:ln w="38100">
            <a:solidFill>
              <a:schemeClr val="accent1"/>
            </a:solidFill>
            <a:prstDash val="solid"/>
          </a:ln>
        </p:spPr>
      </p:sp>
      <p:sp>
        <p:nvSpPr>
          <p:cNvPr id="14" name="Linker h 11"/>
          <p:cNvSpPr/>
          <p:nvPr/>
        </p:nvSpPr>
        <p:spPr>
          <a:xfrm>
            <a:off x="1591056" y="3657600"/>
            <a:ext cx="640080" cy="0"/>
          </a:xfrm>
          <a:prstGeom prst="line">
            <a:avLst/>
          </a:prstGeom>
          <a:noFill/>
          <a:ln w="38100">
            <a:solidFill>
              <a:schemeClr val="accent1"/>
            </a:solidFill>
            <a:prstDash val="solid"/>
          </a:ln>
        </p:spPr>
      </p:sp>
      <p:sp>
        <p:nvSpPr>
          <p:cNvPr id="15" name="Metal node 00"/>
          <p:cNvSpPr/>
          <p:nvPr/>
        </p:nvSpPr>
        <p:spPr>
          <a:xfrm>
            <a:off x="841248" y="3090672"/>
            <a:ext cx="219456" cy="219456"/>
          </a:xfrm>
          <a:prstGeom prst="ellipse">
            <a:avLst/>
          </a:prstGeom>
          <a:solidFill>
            <a:schemeClr val="accent3"/>
          </a:solidFill>
          <a:ln w="12700">
            <a:solidFill>
              <a:schemeClr val="accent3"/>
            </a:solidFill>
            <a:prstDash val="solid"/>
          </a:ln>
        </p:spPr>
      </p:sp>
      <p:sp>
        <p:nvSpPr>
          <p:cNvPr id="16" name="Metal node 01"/>
          <p:cNvSpPr/>
          <p:nvPr/>
        </p:nvSpPr>
        <p:spPr>
          <a:xfrm>
            <a:off x="1481328" y="3090672"/>
            <a:ext cx="219456" cy="219456"/>
          </a:xfrm>
          <a:prstGeom prst="ellipse">
            <a:avLst/>
          </a:prstGeom>
          <a:solidFill>
            <a:schemeClr val="accent3"/>
          </a:solidFill>
          <a:ln w="12700">
            <a:solidFill>
              <a:schemeClr val="accent3"/>
            </a:solidFill>
            <a:prstDash val="solid"/>
          </a:ln>
        </p:spPr>
      </p:sp>
      <p:sp>
        <p:nvSpPr>
          <p:cNvPr id="17" name="Metal node 02"/>
          <p:cNvSpPr/>
          <p:nvPr/>
        </p:nvSpPr>
        <p:spPr>
          <a:xfrm>
            <a:off x="2121408" y="3090672"/>
            <a:ext cx="219456" cy="219456"/>
          </a:xfrm>
          <a:prstGeom prst="ellipse">
            <a:avLst/>
          </a:prstGeom>
          <a:solidFill>
            <a:schemeClr val="accent3"/>
          </a:solidFill>
          <a:ln w="12700">
            <a:solidFill>
              <a:schemeClr val="accent3"/>
            </a:solidFill>
            <a:prstDash val="solid"/>
          </a:ln>
        </p:spPr>
      </p:sp>
      <p:sp>
        <p:nvSpPr>
          <p:cNvPr id="18" name="Metal node 10"/>
          <p:cNvSpPr/>
          <p:nvPr/>
        </p:nvSpPr>
        <p:spPr>
          <a:xfrm>
            <a:off x="841248" y="3547872"/>
            <a:ext cx="219456" cy="219456"/>
          </a:xfrm>
          <a:prstGeom prst="ellipse">
            <a:avLst/>
          </a:prstGeom>
          <a:solidFill>
            <a:schemeClr val="accent3"/>
          </a:solidFill>
          <a:ln w="12700">
            <a:solidFill>
              <a:schemeClr val="accent3"/>
            </a:solidFill>
            <a:prstDash val="solid"/>
          </a:ln>
        </p:spPr>
      </p:sp>
      <p:sp>
        <p:nvSpPr>
          <p:cNvPr id="19" name="Metal node 11"/>
          <p:cNvSpPr/>
          <p:nvPr/>
        </p:nvSpPr>
        <p:spPr>
          <a:xfrm>
            <a:off x="1481328" y="3547872"/>
            <a:ext cx="219456" cy="219456"/>
          </a:xfrm>
          <a:prstGeom prst="ellipse">
            <a:avLst/>
          </a:prstGeom>
          <a:solidFill>
            <a:schemeClr val="accent3"/>
          </a:solidFill>
          <a:ln w="12700">
            <a:solidFill>
              <a:schemeClr val="accent3"/>
            </a:solidFill>
            <a:prstDash val="solid"/>
          </a:ln>
        </p:spPr>
      </p:sp>
      <p:sp>
        <p:nvSpPr>
          <p:cNvPr id="20" name="Metal node 12"/>
          <p:cNvSpPr/>
          <p:nvPr/>
        </p:nvSpPr>
        <p:spPr>
          <a:xfrm>
            <a:off x="2121408" y="3547872"/>
            <a:ext cx="219456" cy="219456"/>
          </a:xfrm>
          <a:prstGeom prst="ellipse">
            <a:avLst/>
          </a:prstGeom>
          <a:solidFill>
            <a:schemeClr val="accent3"/>
          </a:solidFill>
          <a:ln w="12700">
            <a:solidFill>
              <a:schemeClr val="accent3"/>
            </a:solidFill>
            <a:prstDash val="solid"/>
          </a:ln>
        </p:spPr>
      </p:sp>
      <p:sp>
        <p:nvSpPr>
          <p:cNvPr id="21" name="CO2 in pore 1"/>
          <p:cNvSpPr/>
          <p:nvPr/>
        </p:nvSpPr>
        <p:spPr>
          <a:xfrm>
            <a:off x="1211580" y="3369564"/>
            <a:ext cx="118872" cy="118872"/>
          </a:xfrm>
          <a:prstGeom prst="ellipse">
            <a:avLst/>
          </a:prstGeom>
          <a:solidFill>
            <a:schemeClr val="accent2"/>
          </a:solidFill>
          <a:ln w="12700">
            <a:solidFill>
              <a:schemeClr val="accent2"/>
            </a:solidFill>
            <a:prstDash val="solid"/>
          </a:ln>
        </p:spPr>
      </p:sp>
      <p:sp>
        <p:nvSpPr>
          <p:cNvPr id="22" name="Legend node"/>
          <p:cNvSpPr txBox="1"/>
          <p:nvPr/>
        </p:nvSpPr>
        <p:spPr>
          <a:xfrm>
            <a:off x="2779776" y="3081528"/>
            <a:ext cx="1097280" cy="201168"/>
          </a:xfrm>
          <a:prstGeom prst="rect">
            <a:avLst/>
          </a:prstGeom>
          <a:noFill/>
          <a:ln/>
        </p:spPr>
        <p:txBody>
          <a:bodyPr wrap="square" lIns="0" tIns="0" rIns="0" bIns="0" rtlCol="0" anchor="ctr"/>
          <a:lstStyle/>
          <a:p>
            <a:pPr marL="0" indent="0">
              <a:buNone/>
            </a:pPr>
            <a:r>
              <a:rPr lang="en-US" sz="1100" b="1" dirty="0">
                <a:solidFill>
                  <a:schemeClr val="accent3"/>
                </a:solidFill>
              </a:rPr>
              <a:t>metal node</a:t>
            </a:r>
            <a:endParaRPr lang="en-US" sz="1100" dirty="0"/>
          </a:p>
        </p:txBody>
      </p:sp>
      <p:sp>
        <p:nvSpPr>
          <p:cNvPr id="23" name="Legend linker"/>
          <p:cNvSpPr txBox="1"/>
          <p:nvPr/>
        </p:nvSpPr>
        <p:spPr>
          <a:xfrm>
            <a:off x="2779776" y="3374136"/>
            <a:ext cx="1097280" cy="201168"/>
          </a:xfrm>
          <a:prstGeom prst="rect">
            <a:avLst/>
          </a:prstGeom>
          <a:noFill/>
          <a:ln/>
        </p:spPr>
        <p:txBody>
          <a:bodyPr wrap="square" lIns="0" tIns="0" rIns="0" bIns="0" rtlCol="0" anchor="ctr"/>
          <a:lstStyle/>
          <a:p>
            <a:pPr marL="0" indent="0">
              <a:buNone/>
            </a:pPr>
            <a:r>
              <a:rPr lang="en-US" sz="1100" b="1" dirty="0">
                <a:solidFill>
                  <a:schemeClr val="accent6"/>
                </a:solidFill>
              </a:rPr>
              <a:t>organic linker</a:t>
            </a:r>
            <a:endParaRPr lang="en-US" sz="1100" dirty="0"/>
          </a:p>
        </p:txBody>
      </p:sp>
      <p:sp>
        <p:nvSpPr>
          <p:cNvPr id="24" name="Legend CO2"/>
          <p:cNvSpPr txBox="1"/>
          <p:nvPr/>
        </p:nvSpPr>
        <p:spPr>
          <a:xfrm>
            <a:off x="2779776" y="3630168"/>
            <a:ext cx="1097280" cy="201168"/>
          </a:xfrm>
          <a:prstGeom prst="rect">
            <a:avLst/>
          </a:prstGeom>
          <a:noFill/>
          <a:ln/>
        </p:spPr>
        <p:txBody>
          <a:bodyPr wrap="square" lIns="0" tIns="0" rIns="0" bIns="0" rtlCol="0" anchor="ctr"/>
          <a:lstStyle/>
          <a:p>
            <a:pPr marL="0" indent="0">
              <a:buNone/>
            </a:pPr>
            <a:r>
              <a:rPr lang="en-US" sz="1100" b="1" dirty="0">
                <a:solidFill>
                  <a:srgbClr val="B8531A"/>
                </a:solidFill>
              </a:rPr>
              <a:t>pore with CO₂</a:t>
            </a:r>
            <a:endParaRPr lang="en-US" sz="1100" dirty="0"/>
          </a:p>
        </p:txBody>
      </p:sp>
      <p:sp>
        <p:nvSpPr>
          <p:cNvPr id="25" name="Legend marker node"/>
          <p:cNvSpPr/>
          <p:nvPr/>
        </p:nvSpPr>
        <p:spPr>
          <a:xfrm>
            <a:off x="2615184" y="3127248"/>
            <a:ext cx="109728" cy="109728"/>
          </a:xfrm>
          <a:prstGeom prst="ellipse">
            <a:avLst/>
          </a:prstGeom>
          <a:solidFill>
            <a:schemeClr val="accent3"/>
          </a:solidFill>
          <a:ln w="12700">
            <a:solidFill>
              <a:schemeClr val="accent3"/>
            </a:solidFill>
            <a:prstDash val="solid"/>
          </a:ln>
        </p:spPr>
      </p:sp>
      <p:sp>
        <p:nvSpPr>
          <p:cNvPr id="26" name="Legend marker linker"/>
          <p:cNvSpPr/>
          <p:nvPr/>
        </p:nvSpPr>
        <p:spPr>
          <a:xfrm>
            <a:off x="2596896" y="3474720"/>
            <a:ext cx="146304" cy="0"/>
          </a:xfrm>
          <a:prstGeom prst="line">
            <a:avLst/>
          </a:prstGeom>
          <a:noFill/>
          <a:ln w="38100">
            <a:solidFill>
              <a:schemeClr val="accent1"/>
            </a:solidFill>
            <a:prstDash val="solid"/>
          </a:ln>
        </p:spPr>
      </p:sp>
      <p:sp>
        <p:nvSpPr>
          <p:cNvPr id="27" name="Legend marker CO2"/>
          <p:cNvSpPr/>
          <p:nvPr/>
        </p:nvSpPr>
        <p:spPr>
          <a:xfrm>
            <a:off x="2619756" y="3680460"/>
            <a:ext cx="100584" cy="100584"/>
          </a:xfrm>
          <a:prstGeom prst="ellipse">
            <a:avLst/>
          </a:prstGeom>
          <a:solidFill>
            <a:schemeClr val="accent2"/>
          </a:solidFill>
          <a:ln w="12700">
            <a:solidFill>
              <a:schemeClr val="accent2"/>
            </a:solidFill>
            <a:prstDash val="solid"/>
          </a:ln>
        </p:spPr>
      </p:sp>
      <p:sp>
        <p:nvSpPr>
          <p:cNvPr id="28" name="Card MOF text"/>
          <p:cNvSpPr txBox="1"/>
          <p:nvPr/>
        </p:nvSpPr>
        <p:spPr>
          <a:xfrm>
            <a:off x="630936" y="3931920"/>
            <a:ext cx="3246120" cy="603504"/>
          </a:xfrm>
          <a:prstGeom prst="rect">
            <a:avLst/>
          </a:prstGeom>
          <a:noFill/>
          <a:ln/>
        </p:spPr>
        <p:txBody>
          <a:bodyPr wrap="square" lIns="0" tIns="0" rIns="0" bIns="0" rtlCol="0" anchor="t"/>
          <a:lstStyle/>
          <a:p>
            <a:pPr marL="0" indent="0" algn="l">
              <a:buNone/>
            </a:pPr>
            <a:r>
              <a:rPr lang="en-US" sz="1200" dirty="0">
                <a:solidFill>
                  <a:schemeClr val="tx2"/>
                </a:solidFill>
              </a:rPr>
              <a:t>Porous crystalline solids of metal nodes joined by organic linkers; tunable pores and chemistry make them candidates for CO₂ capture.</a:t>
            </a:r>
            <a:endParaRPr lang="en-US" sz="1200" dirty="0"/>
          </a:p>
        </p:txBody>
      </p:sp>
      <p:sp>
        <p:nvSpPr>
          <p:cNvPr id="29" name="Card DAC"/>
          <p:cNvSpPr/>
          <p:nvPr/>
        </p:nvSpPr>
        <p:spPr>
          <a:xfrm>
            <a:off x="4242816" y="2542032"/>
            <a:ext cx="3611880" cy="2048256"/>
          </a:xfrm>
          <a:prstGeom prst="roundRect">
            <a:avLst>
              <a:gd name="adj" fmla="val 3478"/>
            </a:avLst>
          </a:prstGeom>
          <a:solidFill>
            <a:schemeClr val="bg2"/>
          </a:solidFill>
          <a:ln w="12700">
            <a:solidFill>
              <a:schemeClr val="bg2"/>
            </a:solidFill>
            <a:prstDash val="solid"/>
          </a:ln>
        </p:spPr>
      </p:sp>
      <p:sp>
        <p:nvSpPr>
          <p:cNvPr id="30" name="Number 2"/>
          <p:cNvSpPr/>
          <p:nvPr/>
        </p:nvSpPr>
        <p:spPr>
          <a:xfrm>
            <a:off x="4379976" y="2660904"/>
            <a:ext cx="292608" cy="292608"/>
          </a:xfrm>
          <a:prstGeom prst="ellipse">
            <a:avLst/>
          </a:prstGeom>
          <a:solidFill>
            <a:schemeClr val="accent3"/>
          </a:solidFill>
          <a:ln w="12700">
            <a:solidFill>
              <a:schemeClr val="accent3"/>
            </a:solidFill>
            <a:prstDash val="solid"/>
          </a:ln>
        </p:spPr>
      </p:sp>
      <p:sp>
        <p:nvSpPr>
          <p:cNvPr id="31" name="Number 2 label"/>
          <p:cNvSpPr txBox="1"/>
          <p:nvPr/>
        </p:nvSpPr>
        <p:spPr>
          <a:xfrm>
            <a:off x="4379976" y="26609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32" name="Card title 2"/>
          <p:cNvSpPr txBox="1"/>
          <p:nvPr/>
        </p:nvSpPr>
        <p:spPr>
          <a:xfrm>
            <a:off x="4773168" y="2660904"/>
            <a:ext cx="2926080" cy="292608"/>
          </a:xfrm>
          <a:prstGeom prst="rect">
            <a:avLst/>
          </a:prstGeom>
          <a:noFill/>
          <a:ln/>
        </p:spPr>
        <p:txBody>
          <a:bodyPr wrap="square" lIns="0" tIns="0" rIns="0" bIns="0" rtlCol="0" anchor="ctr"/>
          <a:lstStyle/>
          <a:p>
            <a:pPr marL="0" indent="0">
              <a:buNone/>
            </a:pPr>
            <a:r>
              <a:rPr lang="en-US" sz="1500" b="1" dirty="0">
                <a:solidFill>
                  <a:schemeClr val="accent3"/>
                </a:solidFill>
              </a:rPr>
              <a:t>Why is direct air capture hard?</a:t>
            </a:r>
            <a:endParaRPr lang="en-US" sz="1500" dirty="0"/>
          </a:p>
        </p:txBody>
      </p:sp>
      <p:sp>
        <p:nvSpPr>
          <p:cNvPr id="33" name="Ambient air box"/>
          <p:cNvSpPr/>
          <p:nvPr/>
        </p:nvSpPr>
        <p:spPr>
          <a:xfrm>
            <a:off x="4425696" y="3072384"/>
            <a:ext cx="3246120" cy="658368"/>
          </a:xfrm>
          <a:prstGeom prst="rect">
            <a:avLst/>
          </a:prstGeom>
          <a:solidFill>
            <a:srgbClr val="FFFFFF"/>
          </a:solidFill>
          <a:ln w="12700">
            <a:solidFill>
              <a:schemeClr val="accent1"/>
            </a:solidFill>
            <a:prstDash val="solid"/>
          </a:ln>
        </p:spPr>
      </p:sp>
      <p:sp>
        <p:nvSpPr>
          <p:cNvPr id="34" name="Air gas 0"/>
          <p:cNvSpPr/>
          <p:nvPr/>
        </p:nvSpPr>
        <p:spPr>
          <a:xfrm>
            <a:off x="5989677" y="3400755"/>
            <a:ext cx="59436" cy="59436"/>
          </a:xfrm>
          <a:prstGeom prst="ellipse">
            <a:avLst/>
          </a:prstGeom>
          <a:solidFill>
            <a:srgbClr val="B9B9C2"/>
          </a:solidFill>
          <a:ln w="12700">
            <a:solidFill>
              <a:srgbClr val="B9B9C2"/>
            </a:solidFill>
            <a:prstDash val="solid"/>
          </a:ln>
        </p:spPr>
      </p:sp>
      <p:sp>
        <p:nvSpPr>
          <p:cNvPr id="35" name="Air gas 1"/>
          <p:cNvSpPr/>
          <p:nvPr/>
        </p:nvSpPr>
        <p:spPr>
          <a:xfrm>
            <a:off x="4841146" y="3250114"/>
            <a:ext cx="59436" cy="59436"/>
          </a:xfrm>
          <a:prstGeom prst="ellipse">
            <a:avLst/>
          </a:prstGeom>
          <a:solidFill>
            <a:srgbClr val="B9B9C2"/>
          </a:solidFill>
          <a:ln w="12700">
            <a:solidFill>
              <a:srgbClr val="B9B9C2"/>
            </a:solidFill>
            <a:prstDash val="solid"/>
          </a:ln>
        </p:spPr>
      </p:sp>
      <p:sp>
        <p:nvSpPr>
          <p:cNvPr id="36" name="Air gas 2"/>
          <p:cNvSpPr/>
          <p:nvPr/>
        </p:nvSpPr>
        <p:spPr>
          <a:xfrm>
            <a:off x="5845076" y="3374885"/>
            <a:ext cx="59436" cy="59436"/>
          </a:xfrm>
          <a:prstGeom prst="ellipse">
            <a:avLst/>
          </a:prstGeom>
          <a:solidFill>
            <a:srgbClr val="B9B9C2"/>
          </a:solidFill>
          <a:ln w="12700">
            <a:solidFill>
              <a:srgbClr val="B9B9C2"/>
            </a:solidFill>
            <a:prstDash val="solid"/>
          </a:ln>
        </p:spPr>
      </p:sp>
      <p:sp>
        <p:nvSpPr>
          <p:cNvPr id="37" name="Air gas 3"/>
          <p:cNvSpPr/>
          <p:nvPr/>
        </p:nvSpPr>
        <p:spPr>
          <a:xfrm>
            <a:off x="4728060" y="3551999"/>
            <a:ext cx="59436" cy="59436"/>
          </a:xfrm>
          <a:prstGeom prst="ellipse">
            <a:avLst/>
          </a:prstGeom>
          <a:solidFill>
            <a:srgbClr val="B9B9C2"/>
          </a:solidFill>
          <a:ln w="12700">
            <a:solidFill>
              <a:srgbClr val="B9B9C2"/>
            </a:solidFill>
            <a:prstDash val="solid"/>
          </a:ln>
        </p:spPr>
      </p:sp>
      <p:sp>
        <p:nvSpPr>
          <p:cNvPr id="38" name="Air gas 4"/>
          <p:cNvSpPr/>
          <p:nvPr/>
        </p:nvSpPr>
        <p:spPr>
          <a:xfrm>
            <a:off x="6292954" y="3329448"/>
            <a:ext cx="59436" cy="59436"/>
          </a:xfrm>
          <a:prstGeom prst="ellipse">
            <a:avLst/>
          </a:prstGeom>
          <a:solidFill>
            <a:srgbClr val="B9B9C2"/>
          </a:solidFill>
          <a:ln w="12700">
            <a:solidFill>
              <a:srgbClr val="B9B9C2"/>
            </a:solidFill>
            <a:prstDash val="solid"/>
          </a:ln>
        </p:spPr>
      </p:sp>
      <p:sp>
        <p:nvSpPr>
          <p:cNvPr id="39" name="Air gas 5"/>
          <p:cNvSpPr/>
          <p:nvPr/>
        </p:nvSpPr>
        <p:spPr>
          <a:xfrm>
            <a:off x="5358724" y="3505583"/>
            <a:ext cx="59436" cy="59436"/>
          </a:xfrm>
          <a:prstGeom prst="ellipse">
            <a:avLst/>
          </a:prstGeom>
          <a:solidFill>
            <a:srgbClr val="B9B9C2"/>
          </a:solidFill>
          <a:ln w="12700">
            <a:solidFill>
              <a:srgbClr val="B9B9C2"/>
            </a:solidFill>
            <a:prstDash val="solid"/>
          </a:ln>
        </p:spPr>
      </p:sp>
      <p:sp>
        <p:nvSpPr>
          <p:cNvPr id="40" name="Air gas 6"/>
          <p:cNvSpPr/>
          <p:nvPr/>
        </p:nvSpPr>
        <p:spPr>
          <a:xfrm>
            <a:off x="6501320" y="3170520"/>
            <a:ext cx="59436" cy="59436"/>
          </a:xfrm>
          <a:prstGeom prst="ellipse">
            <a:avLst/>
          </a:prstGeom>
          <a:solidFill>
            <a:srgbClr val="B9B9C2"/>
          </a:solidFill>
          <a:ln w="12700">
            <a:solidFill>
              <a:srgbClr val="B9B9C2"/>
            </a:solidFill>
            <a:prstDash val="solid"/>
          </a:ln>
        </p:spPr>
      </p:sp>
      <p:sp>
        <p:nvSpPr>
          <p:cNvPr id="41" name="Air gas 7"/>
          <p:cNvSpPr/>
          <p:nvPr/>
        </p:nvSpPr>
        <p:spPr>
          <a:xfrm>
            <a:off x="6014600" y="3245883"/>
            <a:ext cx="59436" cy="59436"/>
          </a:xfrm>
          <a:prstGeom prst="ellipse">
            <a:avLst/>
          </a:prstGeom>
          <a:solidFill>
            <a:srgbClr val="B9B9C2"/>
          </a:solidFill>
          <a:ln w="12700">
            <a:solidFill>
              <a:srgbClr val="B9B9C2"/>
            </a:solidFill>
            <a:prstDash val="solid"/>
          </a:ln>
        </p:spPr>
      </p:sp>
      <p:sp>
        <p:nvSpPr>
          <p:cNvPr id="42" name="Air gas 8"/>
          <p:cNvSpPr/>
          <p:nvPr/>
        </p:nvSpPr>
        <p:spPr>
          <a:xfrm>
            <a:off x="6545808" y="3209222"/>
            <a:ext cx="59436" cy="59436"/>
          </a:xfrm>
          <a:prstGeom prst="ellipse">
            <a:avLst/>
          </a:prstGeom>
          <a:solidFill>
            <a:srgbClr val="B9B9C2"/>
          </a:solidFill>
          <a:ln w="12700">
            <a:solidFill>
              <a:srgbClr val="B9B9C2"/>
            </a:solidFill>
            <a:prstDash val="solid"/>
          </a:ln>
        </p:spPr>
      </p:sp>
      <p:sp>
        <p:nvSpPr>
          <p:cNvPr id="43" name="Air gas 9"/>
          <p:cNvSpPr/>
          <p:nvPr/>
        </p:nvSpPr>
        <p:spPr>
          <a:xfrm>
            <a:off x="6204056" y="3365790"/>
            <a:ext cx="59436" cy="59436"/>
          </a:xfrm>
          <a:prstGeom prst="ellipse">
            <a:avLst/>
          </a:prstGeom>
          <a:solidFill>
            <a:srgbClr val="B9B9C2"/>
          </a:solidFill>
          <a:ln w="12700">
            <a:solidFill>
              <a:srgbClr val="B9B9C2"/>
            </a:solidFill>
            <a:prstDash val="solid"/>
          </a:ln>
        </p:spPr>
      </p:sp>
      <p:sp>
        <p:nvSpPr>
          <p:cNvPr id="44" name="Air gas 10"/>
          <p:cNvSpPr/>
          <p:nvPr/>
        </p:nvSpPr>
        <p:spPr>
          <a:xfrm>
            <a:off x="5027162" y="3157915"/>
            <a:ext cx="59436" cy="59436"/>
          </a:xfrm>
          <a:prstGeom prst="ellipse">
            <a:avLst/>
          </a:prstGeom>
          <a:solidFill>
            <a:srgbClr val="B9B9C2"/>
          </a:solidFill>
          <a:ln w="12700">
            <a:solidFill>
              <a:srgbClr val="B9B9C2"/>
            </a:solidFill>
            <a:prstDash val="solid"/>
          </a:ln>
        </p:spPr>
      </p:sp>
      <p:sp>
        <p:nvSpPr>
          <p:cNvPr id="45" name="Air gas 11"/>
          <p:cNvSpPr/>
          <p:nvPr/>
        </p:nvSpPr>
        <p:spPr>
          <a:xfrm>
            <a:off x="7364169" y="3595275"/>
            <a:ext cx="59436" cy="59436"/>
          </a:xfrm>
          <a:prstGeom prst="ellipse">
            <a:avLst/>
          </a:prstGeom>
          <a:solidFill>
            <a:srgbClr val="B9B9C2"/>
          </a:solidFill>
          <a:ln w="12700">
            <a:solidFill>
              <a:srgbClr val="B9B9C2"/>
            </a:solidFill>
            <a:prstDash val="solid"/>
          </a:ln>
        </p:spPr>
      </p:sp>
      <p:sp>
        <p:nvSpPr>
          <p:cNvPr id="46" name="Air gas 12"/>
          <p:cNvSpPr/>
          <p:nvPr/>
        </p:nvSpPr>
        <p:spPr>
          <a:xfrm>
            <a:off x="4857349" y="3345330"/>
            <a:ext cx="59436" cy="59436"/>
          </a:xfrm>
          <a:prstGeom prst="ellipse">
            <a:avLst/>
          </a:prstGeom>
          <a:solidFill>
            <a:srgbClr val="B9B9C2"/>
          </a:solidFill>
          <a:ln w="12700">
            <a:solidFill>
              <a:srgbClr val="B9B9C2"/>
            </a:solidFill>
            <a:prstDash val="solid"/>
          </a:ln>
        </p:spPr>
      </p:sp>
      <p:sp>
        <p:nvSpPr>
          <p:cNvPr id="47" name="Air gas 13"/>
          <p:cNvSpPr/>
          <p:nvPr/>
        </p:nvSpPr>
        <p:spPr>
          <a:xfrm>
            <a:off x="7414960" y="3224041"/>
            <a:ext cx="59436" cy="59436"/>
          </a:xfrm>
          <a:prstGeom prst="ellipse">
            <a:avLst/>
          </a:prstGeom>
          <a:solidFill>
            <a:srgbClr val="B9B9C2"/>
          </a:solidFill>
          <a:ln w="12700">
            <a:solidFill>
              <a:srgbClr val="B9B9C2"/>
            </a:solidFill>
            <a:prstDash val="solid"/>
          </a:ln>
        </p:spPr>
      </p:sp>
      <p:sp>
        <p:nvSpPr>
          <p:cNvPr id="48" name="Air gas 14"/>
          <p:cNvSpPr/>
          <p:nvPr/>
        </p:nvSpPr>
        <p:spPr>
          <a:xfrm>
            <a:off x="5771647" y="3395773"/>
            <a:ext cx="59436" cy="59436"/>
          </a:xfrm>
          <a:prstGeom prst="ellipse">
            <a:avLst/>
          </a:prstGeom>
          <a:solidFill>
            <a:srgbClr val="B9B9C2"/>
          </a:solidFill>
          <a:ln w="12700">
            <a:solidFill>
              <a:srgbClr val="B9B9C2"/>
            </a:solidFill>
            <a:prstDash val="solid"/>
          </a:ln>
        </p:spPr>
      </p:sp>
      <p:sp>
        <p:nvSpPr>
          <p:cNvPr id="49" name="Air gas 15"/>
          <p:cNvSpPr/>
          <p:nvPr/>
        </p:nvSpPr>
        <p:spPr>
          <a:xfrm>
            <a:off x="6545519" y="3267635"/>
            <a:ext cx="59436" cy="59436"/>
          </a:xfrm>
          <a:prstGeom prst="ellipse">
            <a:avLst/>
          </a:prstGeom>
          <a:solidFill>
            <a:srgbClr val="B9B9C2"/>
          </a:solidFill>
          <a:ln w="12700">
            <a:solidFill>
              <a:srgbClr val="B9B9C2"/>
            </a:solidFill>
            <a:prstDash val="solid"/>
          </a:ln>
        </p:spPr>
      </p:sp>
      <p:sp>
        <p:nvSpPr>
          <p:cNvPr id="50" name="Air gas 16"/>
          <p:cNvSpPr/>
          <p:nvPr/>
        </p:nvSpPr>
        <p:spPr>
          <a:xfrm>
            <a:off x="5009356" y="3602756"/>
            <a:ext cx="59436" cy="59436"/>
          </a:xfrm>
          <a:prstGeom prst="ellipse">
            <a:avLst/>
          </a:prstGeom>
          <a:solidFill>
            <a:srgbClr val="B9B9C2"/>
          </a:solidFill>
          <a:ln w="12700">
            <a:solidFill>
              <a:srgbClr val="B9B9C2"/>
            </a:solidFill>
            <a:prstDash val="solid"/>
          </a:ln>
        </p:spPr>
      </p:sp>
      <p:sp>
        <p:nvSpPr>
          <p:cNvPr id="51" name="Air gas 17"/>
          <p:cNvSpPr/>
          <p:nvPr/>
        </p:nvSpPr>
        <p:spPr>
          <a:xfrm>
            <a:off x="5852561" y="3244701"/>
            <a:ext cx="59436" cy="59436"/>
          </a:xfrm>
          <a:prstGeom prst="ellipse">
            <a:avLst/>
          </a:prstGeom>
          <a:solidFill>
            <a:srgbClr val="B9B9C2"/>
          </a:solidFill>
          <a:ln w="12700">
            <a:solidFill>
              <a:srgbClr val="B9B9C2"/>
            </a:solidFill>
            <a:prstDash val="solid"/>
          </a:ln>
        </p:spPr>
      </p:sp>
      <p:sp>
        <p:nvSpPr>
          <p:cNvPr id="52" name="Air gas 18"/>
          <p:cNvSpPr/>
          <p:nvPr/>
        </p:nvSpPr>
        <p:spPr>
          <a:xfrm>
            <a:off x="6163166" y="3291202"/>
            <a:ext cx="59436" cy="59436"/>
          </a:xfrm>
          <a:prstGeom prst="ellipse">
            <a:avLst/>
          </a:prstGeom>
          <a:solidFill>
            <a:srgbClr val="B9B9C2"/>
          </a:solidFill>
          <a:ln w="12700">
            <a:solidFill>
              <a:srgbClr val="B9B9C2"/>
            </a:solidFill>
            <a:prstDash val="solid"/>
          </a:ln>
        </p:spPr>
      </p:sp>
      <p:sp>
        <p:nvSpPr>
          <p:cNvPr id="53" name="Air gas 19"/>
          <p:cNvSpPr/>
          <p:nvPr/>
        </p:nvSpPr>
        <p:spPr>
          <a:xfrm>
            <a:off x="4957908" y="3501580"/>
            <a:ext cx="59436" cy="59436"/>
          </a:xfrm>
          <a:prstGeom prst="ellipse">
            <a:avLst/>
          </a:prstGeom>
          <a:solidFill>
            <a:srgbClr val="B9B9C2"/>
          </a:solidFill>
          <a:ln w="12700">
            <a:solidFill>
              <a:srgbClr val="B9B9C2"/>
            </a:solidFill>
            <a:prstDash val="solid"/>
          </a:ln>
        </p:spPr>
      </p:sp>
      <p:sp>
        <p:nvSpPr>
          <p:cNvPr id="54" name="Air gas 20"/>
          <p:cNvSpPr/>
          <p:nvPr/>
        </p:nvSpPr>
        <p:spPr>
          <a:xfrm>
            <a:off x="5564752" y="3300553"/>
            <a:ext cx="59436" cy="59436"/>
          </a:xfrm>
          <a:prstGeom prst="ellipse">
            <a:avLst/>
          </a:prstGeom>
          <a:solidFill>
            <a:srgbClr val="B9B9C2"/>
          </a:solidFill>
          <a:ln w="12700">
            <a:solidFill>
              <a:srgbClr val="B9B9C2"/>
            </a:solidFill>
            <a:prstDash val="solid"/>
          </a:ln>
        </p:spPr>
      </p:sp>
      <p:sp>
        <p:nvSpPr>
          <p:cNvPr id="55" name="Air gas 21"/>
          <p:cNvSpPr/>
          <p:nvPr/>
        </p:nvSpPr>
        <p:spPr>
          <a:xfrm>
            <a:off x="4731369" y="3574526"/>
            <a:ext cx="59436" cy="59436"/>
          </a:xfrm>
          <a:prstGeom prst="ellipse">
            <a:avLst/>
          </a:prstGeom>
          <a:solidFill>
            <a:srgbClr val="B9B9C2"/>
          </a:solidFill>
          <a:ln w="12700">
            <a:solidFill>
              <a:srgbClr val="B9B9C2"/>
            </a:solidFill>
            <a:prstDash val="solid"/>
          </a:ln>
        </p:spPr>
      </p:sp>
      <p:sp>
        <p:nvSpPr>
          <p:cNvPr id="56" name="Air gas 22"/>
          <p:cNvSpPr/>
          <p:nvPr/>
        </p:nvSpPr>
        <p:spPr>
          <a:xfrm>
            <a:off x="5218457" y="3554497"/>
            <a:ext cx="59436" cy="59436"/>
          </a:xfrm>
          <a:prstGeom prst="ellipse">
            <a:avLst/>
          </a:prstGeom>
          <a:solidFill>
            <a:srgbClr val="B9B9C2"/>
          </a:solidFill>
          <a:ln w="12700">
            <a:solidFill>
              <a:srgbClr val="B9B9C2"/>
            </a:solidFill>
            <a:prstDash val="solid"/>
          </a:ln>
        </p:spPr>
      </p:sp>
      <p:sp>
        <p:nvSpPr>
          <p:cNvPr id="57" name="Air gas 23"/>
          <p:cNvSpPr/>
          <p:nvPr/>
        </p:nvSpPr>
        <p:spPr>
          <a:xfrm>
            <a:off x="5929300" y="3246339"/>
            <a:ext cx="59436" cy="59436"/>
          </a:xfrm>
          <a:prstGeom prst="ellipse">
            <a:avLst/>
          </a:prstGeom>
          <a:solidFill>
            <a:srgbClr val="B9B9C2"/>
          </a:solidFill>
          <a:ln w="12700">
            <a:solidFill>
              <a:srgbClr val="B9B9C2"/>
            </a:solidFill>
            <a:prstDash val="solid"/>
          </a:ln>
        </p:spPr>
      </p:sp>
      <p:sp>
        <p:nvSpPr>
          <p:cNvPr id="58" name="Air gas 24"/>
          <p:cNvSpPr/>
          <p:nvPr/>
        </p:nvSpPr>
        <p:spPr>
          <a:xfrm>
            <a:off x="6334449" y="3325127"/>
            <a:ext cx="59436" cy="59436"/>
          </a:xfrm>
          <a:prstGeom prst="ellipse">
            <a:avLst/>
          </a:prstGeom>
          <a:solidFill>
            <a:srgbClr val="B9B9C2"/>
          </a:solidFill>
          <a:ln w="12700">
            <a:solidFill>
              <a:srgbClr val="B9B9C2"/>
            </a:solidFill>
            <a:prstDash val="solid"/>
          </a:ln>
        </p:spPr>
      </p:sp>
      <p:sp>
        <p:nvSpPr>
          <p:cNvPr id="59" name="Air gas 25"/>
          <p:cNvSpPr/>
          <p:nvPr/>
        </p:nvSpPr>
        <p:spPr>
          <a:xfrm>
            <a:off x="6812082" y="3444516"/>
            <a:ext cx="59436" cy="59436"/>
          </a:xfrm>
          <a:prstGeom prst="ellipse">
            <a:avLst/>
          </a:prstGeom>
          <a:solidFill>
            <a:srgbClr val="B9B9C2"/>
          </a:solidFill>
          <a:ln w="12700">
            <a:solidFill>
              <a:srgbClr val="B9B9C2"/>
            </a:solidFill>
            <a:prstDash val="solid"/>
          </a:ln>
        </p:spPr>
      </p:sp>
      <p:sp>
        <p:nvSpPr>
          <p:cNvPr id="60" name="Air gas 26"/>
          <p:cNvSpPr/>
          <p:nvPr/>
        </p:nvSpPr>
        <p:spPr>
          <a:xfrm>
            <a:off x="4904044" y="3240555"/>
            <a:ext cx="59436" cy="59436"/>
          </a:xfrm>
          <a:prstGeom prst="ellipse">
            <a:avLst/>
          </a:prstGeom>
          <a:solidFill>
            <a:srgbClr val="B9B9C2"/>
          </a:solidFill>
          <a:ln w="12700">
            <a:solidFill>
              <a:srgbClr val="B9B9C2"/>
            </a:solidFill>
            <a:prstDash val="solid"/>
          </a:ln>
        </p:spPr>
      </p:sp>
      <p:sp>
        <p:nvSpPr>
          <p:cNvPr id="61" name="Air gas 27"/>
          <p:cNvSpPr/>
          <p:nvPr/>
        </p:nvSpPr>
        <p:spPr>
          <a:xfrm>
            <a:off x="5867005" y="3176989"/>
            <a:ext cx="59436" cy="59436"/>
          </a:xfrm>
          <a:prstGeom prst="ellipse">
            <a:avLst/>
          </a:prstGeom>
          <a:solidFill>
            <a:srgbClr val="B9B9C2"/>
          </a:solidFill>
          <a:ln w="12700">
            <a:solidFill>
              <a:srgbClr val="B9B9C2"/>
            </a:solidFill>
            <a:prstDash val="solid"/>
          </a:ln>
        </p:spPr>
      </p:sp>
      <p:sp>
        <p:nvSpPr>
          <p:cNvPr id="62" name="Air gas 28"/>
          <p:cNvSpPr/>
          <p:nvPr/>
        </p:nvSpPr>
        <p:spPr>
          <a:xfrm>
            <a:off x="4633384" y="3330133"/>
            <a:ext cx="59436" cy="59436"/>
          </a:xfrm>
          <a:prstGeom prst="ellipse">
            <a:avLst/>
          </a:prstGeom>
          <a:solidFill>
            <a:srgbClr val="B9B9C2"/>
          </a:solidFill>
          <a:ln w="12700">
            <a:solidFill>
              <a:srgbClr val="B9B9C2"/>
            </a:solidFill>
            <a:prstDash val="solid"/>
          </a:ln>
        </p:spPr>
      </p:sp>
      <p:sp>
        <p:nvSpPr>
          <p:cNvPr id="63" name="Air gas 29"/>
          <p:cNvSpPr/>
          <p:nvPr/>
        </p:nvSpPr>
        <p:spPr>
          <a:xfrm>
            <a:off x="6573305" y="3441695"/>
            <a:ext cx="59436" cy="59436"/>
          </a:xfrm>
          <a:prstGeom prst="ellipse">
            <a:avLst/>
          </a:prstGeom>
          <a:solidFill>
            <a:srgbClr val="B9B9C2"/>
          </a:solidFill>
          <a:ln w="12700">
            <a:solidFill>
              <a:srgbClr val="B9B9C2"/>
            </a:solidFill>
            <a:prstDash val="solid"/>
          </a:ln>
        </p:spPr>
      </p:sp>
      <p:sp>
        <p:nvSpPr>
          <p:cNvPr id="64" name="CO2 molecule 0"/>
          <p:cNvSpPr/>
          <p:nvPr/>
        </p:nvSpPr>
        <p:spPr>
          <a:xfrm>
            <a:off x="4948325" y="3284504"/>
            <a:ext cx="118872" cy="118872"/>
          </a:xfrm>
          <a:prstGeom prst="ellipse">
            <a:avLst/>
          </a:prstGeom>
          <a:solidFill>
            <a:schemeClr val="accent2"/>
          </a:solidFill>
          <a:ln w="12700">
            <a:solidFill>
              <a:schemeClr val="accent2"/>
            </a:solidFill>
            <a:prstDash val="solid"/>
          </a:ln>
        </p:spPr>
      </p:sp>
      <p:sp>
        <p:nvSpPr>
          <p:cNvPr id="65" name="CO2 molecule 1"/>
          <p:cNvSpPr/>
          <p:nvPr/>
        </p:nvSpPr>
        <p:spPr>
          <a:xfrm>
            <a:off x="5858084" y="3340742"/>
            <a:ext cx="118872" cy="118872"/>
          </a:xfrm>
          <a:prstGeom prst="ellipse">
            <a:avLst/>
          </a:prstGeom>
          <a:solidFill>
            <a:schemeClr val="accent2"/>
          </a:solidFill>
          <a:ln w="12700">
            <a:solidFill>
              <a:schemeClr val="accent2"/>
            </a:solidFill>
            <a:prstDash val="solid"/>
          </a:ln>
        </p:spPr>
      </p:sp>
      <p:sp>
        <p:nvSpPr>
          <p:cNvPr id="66" name="CO2 molecule 2"/>
          <p:cNvSpPr/>
          <p:nvPr/>
        </p:nvSpPr>
        <p:spPr>
          <a:xfrm>
            <a:off x="6909802" y="3453538"/>
            <a:ext cx="118872" cy="118872"/>
          </a:xfrm>
          <a:prstGeom prst="ellipse">
            <a:avLst/>
          </a:prstGeom>
          <a:solidFill>
            <a:schemeClr val="accent2"/>
          </a:solidFill>
          <a:ln w="12700">
            <a:solidFill>
              <a:schemeClr val="accent2"/>
            </a:solidFill>
            <a:prstDash val="solid"/>
          </a:ln>
        </p:spPr>
      </p:sp>
      <p:sp>
        <p:nvSpPr>
          <p:cNvPr id="67" name="Water vapor 0"/>
          <p:cNvSpPr/>
          <p:nvPr/>
        </p:nvSpPr>
        <p:spPr>
          <a:xfrm>
            <a:off x="4645285" y="3329212"/>
            <a:ext cx="91440" cy="91440"/>
          </a:xfrm>
          <a:prstGeom prst="ellipse">
            <a:avLst/>
          </a:prstGeom>
          <a:solidFill>
            <a:schemeClr val="accent4"/>
          </a:solidFill>
          <a:ln w="12700">
            <a:solidFill>
              <a:schemeClr val="accent4"/>
            </a:solidFill>
            <a:prstDash val="solid"/>
          </a:ln>
        </p:spPr>
      </p:sp>
      <p:sp>
        <p:nvSpPr>
          <p:cNvPr id="68" name="Water vapor 1"/>
          <p:cNvSpPr/>
          <p:nvPr/>
        </p:nvSpPr>
        <p:spPr>
          <a:xfrm>
            <a:off x="5159787" y="3240282"/>
            <a:ext cx="91440" cy="91440"/>
          </a:xfrm>
          <a:prstGeom prst="ellipse">
            <a:avLst/>
          </a:prstGeom>
          <a:solidFill>
            <a:schemeClr val="accent4"/>
          </a:solidFill>
          <a:ln w="12700">
            <a:solidFill>
              <a:schemeClr val="accent4"/>
            </a:solidFill>
            <a:prstDash val="solid"/>
          </a:ln>
        </p:spPr>
      </p:sp>
      <p:sp>
        <p:nvSpPr>
          <p:cNvPr id="69" name="Water vapor 2"/>
          <p:cNvSpPr/>
          <p:nvPr/>
        </p:nvSpPr>
        <p:spPr>
          <a:xfrm>
            <a:off x="5796021" y="3194249"/>
            <a:ext cx="91440" cy="91440"/>
          </a:xfrm>
          <a:prstGeom prst="ellipse">
            <a:avLst/>
          </a:prstGeom>
          <a:solidFill>
            <a:schemeClr val="accent4"/>
          </a:solidFill>
          <a:ln w="12700">
            <a:solidFill>
              <a:schemeClr val="accent4"/>
            </a:solidFill>
            <a:prstDash val="solid"/>
          </a:ln>
        </p:spPr>
      </p:sp>
      <p:sp>
        <p:nvSpPr>
          <p:cNvPr id="70" name="Water vapor 3"/>
          <p:cNvSpPr/>
          <p:nvPr/>
        </p:nvSpPr>
        <p:spPr>
          <a:xfrm>
            <a:off x="6258218" y="3472886"/>
            <a:ext cx="91440" cy="91440"/>
          </a:xfrm>
          <a:prstGeom prst="ellipse">
            <a:avLst/>
          </a:prstGeom>
          <a:solidFill>
            <a:schemeClr val="accent4"/>
          </a:solidFill>
          <a:ln w="12700">
            <a:solidFill>
              <a:schemeClr val="accent4"/>
            </a:solidFill>
            <a:prstDash val="solid"/>
          </a:ln>
        </p:spPr>
      </p:sp>
      <p:sp>
        <p:nvSpPr>
          <p:cNvPr id="71" name="Water vapor 4"/>
          <p:cNvSpPr/>
          <p:nvPr/>
        </p:nvSpPr>
        <p:spPr>
          <a:xfrm>
            <a:off x="6914396" y="3561417"/>
            <a:ext cx="91440" cy="91440"/>
          </a:xfrm>
          <a:prstGeom prst="ellipse">
            <a:avLst/>
          </a:prstGeom>
          <a:solidFill>
            <a:schemeClr val="accent4"/>
          </a:solidFill>
          <a:ln w="12700">
            <a:solidFill>
              <a:schemeClr val="accent4"/>
            </a:solidFill>
            <a:prstDash val="solid"/>
          </a:ln>
        </p:spPr>
      </p:sp>
      <p:sp>
        <p:nvSpPr>
          <p:cNvPr id="72" name="Water vapor 5"/>
          <p:cNvSpPr/>
          <p:nvPr/>
        </p:nvSpPr>
        <p:spPr>
          <a:xfrm>
            <a:off x="7475559" y="3514030"/>
            <a:ext cx="91440" cy="91440"/>
          </a:xfrm>
          <a:prstGeom prst="ellipse">
            <a:avLst/>
          </a:prstGeom>
          <a:solidFill>
            <a:schemeClr val="accent4"/>
          </a:solidFill>
          <a:ln w="12700">
            <a:solidFill>
              <a:schemeClr val="accent4"/>
            </a:solidFill>
            <a:prstDash val="solid"/>
          </a:ln>
        </p:spPr>
      </p:sp>
      <p:sp>
        <p:nvSpPr>
          <p:cNvPr id="73" name="Legend CO2 dot"/>
          <p:cNvSpPr/>
          <p:nvPr/>
        </p:nvSpPr>
        <p:spPr>
          <a:xfrm>
            <a:off x="4434840" y="3867912"/>
            <a:ext cx="109728" cy="109728"/>
          </a:xfrm>
          <a:prstGeom prst="ellipse">
            <a:avLst/>
          </a:prstGeom>
          <a:solidFill>
            <a:schemeClr val="accent2"/>
          </a:solidFill>
          <a:ln w="12700">
            <a:solidFill>
              <a:schemeClr val="accent2"/>
            </a:solidFill>
            <a:prstDash val="solid"/>
          </a:ln>
        </p:spPr>
      </p:sp>
      <p:sp>
        <p:nvSpPr>
          <p:cNvPr id="74" name="Legend CO2 label"/>
          <p:cNvSpPr txBox="1"/>
          <p:nvPr/>
        </p:nvSpPr>
        <p:spPr>
          <a:xfrm>
            <a:off x="4608576" y="3822192"/>
            <a:ext cx="914400" cy="201168"/>
          </a:xfrm>
          <a:prstGeom prst="rect">
            <a:avLst/>
          </a:prstGeom>
          <a:noFill/>
          <a:ln/>
        </p:spPr>
        <p:txBody>
          <a:bodyPr wrap="square" lIns="0" tIns="0" rIns="0" bIns="0" rtlCol="0" anchor="ctr"/>
          <a:lstStyle/>
          <a:p>
            <a:pPr marL="0" indent="0">
              <a:buNone/>
            </a:pPr>
            <a:r>
              <a:rPr lang="en-US" sz="1100" b="1" dirty="0">
                <a:solidFill>
                  <a:srgbClr val="B8531A"/>
                </a:solidFill>
              </a:rPr>
              <a:t>CO₂ (dilute)</a:t>
            </a:r>
            <a:endParaRPr lang="en-US" sz="1100" dirty="0"/>
          </a:p>
        </p:txBody>
      </p:sp>
      <p:sp>
        <p:nvSpPr>
          <p:cNvPr id="75" name="Legend H2O dot"/>
          <p:cNvSpPr/>
          <p:nvPr/>
        </p:nvSpPr>
        <p:spPr>
          <a:xfrm>
            <a:off x="5614416" y="3877056"/>
            <a:ext cx="91440" cy="91440"/>
          </a:xfrm>
          <a:prstGeom prst="ellipse">
            <a:avLst/>
          </a:prstGeom>
          <a:solidFill>
            <a:schemeClr val="accent4"/>
          </a:solidFill>
          <a:ln w="12700">
            <a:solidFill>
              <a:schemeClr val="accent4"/>
            </a:solidFill>
            <a:prstDash val="solid"/>
          </a:ln>
        </p:spPr>
      </p:sp>
      <p:sp>
        <p:nvSpPr>
          <p:cNvPr id="76" name="Legend H2O label"/>
          <p:cNvSpPr txBox="1"/>
          <p:nvPr/>
        </p:nvSpPr>
        <p:spPr>
          <a:xfrm>
            <a:off x="5779008" y="3822192"/>
            <a:ext cx="822960" cy="201168"/>
          </a:xfrm>
          <a:prstGeom prst="rect">
            <a:avLst/>
          </a:prstGeom>
          <a:noFill/>
          <a:ln/>
        </p:spPr>
        <p:txBody>
          <a:bodyPr wrap="square" lIns="0" tIns="0" rIns="0" bIns="0" rtlCol="0" anchor="ctr"/>
          <a:lstStyle/>
          <a:p>
            <a:pPr marL="0" indent="0">
              <a:buNone/>
            </a:pPr>
            <a:r>
              <a:rPr lang="en-US" sz="1100" b="1" dirty="0">
                <a:solidFill>
                  <a:srgbClr val="2A6BB0"/>
                </a:solidFill>
              </a:rPr>
              <a:t>H₂O vapor</a:t>
            </a:r>
            <a:endParaRPr lang="en-US" sz="1100" dirty="0"/>
          </a:p>
        </p:txBody>
      </p:sp>
      <p:sp>
        <p:nvSpPr>
          <p:cNvPr id="77" name="Legend other dot"/>
          <p:cNvSpPr/>
          <p:nvPr/>
        </p:nvSpPr>
        <p:spPr>
          <a:xfrm>
            <a:off x="6679692" y="3890772"/>
            <a:ext cx="64008" cy="64008"/>
          </a:xfrm>
          <a:prstGeom prst="ellipse">
            <a:avLst/>
          </a:prstGeom>
          <a:solidFill>
            <a:srgbClr val="B9B9C2"/>
          </a:solidFill>
          <a:ln w="12700">
            <a:solidFill>
              <a:srgbClr val="B9B9C2"/>
            </a:solidFill>
            <a:prstDash val="solid"/>
          </a:ln>
        </p:spPr>
      </p:sp>
      <p:sp>
        <p:nvSpPr>
          <p:cNvPr id="78" name="Legend other label"/>
          <p:cNvSpPr txBox="1"/>
          <p:nvPr/>
        </p:nvSpPr>
        <p:spPr>
          <a:xfrm>
            <a:off x="6821424" y="3822192"/>
            <a:ext cx="868680" cy="201168"/>
          </a:xfrm>
          <a:prstGeom prst="rect">
            <a:avLst/>
          </a:prstGeom>
          <a:noFill/>
          <a:ln/>
        </p:spPr>
        <p:txBody>
          <a:bodyPr wrap="square" lIns="0" tIns="0" rIns="0" bIns="0" rtlCol="0" anchor="ctr"/>
          <a:lstStyle/>
          <a:p>
            <a:pPr marL="0" indent="0">
              <a:buNone/>
            </a:pPr>
            <a:r>
              <a:rPr lang="en-US" sz="1100" b="1" dirty="0">
                <a:solidFill>
                  <a:schemeClr val="accent6"/>
                </a:solidFill>
              </a:rPr>
              <a:t>other gases</a:t>
            </a:r>
            <a:endParaRPr lang="en-US" sz="1100" dirty="0"/>
          </a:p>
        </p:txBody>
      </p:sp>
      <p:sp>
        <p:nvSpPr>
          <p:cNvPr id="79" name="Card DAC text"/>
          <p:cNvSpPr txBox="1"/>
          <p:nvPr/>
        </p:nvSpPr>
        <p:spPr>
          <a:xfrm>
            <a:off x="4425696" y="4041648"/>
            <a:ext cx="3246120" cy="548640"/>
          </a:xfrm>
          <a:prstGeom prst="rect">
            <a:avLst/>
          </a:prstGeom>
          <a:noFill/>
          <a:ln/>
        </p:spPr>
        <p:txBody>
          <a:bodyPr wrap="square" lIns="0" tIns="0" rIns="0" bIns="0" rtlCol="0" anchor="t"/>
          <a:lstStyle/>
          <a:p>
            <a:pPr marL="0" indent="0" algn="l">
              <a:buNone/>
            </a:pPr>
            <a:r>
              <a:rPr lang="en-US" sz="1200" dirty="0">
                <a:solidFill>
                  <a:schemeClr val="tx2"/>
                </a:solidFill>
              </a:rPr>
              <a:t>Atmospheric CO₂ is dilute (~420 ppm), so it must be captured at very low partial pressure, alongside ever-present water vapor.</a:t>
            </a:r>
            <a:endParaRPr lang="en-US" sz="1200" dirty="0"/>
          </a:p>
        </p:txBody>
      </p:sp>
      <p:sp>
        <p:nvSpPr>
          <p:cNvPr id="80" name="Card humidity"/>
          <p:cNvSpPr/>
          <p:nvPr/>
        </p:nvSpPr>
        <p:spPr>
          <a:xfrm>
            <a:off x="8037576" y="2542032"/>
            <a:ext cx="3611880" cy="2048256"/>
          </a:xfrm>
          <a:prstGeom prst="roundRect">
            <a:avLst>
              <a:gd name="adj" fmla="val 3478"/>
            </a:avLst>
          </a:prstGeom>
          <a:solidFill>
            <a:schemeClr val="bg2"/>
          </a:solidFill>
          <a:ln w="12700">
            <a:solidFill>
              <a:schemeClr val="bg2"/>
            </a:solidFill>
            <a:prstDash val="solid"/>
          </a:ln>
        </p:spPr>
      </p:sp>
      <p:sp>
        <p:nvSpPr>
          <p:cNvPr id="81" name="Number 3"/>
          <p:cNvSpPr/>
          <p:nvPr/>
        </p:nvSpPr>
        <p:spPr>
          <a:xfrm>
            <a:off x="8174736" y="2660904"/>
            <a:ext cx="292608" cy="292608"/>
          </a:xfrm>
          <a:prstGeom prst="ellipse">
            <a:avLst/>
          </a:prstGeom>
          <a:solidFill>
            <a:schemeClr val="accent3"/>
          </a:solidFill>
          <a:ln w="12700">
            <a:solidFill>
              <a:schemeClr val="accent3"/>
            </a:solidFill>
            <a:prstDash val="solid"/>
          </a:ln>
        </p:spPr>
      </p:sp>
      <p:sp>
        <p:nvSpPr>
          <p:cNvPr id="82" name="Number 3 label"/>
          <p:cNvSpPr txBox="1"/>
          <p:nvPr/>
        </p:nvSpPr>
        <p:spPr>
          <a:xfrm>
            <a:off x="8174736" y="26609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83" name="Card title 3"/>
          <p:cNvSpPr txBox="1"/>
          <p:nvPr/>
        </p:nvSpPr>
        <p:spPr>
          <a:xfrm>
            <a:off x="8567928" y="2660904"/>
            <a:ext cx="2926080" cy="292608"/>
          </a:xfrm>
          <a:prstGeom prst="rect">
            <a:avLst/>
          </a:prstGeom>
          <a:noFill/>
          <a:ln/>
        </p:spPr>
        <p:txBody>
          <a:bodyPr wrap="square" lIns="0" tIns="0" rIns="0" bIns="0" rtlCol="0" anchor="ctr"/>
          <a:lstStyle/>
          <a:p>
            <a:pPr marL="0" indent="0">
              <a:buNone/>
            </a:pPr>
            <a:r>
              <a:rPr lang="en-US" sz="1500" b="1" dirty="0">
                <a:solidFill>
                  <a:schemeClr val="accent3"/>
                </a:solidFill>
              </a:rPr>
              <a:t>Why does humidity matter?</a:t>
            </a:r>
            <a:endParaRPr lang="en-US" sz="1500" dirty="0"/>
          </a:p>
        </p:txBody>
      </p:sp>
      <p:sp>
        <p:nvSpPr>
          <p:cNvPr id="84" name="MOF pore"/>
          <p:cNvSpPr/>
          <p:nvPr/>
        </p:nvSpPr>
        <p:spPr>
          <a:xfrm>
            <a:off x="8220456" y="3072384"/>
            <a:ext cx="3246120" cy="804672"/>
          </a:xfrm>
          <a:prstGeom prst="roundRect">
            <a:avLst>
              <a:gd name="adj" fmla="val 13636"/>
            </a:avLst>
          </a:prstGeom>
          <a:solidFill>
            <a:srgbClr val="FFFFFF"/>
          </a:solidFill>
          <a:ln w="15875">
            <a:solidFill>
              <a:schemeClr val="accent3"/>
            </a:solidFill>
            <a:prstDash val="solid"/>
          </a:ln>
        </p:spPr>
      </p:sp>
      <p:sp>
        <p:nvSpPr>
          <p:cNvPr id="85" name="Pore label"/>
          <p:cNvSpPr txBox="1"/>
          <p:nvPr/>
        </p:nvSpPr>
        <p:spPr>
          <a:xfrm>
            <a:off x="8311896" y="3108960"/>
            <a:ext cx="1005840" cy="182880"/>
          </a:xfrm>
          <a:prstGeom prst="rect">
            <a:avLst/>
          </a:prstGeom>
          <a:noFill/>
          <a:ln/>
        </p:spPr>
        <p:txBody>
          <a:bodyPr wrap="square" lIns="0" tIns="0" rIns="0" bIns="0" rtlCol="0" anchor="t"/>
          <a:lstStyle/>
          <a:p>
            <a:pPr marL="0" indent="0">
              <a:buNone/>
            </a:pPr>
            <a:r>
              <a:rPr lang="en-US" sz="1050" b="1" dirty="0">
                <a:solidFill>
                  <a:schemeClr val="accent3"/>
                </a:solidFill>
              </a:rPr>
              <a:t>MOF pore</a:t>
            </a:r>
            <a:endParaRPr lang="en-US" sz="1050" dirty="0"/>
          </a:p>
        </p:txBody>
      </p:sp>
      <p:sp>
        <p:nvSpPr>
          <p:cNvPr id="86" name="H2O circle"/>
          <p:cNvSpPr/>
          <p:nvPr/>
        </p:nvSpPr>
        <p:spPr>
          <a:xfrm>
            <a:off x="8714232" y="3410712"/>
            <a:ext cx="384048" cy="384048"/>
          </a:xfrm>
          <a:prstGeom prst="ellipse">
            <a:avLst/>
          </a:prstGeom>
          <a:solidFill>
            <a:schemeClr val="accent4"/>
          </a:solidFill>
          <a:ln w="12700">
            <a:solidFill>
              <a:schemeClr val="accent4"/>
            </a:solidFill>
            <a:prstDash val="solid"/>
          </a:ln>
        </p:spPr>
      </p:sp>
      <p:sp>
        <p:nvSpPr>
          <p:cNvPr id="87" name="H2O label"/>
          <p:cNvSpPr txBox="1"/>
          <p:nvPr/>
        </p:nvSpPr>
        <p:spPr>
          <a:xfrm>
            <a:off x="8714232" y="3502152"/>
            <a:ext cx="384048" cy="201168"/>
          </a:xfrm>
          <a:prstGeom prst="rect">
            <a:avLst/>
          </a:prstGeom>
          <a:noFill/>
          <a:ln/>
        </p:spPr>
        <p:txBody>
          <a:bodyPr wrap="square" lIns="0" tIns="0" rIns="0" bIns="0" rtlCol="0" anchor="ctr"/>
          <a:lstStyle/>
          <a:p>
            <a:pPr marL="0" indent="0" algn="ctr">
              <a:buNone/>
            </a:pPr>
            <a:r>
              <a:rPr lang="en-US" sz="1100" b="1" dirty="0">
                <a:solidFill>
                  <a:srgbClr val="FFFFFF"/>
                </a:solidFill>
              </a:rPr>
              <a:t>H₂O</a:t>
            </a:r>
            <a:endParaRPr lang="en-US" sz="1100" dirty="0"/>
          </a:p>
        </p:txBody>
      </p:sp>
      <p:sp>
        <p:nvSpPr>
          <p:cNvPr id="88" name="CO2 circle"/>
          <p:cNvSpPr/>
          <p:nvPr/>
        </p:nvSpPr>
        <p:spPr>
          <a:xfrm>
            <a:off x="10588752" y="3410712"/>
            <a:ext cx="384048" cy="384048"/>
          </a:xfrm>
          <a:prstGeom prst="ellipse">
            <a:avLst/>
          </a:prstGeom>
          <a:solidFill>
            <a:schemeClr val="accent2"/>
          </a:solidFill>
          <a:ln w="12700">
            <a:solidFill>
              <a:schemeClr val="accent2"/>
            </a:solidFill>
            <a:prstDash val="solid"/>
          </a:ln>
        </p:spPr>
      </p:sp>
      <p:sp>
        <p:nvSpPr>
          <p:cNvPr id="89" name="CO2 label"/>
          <p:cNvSpPr txBox="1"/>
          <p:nvPr/>
        </p:nvSpPr>
        <p:spPr>
          <a:xfrm>
            <a:off x="10588752" y="3502152"/>
            <a:ext cx="384048" cy="201168"/>
          </a:xfrm>
          <a:prstGeom prst="rect">
            <a:avLst/>
          </a:prstGeom>
          <a:noFill/>
          <a:ln/>
        </p:spPr>
        <p:txBody>
          <a:bodyPr wrap="square" lIns="0" tIns="0" rIns="0" bIns="0" rtlCol="0" anchor="ctr"/>
          <a:lstStyle/>
          <a:p>
            <a:pPr marL="0" indent="0" algn="ctr">
              <a:buNone/>
            </a:pPr>
            <a:r>
              <a:rPr lang="en-US" sz="1100" b="1" dirty="0">
                <a:solidFill>
                  <a:srgbClr val="FFFFFF"/>
                </a:solidFill>
              </a:rPr>
              <a:t>CO₂</a:t>
            </a:r>
            <a:endParaRPr lang="en-US" sz="1100" dirty="0"/>
          </a:p>
        </p:txBody>
      </p:sp>
      <p:sp>
        <p:nvSpPr>
          <p:cNvPr id="90" name="Interaction arrow"/>
          <p:cNvSpPr/>
          <p:nvPr/>
        </p:nvSpPr>
        <p:spPr>
          <a:xfrm>
            <a:off x="9180576" y="3602736"/>
            <a:ext cx="1325880" cy="0"/>
          </a:xfrm>
          <a:prstGeom prst="line">
            <a:avLst/>
          </a:prstGeom>
          <a:noFill/>
          <a:ln w="22225">
            <a:solidFill>
              <a:schemeClr val="accent6"/>
            </a:solidFill>
            <a:prstDash val="dash"/>
            <a:headEnd type="triangle"/>
            <a:tailEnd type="triangle"/>
          </a:ln>
        </p:spPr>
      </p:sp>
      <p:sp>
        <p:nvSpPr>
          <p:cNvPr id="91" name="Question mark"/>
          <p:cNvSpPr txBox="1"/>
          <p:nvPr/>
        </p:nvSpPr>
        <p:spPr>
          <a:xfrm>
            <a:off x="9660636" y="3236976"/>
            <a:ext cx="365760" cy="274320"/>
          </a:xfrm>
          <a:prstGeom prst="rect">
            <a:avLst/>
          </a:prstGeom>
          <a:noFill/>
          <a:ln/>
        </p:spPr>
        <p:txBody>
          <a:bodyPr wrap="square" lIns="0" tIns="0" rIns="0" bIns="0" rtlCol="0" anchor="ctr"/>
          <a:lstStyle/>
          <a:p>
            <a:pPr marL="0" indent="0" algn="ctr">
              <a:buNone/>
            </a:pPr>
            <a:r>
              <a:rPr lang="en-US" sz="1800" b="1" dirty="0">
                <a:solidFill>
                  <a:schemeClr val="accent5"/>
                </a:solidFill>
              </a:rPr>
              <a:t>?</a:t>
            </a:r>
            <a:endParaRPr lang="en-US" sz="1800" dirty="0"/>
          </a:p>
        </p:txBody>
      </p:sp>
      <p:sp>
        <p:nvSpPr>
          <p:cNvPr id="92" name="Card humidity text"/>
          <p:cNvSpPr txBox="1"/>
          <p:nvPr/>
        </p:nvSpPr>
        <p:spPr>
          <a:xfrm>
            <a:off x="8220456" y="3931920"/>
            <a:ext cx="3246120" cy="603504"/>
          </a:xfrm>
          <a:prstGeom prst="rect">
            <a:avLst/>
          </a:prstGeom>
          <a:noFill/>
          <a:ln/>
        </p:spPr>
        <p:txBody>
          <a:bodyPr wrap="square" lIns="0" tIns="0" rIns="0" bIns="0" rtlCol="0" anchor="t"/>
          <a:lstStyle/>
          <a:p>
            <a:pPr marL="0" indent="0" algn="l">
              <a:buNone/>
            </a:pPr>
            <a:r>
              <a:rPr lang="en-US" sz="1200" dirty="0">
                <a:solidFill>
                  <a:schemeClr val="tx2"/>
                </a:solidFill>
              </a:rPr>
              <a:t>Water vapor may compete with CO₂ for adsorption sites or alter CO₂ binding.</a:t>
            </a:r>
            <a:endParaRPr lang="en-US" sz="1200" dirty="0"/>
          </a:p>
          <a:p>
            <a:pPr marL="0" indent="0" algn="l">
              <a:buNone/>
            </a:pPr>
            <a:r>
              <a:rPr lang="en-US" sz="1200" b="1" dirty="0">
                <a:solidFill>
                  <a:schemeClr val="accent3"/>
                </a:solidFill>
              </a:rPr>
              <a:t>Direction of effect is not assumed.</a:t>
            </a:r>
            <a:endParaRPr lang="en-US" sz="1200" dirty="0"/>
          </a:p>
        </p:txBody>
      </p:sp>
      <p:sp>
        <p:nvSpPr>
          <p:cNvPr id="301" name="Objective banner"/>
          <p:cNvSpPr/>
          <p:nvPr/>
        </p:nvSpPr>
        <p:spPr>
          <a:xfrm>
            <a:off x="448056" y="4700016"/>
            <a:ext cx="11292840" cy="1353312"/>
          </a:xfrm>
          <a:prstGeom prst="roundRect">
            <a:avLst>
              <a:gd name="adj" fmla="val 6667"/>
            </a:avLst>
          </a:prstGeom>
          <a:solidFill>
            <a:schemeClr val="accent3"/>
          </a:solidFill>
          <a:ln w="12700">
            <a:solidFill>
              <a:schemeClr val="accent3"/>
            </a:solidFill>
            <a:prstDash val="solid"/>
          </a:ln>
        </p:spPr>
      </p:sp>
      <p:sp>
        <p:nvSpPr>
          <p:cNvPr id="302" name="Research gap panel"/>
          <p:cNvSpPr/>
          <p:nvPr/>
        </p:nvSpPr>
        <p:spPr>
          <a:xfrm>
            <a:off x="585216" y="4809744"/>
            <a:ext cx="3456432" cy="1133856"/>
          </a:xfrm>
          <a:prstGeom prst="roundRect">
            <a:avLst>
              <a:gd name="adj" fmla="val 7500"/>
            </a:avLst>
          </a:prstGeom>
          <a:solidFill>
            <a:srgbClr val="FFFFFF">
              <a:alpha val="14000"/>
            </a:srgbClr>
          </a:solidFill>
          <a:ln>
            <a:noFill/>
          </a:ln>
        </p:spPr>
      </p:sp>
      <p:sp>
        <p:nvSpPr>
          <p:cNvPr id="303" name="Research gap label"/>
          <p:cNvSpPr txBox="1"/>
          <p:nvPr/>
        </p:nvSpPr>
        <p:spPr>
          <a:xfrm>
            <a:off x="749808" y="4892040"/>
            <a:ext cx="3108960" cy="201168"/>
          </a:xfrm>
          <a:prstGeom prst="rect">
            <a:avLst/>
          </a:prstGeom>
          <a:noFill/>
          <a:ln/>
        </p:spPr>
        <p:txBody>
          <a:bodyPr wrap="square" lIns="0" tIns="0" rIns="0" bIns="0" rtlCol="0" anchor="ctr"/>
          <a:lstStyle/>
          <a:p>
            <a:pPr marL="0" indent="0" algn="l">
              <a:buNone/>
            </a:pPr>
            <a:r>
              <a:rPr lang="en-US" sz="1100" b="1" kern="0" spc="100" dirty="0">
                <a:solidFill>
                  <a:srgbClr val="E6E3FF"/>
                </a:solidFill>
              </a:rPr>
              <a:t>RESEARCH GAP</a:t>
            </a:r>
            <a:endParaRPr lang="en-US" sz="1100" dirty="0"/>
          </a:p>
        </p:txBody>
      </p:sp>
      <p:sp>
        <p:nvSpPr>
          <p:cNvPr id="304" name="Research gap text"/>
          <p:cNvSpPr txBox="1"/>
          <p:nvPr/>
        </p:nvSpPr>
        <p:spPr>
          <a:xfrm>
            <a:off x="749808" y="5138928"/>
            <a:ext cx="3145536" cy="768096"/>
          </a:xfrm>
          <a:prstGeom prst="rect">
            <a:avLst/>
          </a:prstGeom>
          <a:noFill/>
          <a:ln/>
        </p:spPr>
        <p:txBody>
          <a:bodyPr wrap="square" lIns="0" tIns="0" rIns="0" bIns="0" rtlCol="0" anchor="t"/>
          <a:lstStyle/>
          <a:p>
            <a:pPr marL="0" indent="0" algn="l">
              <a:buNone/>
            </a:pPr>
            <a:r>
              <a:rPr lang="en-US" sz="1200" dirty="0">
                <a:solidFill>
                  <a:srgbClr val="FFFFFF"/>
                </a:solidFill>
              </a:rPr>
              <a:t>The influence of humidity on CO₂ adsorption and regeneration in the developed bimetal-engineered MOF remains to be investigated.</a:t>
            </a:r>
            <a:endParaRPr lang="en-US" sz="1200" dirty="0"/>
          </a:p>
        </p:txBody>
      </p:sp>
      <p:sp>
        <p:nvSpPr>
          <p:cNvPr id="305" name="Question label"/>
          <p:cNvSpPr txBox="1"/>
          <p:nvPr/>
        </p:nvSpPr>
        <p:spPr>
          <a:xfrm>
            <a:off x="4279392" y="4809744"/>
            <a:ext cx="7223760" cy="201168"/>
          </a:xfrm>
          <a:prstGeom prst="rect">
            <a:avLst/>
          </a:prstGeom>
          <a:noFill/>
          <a:ln/>
        </p:spPr>
        <p:txBody>
          <a:bodyPr wrap="square" lIns="0" tIns="0" rIns="0" bIns="0" rtlCol="0" anchor="ctr"/>
          <a:lstStyle/>
          <a:p>
            <a:pPr marL="0" indent="0" algn="l">
              <a:buNone/>
            </a:pPr>
            <a:r>
              <a:rPr lang="en-US" sz="1100" b="1" kern="0" spc="100" dirty="0">
                <a:solidFill>
                  <a:srgbClr val="E6E3FF"/>
                </a:solidFill>
              </a:rPr>
              <a:t>CENTRAL RESEARCH QUESTION</a:t>
            </a:r>
            <a:endParaRPr lang="en-US" sz="1100" dirty="0"/>
          </a:p>
        </p:txBody>
      </p:sp>
      <p:sp>
        <p:nvSpPr>
          <p:cNvPr id="306" name="Research question"/>
          <p:cNvSpPr txBox="1"/>
          <p:nvPr/>
        </p:nvSpPr>
        <p:spPr>
          <a:xfrm>
            <a:off x="4279392" y="5047488"/>
            <a:ext cx="7223760" cy="548640"/>
          </a:xfrm>
          <a:prstGeom prst="rect">
            <a:avLst/>
          </a:prstGeom>
          <a:noFill/>
          <a:ln/>
        </p:spPr>
        <p:txBody>
          <a:bodyPr wrap="square" lIns="0" tIns="0" rIns="0" bIns="0" rtlCol="0" anchor="t"/>
          <a:lstStyle/>
          <a:p>
            <a:pPr marL="0" indent="0" algn="l">
              <a:buNone/>
            </a:pPr>
            <a:r>
              <a:rPr lang="en-US" sz="1800" b="1" dirty="0">
                <a:solidFill>
                  <a:srgbClr val="FFFFFF"/>
                </a:solidFill>
              </a:rPr>
              <a:t>How does humidity influence CO₂ adsorption and regeneration behavior in a bimetal-engineered MOF?</a:t>
            </a:r>
            <a:endParaRPr lang="en-US" sz="1800" dirty="0"/>
          </a:p>
        </p:txBody>
      </p:sp>
      <p:sp>
        <p:nvSpPr>
          <p:cNvPr id="307" name="Objective text"/>
          <p:cNvSpPr txBox="1"/>
          <p:nvPr/>
        </p:nvSpPr>
        <p:spPr>
          <a:xfrm>
            <a:off x="4279392" y="5632704"/>
            <a:ext cx="7223760" cy="384048"/>
          </a:xfrm>
          <a:prstGeom prst="rect">
            <a:avLst/>
          </a:prstGeom>
          <a:noFill/>
          <a:ln/>
        </p:spPr>
        <p:txBody>
          <a:bodyPr wrap="square" lIns="0" tIns="0" rIns="0" bIns="0" rtlCol="0" anchor="t"/>
          <a:lstStyle/>
          <a:p>
            <a:pPr marL="0" indent="0" algn="l">
              <a:buNone/>
            </a:pPr>
            <a:r>
              <a:rPr lang="en-US" sz="1200" b="1" dirty="0">
                <a:solidFill>
                  <a:srgbClr val="FFFFFF"/>
                </a:solidFill>
              </a:rPr>
              <a:t xml:space="preserve">Objective: </a:t>
            </a:r>
            <a:r>
              <a:rPr lang="en-US" sz="1200" dirty="0">
                <a:solidFill>
                  <a:srgbClr val="FFFFFF"/>
                </a:solidFill>
              </a:rPr>
              <a:t>To characterize and compare the 12 synthesized samples, select the best-characterized candidate, and investigate how humidity may influence CO₂ adsorption and regeneration.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lide title"/>
          <p:cNvSpPr txBox="1"/>
          <p:nvPr/>
        </p:nvSpPr>
        <p:spPr>
          <a:xfrm>
            <a:off x="448056" y="1700784"/>
            <a:ext cx="11292840" cy="502920"/>
          </a:xfrm>
          <a:prstGeom prst="rect">
            <a:avLst/>
          </a:prstGeom>
          <a:noFill/>
          <a:ln/>
        </p:spPr>
        <p:txBody>
          <a:bodyPr wrap="square" lIns="0" tIns="0" rIns="0" bIns="0" rtlCol="0" anchor="ctr"/>
          <a:lstStyle/>
          <a:p>
            <a:pPr marL="0" indent="0" algn="l">
              <a:buNone/>
            </a:pPr>
            <a:r>
              <a:rPr lang="en-US" sz="2600" b="1" dirty="0">
                <a:solidFill>
                  <a:schemeClr val="accent3"/>
                </a:solidFill>
              </a:rPr>
              <a:t>Material Synthesis and Experimental Progress</a:t>
            </a:r>
            <a:endParaRPr lang="en-US" sz="2600" dirty="0"/>
          </a:p>
        </p:txBody>
      </p:sp>
      <p:sp>
        <p:nvSpPr>
          <p:cNvPr id="4" name="Section A label"/>
          <p:cNvSpPr txBox="1"/>
          <p:nvPr/>
        </p:nvSpPr>
        <p:spPr>
          <a:xfrm>
            <a:off x="448056" y="2286000"/>
            <a:ext cx="7269480" cy="201168"/>
          </a:xfrm>
          <a:prstGeom prst="rect">
            <a:avLst/>
          </a:prstGeom>
          <a:noFill/>
          <a:ln/>
        </p:spPr>
        <p:txBody>
          <a:bodyPr wrap="square" lIns="0" tIns="0" rIns="0" bIns="0" rtlCol="0" anchor="ctr"/>
          <a:lstStyle/>
          <a:p>
            <a:pPr marL="0" indent="0" algn="l">
              <a:buNone/>
            </a:pPr>
            <a:r>
              <a:rPr lang="en-US" sz="1100" b="1" kern="0" spc="100" dirty="0">
                <a:solidFill>
                  <a:schemeClr val="accent3"/>
                </a:solidFill>
              </a:rPr>
              <a:t>A · SAMPLE PREPARATION (SOLVOTHERMAL ROUTE)</a:t>
            </a:r>
            <a:endParaRPr lang="en-US" sz="1100" dirty="0"/>
          </a:p>
        </p:txBody>
      </p:sp>
      <p:sp>
        <p:nvSpPr>
          <p:cNvPr id="5" name="Section B label"/>
          <p:cNvSpPr txBox="1"/>
          <p:nvPr/>
        </p:nvSpPr>
        <p:spPr>
          <a:xfrm>
            <a:off x="8037576" y="2286000"/>
            <a:ext cx="3703320" cy="201168"/>
          </a:xfrm>
          <a:prstGeom prst="rect">
            <a:avLst/>
          </a:prstGeom>
          <a:noFill/>
          <a:ln/>
        </p:spPr>
        <p:txBody>
          <a:bodyPr wrap="square" lIns="0" tIns="0" rIns="0" bIns="0" rtlCol="0" anchor="ctr"/>
          <a:lstStyle/>
          <a:p>
            <a:pPr marL="0" indent="0" algn="l">
              <a:buNone/>
            </a:pPr>
            <a:r>
              <a:rPr lang="en-US" sz="1100" b="1" kern="0" spc="100" dirty="0">
                <a:solidFill>
                  <a:schemeClr val="accent3"/>
                </a:solidFill>
              </a:rPr>
              <a:t>B · ALL 12 SYNTHESIZED SAMPLES</a:t>
            </a:r>
            <a:endParaRPr lang="en-US" sz="1100" dirty="0"/>
          </a:p>
        </p:txBody>
      </p:sp>
      <p:sp>
        <p:nvSpPr>
          <p:cNvPr id="6" name="Section C label"/>
          <p:cNvSpPr txBox="1"/>
          <p:nvPr/>
        </p:nvSpPr>
        <p:spPr>
          <a:xfrm>
            <a:off x="448056" y="5047488"/>
            <a:ext cx="11292840" cy="201168"/>
          </a:xfrm>
          <a:prstGeom prst="rect">
            <a:avLst/>
          </a:prstGeom>
          <a:noFill/>
          <a:ln/>
        </p:spPr>
        <p:txBody>
          <a:bodyPr wrap="square" lIns="0" tIns="0" rIns="0" bIns="0" rtlCol="0" anchor="ctr"/>
          <a:lstStyle/>
          <a:p>
            <a:pPr marL="0" indent="0" algn="l">
              <a:buNone/>
            </a:pPr>
            <a:r>
              <a:rPr lang="en-US" sz="1100" b="1" kern="0" spc="100" dirty="0">
                <a:solidFill>
                  <a:schemeClr val="accent3"/>
                </a:solidFill>
              </a:rPr>
              <a:t>C · CHARACTERIZATION AND RESEARCH PROGRESS</a:t>
            </a:r>
            <a:endParaRPr lang="en-US" sz="1100" dirty="0"/>
          </a:p>
        </p:txBody>
      </p:sp>
      <p:pic>
        <p:nvPicPr>
          <p:cNvPr id="7" name="Step photo 1" descr="Photograph: Weighing a solid reagent on an analytical balance"/>
          <p:cNvPicPr>
            <a:picLocks noChangeAspect="1"/>
          </p:cNvPicPr>
          <p:nvPr/>
        </p:nvPicPr>
        <p:blipFill>
          <a:blip r:embed="rId100"/>
          <a:srcRect l="0" t="2564" r="0" b="2564"/>
          <a:stretch>
            <a:fillRect/>
          </a:stretch>
        </p:blipFill>
        <p:spPr>
          <a:xfrm>
            <a:off x="448056" y="2560320"/>
            <a:ext cx="1380744" cy="918972"/>
          </a:xfrm>
          <a:prstGeom prst="rect">
            <a:avLst/>
          </a:prstGeom>
        </p:spPr>
      </p:pic>
      <p:sp>
        <p:nvSpPr>
          <p:cNvPr id="8" name="Step frame 1"/>
          <p:cNvSpPr/>
          <p:nvPr/>
        </p:nvSpPr>
        <p:spPr>
          <a:xfrm>
            <a:off x="448056" y="2560320"/>
            <a:ext cx="1380744" cy="918972"/>
          </a:xfrm>
          <a:prstGeom prst="rect">
            <a:avLst/>
          </a:prstGeom>
          <a:noFill/>
          <a:ln w="12700">
            <a:solidFill>
              <a:schemeClr val="accent1"/>
            </a:solidFill>
            <a:prstDash val="solid"/>
          </a:ln>
        </p:spPr>
      </p:sp>
      <p:sp>
        <p:nvSpPr>
          <p:cNvPr id="9" name="Step caption bg 1"/>
          <p:cNvSpPr/>
          <p:nvPr/>
        </p:nvSpPr>
        <p:spPr>
          <a:xfrm>
            <a:off x="448056" y="3511296"/>
            <a:ext cx="1380744" cy="210312"/>
          </a:xfrm>
          <a:prstGeom prst="roundRect">
            <a:avLst>
              <a:gd name="adj" fmla="val 26667"/>
            </a:avLst>
          </a:prstGeom>
          <a:solidFill>
            <a:schemeClr val="bg2"/>
          </a:solidFill>
          <a:ln w="12700">
            <a:solidFill>
              <a:schemeClr val="bg2"/>
            </a:solidFill>
            <a:prstDash val="solid"/>
          </a:ln>
        </p:spPr>
      </p:sp>
      <p:sp>
        <p:nvSpPr>
          <p:cNvPr id="10" name="Step caption 1"/>
          <p:cNvSpPr txBox="1"/>
          <p:nvPr/>
        </p:nvSpPr>
        <p:spPr>
          <a:xfrm>
            <a:off x="521208" y="351129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1  Weighing</a:t>
            </a:r>
            <a:endParaRPr lang="en-US" sz="1000" dirty="0"/>
          </a:p>
        </p:txBody>
      </p:sp>
      <p:pic>
        <p:nvPicPr>
          <p:cNvPr id="11" name="Step photo 2" descr="Photograph: Reagents in a beaker during solution preparation"/>
          <p:cNvPicPr>
            <a:picLocks noChangeAspect="1"/>
          </p:cNvPicPr>
          <p:nvPr/>
        </p:nvPicPr>
        <p:blipFill>
          <a:blip r:embed="rId101"/>
          <a:srcRect l="0" t="5447" r="0" b="0"/>
          <a:stretch>
            <a:fillRect/>
          </a:stretch>
        </p:blipFill>
        <p:spPr>
          <a:xfrm>
            <a:off x="1920240" y="2560320"/>
            <a:ext cx="1380744" cy="918972"/>
          </a:xfrm>
          <a:prstGeom prst="rect">
            <a:avLst/>
          </a:prstGeom>
        </p:spPr>
      </p:pic>
      <p:sp>
        <p:nvSpPr>
          <p:cNvPr id="12" name="Step frame 2"/>
          <p:cNvSpPr/>
          <p:nvPr/>
        </p:nvSpPr>
        <p:spPr>
          <a:xfrm>
            <a:off x="1920240" y="2560320"/>
            <a:ext cx="1380744" cy="918972"/>
          </a:xfrm>
          <a:prstGeom prst="rect">
            <a:avLst/>
          </a:prstGeom>
          <a:noFill/>
          <a:ln w="12700">
            <a:solidFill>
              <a:schemeClr val="accent1"/>
            </a:solidFill>
            <a:prstDash val="solid"/>
          </a:ln>
        </p:spPr>
      </p:sp>
      <p:sp>
        <p:nvSpPr>
          <p:cNvPr id="13" name="Step caption bg 2"/>
          <p:cNvSpPr/>
          <p:nvPr/>
        </p:nvSpPr>
        <p:spPr>
          <a:xfrm>
            <a:off x="1920240" y="3511296"/>
            <a:ext cx="1380744" cy="210312"/>
          </a:xfrm>
          <a:prstGeom prst="roundRect">
            <a:avLst>
              <a:gd name="adj" fmla="val 26667"/>
            </a:avLst>
          </a:prstGeom>
          <a:solidFill>
            <a:schemeClr val="bg2"/>
          </a:solidFill>
          <a:ln w="12700">
            <a:solidFill>
              <a:schemeClr val="bg2"/>
            </a:solidFill>
            <a:prstDash val="solid"/>
          </a:ln>
        </p:spPr>
      </p:sp>
      <p:sp>
        <p:nvSpPr>
          <p:cNvPr id="14" name="Step caption 2"/>
          <p:cNvSpPr txBox="1"/>
          <p:nvPr/>
        </p:nvSpPr>
        <p:spPr>
          <a:xfrm>
            <a:off x="1993392" y="351129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2  Preparation</a:t>
            </a:r>
            <a:endParaRPr lang="en-US" sz="1000" dirty="0"/>
          </a:p>
        </p:txBody>
      </p:sp>
      <p:pic>
        <p:nvPicPr>
          <p:cNvPr id="15" name="Step photo 3" descr="Photograph: Reaction mixture in a glass bottle on a stirrer"/>
          <p:cNvPicPr>
            <a:picLocks noChangeAspect="1"/>
          </p:cNvPicPr>
          <p:nvPr/>
        </p:nvPicPr>
        <p:blipFill>
          <a:blip r:embed="rId102"/>
          <a:srcRect l="0" t="0" r="0" b="8373"/>
          <a:stretch>
            <a:fillRect/>
          </a:stretch>
        </p:blipFill>
        <p:spPr>
          <a:xfrm>
            <a:off x="3392424" y="2560320"/>
            <a:ext cx="1380744" cy="918972"/>
          </a:xfrm>
          <a:prstGeom prst="rect">
            <a:avLst/>
          </a:prstGeom>
        </p:spPr>
      </p:pic>
      <p:sp>
        <p:nvSpPr>
          <p:cNvPr id="16" name="Step frame 3"/>
          <p:cNvSpPr/>
          <p:nvPr/>
        </p:nvSpPr>
        <p:spPr>
          <a:xfrm>
            <a:off x="3392424" y="2560320"/>
            <a:ext cx="1380744" cy="918972"/>
          </a:xfrm>
          <a:prstGeom prst="rect">
            <a:avLst/>
          </a:prstGeom>
          <a:noFill/>
          <a:ln w="12700">
            <a:solidFill>
              <a:schemeClr val="accent1"/>
            </a:solidFill>
            <a:prstDash val="solid"/>
          </a:ln>
        </p:spPr>
      </p:sp>
      <p:sp>
        <p:nvSpPr>
          <p:cNvPr id="17" name="Step caption bg 3"/>
          <p:cNvSpPr/>
          <p:nvPr/>
        </p:nvSpPr>
        <p:spPr>
          <a:xfrm>
            <a:off x="3392424" y="3511296"/>
            <a:ext cx="1380744" cy="210312"/>
          </a:xfrm>
          <a:prstGeom prst="roundRect">
            <a:avLst>
              <a:gd name="adj" fmla="val 26667"/>
            </a:avLst>
          </a:prstGeom>
          <a:solidFill>
            <a:schemeClr val="bg2"/>
          </a:solidFill>
          <a:ln w="12700">
            <a:solidFill>
              <a:schemeClr val="bg2"/>
            </a:solidFill>
            <a:prstDash val="solid"/>
          </a:ln>
        </p:spPr>
      </p:sp>
      <p:sp>
        <p:nvSpPr>
          <p:cNvPr id="18" name="Step caption 3"/>
          <p:cNvSpPr txBox="1"/>
          <p:nvPr/>
        </p:nvSpPr>
        <p:spPr>
          <a:xfrm>
            <a:off x="3465576" y="351129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3  Mixing</a:t>
            </a:r>
            <a:endParaRPr lang="en-US" sz="1000" dirty="0"/>
          </a:p>
        </p:txBody>
      </p:sp>
      <p:pic>
        <p:nvPicPr>
          <p:cNvPr id="19" name="Step photo 4" descr="Photograph: Sealed reaction bottle on the oven rack during heating"/>
          <p:cNvPicPr>
            <a:picLocks noChangeAspect="1"/>
          </p:cNvPicPr>
          <p:nvPr/>
        </p:nvPicPr>
        <p:blipFill>
          <a:blip r:embed="rId103"/>
          <a:srcRect l="0" t="3248" r="0" b="13248"/>
          <a:stretch>
            <a:fillRect/>
          </a:stretch>
        </p:blipFill>
        <p:spPr>
          <a:xfrm>
            <a:off x="4864608" y="2560320"/>
            <a:ext cx="1380744" cy="918972"/>
          </a:xfrm>
          <a:prstGeom prst="rect">
            <a:avLst/>
          </a:prstGeom>
        </p:spPr>
      </p:pic>
      <p:sp>
        <p:nvSpPr>
          <p:cNvPr id="20" name="Step frame 4"/>
          <p:cNvSpPr/>
          <p:nvPr/>
        </p:nvSpPr>
        <p:spPr>
          <a:xfrm>
            <a:off x="4864608" y="2560320"/>
            <a:ext cx="1380744" cy="918972"/>
          </a:xfrm>
          <a:prstGeom prst="rect">
            <a:avLst/>
          </a:prstGeom>
          <a:noFill/>
          <a:ln w="12700">
            <a:solidFill>
              <a:schemeClr val="accent1"/>
            </a:solidFill>
            <a:prstDash val="solid"/>
          </a:ln>
        </p:spPr>
      </p:sp>
      <p:sp>
        <p:nvSpPr>
          <p:cNvPr id="21" name="Step caption bg 4"/>
          <p:cNvSpPr/>
          <p:nvPr/>
        </p:nvSpPr>
        <p:spPr>
          <a:xfrm>
            <a:off x="4864608" y="3511296"/>
            <a:ext cx="1380744" cy="210312"/>
          </a:xfrm>
          <a:prstGeom prst="roundRect">
            <a:avLst>
              <a:gd name="adj" fmla="val 26667"/>
            </a:avLst>
          </a:prstGeom>
          <a:solidFill>
            <a:schemeClr val="bg2"/>
          </a:solidFill>
          <a:ln w="12700">
            <a:solidFill>
              <a:schemeClr val="bg2"/>
            </a:solidFill>
            <a:prstDash val="solid"/>
          </a:ln>
        </p:spPr>
      </p:sp>
      <p:sp>
        <p:nvSpPr>
          <p:cNvPr id="22" name="Step caption 4"/>
          <p:cNvSpPr txBox="1"/>
          <p:nvPr/>
        </p:nvSpPr>
        <p:spPr>
          <a:xfrm>
            <a:off x="4937760" y="351129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4  Heating</a:t>
            </a:r>
            <a:endParaRPr lang="en-US" sz="1000" dirty="0"/>
          </a:p>
        </p:txBody>
      </p:sp>
      <p:pic>
        <p:nvPicPr>
          <p:cNvPr id="23" name="Step photo 5" descr="Photograph: Reaction vessel after heating, with white solid"/>
          <p:cNvPicPr>
            <a:picLocks noChangeAspect="1"/>
          </p:cNvPicPr>
          <p:nvPr/>
        </p:nvPicPr>
        <p:blipFill>
          <a:blip r:embed="rId104"/>
          <a:srcRect l="0" t="26580" r="0" b="16580"/>
          <a:stretch>
            <a:fillRect/>
          </a:stretch>
        </p:blipFill>
        <p:spPr>
          <a:xfrm>
            <a:off x="6336792" y="2560320"/>
            <a:ext cx="1380744" cy="918972"/>
          </a:xfrm>
          <a:prstGeom prst="rect">
            <a:avLst/>
          </a:prstGeom>
        </p:spPr>
      </p:pic>
      <p:sp>
        <p:nvSpPr>
          <p:cNvPr id="24" name="Step frame 5"/>
          <p:cNvSpPr/>
          <p:nvPr/>
        </p:nvSpPr>
        <p:spPr>
          <a:xfrm>
            <a:off x="6336792" y="2560320"/>
            <a:ext cx="1380744" cy="918972"/>
          </a:xfrm>
          <a:prstGeom prst="rect">
            <a:avLst/>
          </a:prstGeom>
          <a:noFill/>
          <a:ln w="12700">
            <a:solidFill>
              <a:schemeClr val="accent1"/>
            </a:solidFill>
            <a:prstDash val="solid"/>
          </a:ln>
        </p:spPr>
      </p:sp>
      <p:sp>
        <p:nvSpPr>
          <p:cNvPr id="25" name="Step caption bg 5"/>
          <p:cNvSpPr/>
          <p:nvPr/>
        </p:nvSpPr>
        <p:spPr>
          <a:xfrm>
            <a:off x="6336792" y="3511296"/>
            <a:ext cx="1380744" cy="210312"/>
          </a:xfrm>
          <a:prstGeom prst="roundRect">
            <a:avLst>
              <a:gd name="adj" fmla="val 26667"/>
            </a:avLst>
          </a:prstGeom>
          <a:solidFill>
            <a:schemeClr val="bg2"/>
          </a:solidFill>
          <a:ln w="12700">
            <a:solidFill>
              <a:schemeClr val="bg2"/>
            </a:solidFill>
            <a:prstDash val="solid"/>
          </a:ln>
        </p:spPr>
      </p:sp>
      <p:sp>
        <p:nvSpPr>
          <p:cNvPr id="26" name="Step caption 5"/>
          <p:cNvSpPr txBox="1"/>
          <p:nvPr/>
        </p:nvSpPr>
        <p:spPr>
          <a:xfrm>
            <a:off x="6409944" y="351129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5  After heating</a:t>
            </a:r>
            <a:endParaRPr lang="en-US" sz="1000" dirty="0"/>
          </a:p>
        </p:txBody>
      </p:sp>
      <p:pic>
        <p:nvPicPr>
          <p:cNvPr id="27" name="Step photo 6" descr="Photograph: Washing the solid product in a labelled centrifuge tube"/>
          <p:cNvPicPr>
            <a:picLocks noChangeAspect="1"/>
          </p:cNvPicPr>
          <p:nvPr/>
        </p:nvPicPr>
        <p:blipFill>
          <a:blip r:embed="rId105"/>
          <a:srcRect l="265" t="0" r="265" b="0"/>
          <a:stretch>
            <a:fillRect/>
          </a:stretch>
        </p:blipFill>
        <p:spPr>
          <a:xfrm>
            <a:off x="448056" y="3794760"/>
            <a:ext cx="1380744" cy="918972"/>
          </a:xfrm>
          <a:prstGeom prst="rect">
            <a:avLst/>
          </a:prstGeom>
        </p:spPr>
      </p:pic>
      <p:sp>
        <p:nvSpPr>
          <p:cNvPr id="28" name="Step frame 6"/>
          <p:cNvSpPr/>
          <p:nvPr/>
        </p:nvSpPr>
        <p:spPr>
          <a:xfrm>
            <a:off x="448056" y="3794760"/>
            <a:ext cx="1380744" cy="918972"/>
          </a:xfrm>
          <a:prstGeom prst="rect">
            <a:avLst/>
          </a:prstGeom>
          <a:noFill/>
          <a:ln w="12700">
            <a:solidFill>
              <a:schemeClr val="accent1"/>
            </a:solidFill>
            <a:prstDash val="solid"/>
          </a:ln>
        </p:spPr>
      </p:sp>
      <p:sp>
        <p:nvSpPr>
          <p:cNvPr id="29" name="Step caption bg 6"/>
          <p:cNvSpPr/>
          <p:nvPr/>
        </p:nvSpPr>
        <p:spPr>
          <a:xfrm>
            <a:off x="448056" y="4745736"/>
            <a:ext cx="1380744" cy="210312"/>
          </a:xfrm>
          <a:prstGeom prst="roundRect">
            <a:avLst>
              <a:gd name="adj" fmla="val 26667"/>
            </a:avLst>
          </a:prstGeom>
          <a:solidFill>
            <a:schemeClr val="bg2"/>
          </a:solidFill>
          <a:ln w="12700">
            <a:solidFill>
              <a:schemeClr val="bg2"/>
            </a:solidFill>
            <a:prstDash val="solid"/>
          </a:ln>
        </p:spPr>
      </p:sp>
      <p:sp>
        <p:nvSpPr>
          <p:cNvPr id="30" name="Step caption 6"/>
          <p:cNvSpPr txBox="1"/>
          <p:nvPr/>
        </p:nvSpPr>
        <p:spPr>
          <a:xfrm>
            <a:off x="521208" y="474573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6  Washing</a:t>
            </a:r>
            <a:endParaRPr lang="en-US" sz="1000" dirty="0"/>
          </a:p>
        </p:txBody>
      </p:sp>
      <p:pic>
        <p:nvPicPr>
          <p:cNvPr id="31" name="Step photo 7" descr="Photograph: Separating the solid product by centrifugation"/>
          <p:cNvPicPr>
            <a:picLocks noChangeAspect="1"/>
          </p:cNvPicPr>
          <p:nvPr/>
        </p:nvPicPr>
        <p:blipFill>
          <a:blip r:embed="rId106"/>
          <a:srcRect l="0" t="0" r="0" b="7439"/>
          <a:stretch>
            <a:fillRect/>
          </a:stretch>
        </p:blipFill>
        <p:spPr>
          <a:xfrm>
            <a:off x="1920240" y="3794760"/>
            <a:ext cx="1380744" cy="918972"/>
          </a:xfrm>
          <a:prstGeom prst="rect">
            <a:avLst/>
          </a:prstGeom>
        </p:spPr>
      </p:pic>
      <p:sp>
        <p:nvSpPr>
          <p:cNvPr id="32" name="Step frame 7"/>
          <p:cNvSpPr/>
          <p:nvPr/>
        </p:nvSpPr>
        <p:spPr>
          <a:xfrm>
            <a:off x="1920240" y="3794760"/>
            <a:ext cx="1380744" cy="918972"/>
          </a:xfrm>
          <a:prstGeom prst="rect">
            <a:avLst/>
          </a:prstGeom>
          <a:noFill/>
          <a:ln w="12700">
            <a:solidFill>
              <a:schemeClr val="accent1"/>
            </a:solidFill>
            <a:prstDash val="solid"/>
          </a:ln>
        </p:spPr>
      </p:sp>
      <p:sp>
        <p:nvSpPr>
          <p:cNvPr id="33" name="Step caption bg 7"/>
          <p:cNvSpPr/>
          <p:nvPr/>
        </p:nvSpPr>
        <p:spPr>
          <a:xfrm>
            <a:off x="1920240" y="4745736"/>
            <a:ext cx="1380744" cy="210312"/>
          </a:xfrm>
          <a:prstGeom prst="roundRect">
            <a:avLst>
              <a:gd name="adj" fmla="val 26667"/>
            </a:avLst>
          </a:prstGeom>
          <a:solidFill>
            <a:schemeClr val="bg2"/>
          </a:solidFill>
          <a:ln w="12700">
            <a:solidFill>
              <a:schemeClr val="bg2"/>
            </a:solidFill>
            <a:prstDash val="solid"/>
          </a:ln>
        </p:spPr>
      </p:sp>
      <p:sp>
        <p:nvSpPr>
          <p:cNvPr id="34" name="Step caption 7"/>
          <p:cNvSpPr txBox="1"/>
          <p:nvPr/>
        </p:nvSpPr>
        <p:spPr>
          <a:xfrm>
            <a:off x="1993392" y="474573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7  Separation</a:t>
            </a:r>
            <a:endParaRPr lang="en-US" sz="1000" dirty="0"/>
          </a:p>
        </p:txBody>
      </p:sp>
      <p:pic>
        <p:nvPicPr>
          <p:cNvPr id="35" name="Step photo 8" descr="Photograph: Samples drying in glassware on an oven rack"/>
          <p:cNvPicPr>
            <a:picLocks noChangeAspect="1"/>
          </p:cNvPicPr>
          <p:nvPr/>
        </p:nvPicPr>
        <p:blipFill>
          <a:blip r:embed="rId107"/>
          <a:srcRect l="6487" t="0" r="6487" b="0"/>
          <a:stretch>
            <a:fillRect/>
          </a:stretch>
        </p:blipFill>
        <p:spPr>
          <a:xfrm>
            <a:off x="3392424" y="3794760"/>
            <a:ext cx="1380744" cy="918972"/>
          </a:xfrm>
          <a:prstGeom prst="rect">
            <a:avLst/>
          </a:prstGeom>
        </p:spPr>
      </p:pic>
      <p:sp>
        <p:nvSpPr>
          <p:cNvPr id="36" name="Step frame 8"/>
          <p:cNvSpPr/>
          <p:nvPr/>
        </p:nvSpPr>
        <p:spPr>
          <a:xfrm>
            <a:off x="3392424" y="3794760"/>
            <a:ext cx="1380744" cy="918972"/>
          </a:xfrm>
          <a:prstGeom prst="rect">
            <a:avLst/>
          </a:prstGeom>
          <a:noFill/>
          <a:ln w="12700">
            <a:solidFill>
              <a:schemeClr val="accent1"/>
            </a:solidFill>
            <a:prstDash val="solid"/>
          </a:ln>
        </p:spPr>
      </p:sp>
      <p:sp>
        <p:nvSpPr>
          <p:cNvPr id="37" name="Step caption bg 8"/>
          <p:cNvSpPr/>
          <p:nvPr/>
        </p:nvSpPr>
        <p:spPr>
          <a:xfrm>
            <a:off x="3392424" y="4745736"/>
            <a:ext cx="1380744" cy="210312"/>
          </a:xfrm>
          <a:prstGeom prst="roundRect">
            <a:avLst>
              <a:gd name="adj" fmla="val 26667"/>
            </a:avLst>
          </a:prstGeom>
          <a:solidFill>
            <a:schemeClr val="bg2"/>
          </a:solidFill>
          <a:ln w="12700">
            <a:solidFill>
              <a:schemeClr val="bg2"/>
            </a:solidFill>
            <a:prstDash val="solid"/>
          </a:ln>
        </p:spPr>
      </p:sp>
      <p:sp>
        <p:nvSpPr>
          <p:cNvPr id="38" name="Step caption 8"/>
          <p:cNvSpPr txBox="1"/>
          <p:nvPr/>
        </p:nvSpPr>
        <p:spPr>
          <a:xfrm>
            <a:off x="3465576" y="474573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8  Drying</a:t>
            </a:r>
            <a:endParaRPr lang="en-US" sz="1000" dirty="0"/>
          </a:p>
        </p:txBody>
      </p:sp>
      <p:pic>
        <p:nvPicPr>
          <p:cNvPr id="39" name="Step photo 9" descr="Photograph: Dried MOF powder in a glass dish"/>
          <p:cNvPicPr>
            <a:picLocks noChangeAspect="1"/>
          </p:cNvPicPr>
          <p:nvPr/>
        </p:nvPicPr>
        <p:blipFill>
          <a:blip r:embed="rId108"/>
          <a:srcRect l="0" t="29384" r="0" b="9384"/>
          <a:stretch>
            <a:fillRect/>
          </a:stretch>
        </p:blipFill>
        <p:spPr>
          <a:xfrm>
            <a:off x="4864608" y="3794760"/>
            <a:ext cx="1380744" cy="918972"/>
          </a:xfrm>
          <a:prstGeom prst="rect">
            <a:avLst/>
          </a:prstGeom>
        </p:spPr>
      </p:pic>
      <p:sp>
        <p:nvSpPr>
          <p:cNvPr id="40" name="Step frame 9"/>
          <p:cNvSpPr/>
          <p:nvPr/>
        </p:nvSpPr>
        <p:spPr>
          <a:xfrm>
            <a:off x="4864608" y="3794760"/>
            <a:ext cx="1380744" cy="918972"/>
          </a:xfrm>
          <a:prstGeom prst="rect">
            <a:avLst/>
          </a:prstGeom>
          <a:noFill/>
          <a:ln w="12700">
            <a:solidFill>
              <a:schemeClr val="accent1"/>
            </a:solidFill>
            <a:prstDash val="solid"/>
          </a:ln>
        </p:spPr>
      </p:sp>
      <p:sp>
        <p:nvSpPr>
          <p:cNvPr id="41" name="Step caption bg 9"/>
          <p:cNvSpPr/>
          <p:nvPr/>
        </p:nvSpPr>
        <p:spPr>
          <a:xfrm>
            <a:off x="4864608" y="4745736"/>
            <a:ext cx="1380744" cy="210312"/>
          </a:xfrm>
          <a:prstGeom prst="roundRect">
            <a:avLst>
              <a:gd name="adj" fmla="val 26667"/>
            </a:avLst>
          </a:prstGeom>
          <a:solidFill>
            <a:schemeClr val="bg2"/>
          </a:solidFill>
          <a:ln w="12700">
            <a:solidFill>
              <a:schemeClr val="bg2"/>
            </a:solidFill>
            <a:prstDash val="solid"/>
          </a:ln>
        </p:spPr>
      </p:sp>
      <p:sp>
        <p:nvSpPr>
          <p:cNvPr id="42" name="Step caption 9"/>
          <p:cNvSpPr txBox="1"/>
          <p:nvPr/>
        </p:nvSpPr>
        <p:spPr>
          <a:xfrm>
            <a:off x="4937760" y="474573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9  After drying</a:t>
            </a:r>
            <a:endParaRPr lang="en-US" sz="1000" dirty="0"/>
          </a:p>
        </p:txBody>
      </p:sp>
      <p:pic>
        <p:nvPicPr>
          <p:cNvPr id="43" name="Step photo 10" descr="Photograph: Labelled sample vials after activation"/>
          <p:cNvPicPr>
            <a:picLocks noChangeAspect="1"/>
          </p:cNvPicPr>
          <p:nvPr/>
        </p:nvPicPr>
        <p:blipFill>
          <a:blip r:embed="rId109"/>
          <a:srcRect l="0" t="21620" r="0" b="11620"/>
          <a:stretch>
            <a:fillRect/>
          </a:stretch>
        </p:blipFill>
        <p:spPr>
          <a:xfrm>
            <a:off x="6336792" y="3794760"/>
            <a:ext cx="1380744" cy="918972"/>
          </a:xfrm>
          <a:prstGeom prst="rect">
            <a:avLst/>
          </a:prstGeom>
        </p:spPr>
      </p:pic>
      <p:sp>
        <p:nvSpPr>
          <p:cNvPr id="44" name="Step frame 10"/>
          <p:cNvSpPr/>
          <p:nvPr/>
        </p:nvSpPr>
        <p:spPr>
          <a:xfrm>
            <a:off x="6336792" y="3794760"/>
            <a:ext cx="1380744" cy="918972"/>
          </a:xfrm>
          <a:prstGeom prst="rect">
            <a:avLst/>
          </a:prstGeom>
          <a:noFill/>
          <a:ln w="12700">
            <a:solidFill>
              <a:schemeClr val="accent1"/>
            </a:solidFill>
            <a:prstDash val="solid"/>
          </a:ln>
        </p:spPr>
      </p:sp>
      <p:sp>
        <p:nvSpPr>
          <p:cNvPr id="45" name="Step caption bg 10"/>
          <p:cNvSpPr/>
          <p:nvPr/>
        </p:nvSpPr>
        <p:spPr>
          <a:xfrm>
            <a:off x="6336792" y="4745736"/>
            <a:ext cx="1380744" cy="210312"/>
          </a:xfrm>
          <a:prstGeom prst="roundRect">
            <a:avLst>
              <a:gd name="adj" fmla="val 26667"/>
            </a:avLst>
          </a:prstGeom>
          <a:solidFill>
            <a:schemeClr val="bg2"/>
          </a:solidFill>
          <a:ln w="12700">
            <a:solidFill>
              <a:schemeClr val="bg2"/>
            </a:solidFill>
            <a:prstDash val="solid"/>
          </a:ln>
        </p:spPr>
      </p:sp>
      <p:sp>
        <p:nvSpPr>
          <p:cNvPr id="46" name="Step caption 10"/>
          <p:cNvSpPr txBox="1"/>
          <p:nvPr/>
        </p:nvSpPr>
        <p:spPr>
          <a:xfrm>
            <a:off x="6409944" y="4745736"/>
            <a:ext cx="1234440" cy="210312"/>
          </a:xfrm>
          <a:prstGeom prst="rect">
            <a:avLst/>
          </a:prstGeom>
          <a:noFill/>
          <a:ln/>
        </p:spPr>
        <p:txBody>
          <a:bodyPr wrap="square" lIns="0" tIns="0" rIns="0" bIns="0" rtlCol="0" anchor="ctr"/>
          <a:lstStyle/>
          <a:p>
            <a:pPr marL="0" indent="0" algn="l">
              <a:buNone/>
            </a:pPr>
            <a:r>
              <a:rPr lang="en-US" sz="1000" b="1" dirty="0">
                <a:solidFill>
                  <a:schemeClr val="accent3"/>
                </a:solidFill>
              </a:rPr>
              <a:t>10  After activation</a:t>
            </a:r>
            <a:endParaRPr lang="en-US" sz="1000" dirty="0"/>
          </a:p>
        </p:txBody>
      </p:sp>
      <p:sp>
        <p:nvSpPr>
          <p:cNvPr id="47" name="Matrix card"/>
          <p:cNvSpPr/>
          <p:nvPr/>
        </p:nvSpPr>
        <p:spPr>
          <a:xfrm>
            <a:off x="8037576" y="2560320"/>
            <a:ext cx="3703320" cy="2395728"/>
          </a:xfrm>
          <a:prstGeom prst="roundRect">
            <a:avLst>
              <a:gd name="adj" fmla="val 3239"/>
            </a:avLst>
          </a:prstGeom>
          <a:solidFill>
            <a:schemeClr val="bg2"/>
          </a:solidFill>
          <a:ln w="12700">
            <a:solidFill>
              <a:schemeClr val="bg2"/>
            </a:solidFill>
            <a:prstDash val="solid"/>
          </a:ln>
        </p:spPr>
      </p:sp>
      <p:sp>
        <p:nvSpPr>
          <p:cNvPr id="48" name="Matrix title"/>
          <p:cNvSpPr txBox="1"/>
          <p:nvPr/>
        </p:nvSpPr>
        <p:spPr>
          <a:xfrm>
            <a:off x="8202168" y="2651760"/>
            <a:ext cx="3374136" cy="274320"/>
          </a:xfrm>
          <a:prstGeom prst="rect">
            <a:avLst/>
          </a:prstGeom>
          <a:noFill/>
          <a:ln/>
        </p:spPr>
        <p:txBody>
          <a:bodyPr wrap="square" lIns="0" tIns="0" rIns="0" bIns="0" rtlCol="0" anchor="ctr"/>
          <a:lstStyle/>
          <a:p>
            <a:pPr marL="0" indent="0" algn="l">
              <a:buNone/>
            </a:pPr>
            <a:r>
              <a:rPr lang="en-US" sz="1500" b="1" dirty="0">
                <a:solidFill>
                  <a:schemeClr val="accent3"/>
                </a:solidFill>
              </a:rPr>
              <a:t>All 12 samples synthesized</a:t>
            </a:r>
            <a:endParaRPr lang="en-US" sz="1500" dirty="0"/>
          </a:p>
        </p:txBody>
      </p:sp>
      <p:sp>
        <p:nvSpPr>
          <p:cNvPr id="49" name="Matrix subtitle"/>
          <p:cNvSpPr txBox="1"/>
          <p:nvPr/>
        </p:nvSpPr>
        <p:spPr>
          <a:xfrm>
            <a:off x="8202168" y="2944368"/>
            <a:ext cx="3374136" cy="384048"/>
          </a:xfrm>
          <a:prstGeom prst="rect">
            <a:avLst/>
          </a:prstGeom>
          <a:noFill/>
          <a:ln/>
        </p:spPr>
        <p:txBody>
          <a:bodyPr wrap="square" lIns="0" tIns="0" rIns="0" bIns="0" rtlCol="0" anchor="t"/>
          <a:lstStyle/>
          <a:p>
            <a:pPr marL="0" indent="0" algn="l">
              <a:buNone/>
            </a:pPr>
            <a:r>
              <a:rPr lang="en-US" sz="1200" dirty="0">
                <a:solidFill>
                  <a:schemeClr val="tx2"/>
                </a:solidFill>
              </a:rPr>
              <a:t>Solvothermal route · 6 metal compositions (A–F) × 2 metal-to-linker ratios</a:t>
            </a:r>
            <a:endParaRPr lang="en-US" sz="1200" dirty="0"/>
          </a:p>
        </p:txBody>
      </p:sp>
      <p:sp>
        <p:nvSpPr>
          <p:cNvPr id="50" name="Matrix comp label"/>
          <p:cNvSpPr txBox="1"/>
          <p:nvPr/>
        </p:nvSpPr>
        <p:spPr>
          <a:xfrm>
            <a:off x="8202168" y="3383280"/>
            <a:ext cx="612648" cy="274320"/>
          </a:xfrm>
          <a:prstGeom prst="rect">
            <a:avLst/>
          </a:prstGeom>
          <a:noFill/>
          <a:ln/>
        </p:spPr>
        <p:txBody>
          <a:bodyPr wrap="square" lIns="0" tIns="0" rIns="0" bIns="0" rtlCol="0" anchor="ctr"/>
          <a:lstStyle/>
          <a:p>
            <a:pPr marL="0" indent="0" algn="l">
              <a:buNone/>
            </a:pPr>
            <a:r>
              <a:rPr lang="en-US" sz="1000" b="1" dirty="0">
                <a:solidFill>
                  <a:schemeClr val="accent6"/>
                </a:solidFill>
              </a:rPr>
              <a:t>Metal comp.</a:t>
            </a:r>
            <a:endParaRPr lang="en-US" sz="1000" dirty="0"/>
          </a:p>
        </p:txBody>
      </p:sp>
      <p:sp>
        <p:nvSpPr>
          <p:cNvPr id="51" name="Matrix col A"/>
          <p:cNvSpPr txBox="1"/>
          <p:nvPr/>
        </p:nvSpPr>
        <p:spPr>
          <a:xfrm>
            <a:off x="8769096"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A</a:t>
            </a:r>
            <a:endParaRPr lang="en-US" sz="1200" dirty="0"/>
          </a:p>
        </p:txBody>
      </p:sp>
      <p:sp>
        <p:nvSpPr>
          <p:cNvPr id="52" name="Matrix col B"/>
          <p:cNvSpPr txBox="1"/>
          <p:nvPr/>
        </p:nvSpPr>
        <p:spPr>
          <a:xfrm>
            <a:off x="9244584"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B</a:t>
            </a:r>
            <a:endParaRPr lang="en-US" sz="1200" dirty="0"/>
          </a:p>
        </p:txBody>
      </p:sp>
      <p:sp>
        <p:nvSpPr>
          <p:cNvPr id="53" name="Matrix col C"/>
          <p:cNvSpPr txBox="1"/>
          <p:nvPr/>
        </p:nvSpPr>
        <p:spPr>
          <a:xfrm>
            <a:off x="9720072"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C</a:t>
            </a:r>
            <a:endParaRPr lang="en-US" sz="1200" dirty="0"/>
          </a:p>
        </p:txBody>
      </p:sp>
      <p:sp>
        <p:nvSpPr>
          <p:cNvPr id="54" name="Matrix col D"/>
          <p:cNvSpPr txBox="1"/>
          <p:nvPr/>
        </p:nvSpPr>
        <p:spPr>
          <a:xfrm>
            <a:off x="10186416"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D</a:t>
            </a:r>
            <a:endParaRPr lang="en-US" sz="1200" dirty="0"/>
          </a:p>
        </p:txBody>
      </p:sp>
      <p:sp>
        <p:nvSpPr>
          <p:cNvPr id="55" name="Matrix col E"/>
          <p:cNvSpPr txBox="1"/>
          <p:nvPr/>
        </p:nvSpPr>
        <p:spPr>
          <a:xfrm>
            <a:off x="10661904"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E</a:t>
            </a:r>
            <a:endParaRPr lang="en-US" sz="1200" dirty="0"/>
          </a:p>
        </p:txBody>
      </p:sp>
      <p:sp>
        <p:nvSpPr>
          <p:cNvPr id="56" name="Matrix col F"/>
          <p:cNvSpPr txBox="1"/>
          <p:nvPr/>
        </p:nvSpPr>
        <p:spPr>
          <a:xfrm>
            <a:off x="11137392" y="3383280"/>
            <a:ext cx="438912" cy="274320"/>
          </a:xfrm>
          <a:prstGeom prst="rect">
            <a:avLst/>
          </a:prstGeom>
          <a:noFill/>
          <a:ln/>
        </p:spPr>
        <p:txBody>
          <a:bodyPr wrap="square" lIns="0" tIns="0" rIns="0" bIns="0" rtlCol="0" anchor="ctr"/>
          <a:lstStyle/>
          <a:p>
            <a:pPr marL="0" indent="0" algn="ctr">
              <a:buNone/>
            </a:pPr>
            <a:r>
              <a:rPr lang="en-US" sz="1200" b="1" dirty="0">
                <a:solidFill>
                  <a:schemeClr val="accent3"/>
                </a:solidFill>
              </a:rPr>
              <a:t>F</a:t>
            </a:r>
            <a:endParaRPr lang="en-US" sz="1200" dirty="0"/>
          </a:p>
        </p:txBody>
      </p:sp>
      <p:sp>
        <p:nvSpPr>
          <p:cNvPr id="57" name="Matrix row 1:1 ratio"/>
          <p:cNvSpPr txBox="1"/>
          <p:nvPr/>
        </p:nvSpPr>
        <p:spPr>
          <a:xfrm>
            <a:off x="8202168" y="3675888"/>
            <a:ext cx="612648" cy="274320"/>
          </a:xfrm>
          <a:prstGeom prst="rect">
            <a:avLst/>
          </a:prstGeom>
          <a:noFill/>
          <a:ln/>
        </p:spPr>
        <p:txBody>
          <a:bodyPr wrap="square" lIns="0" tIns="0" rIns="0" bIns="0" rtlCol="0" anchor="ctr"/>
          <a:lstStyle/>
          <a:p>
            <a:pPr marL="0" indent="0" algn="l">
              <a:buNone/>
            </a:pPr>
            <a:r>
              <a:rPr lang="en-US" sz="950" b="1" dirty="0">
                <a:solidFill>
                  <a:schemeClr val="accent6"/>
                </a:solidFill>
              </a:rPr>
              <a:t>1:1 ratio</a:t>
            </a:r>
            <a:endParaRPr lang="en-US" sz="950" dirty="0"/>
          </a:p>
        </p:txBody>
      </p:sp>
      <p:sp>
        <p:nvSpPr>
          <p:cNvPr id="58" name="Sample A1-1"/>
          <p:cNvSpPr/>
          <p:nvPr/>
        </p:nvSpPr>
        <p:spPr>
          <a:xfrm>
            <a:off x="8769096" y="3675888"/>
            <a:ext cx="438912" cy="274320"/>
          </a:xfrm>
          <a:prstGeom prst="roundRect">
            <a:avLst>
              <a:gd name="adj" fmla="val 16667"/>
            </a:avLst>
          </a:prstGeom>
          <a:solidFill>
            <a:schemeClr val="accent3"/>
          </a:solidFill>
          <a:ln w="12700">
            <a:solidFill>
              <a:schemeClr val="accent3"/>
            </a:solidFill>
            <a:prstDash val="solid"/>
          </a:ln>
        </p:spPr>
      </p:sp>
      <p:sp>
        <p:nvSpPr>
          <p:cNvPr id="59" name="Sample label A1-1"/>
          <p:cNvSpPr txBox="1"/>
          <p:nvPr/>
        </p:nvSpPr>
        <p:spPr>
          <a:xfrm>
            <a:off x="8769096"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A1-1</a:t>
            </a:r>
            <a:endParaRPr lang="en-US" sz="1000" dirty="0"/>
          </a:p>
        </p:txBody>
      </p:sp>
      <p:sp>
        <p:nvSpPr>
          <p:cNvPr id="60" name="Sample B1-1"/>
          <p:cNvSpPr/>
          <p:nvPr/>
        </p:nvSpPr>
        <p:spPr>
          <a:xfrm>
            <a:off x="9244584" y="3675888"/>
            <a:ext cx="438912" cy="274320"/>
          </a:xfrm>
          <a:prstGeom prst="roundRect">
            <a:avLst>
              <a:gd name="adj" fmla="val 16667"/>
            </a:avLst>
          </a:prstGeom>
          <a:solidFill>
            <a:schemeClr val="accent3"/>
          </a:solidFill>
          <a:ln w="12700">
            <a:solidFill>
              <a:schemeClr val="accent3"/>
            </a:solidFill>
            <a:prstDash val="solid"/>
          </a:ln>
        </p:spPr>
      </p:sp>
      <p:sp>
        <p:nvSpPr>
          <p:cNvPr id="61" name="Sample label B1-1"/>
          <p:cNvSpPr txBox="1"/>
          <p:nvPr/>
        </p:nvSpPr>
        <p:spPr>
          <a:xfrm>
            <a:off x="9244584"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B1-1</a:t>
            </a:r>
            <a:endParaRPr lang="en-US" sz="1000" dirty="0"/>
          </a:p>
        </p:txBody>
      </p:sp>
      <p:sp>
        <p:nvSpPr>
          <p:cNvPr id="62" name="Sample C1-1"/>
          <p:cNvSpPr/>
          <p:nvPr/>
        </p:nvSpPr>
        <p:spPr>
          <a:xfrm>
            <a:off x="9720072" y="3675888"/>
            <a:ext cx="438912" cy="274320"/>
          </a:xfrm>
          <a:prstGeom prst="roundRect">
            <a:avLst>
              <a:gd name="adj" fmla="val 16667"/>
            </a:avLst>
          </a:prstGeom>
          <a:solidFill>
            <a:schemeClr val="accent3"/>
          </a:solidFill>
          <a:ln w="12700">
            <a:solidFill>
              <a:schemeClr val="accent3"/>
            </a:solidFill>
            <a:prstDash val="solid"/>
          </a:ln>
        </p:spPr>
      </p:sp>
      <p:sp>
        <p:nvSpPr>
          <p:cNvPr id="63" name="Sample label C1-1"/>
          <p:cNvSpPr txBox="1"/>
          <p:nvPr/>
        </p:nvSpPr>
        <p:spPr>
          <a:xfrm>
            <a:off x="9720072"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C1-1</a:t>
            </a:r>
            <a:endParaRPr lang="en-US" sz="1000" dirty="0"/>
          </a:p>
        </p:txBody>
      </p:sp>
      <p:sp>
        <p:nvSpPr>
          <p:cNvPr id="64" name="Sample D1-1"/>
          <p:cNvSpPr/>
          <p:nvPr/>
        </p:nvSpPr>
        <p:spPr>
          <a:xfrm>
            <a:off x="10186416" y="3675888"/>
            <a:ext cx="438912" cy="274320"/>
          </a:xfrm>
          <a:prstGeom prst="roundRect">
            <a:avLst>
              <a:gd name="adj" fmla="val 16667"/>
            </a:avLst>
          </a:prstGeom>
          <a:solidFill>
            <a:schemeClr val="accent3"/>
          </a:solidFill>
          <a:ln w="12700">
            <a:solidFill>
              <a:schemeClr val="accent3"/>
            </a:solidFill>
            <a:prstDash val="solid"/>
          </a:ln>
        </p:spPr>
      </p:sp>
      <p:sp>
        <p:nvSpPr>
          <p:cNvPr id="65" name="Sample label D1-1"/>
          <p:cNvSpPr txBox="1"/>
          <p:nvPr/>
        </p:nvSpPr>
        <p:spPr>
          <a:xfrm>
            <a:off x="10186416"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D1-1</a:t>
            </a:r>
            <a:endParaRPr lang="en-US" sz="1000" dirty="0"/>
          </a:p>
        </p:txBody>
      </p:sp>
      <p:sp>
        <p:nvSpPr>
          <p:cNvPr id="66" name="Sample E1-1"/>
          <p:cNvSpPr/>
          <p:nvPr/>
        </p:nvSpPr>
        <p:spPr>
          <a:xfrm>
            <a:off x="10661904" y="3675888"/>
            <a:ext cx="438912" cy="274320"/>
          </a:xfrm>
          <a:prstGeom prst="roundRect">
            <a:avLst>
              <a:gd name="adj" fmla="val 16667"/>
            </a:avLst>
          </a:prstGeom>
          <a:solidFill>
            <a:schemeClr val="accent3"/>
          </a:solidFill>
          <a:ln w="12700">
            <a:solidFill>
              <a:schemeClr val="accent3"/>
            </a:solidFill>
            <a:prstDash val="solid"/>
          </a:ln>
        </p:spPr>
      </p:sp>
      <p:sp>
        <p:nvSpPr>
          <p:cNvPr id="67" name="Sample label E1-1"/>
          <p:cNvSpPr txBox="1"/>
          <p:nvPr/>
        </p:nvSpPr>
        <p:spPr>
          <a:xfrm>
            <a:off x="10661904"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E1-1</a:t>
            </a:r>
            <a:endParaRPr lang="en-US" sz="1000" dirty="0"/>
          </a:p>
        </p:txBody>
      </p:sp>
      <p:sp>
        <p:nvSpPr>
          <p:cNvPr id="68" name="Sample F1-1"/>
          <p:cNvSpPr/>
          <p:nvPr/>
        </p:nvSpPr>
        <p:spPr>
          <a:xfrm>
            <a:off x="11137392" y="3675888"/>
            <a:ext cx="438912" cy="274320"/>
          </a:xfrm>
          <a:prstGeom prst="roundRect">
            <a:avLst>
              <a:gd name="adj" fmla="val 16667"/>
            </a:avLst>
          </a:prstGeom>
          <a:solidFill>
            <a:schemeClr val="accent3"/>
          </a:solidFill>
          <a:ln w="12700">
            <a:solidFill>
              <a:schemeClr val="accent3"/>
            </a:solidFill>
            <a:prstDash val="solid"/>
          </a:ln>
        </p:spPr>
      </p:sp>
      <p:sp>
        <p:nvSpPr>
          <p:cNvPr id="69" name="Sample label F1-1"/>
          <p:cNvSpPr txBox="1"/>
          <p:nvPr/>
        </p:nvSpPr>
        <p:spPr>
          <a:xfrm>
            <a:off x="11137392" y="367588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F1-1</a:t>
            </a:r>
            <a:endParaRPr lang="en-US" sz="1000" dirty="0"/>
          </a:p>
        </p:txBody>
      </p:sp>
      <p:sp>
        <p:nvSpPr>
          <p:cNvPr id="70" name="Matrix row 2:1 ratio"/>
          <p:cNvSpPr txBox="1"/>
          <p:nvPr/>
        </p:nvSpPr>
        <p:spPr>
          <a:xfrm>
            <a:off x="8202168" y="3995928"/>
            <a:ext cx="612648" cy="274320"/>
          </a:xfrm>
          <a:prstGeom prst="rect">
            <a:avLst/>
          </a:prstGeom>
          <a:noFill/>
          <a:ln/>
        </p:spPr>
        <p:txBody>
          <a:bodyPr wrap="square" lIns="0" tIns="0" rIns="0" bIns="0" rtlCol="0" anchor="ctr"/>
          <a:lstStyle/>
          <a:p>
            <a:pPr marL="0" indent="0" algn="l">
              <a:buNone/>
            </a:pPr>
            <a:r>
              <a:rPr lang="en-US" sz="950" b="1" dirty="0">
                <a:solidFill>
                  <a:schemeClr val="accent6"/>
                </a:solidFill>
              </a:rPr>
              <a:t>2:1 ratio</a:t>
            </a:r>
            <a:endParaRPr lang="en-US" sz="950" dirty="0"/>
          </a:p>
        </p:txBody>
      </p:sp>
      <p:sp>
        <p:nvSpPr>
          <p:cNvPr id="71" name="Sample A2-1"/>
          <p:cNvSpPr/>
          <p:nvPr/>
        </p:nvSpPr>
        <p:spPr>
          <a:xfrm>
            <a:off x="8769096" y="3995928"/>
            <a:ext cx="438912" cy="274320"/>
          </a:xfrm>
          <a:prstGeom prst="roundRect">
            <a:avLst>
              <a:gd name="adj" fmla="val 16667"/>
            </a:avLst>
          </a:prstGeom>
          <a:solidFill>
            <a:schemeClr val="accent3"/>
          </a:solidFill>
          <a:ln w="12700">
            <a:solidFill>
              <a:schemeClr val="accent3"/>
            </a:solidFill>
            <a:prstDash val="solid"/>
          </a:ln>
        </p:spPr>
      </p:sp>
      <p:sp>
        <p:nvSpPr>
          <p:cNvPr id="72" name="Sample label A2-1"/>
          <p:cNvSpPr txBox="1"/>
          <p:nvPr/>
        </p:nvSpPr>
        <p:spPr>
          <a:xfrm>
            <a:off x="8769096"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A2-1</a:t>
            </a:r>
            <a:endParaRPr lang="en-US" sz="1000" dirty="0"/>
          </a:p>
        </p:txBody>
      </p:sp>
      <p:sp>
        <p:nvSpPr>
          <p:cNvPr id="73" name="Sample B2-1"/>
          <p:cNvSpPr/>
          <p:nvPr/>
        </p:nvSpPr>
        <p:spPr>
          <a:xfrm>
            <a:off x="9244584" y="3995928"/>
            <a:ext cx="438912" cy="274320"/>
          </a:xfrm>
          <a:prstGeom prst="roundRect">
            <a:avLst>
              <a:gd name="adj" fmla="val 16667"/>
            </a:avLst>
          </a:prstGeom>
          <a:solidFill>
            <a:schemeClr val="accent3"/>
          </a:solidFill>
          <a:ln w="12700">
            <a:solidFill>
              <a:schemeClr val="accent3"/>
            </a:solidFill>
            <a:prstDash val="solid"/>
          </a:ln>
        </p:spPr>
      </p:sp>
      <p:sp>
        <p:nvSpPr>
          <p:cNvPr id="74" name="Sample label B2-1"/>
          <p:cNvSpPr txBox="1"/>
          <p:nvPr/>
        </p:nvSpPr>
        <p:spPr>
          <a:xfrm>
            <a:off x="9244584"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B2-1</a:t>
            </a:r>
            <a:endParaRPr lang="en-US" sz="1000" dirty="0"/>
          </a:p>
        </p:txBody>
      </p:sp>
      <p:sp>
        <p:nvSpPr>
          <p:cNvPr id="75" name="Sample C2-1"/>
          <p:cNvSpPr/>
          <p:nvPr/>
        </p:nvSpPr>
        <p:spPr>
          <a:xfrm>
            <a:off x="9720072" y="3995928"/>
            <a:ext cx="438912" cy="274320"/>
          </a:xfrm>
          <a:prstGeom prst="roundRect">
            <a:avLst>
              <a:gd name="adj" fmla="val 16667"/>
            </a:avLst>
          </a:prstGeom>
          <a:solidFill>
            <a:schemeClr val="accent3"/>
          </a:solidFill>
          <a:ln w="12700">
            <a:solidFill>
              <a:schemeClr val="accent3"/>
            </a:solidFill>
            <a:prstDash val="solid"/>
          </a:ln>
        </p:spPr>
      </p:sp>
      <p:sp>
        <p:nvSpPr>
          <p:cNvPr id="76" name="Sample label C2-1"/>
          <p:cNvSpPr txBox="1"/>
          <p:nvPr/>
        </p:nvSpPr>
        <p:spPr>
          <a:xfrm>
            <a:off x="9720072"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C2-1</a:t>
            </a:r>
            <a:endParaRPr lang="en-US" sz="1000" dirty="0"/>
          </a:p>
        </p:txBody>
      </p:sp>
      <p:sp>
        <p:nvSpPr>
          <p:cNvPr id="77" name="Sample D2-1"/>
          <p:cNvSpPr/>
          <p:nvPr/>
        </p:nvSpPr>
        <p:spPr>
          <a:xfrm>
            <a:off x="10186416" y="3995928"/>
            <a:ext cx="438912" cy="274320"/>
          </a:xfrm>
          <a:prstGeom prst="roundRect">
            <a:avLst>
              <a:gd name="adj" fmla="val 16667"/>
            </a:avLst>
          </a:prstGeom>
          <a:solidFill>
            <a:schemeClr val="accent3"/>
          </a:solidFill>
          <a:ln w="12700">
            <a:solidFill>
              <a:schemeClr val="accent3"/>
            </a:solidFill>
            <a:prstDash val="solid"/>
          </a:ln>
        </p:spPr>
      </p:sp>
      <p:sp>
        <p:nvSpPr>
          <p:cNvPr id="78" name="Sample label D2-1"/>
          <p:cNvSpPr txBox="1"/>
          <p:nvPr/>
        </p:nvSpPr>
        <p:spPr>
          <a:xfrm>
            <a:off x="10186416"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D2-1</a:t>
            </a:r>
            <a:endParaRPr lang="en-US" sz="1000" dirty="0"/>
          </a:p>
        </p:txBody>
      </p:sp>
      <p:sp>
        <p:nvSpPr>
          <p:cNvPr id="79" name="Sample E2-1"/>
          <p:cNvSpPr/>
          <p:nvPr/>
        </p:nvSpPr>
        <p:spPr>
          <a:xfrm>
            <a:off x="10661904" y="3995928"/>
            <a:ext cx="438912" cy="274320"/>
          </a:xfrm>
          <a:prstGeom prst="roundRect">
            <a:avLst>
              <a:gd name="adj" fmla="val 16667"/>
            </a:avLst>
          </a:prstGeom>
          <a:solidFill>
            <a:schemeClr val="accent3"/>
          </a:solidFill>
          <a:ln w="12700">
            <a:solidFill>
              <a:schemeClr val="accent3"/>
            </a:solidFill>
            <a:prstDash val="solid"/>
          </a:ln>
        </p:spPr>
      </p:sp>
      <p:sp>
        <p:nvSpPr>
          <p:cNvPr id="80" name="Sample label E2-1"/>
          <p:cNvSpPr txBox="1"/>
          <p:nvPr/>
        </p:nvSpPr>
        <p:spPr>
          <a:xfrm>
            <a:off x="10661904"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E2-1</a:t>
            </a:r>
            <a:endParaRPr lang="en-US" sz="1000" dirty="0"/>
          </a:p>
        </p:txBody>
      </p:sp>
      <p:sp>
        <p:nvSpPr>
          <p:cNvPr id="81" name="Sample F2-1"/>
          <p:cNvSpPr/>
          <p:nvPr/>
        </p:nvSpPr>
        <p:spPr>
          <a:xfrm>
            <a:off x="11137392" y="3995928"/>
            <a:ext cx="438912" cy="274320"/>
          </a:xfrm>
          <a:prstGeom prst="roundRect">
            <a:avLst>
              <a:gd name="adj" fmla="val 16667"/>
            </a:avLst>
          </a:prstGeom>
          <a:solidFill>
            <a:schemeClr val="accent3"/>
          </a:solidFill>
          <a:ln w="12700">
            <a:solidFill>
              <a:schemeClr val="accent3"/>
            </a:solidFill>
            <a:prstDash val="solid"/>
          </a:ln>
        </p:spPr>
      </p:sp>
      <p:sp>
        <p:nvSpPr>
          <p:cNvPr id="82" name="Sample label F2-1"/>
          <p:cNvSpPr txBox="1"/>
          <p:nvPr/>
        </p:nvSpPr>
        <p:spPr>
          <a:xfrm>
            <a:off x="11137392" y="3995928"/>
            <a:ext cx="438912" cy="274320"/>
          </a:xfrm>
          <a:prstGeom prst="rect">
            <a:avLst/>
          </a:prstGeom>
          <a:noFill/>
          <a:ln/>
        </p:spPr>
        <p:txBody>
          <a:bodyPr wrap="square" lIns="0" tIns="0" rIns="0" bIns="0" rtlCol="0" anchor="ctr"/>
          <a:lstStyle/>
          <a:p>
            <a:pPr marL="0" indent="0" algn="ctr">
              <a:buNone/>
            </a:pPr>
            <a:r>
              <a:rPr lang="en-US" sz="1000" b="1" dirty="0">
                <a:solidFill>
                  <a:srgbClr val="FFFFFF"/>
                </a:solidFill>
              </a:rPr>
              <a:t>F2-1</a:t>
            </a:r>
            <a:endParaRPr lang="en-US" sz="1000" dirty="0"/>
          </a:p>
        </p:txBody>
      </p:sp>
      <p:sp>
        <p:nvSpPr>
          <p:cNvPr id="83" name="Matrix outcome"/>
          <p:cNvSpPr txBox="1"/>
          <p:nvPr/>
        </p:nvSpPr>
        <p:spPr>
          <a:xfrm>
            <a:off x="8202168" y="4370832"/>
            <a:ext cx="3374136" cy="512064"/>
          </a:xfrm>
          <a:prstGeom prst="rect">
            <a:avLst/>
          </a:prstGeom>
          <a:noFill/>
          <a:ln/>
        </p:spPr>
        <p:txBody>
          <a:bodyPr wrap="square" lIns="0" tIns="0" rIns="0" bIns="0" rtlCol="0" anchor="t"/>
          <a:lstStyle/>
          <a:p>
            <a:pPr marL="0" indent="0" algn="l">
              <a:spcAft>
                <a:spcPts val="200"/>
              </a:spcAft>
              <a:buNone/>
            </a:pPr>
            <a:r>
              <a:rPr lang="en-US" sz="1150" b="1" dirty="0">
                <a:solidFill>
                  <a:schemeClr val="accent3"/>
                </a:solidFill>
              </a:rPr>
              <a:t xml:space="preserve">Result: </a:t>
            </a:r>
            <a:r>
              <a:rPr lang="en-US" sz="1150" dirty="0">
                <a:solidFill>
                  <a:schemeClr val="tx2"/>
                </a:solidFill>
              </a:rPr>
              <a:t>white crystalline solids in all 12</a:t>
            </a:r>
            <a:endParaRPr lang="en-US" sz="1150" dirty="0"/>
          </a:p>
          <a:p>
            <a:pPr marL="0" indent="0" algn="l">
              <a:buNone/>
            </a:pPr>
            <a:r>
              <a:rPr lang="en-US" sz="1150" b="1" dirty="0">
                <a:solidFill>
                  <a:schemeClr val="accent3"/>
                </a:solidFill>
              </a:rPr>
              <a:t>→ all 12 compared by XRD and FTIR (slides 4–5)</a:t>
            </a:r>
            <a:endParaRPr lang="en-US" sz="1150" dirty="0"/>
          </a:p>
        </p:txBody>
      </p:sp>
      <p:sp>
        <p:nvSpPr>
          <p:cNvPr id="84" name="Step 1"/>
          <p:cNvSpPr/>
          <p:nvPr/>
        </p:nvSpPr>
        <p:spPr>
          <a:xfrm>
            <a:off x="448056" y="5303520"/>
            <a:ext cx="1790700" cy="731520"/>
          </a:xfrm>
          <a:prstGeom prst="roundRect">
            <a:avLst>
              <a:gd name="adj" fmla="val 8000"/>
            </a:avLst>
          </a:prstGeom>
          <a:solidFill>
            <a:schemeClr val="bg2"/>
          </a:solidFill>
          <a:ln w="15875">
            <a:solidFill>
              <a:schemeClr val="accent3"/>
            </a:solidFill>
            <a:prstDash val="solid"/>
          </a:ln>
        </p:spPr>
      </p:sp>
      <p:sp>
        <p:nvSpPr>
          <p:cNvPr id="85" name="Step text 1"/>
          <p:cNvSpPr txBox="1"/>
          <p:nvPr/>
        </p:nvSpPr>
        <p:spPr>
          <a:xfrm>
            <a:off x="557784" y="5358384"/>
            <a:ext cx="1589532" cy="365760"/>
          </a:xfrm>
          <a:prstGeom prst="rect">
            <a:avLst/>
          </a:prstGeom>
          <a:noFill/>
          <a:ln/>
        </p:spPr>
        <p:txBody>
          <a:bodyPr wrap="square" lIns="0" tIns="0" rIns="0" bIns="0" rtlCol="0" anchor="t"/>
          <a:lstStyle/>
          <a:p>
            <a:pPr marL="0" indent="0" algn="l">
              <a:buNone/>
            </a:pPr>
            <a:r>
              <a:rPr lang="en-US" sz="1200" b="1" dirty="0">
                <a:solidFill>
                  <a:schemeClr val="accent3"/>
                </a:solidFill>
              </a:rPr>
              <a:t>1 · Synthesis of 12 samples</a:t>
            </a:r>
            <a:endParaRPr lang="en-US" sz="1200" dirty="0"/>
          </a:p>
        </p:txBody>
      </p:sp>
      <p:sp>
        <p:nvSpPr>
          <p:cNvPr id="86" name="Status step 1"/>
          <p:cNvSpPr/>
          <p:nvPr/>
        </p:nvSpPr>
        <p:spPr>
          <a:xfrm>
            <a:off x="557784" y="5751576"/>
            <a:ext cx="868680" cy="210312"/>
          </a:xfrm>
          <a:prstGeom prst="roundRect">
            <a:avLst>
              <a:gd name="adj" fmla="val 50000"/>
            </a:avLst>
          </a:prstGeom>
          <a:solidFill>
            <a:schemeClr val="accent3"/>
          </a:solidFill>
          <a:ln w="12700">
            <a:solidFill>
              <a:schemeClr val="accent3"/>
            </a:solidFill>
            <a:prstDash val="solid"/>
          </a:ln>
        </p:spPr>
      </p:sp>
      <p:sp>
        <p:nvSpPr>
          <p:cNvPr id="87" name="Status step 1 label"/>
          <p:cNvSpPr txBox="1"/>
          <p:nvPr/>
        </p:nvSpPr>
        <p:spPr>
          <a:xfrm>
            <a:off x="557784" y="5751576"/>
            <a:ext cx="868680" cy="210312"/>
          </a:xfrm>
          <a:prstGeom prst="rect">
            <a:avLst/>
          </a:prstGeom>
          <a:noFill/>
          <a:ln/>
        </p:spPr>
        <p:txBody>
          <a:bodyPr wrap="square" lIns="0" tIns="0" rIns="0" bIns="0" rtlCol="0" anchor="ctr"/>
          <a:lstStyle/>
          <a:p>
            <a:pPr marL="0" indent="0" algn="ctr">
              <a:buNone/>
            </a:pPr>
            <a:r>
              <a:rPr lang="en-US" sz="1050" b="1" dirty="0">
                <a:solidFill>
                  <a:srgbClr val="FFFFFF"/>
                </a:solidFill>
              </a:rPr>
              <a:t>Completed</a:t>
            </a:r>
            <a:endParaRPr lang="en-US" sz="1050" dirty="0"/>
          </a:p>
        </p:txBody>
      </p:sp>
      <p:sp>
        <p:nvSpPr>
          <p:cNvPr id="88" name="Step 2"/>
          <p:cNvSpPr/>
          <p:nvPr/>
        </p:nvSpPr>
        <p:spPr>
          <a:xfrm>
            <a:off x="2348484" y="5303520"/>
            <a:ext cx="1790700" cy="731520"/>
          </a:xfrm>
          <a:prstGeom prst="roundRect">
            <a:avLst>
              <a:gd name="adj" fmla="val 8000"/>
            </a:avLst>
          </a:prstGeom>
          <a:solidFill>
            <a:schemeClr val="bg2"/>
          </a:solidFill>
          <a:ln w="15875">
            <a:solidFill>
              <a:schemeClr val="accent3"/>
            </a:solidFill>
            <a:prstDash val="solid"/>
          </a:ln>
        </p:spPr>
      </p:sp>
      <p:sp>
        <p:nvSpPr>
          <p:cNvPr id="89" name="Step text 2"/>
          <p:cNvSpPr txBox="1"/>
          <p:nvPr/>
        </p:nvSpPr>
        <p:spPr>
          <a:xfrm>
            <a:off x="2458212" y="5358384"/>
            <a:ext cx="1589532" cy="365760"/>
          </a:xfrm>
          <a:prstGeom prst="rect">
            <a:avLst/>
          </a:prstGeom>
          <a:noFill/>
          <a:ln/>
        </p:spPr>
        <p:txBody>
          <a:bodyPr wrap="square" lIns="0" tIns="0" rIns="0" bIns="0" rtlCol="0" anchor="t"/>
          <a:lstStyle/>
          <a:p>
            <a:pPr marL="0" indent="0" algn="l">
              <a:buNone/>
            </a:pPr>
            <a:r>
              <a:rPr lang="en-US" sz="1200" b="1" dirty="0">
                <a:solidFill>
                  <a:schemeClr val="accent3"/>
                </a:solidFill>
              </a:rPr>
              <a:t>2 · XRD and FTIR of all 12</a:t>
            </a:r>
            <a:endParaRPr lang="en-US" sz="1200" dirty="0"/>
          </a:p>
        </p:txBody>
      </p:sp>
      <p:sp>
        <p:nvSpPr>
          <p:cNvPr id="90" name="Status step 2"/>
          <p:cNvSpPr/>
          <p:nvPr/>
        </p:nvSpPr>
        <p:spPr>
          <a:xfrm>
            <a:off x="2458212" y="5751576"/>
            <a:ext cx="868680" cy="210312"/>
          </a:xfrm>
          <a:prstGeom prst="roundRect">
            <a:avLst>
              <a:gd name="adj" fmla="val 50000"/>
            </a:avLst>
          </a:prstGeom>
          <a:solidFill>
            <a:schemeClr val="accent3"/>
          </a:solidFill>
          <a:ln w="12700">
            <a:solidFill>
              <a:schemeClr val="accent3"/>
            </a:solidFill>
            <a:prstDash val="solid"/>
          </a:ln>
        </p:spPr>
      </p:sp>
      <p:sp>
        <p:nvSpPr>
          <p:cNvPr id="91" name="Status step 2 label"/>
          <p:cNvSpPr txBox="1"/>
          <p:nvPr/>
        </p:nvSpPr>
        <p:spPr>
          <a:xfrm>
            <a:off x="2458212" y="5751576"/>
            <a:ext cx="868680" cy="210312"/>
          </a:xfrm>
          <a:prstGeom prst="rect">
            <a:avLst/>
          </a:prstGeom>
          <a:noFill/>
          <a:ln/>
        </p:spPr>
        <p:txBody>
          <a:bodyPr wrap="square" lIns="0" tIns="0" rIns="0" bIns="0" rtlCol="0" anchor="ctr"/>
          <a:lstStyle/>
          <a:p>
            <a:pPr marL="0" indent="0" algn="ctr">
              <a:buNone/>
            </a:pPr>
            <a:r>
              <a:rPr lang="en-US" sz="1050" b="1" dirty="0">
                <a:solidFill>
                  <a:srgbClr val="FFFFFF"/>
                </a:solidFill>
              </a:rPr>
              <a:t>Completed</a:t>
            </a:r>
            <a:endParaRPr lang="en-US" sz="1050" dirty="0"/>
          </a:p>
        </p:txBody>
      </p:sp>
      <p:sp>
        <p:nvSpPr>
          <p:cNvPr id="92" name="Step 3"/>
          <p:cNvSpPr/>
          <p:nvPr/>
        </p:nvSpPr>
        <p:spPr>
          <a:xfrm>
            <a:off x="4248912" y="5303520"/>
            <a:ext cx="1790700" cy="731520"/>
          </a:xfrm>
          <a:prstGeom prst="roundRect">
            <a:avLst>
              <a:gd name="adj" fmla="val 8000"/>
            </a:avLst>
          </a:prstGeom>
          <a:solidFill>
            <a:schemeClr val="bg2"/>
          </a:solidFill>
          <a:ln w="15875">
            <a:solidFill>
              <a:schemeClr val="accent3"/>
            </a:solidFill>
            <a:prstDash val="solid"/>
          </a:ln>
        </p:spPr>
      </p:sp>
      <p:sp>
        <p:nvSpPr>
          <p:cNvPr id="93" name="Step text 3"/>
          <p:cNvSpPr txBox="1"/>
          <p:nvPr/>
        </p:nvSpPr>
        <p:spPr>
          <a:xfrm>
            <a:off x="4358640" y="5358384"/>
            <a:ext cx="1589532" cy="365760"/>
          </a:xfrm>
          <a:prstGeom prst="rect">
            <a:avLst/>
          </a:prstGeom>
          <a:noFill/>
          <a:ln/>
        </p:spPr>
        <p:txBody>
          <a:bodyPr wrap="square" lIns="0" tIns="0" rIns="0" bIns="0" rtlCol="0" anchor="t"/>
          <a:lstStyle/>
          <a:p>
            <a:pPr marL="0" indent="0" algn="l">
              <a:buNone/>
            </a:pPr>
            <a:r>
              <a:rPr lang="en-US" sz="1200" b="1" dirty="0">
                <a:solidFill>
                  <a:schemeClr val="accent3"/>
                </a:solidFill>
              </a:rPr>
              <a:t>3 · Evidence-based sample selection</a:t>
            </a:r>
            <a:endParaRPr lang="en-US" sz="1200" dirty="0"/>
          </a:p>
        </p:txBody>
      </p:sp>
      <p:sp>
        <p:nvSpPr>
          <p:cNvPr id="94" name="Status step 3"/>
          <p:cNvSpPr/>
          <p:nvPr/>
        </p:nvSpPr>
        <p:spPr>
          <a:xfrm>
            <a:off x="4358640" y="5751576"/>
            <a:ext cx="868680" cy="210312"/>
          </a:xfrm>
          <a:prstGeom prst="roundRect">
            <a:avLst>
              <a:gd name="adj" fmla="val 50000"/>
            </a:avLst>
          </a:prstGeom>
          <a:solidFill>
            <a:schemeClr val="accent3"/>
          </a:solidFill>
          <a:ln w="12700">
            <a:solidFill>
              <a:schemeClr val="accent3"/>
            </a:solidFill>
            <a:prstDash val="solid"/>
          </a:ln>
        </p:spPr>
      </p:sp>
      <p:sp>
        <p:nvSpPr>
          <p:cNvPr id="95" name="Status step 3 label"/>
          <p:cNvSpPr txBox="1"/>
          <p:nvPr/>
        </p:nvSpPr>
        <p:spPr>
          <a:xfrm>
            <a:off x="4358640" y="5751576"/>
            <a:ext cx="868680" cy="210312"/>
          </a:xfrm>
          <a:prstGeom prst="rect">
            <a:avLst/>
          </a:prstGeom>
          <a:noFill/>
          <a:ln/>
        </p:spPr>
        <p:txBody>
          <a:bodyPr wrap="square" lIns="0" tIns="0" rIns="0" bIns="0" rtlCol="0" anchor="ctr"/>
          <a:lstStyle/>
          <a:p>
            <a:pPr marL="0" indent="0" algn="ctr">
              <a:buNone/>
            </a:pPr>
            <a:r>
              <a:rPr lang="en-US" sz="1050" b="1" dirty="0">
                <a:solidFill>
                  <a:srgbClr val="FFFFFF"/>
                </a:solidFill>
              </a:rPr>
              <a:t>Completed</a:t>
            </a:r>
            <a:endParaRPr lang="en-US" sz="1050" dirty="0"/>
          </a:p>
        </p:txBody>
      </p:sp>
      <p:sp>
        <p:nvSpPr>
          <p:cNvPr id="96" name="Step 4"/>
          <p:cNvSpPr/>
          <p:nvPr/>
        </p:nvSpPr>
        <p:spPr>
          <a:xfrm>
            <a:off x="6149340" y="5303520"/>
            <a:ext cx="1790700" cy="731520"/>
          </a:xfrm>
          <a:prstGeom prst="roundRect">
            <a:avLst>
              <a:gd name="adj" fmla="val 8000"/>
            </a:avLst>
          </a:prstGeom>
          <a:solidFill>
            <a:srgbClr val="FFFFFF"/>
          </a:solidFill>
          <a:ln w="15875">
            <a:solidFill>
              <a:schemeClr val="accent1"/>
            </a:solidFill>
            <a:prstDash val="dash"/>
          </a:ln>
        </p:spPr>
      </p:sp>
      <p:sp>
        <p:nvSpPr>
          <p:cNvPr id="97" name="Step text 4"/>
          <p:cNvSpPr txBox="1"/>
          <p:nvPr/>
        </p:nvSpPr>
        <p:spPr>
          <a:xfrm>
            <a:off x="6259068" y="5358384"/>
            <a:ext cx="1589532" cy="365760"/>
          </a:xfrm>
          <a:prstGeom prst="rect">
            <a:avLst/>
          </a:prstGeom>
          <a:noFill/>
          <a:ln/>
        </p:spPr>
        <p:txBody>
          <a:bodyPr wrap="square" lIns="0" tIns="0" rIns="0" bIns="0" rtlCol="0" anchor="t"/>
          <a:lstStyle/>
          <a:p>
            <a:pPr marL="0" indent="0" algn="l">
              <a:buNone/>
            </a:pPr>
            <a:r>
              <a:rPr lang="en-US" sz="1200" b="1" dirty="0">
                <a:solidFill>
                  <a:schemeClr val="accent6"/>
                </a:solidFill>
              </a:rPr>
              <a:t>4 · CO₂ adsorption evaluation</a:t>
            </a:r>
            <a:endParaRPr lang="en-US" sz="1200" dirty="0"/>
          </a:p>
        </p:txBody>
      </p:sp>
      <p:sp>
        <p:nvSpPr>
          <p:cNvPr id="98" name="Status step 4"/>
          <p:cNvSpPr/>
          <p:nvPr/>
        </p:nvSpPr>
        <p:spPr>
          <a:xfrm>
            <a:off x="6259068" y="5751576"/>
            <a:ext cx="731520" cy="210312"/>
          </a:xfrm>
          <a:prstGeom prst="roundRect">
            <a:avLst>
              <a:gd name="adj" fmla="val 50000"/>
            </a:avLst>
          </a:prstGeom>
          <a:solidFill>
            <a:srgbClr val="FFFFFF"/>
          </a:solidFill>
          <a:ln w="12700">
            <a:solidFill>
              <a:schemeClr val="accent6"/>
            </a:solidFill>
            <a:prstDash val="solid"/>
          </a:ln>
        </p:spPr>
      </p:sp>
      <p:sp>
        <p:nvSpPr>
          <p:cNvPr id="99" name="Status step 4 label"/>
          <p:cNvSpPr txBox="1"/>
          <p:nvPr/>
        </p:nvSpPr>
        <p:spPr>
          <a:xfrm>
            <a:off x="6259068" y="5751576"/>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
        <p:nvSpPr>
          <p:cNvPr id="100" name="Step 5"/>
          <p:cNvSpPr/>
          <p:nvPr/>
        </p:nvSpPr>
        <p:spPr>
          <a:xfrm>
            <a:off x="8049768" y="5303520"/>
            <a:ext cx="1790700" cy="731520"/>
          </a:xfrm>
          <a:prstGeom prst="roundRect">
            <a:avLst>
              <a:gd name="adj" fmla="val 8000"/>
            </a:avLst>
          </a:prstGeom>
          <a:solidFill>
            <a:srgbClr val="FFFFFF"/>
          </a:solidFill>
          <a:ln w="15875">
            <a:solidFill>
              <a:schemeClr val="accent1"/>
            </a:solidFill>
            <a:prstDash val="dash"/>
          </a:ln>
        </p:spPr>
      </p:sp>
      <p:sp>
        <p:nvSpPr>
          <p:cNvPr id="101" name="Step text 5"/>
          <p:cNvSpPr txBox="1"/>
          <p:nvPr/>
        </p:nvSpPr>
        <p:spPr>
          <a:xfrm>
            <a:off x="8159496" y="5358384"/>
            <a:ext cx="1589532" cy="365760"/>
          </a:xfrm>
          <a:prstGeom prst="rect">
            <a:avLst/>
          </a:prstGeom>
          <a:noFill/>
          <a:ln/>
        </p:spPr>
        <p:txBody>
          <a:bodyPr wrap="square" lIns="0" tIns="0" rIns="0" bIns="0" rtlCol="0" anchor="t"/>
          <a:lstStyle/>
          <a:p>
            <a:pPr marL="0" indent="0" algn="l">
              <a:buNone/>
            </a:pPr>
            <a:r>
              <a:rPr lang="en-US" sz="1200" b="1" dirty="0">
                <a:solidFill>
                  <a:schemeClr val="accent6"/>
                </a:solidFill>
              </a:rPr>
              <a:t>5 · Dry vs humid comparison</a:t>
            </a:r>
            <a:endParaRPr lang="en-US" sz="1200" dirty="0"/>
          </a:p>
        </p:txBody>
      </p:sp>
      <p:sp>
        <p:nvSpPr>
          <p:cNvPr id="102" name="Status step 5"/>
          <p:cNvSpPr/>
          <p:nvPr/>
        </p:nvSpPr>
        <p:spPr>
          <a:xfrm>
            <a:off x="8159496" y="5751576"/>
            <a:ext cx="731520" cy="210312"/>
          </a:xfrm>
          <a:prstGeom prst="roundRect">
            <a:avLst>
              <a:gd name="adj" fmla="val 50000"/>
            </a:avLst>
          </a:prstGeom>
          <a:solidFill>
            <a:srgbClr val="FFFFFF"/>
          </a:solidFill>
          <a:ln w="12700">
            <a:solidFill>
              <a:schemeClr val="accent6"/>
            </a:solidFill>
            <a:prstDash val="solid"/>
          </a:ln>
        </p:spPr>
      </p:sp>
      <p:sp>
        <p:nvSpPr>
          <p:cNvPr id="103" name="Status step 5 label"/>
          <p:cNvSpPr txBox="1"/>
          <p:nvPr/>
        </p:nvSpPr>
        <p:spPr>
          <a:xfrm>
            <a:off x="8159496" y="5751576"/>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
        <p:nvSpPr>
          <p:cNvPr id="104" name="Step 6"/>
          <p:cNvSpPr/>
          <p:nvPr/>
        </p:nvSpPr>
        <p:spPr>
          <a:xfrm>
            <a:off x="9950196" y="5303520"/>
            <a:ext cx="1790700" cy="731520"/>
          </a:xfrm>
          <a:prstGeom prst="roundRect">
            <a:avLst>
              <a:gd name="adj" fmla="val 8000"/>
            </a:avLst>
          </a:prstGeom>
          <a:solidFill>
            <a:srgbClr val="FFFFFF"/>
          </a:solidFill>
          <a:ln w="15875">
            <a:solidFill>
              <a:schemeClr val="accent1"/>
            </a:solidFill>
            <a:prstDash val="dash"/>
          </a:ln>
        </p:spPr>
      </p:sp>
      <p:sp>
        <p:nvSpPr>
          <p:cNvPr id="105" name="Step text 6"/>
          <p:cNvSpPr txBox="1"/>
          <p:nvPr/>
        </p:nvSpPr>
        <p:spPr>
          <a:xfrm>
            <a:off x="10059924" y="5358384"/>
            <a:ext cx="1589532" cy="365760"/>
          </a:xfrm>
          <a:prstGeom prst="rect">
            <a:avLst/>
          </a:prstGeom>
          <a:noFill/>
          <a:ln/>
        </p:spPr>
        <p:txBody>
          <a:bodyPr wrap="square" lIns="0" tIns="0" rIns="0" bIns="0" rtlCol="0" anchor="t"/>
          <a:lstStyle/>
          <a:p>
            <a:pPr marL="0" indent="0" algn="l">
              <a:buNone/>
            </a:pPr>
            <a:r>
              <a:rPr lang="en-US" sz="1200" b="1" dirty="0">
                <a:solidFill>
                  <a:schemeClr val="accent6"/>
                </a:solidFill>
              </a:rPr>
              <a:t>6 · Regeneration and cycling</a:t>
            </a:r>
            <a:endParaRPr lang="en-US" sz="1200" dirty="0"/>
          </a:p>
        </p:txBody>
      </p:sp>
      <p:sp>
        <p:nvSpPr>
          <p:cNvPr id="106" name="Status step 6"/>
          <p:cNvSpPr/>
          <p:nvPr/>
        </p:nvSpPr>
        <p:spPr>
          <a:xfrm>
            <a:off x="10059924" y="5751576"/>
            <a:ext cx="731520" cy="210312"/>
          </a:xfrm>
          <a:prstGeom prst="roundRect">
            <a:avLst>
              <a:gd name="adj" fmla="val 50000"/>
            </a:avLst>
          </a:prstGeom>
          <a:solidFill>
            <a:srgbClr val="FFFFFF"/>
          </a:solidFill>
          <a:ln w="12700">
            <a:solidFill>
              <a:schemeClr val="accent6"/>
            </a:solidFill>
            <a:prstDash val="solid"/>
          </a:ln>
        </p:spPr>
      </p:sp>
      <p:sp>
        <p:nvSpPr>
          <p:cNvPr id="107" name="Status step 6 label"/>
          <p:cNvSpPr txBox="1"/>
          <p:nvPr/>
        </p:nvSpPr>
        <p:spPr>
          <a:xfrm>
            <a:off x="10059924" y="5751576"/>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lide title"/>
          <p:cNvSpPr txBox="1"/>
          <p:nvPr/>
        </p:nvSpPr>
        <p:spPr>
          <a:xfrm>
            <a:off x="448056" y="1700784"/>
            <a:ext cx="11292840" cy="502920"/>
          </a:xfrm>
          <a:prstGeom prst="rect">
            <a:avLst/>
          </a:prstGeom>
          <a:noFill/>
          <a:ln/>
        </p:spPr>
        <p:txBody>
          <a:bodyPr wrap="square" lIns="0" tIns="0" rIns="0" bIns="0" rtlCol="0" anchor="ctr"/>
          <a:lstStyle/>
          <a:p>
            <a:pPr marL="0" indent="0" algn="l">
              <a:buNone/>
            </a:pPr>
            <a:r>
              <a:rPr lang="en-US" sz="2600" b="1" dirty="0">
                <a:solidFill>
                  <a:schemeClr val="accent3"/>
                </a:solidFill>
              </a:rPr>
              <a:t>Comparative XRD Analysis of All 12 Samples</a:t>
            </a:r>
            <a:endParaRPr lang="en-US" sz="2600" dirty="0"/>
          </a:p>
        </p:txBody>
      </p:sp>
      <p:pic>
        <p:nvPicPr>
          <p:cNvPr id="4" name="XRD original figure (12 samples)" descr="Original XRD patterns of all 12 synthesized samples (A2-1 to F2-1, A1-1 to F1-1), unmodified; peak positions labelled in 2-theta degrees."/>
          <p:cNvPicPr>
            <a:picLocks noChangeAspect="1"/>
          </p:cNvPicPr>
          <p:nvPr/>
        </p:nvPicPr>
        <p:blipFill>
          <a:blip r:embed="rId100"/>
          <a:srcRect/>
          <a:stretch>
            <a:fillRect/>
          </a:stretch>
        </p:blipFill>
        <p:spPr>
          <a:xfrm>
            <a:off x="448056" y="2286000"/>
            <a:ext cx="4434840" cy="2815418"/>
          </a:xfrm>
          <a:prstGeom prst="rect">
            <a:avLst/>
          </a:prstGeom>
        </p:spPr>
      </p:pic>
      <p:sp>
        <p:nvSpPr>
          <p:cNvPr id="5" name="Shortlist frame B2-1"/>
          <p:cNvSpPr/>
          <p:nvPr/>
        </p:nvSpPr>
        <p:spPr>
          <a:xfrm>
            <a:off x="1944907" y="2289714"/>
            <a:ext cx="1433709" cy="679712"/>
          </a:xfrm>
          <a:prstGeom prst="rect">
            <a:avLst/>
          </a:prstGeom>
          <a:noFill/>
          <a:ln w="22225">
            <a:solidFill>
              <a:schemeClr val="accent2"/>
            </a:solidFill>
            <a:prstDash val="solid"/>
          </a:ln>
        </p:spPr>
      </p:sp>
      <p:sp>
        <p:nvSpPr>
          <p:cNvPr id="6" name="Shortlist frame C2-1"/>
          <p:cNvSpPr/>
          <p:nvPr/>
        </p:nvSpPr>
        <p:spPr>
          <a:xfrm>
            <a:off x="3438044" y="2289714"/>
            <a:ext cx="1437423" cy="679712"/>
          </a:xfrm>
          <a:prstGeom prst="rect">
            <a:avLst/>
          </a:prstGeom>
          <a:noFill/>
          <a:ln w="22225">
            <a:solidFill>
              <a:schemeClr val="accent2"/>
            </a:solidFill>
            <a:prstDash val="solid"/>
          </a:ln>
        </p:spPr>
      </p:sp>
      <p:sp>
        <p:nvSpPr>
          <p:cNvPr id="7" name="Shortlist frame E2-1"/>
          <p:cNvSpPr/>
          <p:nvPr/>
        </p:nvSpPr>
        <p:spPr>
          <a:xfrm>
            <a:off x="1944907" y="3010283"/>
            <a:ext cx="1433709" cy="679712"/>
          </a:xfrm>
          <a:prstGeom prst="rect">
            <a:avLst/>
          </a:prstGeom>
          <a:noFill/>
          <a:ln w="22225">
            <a:solidFill>
              <a:schemeClr val="accent2"/>
            </a:solidFill>
            <a:prstDash val="solid"/>
          </a:ln>
        </p:spPr>
      </p:sp>
      <p:sp>
        <p:nvSpPr>
          <p:cNvPr id="8" name="Shortlist frame F2-1"/>
          <p:cNvSpPr/>
          <p:nvPr/>
        </p:nvSpPr>
        <p:spPr>
          <a:xfrm>
            <a:off x="3438044" y="3010283"/>
            <a:ext cx="1437423" cy="679712"/>
          </a:xfrm>
          <a:prstGeom prst="rect">
            <a:avLst/>
          </a:prstGeom>
          <a:noFill/>
          <a:ln w="22225">
            <a:solidFill>
              <a:schemeClr val="accent2"/>
            </a:solidFill>
            <a:prstDash val="solid"/>
          </a:ln>
        </p:spPr>
      </p:sp>
      <p:sp>
        <p:nvSpPr>
          <p:cNvPr id="9" name="Shortlist frame D1-1"/>
          <p:cNvSpPr/>
          <p:nvPr/>
        </p:nvSpPr>
        <p:spPr>
          <a:xfrm>
            <a:off x="451770" y="4429135"/>
            <a:ext cx="1433709" cy="672283"/>
          </a:xfrm>
          <a:prstGeom prst="rect">
            <a:avLst/>
          </a:prstGeom>
          <a:noFill/>
          <a:ln w="22225">
            <a:solidFill>
              <a:schemeClr val="accent2"/>
            </a:solidFill>
            <a:prstDash val="solid"/>
          </a:ln>
        </p:spPr>
      </p:sp>
      <p:sp>
        <p:nvSpPr>
          <p:cNvPr id="10" name="XRD figure caption"/>
          <p:cNvSpPr txBox="1"/>
          <p:nvPr/>
        </p:nvSpPr>
        <p:spPr>
          <a:xfrm>
            <a:off x="448056" y="5147138"/>
            <a:ext cx="4434840" cy="365760"/>
          </a:xfrm>
          <a:prstGeom prst="rect">
            <a:avLst/>
          </a:prstGeom>
          <a:noFill/>
          <a:ln/>
        </p:spPr>
        <p:txBody>
          <a:bodyPr wrap="square" lIns="0" tIns="0" rIns="0" bIns="0" rtlCol="0" anchor="t"/>
          <a:lstStyle/>
          <a:p>
            <a:pPr marL="0" indent="0" algn="l">
              <a:buNone/>
            </a:pPr>
            <a:r>
              <a:rPr lang="en-US" sz="950" i="1" dirty="0">
                <a:solidFill>
                  <a:schemeClr val="accent6"/>
                </a:solidFill>
              </a:rPr>
              <a:t>Original figure, unmodified · rows 1–2: 2:1, rows 3–4: 1:1 · frames = XRD shortlist · panels scaled individually (heights compared within a pattern only).</a:t>
            </a:r>
            <a:endParaRPr lang="en-US" sz="950" dirty="0"/>
          </a:p>
        </p:txBody>
      </p:sp>
      <p:graphicFrame>
        <p:nvGraphicFramePr>
          <p:cNvPr id="11" name="XRD peak table"/>
          <p:cNvGraphicFramePr>
            <a:graphicFrameLocks noGrp="1"/>
          </p:cNvGraphicFramePr>
          <p:nvPr/>
        </p:nvGraphicFramePr>
        <p:xfrm>
          <a:off x="5010912" y="2286000"/>
          <a:ext cx="3474720" cy="2176272"/>
        </p:xfrm>
        <a:graphic>
          <a:graphicData uri="http://schemas.openxmlformats.org/drawingml/2006/table">
            <a:tbl>
              <a:tblPr firstRow="1">
                <a:tableStyleId>{2D5ABB26-0587-4C30-8999-92F81FD0307C}</a:tableStyleId>
              </a:tblPr>
              <a:tblGrid>
                <a:gridCol w="512064"/>
                <a:gridCol w="420624"/>
                <a:gridCol w="457200"/>
                <a:gridCol w="457200"/>
                <a:gridCol w="429768"/>
                <a:gridCol w="429768"/>
                <a:gridCol w="768096"/>
              </a:tblGrid>
              <a:tr h="201168">
                <a:tc>
                  <a:txBody>
                    <a:bodyPr/>
                    <a:lstStyle/>
                    <a:p>
                      <a:pPr marL="0" indent="0" algn="ctr">
                        <a:buNone/>
                      </a:pPr>
                      <a:r>
                        <a:rPr lang="en-US" sz="900" b="1" dirty="0">
                          <a:solidFill>
                            <a:srgbClr val="FFFFFF"/>
                          </a:solidFill>
                        </a:rPr>
                        <a:t>Sample</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~9.3°</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~12°</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~17.5°</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~24.3°</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~26.3°</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Other / flag</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r>
              <a:tr h="164592">
                <a:tc>
                  <a:txBody>
                    <a:bodyPr/>
                    <a:lstStyle/>
                    <a:p>
                      <a:pPr marL="0" indent="0" algn="ctr">
                        <a:buNone/>
                      </a:pPr>
                      <a:r>
                        <a:rPr lang="en-US" sz="950" b="1" dirty="0">
                          <a:solidFill>
                            <a:schemeClr val="tx2"/>
                          </a:solidFill>
                        </a:rPr>
                        <a:t>A2-1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12.06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3 labelled</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accent3"/>
                          </a:solidFill>
                        </a:rPr>
                        <a:t>B2-1</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9.36</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12.1</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17.56</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24.34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26.08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solidFill>
                      <a:srgbClr val="F4F2FF"/>
                    </a:solidFill>
                  </a:tcPr>
                </a:tc>
              </a:tr>
              <a:tr h="164592">
                <a:tc>
                  <a:txBody>
                    <a:bodyPr/>
                    <a:lstStyle/>
                    <a:p>
                      <a:pPr marL="0" indent="0" algn="ctr">
                        <a:buNone/>
                      </a:pPr>
                      <a:r>
                        <a:rPr lang="en-US" sz="950" b="1" dirty="0">
                          <a:solidFill>
                            <a:schemeClr val="accent3"/>
                          </a:solidFill>
                        </a:rPr>
                        <a:t>C2-1</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9.28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12.04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17.44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24.34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26.54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solidFill>
                      <a:srgbClr val="F4F2FF"/>
                    </a:solidFill>
                  </a:tcPr>
                </a:tc>
              </a:tr>
              <a:tr h="164592">
                <a:tc>
                  <a:txBody>
                    <a:bodyPr/>
                    <a:lstStyle/>
                    <a:p>
                      <a:pPr marL="0" indent="0" algn="ctr">
                        <a:buNone/>
                      </a:pPr>
                      <a:r>
                        <a:rPr lang="en-US" sz="950" b="1" dirty="0">
                          <a:solidFill>
                            <a:schemeClr val="tx2"/>
                          </a:solidFill>
                        </a:rPr>
                        <a:t>D2-1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9.48</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12.04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17.58</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24.16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26.32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rough bkg</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accent3"/>
                          </a:solidFill>
                        </a:rPr>
                        <a:t>E2-1</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9.28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12.08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17.48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24.28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26.44</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solidFill>
                      <a:srgbClr val="F4F2FF"/>
                    </a:solidFill>
                  </a:tcPr>
                </a:tc>
              </a:tr>
              <a:tr h="164592">
                <a:tc>
                  <a:txBody>
                    <a:bodyPr/>
                    <a:lstStyle/>
                    <a:p>
                      <a:pPr marL="0" indent="0" algn="ctr">
                        <a:buNone/>
                      </a:pPr>
                      <a:r>
                        <a:rPr lang="en-US" sz="950" b="1" dirty="0">
                          <a:solidFill>
                            <a:schemeClr val="accent3"/>
                          </a:solidFill>
                        </a:rPr>
                        <a:t>F2-1</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tx2"/>
                          </a:solidFill>
                        </a:rPr>
                        <a:t>9.32</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tx2"/>
                          </a:solidFill>
                        </a:rPr>
                        <a:t>12.08</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tx2"/>
                          </a:solidFill>
                        </a:rPr>
                        <a:t>17.42</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tx2"/>
                          </a:solidFill>
                        </a:rPr>
                        <a:t>24.28</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tx2"/>
                          </a:solidFill>
                        </a:rPr>
                        <a:t>26.32</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chemeClr val="accent1"/>
                      </a:solidFill>
                    </a:lnB>
                    <a:solidFill>
                      <a:srgbClr val="F4F2FF"/>
                    </a:solidFill>
                  </a:tcPr>
                </a:tc>
              </a:tr>
              <a:tr h="164592">
                <a:tc>
                  <a:txBody>
                    <a:bodyPr/>
                    <a:lstStyle/>
                    <a:p>
                      <a:pPr marL="0" indent="0" algn="ctr">
                        <a:buNone/>
                      </a:pPr>
                      <a:r>
                        <a:rPr lang="en-US" sz="950" b="1" dirty="0">
                          <a:solidFill>
                            <a:schemeClr val="tx2"/>
                          </a:solidFill>
                        </a:rPr>
                        <a:t>A1-1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9.24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12.12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17.62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+18.42</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tx2"/>
                          </a:solidFill>
                        </a:rPr>
                        <a:t>B1-1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9.26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11.76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17.24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+18.42</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tx2"/>
                          </a:solidFill>
                        </a:rPr>
                        <a:t>C1-1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9.08</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11.82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17.42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+18.22</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accent3"/>
                          </a:solidFill>
                        </a:rPr>
                        <a:t>D1-1</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9.18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11.92</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17.38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24.08</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tx2"/>
                          </a:solidFill>
                        </a:rPr>
                        <a:t>26.22</a:t>
                      </a:r>
                      <a:endParaRPr lang="en-US" sz="95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50" dirty="0">
                          <a:solidFill>
                            <a:schemeClr val="accent6"/>
                          </a:solidFill>
                        </a:rPr>
                        <a:t>—</a:t>
                      </a:r>
                      <a:endParaRPr lang="en-US" sz="950" dirty="0"/>
                    </a:p>
                  </a:txBody>
                  <a:tcPr marL="32004" marR="32004" marT="9144" marB="9144" anchor="ctr">
                    <a:lnL w="0">
                      <a:noFill/>
                    </a:lnL>
                    <a:lnR w="0">
                      <a:noFill/>
                    </a:lnR>
                    <a:lnT w="0">
                      <a:noFill/>
                    </a:lnT>
                    <a:lnB w="6350">
                      <a:solidFill>
                        <a:srgbClr val="D9D5F0"/>
                      </a:solidFill>
                    </a:lnB>
                    <a:solidFill>
                      <a:srgbClr val="F4F2FF"/>
                    </a:solidFill>
                  </a:tcPr>
                </a:tc>
              </a:tr>
              <a:tr h="164592">
                <a:tc>
                  <a:txBody>
                    <a:bodyPr/>
                    <a:lstStyle/>
                    <a:p>
                      <a:pPr marL="0" indent="0" algn="ctr">
                        <a:buNone/>
                      </a:pPr>
                      <a:r>
                        <a:rPr lang="en-US" sz="950" b="1" dirty="0">
                          <a:solidFill>
                            <a:schemeClr val="tx2"/>
                          </a:solidFill>
                        </a:rPr>
                        <a:t>E1-1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9.32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11.52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17.14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23.4</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25.6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shifted</a:t>
                      </a:r>
                      <a:endParaRPr lang="en-US" sz="950" dirty="0"/>
                    </a:p>
                  </a:txBody>
                  <a:tcPr marL="32004" marR="32004" marT="9144" marB="9144" anchor="ctr">
                    <a:lnL w="0">
                      <a:noFill/>
                    </a:lnL>
                    <a:lnR w="0">
                      <a:noFill/>
                    </a:lnR>
                    <a:lnT w="0">
                      <a:noFill/>
                    </a:lnT>
                    <a:lnB w="6350">
                      <a:solidFill>
                        <a:srgbClr val="D9D5F0"/>
                      </a:solidFill>
                    </a:lnB>
                    <a:noFill/>
                  </a:tcPr>
                </a:tc>
              </a:tr>
              <a:tr h="164592">
                <a:tc>
                  <a:txBody>
                    <a:bodyPr/>
                    <a:lstStyle/>
                    <a:p>
                      <a:pPr marL="0" indent="0" algn="ctr">
                        <a:buNone/>
                      </a:pPr>
                      <a:r>
                        <a:rPr lang="en-US" sz="950" b="1" dirty="0">
                          <a:solidFill>
                            <a:schemeClr val="tx2"/>
                          </a:solidFill>
                        </a:rPr>
                        <a:t>F1-1</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9.22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12.06</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17.58</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24.22</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dirty="0">
                          <a:solidFill>
                            <a:schemeClr val="tx2"/>
                          </a:solidFill>
                        </a:rPr>
                        <a:t>26.5</a:t>
                      </a:r>
                      <a:endParaRPr lang="en-US" sz="95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50" b="1" dirty="0">
                          <a:solidFill>
                            <a:srgbClr val="B8531A"/>
                          </a:solidFill>
                        </a:rPr>
                        <a:t>+14.76</a:t>
                      </a:r>
                      <a:endParaRPr lang="en-US" sz="950" dirty="0"/>
                    </a:p>
                  </a:txBody>
                  <a:tcPr marL="32004" marR="32004" marT="9144" marB="9144" anchor="ctr">
                    <a:lnL w="0">
                      <a:noFill/>
                    </a:lnL>
                    <a:lnR w="0">
                      <a:noFill/>
                    </a:lnR>
                    <a:lnT w="0">
                      <a:noFill/>
                    </a:lnT>
                    <a:lnB w="6350">
                      <a:solidFill>
                        <a:srgbClr val="D9D5F0"/>
                      </a:solidFill>
                    </a:lnB>
                    <a:noFill/>
                  </a:tcPr>
                </a:tc>
              </a:tr>
            </a:tbl>
          </a:graphicData>
        </a:graphic>
      </p:graphicFrame>
      <p:sp>
        <p:nvSpPr>
          <p:cNvPr id="12" name="Criteria card"/>
          <p:cNvSpPr/>
          <p:nvPr/>
        </p:nvSpPr>
        <p:spPr>
          <a:xfrm>
            <a:off x="5010912" y="4553712"/>
            <a:ext cx="3474720" cy="1024128"/>
          </a:xfrm>
          <a:prstGeom prst="roundRect">
            <a:avLst>
              <a:gd name="adj" fmla="val 6000"/>
            </a:avLst>
          </a:prstGeom>
          <a:solidFill>
            <a:schemeClr val="bg2"/>
          </a:solidFill>
          <a:ln w="12700">
            <a:solidFill>
              <a:schemeClr val="bg2"/>
            </a:solidFill>
            <a:prstDash val="solid"/>
          </a:ln>
        </p:spPr>
      </p:sp>
      <p:sp>
        <p:nvSpPr>
          <p:cNvPr id="13" name="Criteria label"/>
          <p:cNvSpPr txBox="1"/>
          <p:nvPr/>
        </p:nvSpPr>
        <p:spPr>
          <a:xfrm>
            <a:off x="5138928" y="4617720"/>
            <a:ext cx="3218688"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SHORTLIST CRITERIA</a:t>
            </a:r>
            <a:endParaRPr lang="en-US" sz="1000" dirty="0"/>
          </a:p>
        </p:txBody>
      </p:sp>
      <p:sp>
        <p:nvSpPr>
          <p:cNvPr id="14" name="Criteria text"/>
          <p:cNvSpPr txBox="1"/>
          <p:nvPr/>
        </p:nvSpPr>
        <p:spPr>
          <a:xfrm>
            <a:off x="5138928" y="4828032"/>
            <a:ext cx="3218688" cy="684276"/>
          </a:xfrm>
          <a:prstGeom prst="rect">
            <a:avLst/>
          </a:prstGeom>
          <a:noFill/>
          <a:ln/>
        </p:spPr>
        <p:txBody>
          <a:bodyPr wrap="square" lIns="0" tIns="0" rIns="0" bIns="0" rtlCol="0" anchor="t"/>
          <a:lstStyle/>
          <a:p>
            <a:pPr marL="0" indent="0" algn="l">
              <a:buNone/>
            </a:pPr>
            <a:r>
              <a:rPr lang="en-US" sz="1000" b="1" dirty="0">
                <a:solidFill>
                  <a:schemeClr val="accent2"/>
                </a:solidFill>
              </a:rPr>
              <a:t xml:space="preserve">1 · </a:t>
            </a:r>
            <a:r>
              <a:rPr lang="en-US" sz="1000" dirty="0">
                <a:solidFill>
                  <a:schemeClr val="tx2"/>
                </a:solidFill>
              </a:rPr>
              <a:t>Complete common set (≈9.3, 12.1, 17.5, 24.3, 26.3°)</a:t>
            </a:r>
            <a:endParaRPr lang="en-US" sz="1000" dirty="0"/>
          </a:p>
          <a:p>
            <a:pPr marL="0" indent="0" algn="l">
              <a:buNone/>
            </a:pPr>
            <a:r>
              <a:rPr lang="en-US" sz="1000" b="1" dirty="0">
                <a:solidFill>
                  <a:schemeClr val="accent2"/>
                </a:solidFill>
              </a:rPr>
              <a:t xml:space="preserve">2 · </a:t>
            </a:r>
            <a:r>
              <a:rPr lang="en-US" sz="1000" dirty="0">
                <a:solidFill>
                  <a:schemeClr val="tx2"/>
                </a:solidFill>
              </a:rPr>
              <a:t>Sharp peaks on a low, flat background</a:t>
            </a:r>
            <a:endParaRPr lang="en-US" sz="1000" dirty="0"/>
          </a:p>
          <a:p>
            <a:pPr marL="0" indent="0" algn="l">
              <a:spcAft>
                <a:spcPts val="300"/>
              </a:spcAft>
              <a:buNone/>
            </a:pPr>
            <a:r>
              <a:rPr lang="en-US" sz="1000" b="1" dirty="0">
                <a:solidFill>
                  <a:schemeClr val="accent2"/>
                </a:solidFill>
              </a:rPr>
              <a:t xml:space="preserve">3 · </a:t>
            </a:r>
            <a:r>
              <a:rPr lang="en-US" sz="1000" dirty="0">
                <a:solidFill>
                  <a:schemeClr val="tx2"/>
                </a:solidFill>
              </a:rPr>
              <a:t>No extra or clearly shifted reflections</a:t>
            </a:r>
            <a:endParaRPr lang="en-US" sz="1000" dirty="0"/>
          </a:p>
          <a:p>
            <a:pPr marL="0" indent="0" algn="l">
              <a:buNone/>
            </a:pPr>
            <a:r>
              <a:rPr lang="en-US" sz="1000" b="1" dirty="0">
                <a:solidFill>
                  <a:schemeClr val="accent3"/>
                </a:solidFill>
              </a:rPr>
              <a:t xml:space="preserve">→ Shortlist: </a:t>
            </a:r>
            <a:r>
              <a:rPr lang="en-US" sz="1000" b="1" dirty="0">
                <a:solidFill>
                  <a:schemeClr val="accent3"/>
                </a:solidFill>
              </a:rPr>
              <a:t>B2-1, C2-1, E2-1, F2-1, D1-1</a:t>
            </a:r>
            <a:endParaRPr lang="en-US" sz="1000" dirty="0"/>
          </a:p>
        </p:txBody>
      </p:sp>
      <p:sp>
        <p:nvSpPr>
          <p:cNvPr id="15" name="Interpretation card"/>
          <p:cNvSpPr/>
          <p:nvPr/>
        </p:nvSpPr>
        <p:spPr>
          <a:xfrm>
            <a:off x="8613648" y="2286000"/>
            <a:ext cx="3127248" cy="3291840"/>
          </a:xfrm>
          <a:prstGeom prst="roundRect">
            <a:avLst>
              <a:gd name="adj" fmla="val 3000"/>
            </a:avLst>
          </a:prstGeom>
          <a:solidFill>
            <a:schemeClr val="bg2"/>
          </a:solidFill>
          <a:ln w="12700">
            <a:solidFill>
              <a:schemeClr val="bg2"/>
            </a:solidFill>
            <a:prstDash val="solid"/>
          </a:ln>
        </p:spPr>
      </p:sp>
      <p:sp>
        <p:nvSpPr>
          <p:cNvPr id="16" name="Similarities label"/>
          <p:cNvSpPr txBox="1"/>
          <p:nvPr/>
        </p:nvSpPr>
        <p:spPr>
          <a:xfrm>
            <a:off x="8750808" y="2359152"/>
            <a:ext cx="2852928"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SIMILARITIES</a:t>
            </a:r>
            <a:endParaRPr lang="en-US" sz="1000" dirty="0"/>
          </a:p>
        </p:txBody>
      </p:sp>
      <p:sp>
        <p:nvSpPr>
          <p:cNvPr id="17" name="Similarities text"/>
          <p:cNvSpPr txBox="1"/>
          <p:nvPr/>
        </p:nvSpPr>
        <p:spPr>
          <a:xfrm>
            <a:off x="8750808" y="2569464"/>
            <a:ext cx="2852928" cy="646176"/>
          </a:xfrm>
          <a:prstGeom prst="rect">
            <a:avLst/>
          </a:prstGeom>
          <a:noFill/>
          <a:ln/>
        </p:spPr>
        <p:txBody>
          <a:bodyPr wrap="square" lIns="0" tIns="0" rIns="0" bIns="0" rtlCol="0" anchor="t"/>
          <a:lstStyle/>
          <a:p>
            <a:pPr marL="0" indent="0" algn="l">
              <a:buNone/>
            </a:pPr>
            <a:r>
              <a:rPr lang="en-US" sz="1000" dirty="0">
                <a:solidFill>
                  <a:schemeClr val="tx2"/>
                </a:solidFill>
              </a:rPr>
              <a:t>All 12 patterns share sharp reflections near 9.1–9.5°, 11.5–12.1° and 17.1–17.6° 2θ: every sample is crystalline, and all appear to share a closely related structure.</a:t>
            </a:r>
            <a:endParaRPr lang="en-US" sz="1000" dirty="0"/>
          </a:p>
        </p:txBody>
      </p:sp>
      <p:sp>
        <p:nvSpPr>
          <p:cNvPr id="18" name="Differences label"/>
          <p:cNvSpPr txBox="1"/>
          <p:nvPr/>
        </p:nvSpPr>
        <p:spPr>
          <a:xfrm>
            <a:off x="8750808" y="3252216"/>
            <a:ext cx="2852928"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DIFFERENCES &amp; MEANING</a:t>
            </a:r>
            <a:endParaRPr lang="en-US" sz="1000" dirty="0"/>
          </a:p>
        </p:txBody>
      </p:sp>
      <p:sp>
        <p:nvSpPr>
          <p:cNvPr id="19" name="Differences text"/>
          <p:cNvSpPr txBox="1"/>
          <p:nvPr/>
        </p:nvSpPr>
        <p:spPr>
          <a:xfrm>
            <a:off x="8750808" y="3462528"/>
            <a:ext cx="2852928" cy="1827276"/>
          </a:xfrm>
          <a:prstGeom prst="rect">
            <a:avLst/>
          </a:prstGeom>
          <a:noFill/>
          <a:ln/>
        </p:spPr>
        <p:txBody>
          <a:bodyPr wrap="square" lIns="0" tIns="0" rIns="0" bIns="0" rtlCol="0" anchor="t"/>
          <a:lstStyle/>
          <a:p>
            <a:pPr marL="155448" indent="-155448" algn="l">
              <a:spcAft>
                <a:spcPts val="300"/>
              </a:spcAft>
              <a:buClr>
                <a:schemeClr val="accent3"/>
              </a:buClr>
              <a:buFont typeface="Arial"/>
              <a:buChar char="•"/>
            </a:pPr>
            <a:r>
              <a:rPr lang="en-US" sz="1000" dirty="0">
                <a:solidFill>
                  <a:schemeClr val="tx2"/>
                </a:solidFill>
              </a:rPr>
              <a:t>Ratio: the ~12° peak lies at 12.04–12.10° in every 2:1 sample but spreads to 11.52–12.12° in the 1:1 series (lower 2θ = larger d-spacing).</a:t>
            </a:r>
            <a:endParaRPr lang="en-US" sz="1000" dirty="0"/>
          </a:p>
          <a:p>
            <a:pPr marL="155448" indent="-155448" algn="l">
              <a:spcAft>
                <a:spcPts val="300"/>
              </a:spcAft>
              <a:buClr>
                <a:schemeClr val="accent2"/>
              </a:buClr>
              <a:buFont typeface="Arial"/>
              <a:buChar char="•"/>
            </a:pPr>
            <a:r>
              <a:rPr lang="en-US" sz="1000" dirty="0">
                <a:solidFill>
                  <a:schemeClr val="tx2"/>
                </a:solidFill>
              </a:rPr>
              <a:t>Extra peaks (18.2–18.4° in A1-1, B1-1, C1-1; 14.76° in F1-1): possibly a secondary phase or residual precursor; unidentified without references.</a:t>
            </a:r>
            <a:endParaRPr lang="en-US" sz="1000" dirty="0"/>
          </a:p>
          <a:p>
            <a:pPr marL="155448" indent="-155448" algn="l">
              <a:spcAft>
                <a:spcPts val="300"/>
              </a:spcAft>
              <a:buClr>
                <a:schemeClr val="accent2"/>
              </a:buClr>
              <a:buFont typeface="Arial"/>
              <a:buChar char="•"/>
            </a:pPr>
            <a:r>
              <a:rPr lang="en-US" sz="1000" dirty="0">
                <a:solidFill>
                  <a:schemeClr val="tx2"/>
                </a:solidFill>
              </a:rPr>
              <a:t>E1-1: entire set at lower 2θ — a lattice change or different phase; cause not determined.</a:t>
            </a:r>
            <a:endParaRPr lang="en-US" sz="1000" dirty="0"/>
          </a:p>
          <a:p>
            <a:pPr marL="155448" indent="-155448" algn="l">
              <a:buClr>
                <a:schemeClr val="accent2"/>
              </a:buClr>
              <a:buFont typeface="Arial"/>
              <a:buChar char="•"/>
            </a:pPr>
            <a:r>
              <a:rPr lang="en-US" sz="1000" dirty="0">
                <a:solidFill>
                  <a:schemeClr val="tx2"/>
                </a:solidFill>
              </a:rPr>
              <a:t>Raised, noisy background (A1-1, C1-1, F1-1; milder D2-1): possibly lower long-range order.</a:t>
            </a:r>
            <a:endParaRPr lang="en-US" sz="1000" dirty="0"/>
          </a:p>
        </p:txBody>
      </p:sp>
      <p:sp>
        <p:nvSpPr>
          <p:cNvPr id="20" name="Conclusion banner"/>
          <p:cNvSpPr/>
          <p:nvPr/>
        </p:nvSpPr>
        <p:spPr>
          <a:xfrm>
            <a:off x="448056" y="5650992"/>
            <a:ext cx="11292840" cy="402336"/>
          </a:xfrm>
          <a:prstGeom prst="roundRect">
            <a:avLst>
              <a:gd name="adj" fmla="val 12000"/>
            </a:avLst>
          </a:prstGeom>
          <a:solidFill>
            <a:schemeClr val="accent3"/>
          </a:solidFill>
          <a:ln w="12700">
            <a:solidFill>
              <a:schemeClr val="accent3"/>
            </a:solidFill>
            <a:prstDash val="solid"/>
          </a:ln>
        </p:spPr>
      </p:sp>
      <p:sp>
        <p:nvSpPr>
          <p:cNvPr id="21" name="Conclusion text"/>
          <p:cNvSpPr txBox="1"/>
          <p:nvPr/>
        </p:nvSpPr>
        <p:spPr>
          <a:xfrm>
            <a:off x="630936" y="5650992"/>
            <a:ext cx="10927080" cy="402336"/>
          </a:xfrm>
          <a:prstGeom prst="rect">
            <a:avLst/>
          </a:prstGeom>
          <a:noFill/>
          <a:ln/>
        </p:spPr>
        <p:txBody>
          <a:bodyPr wrap="square" lIns="0" tIns="0" rIns="0" bIns="0" rtlCol="0" anchor="ctr"/>
          <a:lstStyle/>
          <a:p>
            <a:pPr marL="0" indent="0" algn="l">
              <a:buNone/>
            </a:pPr>
            <a:r>
              <a:rPr lang="en-US" sz="1100" b="1" dirty="0">
                <a:solidFill>
                  <a:srgbClr val="FFFFFF"/>
                </a:solidFill>
              </a:rPr>
              <a:t xml:space="preserve">Analysis: </a:t>
            </a:r>
            <a:r>
              <a:rPr lang="en-US" sz="1100" dirty="0">
                <a:solidFill>
                  <a:srgbClr val="FFFFFF"/>
                </a:solidFill>
              </a:rPr>
              <a:t>all 12 samples crystallized with closely related structures. The 2:1 ratio gave uniform patterns across compositions, whereas most 1:1 samples show extra, shifted or less-defined features. B2-1, C2-1, E2-1, F2-1 and D1-1 match the common pattern best; XRD quality alone does not predict CO₂ uptake.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448056" y="1700784"/>
            <a:ext cx="11292840" cy="502920"/>
          </a:xfrm>
          <a:prstGeom prst="rect">
            <a:avLst/>
          </a:prstGeom>
          <a:noFill/>
          <a:ln/>
        </p:spPr>
        <p:txBody>
          <a:bodyPr wrap="square" lIns="0" tIns="0" rIns="0" bIns="0" rtlCol="0" anchor="ctr"/>
          <a:lstStyle/>
          <a:p>
            <a:pPr marL="0" indent="0" algn="l">
              <a:buNone/>
            </a:pPr>
            <a:r>
              <a:rPr lang="en-US" sz="2600" b="1" dirty="0">
                <a:solidFill>
                  <a:schemeClr val="accent3"/>
                </a:solidFill>
              </a:rPr>
              <a:t>Comparative FTIR Analysis of All 12 Samples</a:t>
            </a:r>
            <a:endParaRPr lang="en-US" sz="2600" dirty="0"/>
          </a:p>
        </p:txBody>
      </p:sp>
      <p:pic>
        <p:nvPicPr>
          <p:cNvPr id="4" name="FTIR original figure (12 samples)" descr="Original FTIR spectra (absorbance vs wavenumber, cm-1) of all 12 synthesized samples with the qualitative labels printed in the source figure; unmodified."/>
          <p:cNvPicPr>
            <a:picLocks noChangeAspect="1"/>
          </p:cNvPicPr>
          <p:nvPr/>
        </p:nvPicPr>
        <p:blipFill>
          <a:blip r:embed="rId100"/>
          <a:srcRect/>
          <a:stretch>
            <a:fillRect/>
          </a:stretch>
        </p:blipFill>
        <p:spPr>
          <a:xfrm>
            <a:off x="448056" y="2286000"/>
            <a:ext cx="4572000" cy="2123701"/>
          </a:xfrm>
          <a:prstGeom prst="rect">
            <a:avLst/>
          </a:prstGeom>
        </p:spPr>
      </p:pic>
      <p:sp>
        <p:nvSpPr>
          <p:cNvPr id="5" name="Consistent frame B2-1"/>
          <p:cNvSpPr/>
          <p:nvPr/>
        </p:nvSpPr>
        <p:spPr>
          <a:xfrm>
            <a:off x="486041" y="2303266"/>
            <a:ext cx="1087749" cy="645743"/>
          </a:xfrm>
          <a:prstGeom prst="rect">
            <a:avLst/>
          </a:prstGeom>
          <a:noFill/>
          <a:ln w="22225">
            <a:solidFill>
              <a:schemeClr val="accent2"/>
            </a:solidFill>
            <a:prstDash val="solid"/>
          </a:ln>
        </p:spPr>
      </p:sp>
      <p:sp>
        <p:nvSpPr>
          <p:cNvPr id="6" name="Consistent frame C2-1"/>
          <p:cNvSpPr/>
          <p:nvPr/>
        </p:nvSpPr>
        <p:spPr>
          <a:xfrm>
            <a:off x="1622135" y="3698347"/>
            <a:ext cx="1091202" cy="649196"/>
          </a:xfrm>
          <a:prstGeom prst="rect">
            <a:avLst/>
          </a:prstGeom>
          <a:noFill/>
          <a:ln w="22225">
            <a:solidFill>
              <a:schemeClr val="accent2"/>
            </a:solidFill>
            <a:prstDash val="solid"/>
          </a:ln>
        </p:spPr>
      </p:sp>
      <p:sp>
        <p:nvSpPr>
          <p:cNvPr id="7" name="Consistent frame D2-1"/>
          <p:cNvSpPr/>
          <p:nvPr/>
        </p:nvSpPr>
        <p:spPr>
          <a:xfrm>
            <a:off x="2761681" y="3000807"/>
            <a:ext cx="1094656" cy="645743"/>
          </a:xfrm>
          <a:prstGeom prst="rect">
            <a:avLst/>
          </a:prstGeom>
          <a:noFill/>
          <a:ln w="22225">
            <a:solidFill>
              <a:schemeClr val="accent2"/>
            </a:solidFill>
            <a:prstDash val="solid"/>
          </a:ln>
        </p:spPr>
      </p:sp>
      <p:sp>
        <p:nvSpPr>
          <p:cNvPr id="8" name="Consistent frame E2-1"/>
          <p:cNvSpPr/>
          <p:nvPr/>
        </p:nvSpPr>
        <p:spPr>
          <a:xfrm>
            <a:off x="2761681" y="3698347"/>
            <a:ext cx="1094656" cy="649196"/>
          </a:xfrm>
          <a:prstGeom prst="rect">
            <a:avLst/>
          </a:prstGeom>
          <a:noFill/>
          <a:ln w="22225">
            <a:solidFill>
              <a:schemeClr val="accent2"/>
            </a:solidFill>
            <a:prstDash val="solid"/>
          </a:ln>
        </p:spPr>
      </p:sp>
      <p:sp>
        <p:nvSpPr>
          <p:cNvPr id="9" name="Consistent frame F2-1"/>
          <p:cNvSpPr/>
          <p:nvPr/>
        </p:nvSpPr>
        <p:spPr>
          <a:xfrm>
            <a:off x="3904681" y="3698347"/>
            <a:ext cx="1091202" cy="649196"/>
          </a:xfrm>
          <a:prstGeom prst="rect">
            <a:avLst/>
          </a:prstGeom>
          <a:noFill/>
          <a:ln w="22225">
            <a:solidFill>
              <a:schemeClr val="accent2"/>
            </a:solidFill>
            <a:prstDash val="solid"/>
          </a:ln>
        </p:spPr>
      </p:sp>
      <p:sp>
        <p:nvSpPr>
          <p:cNvPr id="10" name="Consistent frame D1-1"/>
          <p:cNvSpPr/>
          <p:nvPr/>
        </p:nvSpPr>
        <p:spPr>
          <a:xfrm>
            <a:off x="2758228" y="2303266"/>
            <a:ext cx="1094656" cy="645743"/>
          </a:xfrm>
          <a:prstGeom prst="rect">
            <a:avLst/>
          </a:prstGeom>
          <a:noFill/>
          <a:ln w="22225">
            <a:solidFill>
              <a:schemeClr val="accent2"/>
            </a:solidFill>
            <a:prstDash val="solid"/>
          </a:ln>
        </p:spPr>
      </p:sp>
      <p:sp>
        <p:nvSpPr>
          <p:cNvPr id="11" name="FTIR figure caption"/>
          <p:cNvSpPr txBox="1"/>
          <p:nvPr/>
        </p:nvSpPr>
        <p:spPr>
          <a:xfrm>
            <a:off x="448056" y="4446277"/>
            <a:ext cx="4572000" cy="182880"/>
          </a:xfrm>
          <a:prstGeom prst="rect">
            <a:avLst/>
          </a:prstGeom>
          <a:noFill/>
          <a:ln/>
        </p:spPr>
        <p:txBody>
          <a:bodyPr wrap="square" lIns="0" tIns="0" rIns="0" bIns="0" rtlCol="0" anchor="t"/>
          <a:lstStyle/>
          <a:p>
            <a:pPr marL="0" indent="0" algn="l">
              <a:buNone/>
            </a:pPr>
            <a:r>
              <a:rPr lang="en-US" sz="950" i="1" dirty="0">
                <a:solidFill>
                  <a:schemeClr val="accent6"/>
                </a:solidFill>
              </a:rPr>
              <a:t>Original figure, unmodified. Orange frames = spectra matching the majority pattern.</a:t>
            </a:r>
            <a:endParaRPr lang="en-US" sz="950" dirty="0"/>
          </a:p>
        </p:txBody>
      </p:sp>
      <p:sp>
        <p:nvSpPr>
          <p:cNvPr id="12" name="Significance card"/>
          <p:cNvSpPr/>
          <p:nvPr/>
        </p:nvSpPr>
        <p:spPr>
          <a:xfrm>
            <a:off x="448056" y="4684021"/>
            <a:ext cx="4572000" cy="875531"/>
          </a:xfrm>
          <a:prstGeom prst="roundRect">
            <a:avLst>
              <a:gd name="adj" fmla="val 5000"/>
            </a:avLst>
          </a:prstGeom>
          <a:solidFill>
            <a:schemeClr val="bg2"/>
          </a:solidFill>
          <a:ln w="12700">
            <a:solidFill>
              <a:schemeClr val="bg2"/>
            </a:solidFill>
            <a:prstDash val="solid"/>
          </a:ln>
        </p:spPr>
      </p:sp>
      <p:sp>
        <p:nvSpPr>
          <p:cNvPr id="13" name="Significance label"/>
          <p:cNvSpPr txBox="1"/>
          <p:nvPr/>
        </p:nvSpPr>
        <p:spPr>
          <a:xfrm>
            <a:off x="585216" y="4748029"/>
            <a:ext cx="4297680"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SIGNIFICANCE OF THE COO</a:t>
            </a:r>
            <a:r>
              <a:rPr lang="en-US" sz="1000" b="1" kern="0" spc="100" baseline="30000" dirty="0">
                <a:solidFill>
                  <a:schemeClr val="accent3"/>
                </a:solidFill>
              </a:rPr>
              <a:t>−</a:t>
            </a:r>
            <a:r>
              <a:rPr lang="en-US" sz="1000" b="1" kern="0" spc="100" dirty="0">
                <a:solidFill>
                  <a:schemeClr val="accent3"/>
                </a:solidFill>
              </a:rPr>
              <a:t xml:space="preserve"> BANDS</a:t>
            </a:r>
            <a:endParaRPr lang="en-US" sz="1000" dirty="0"/>
          </a:p>
        </p:txBody>
      </p:sp>
      <p:sp>
        <p:nvSpPr>
          <p:cNvPr id="14" name="Significance text"/>
          <p:cNvSpPr txBox="1"/>
          <p:nvPr/>
        </p:nvSpPr>
        <p:spPr>
          <a:xfrm>
            <a:off x="585216" y="4958341"/>
            <a:ext cx="4297680" cy="646176"/>
          </a:xfrm>
          <a:prstGeom prst="rect">
            <a:avLst/>
          </a:prstGeom>
          <a:noFill/>
          <a:ln/>
        </p:spPr>
        <p:txBody>
          <a:bodyPr wrap="square" lIns="0" tIns="0" rIns="0" bIns="0" rtlCol="0" anchor="t"/>
          <a:lstStyle/>
          <a:p>
            <a:pPr marL="0" indent="0" algn="l">
              <a:buNone/>
            </a:pPr>
            <a:r>
              <a:rPr lang="en-US" sz="1000" dirty="0">
                <a:solidFill>
                  <a:schemeClr val="tx2"/>
                </a:solidFill>
              </a:rPr>
              <a:t>~1600 cm</a:t>
            </a:r>
            <a:r>
              <a:rPr lang="en-US" sz="1000" baseline="30000" dirty="0">
                <a:solidFill>
                  <a:schemeClr val="tx2"/>
                </a:solidFill>
              </a:rPr>
              <a:t>−1</a:t>
            </a:r>
            <a:r>
              <a:rPr lang="en-US" sz="1000" dirty="0">
                <a:solidFill>
                  <a:schemeClr val="tx2"/>
                </a:solidFill>
              </a:rPr>
              <a:t xml:space="preserve"> (ν</a:t>
            </a:r>
            <a:r>
              <a:rPr lang="en-US" sz="1000" baseline="-25000" dirty="0">
                <a:solidFill>
                  <a:schemeClr val="tx2"/>
                </a:solidFill>
              </a:rPr>
              <a:t>as</a:t>
            </a:r>
            <a:r>
              <a:rPr lang="en-US" sz="1000" dirty="0">
                <a:solidFill>
                  <a:schemeClr val="tx2"/>
                </a:solidFill>
              </a:rPr>
              <a:t>) and ~1400 cm</a:t>
            </a:r>
            <a:r>
              <a:rPr lang="en-US" sz="1000" baseline="30000" dirty="0">
                <a:solidFill>
                  <a:schemeClr val="tx2"/>
                </a:solidFill>
              </a:rPr>
              <a:t>−1</a:t>
            </a:r>
            <a:r>
              <a:rPr lang="en-US" sz="1000" dirty="0">
                <a:solidFill>
                  <a:schemeClr val="tx2"/>
                </a:solidFill>
              </a:rPr>
              <a:t xml:space="preserve"> (ν</a:t>
            </a:r>
            <a:r>
              <a:rPr lang="en-US" sz="1000" baseline="-25000" dirty="0">
                <a:solidFill>
                  <a:schemeClr val="tx2"/>
                </a:solidFill>
              </a:rPr>
              <a:t>s</a:t>
            </a:r>
            <a:r>
              <a:rPr lang="en-US" sz="1000" dirty="0">
                <a:solidFill>
                  <a:schemeClr val="tx2"/>
                </a:solidFill>
              </a:rPr>
              <a:t>) are the stretching modes of deprotonated carboxylate (COO</a:t>
            </a:r>
            <a:r>
              <a:rPr lang="en-US" sz="1000" baseline="30000" dirty="0">
                <a:solidFill>
                  <a:schemeClr val="tx2"/>
                </a:solidFill>
              </a:rPr>
              <a:t>−</a:t>
            </a:r>
            <a:r>
              <a:rPr lang="en-US" sz="1000" dirty="0">
                <a:solidFill>
                  <a:schemeClr val="tx2"/>
                </a:solidFill>
              </a:rPr>
              <a:t>). Present in all 12: consistent with linker carboxylates bound to metal centers. The binding mode needs the free-linker spectrum (acid C=O ~1700 cm</a:t>
            </a:r>
            <a:r>
              <a:rPr lang="en-US" sz="1000" baseline="30000" dirty="0">
                <a:solidFill>
                  <a:schemeClr val="tx2"/>
                </a:solidFill>
              </a:rPr>
              <a:t>−1</a:t>
            </a:r>
            <a:r>
              <a:rPr lang="en-US" sz="1000" dirty="0">
                <a:solidFill>
                  <a:schemeClr val="tx2"/>
                </a:solidFill>
              </a:rPr>
              <a:t>) and precise Δν.</a:t>
            </a:r>
            <a:endParaRPr lang="en-US" sz="1000" dirty="0"/>
          </a:p>
        </p:txBody>
      </p:sp>
      <p:graphicFrame>
        <p:nvGraphicFramePr>
          <p:cNvPr id="15" name="FTIR comparison table"/>
          <p:cNvGraphicFramePr>
            <a:graphicFrameLocks noGrp="1"/>
          </p:cNvGraphicFramePr>
          <p:nvPr/>
        </p:nvGraphicFramePr>
        <p:xfrm>
          <a:off x="5202936" y="2286000"/>
          <a:ext cx="6537960" cy="2084832"/>
        </p:xfrm>
        <a:graphic>
          <a:graphicData uri="http://schemas.openxmlformats.org/drawingml/2006/table">
            <a:tbl>
              <a:tblPr firstRow="1">
                <a:tableStyleId>{2D5ABB26-0587-4C30-8999-92F81FD0307C}</a:tableStyleId>
              </a:tblPr>
              <a:tblGrid>
                <a:gridCol w="603504"/>
                <a:gridCol w="1024128"/>
                <a:gridCol w="1115568"/>
                <a:gridCol w="950976"/>
                <a:gridCol w="1060704"/>
                <a:gridCol w="1783080"/>
              </a:tblGrid>
              <a:tr h="274320">
                <a:tc>
                  <a:txBody>
                    <a:bodyPr/>
                    <a:lstStyle/>
                    <a:p>
                      <a:pPr marL="0" indent="0" algn="ctr">
                        <a:buNone/>
                      </a:pPr>
                      <a:r>
                        <a:rPr lang="en-US" sz="900" b="1" dirty="0">
                          <a:solidFill>
                            <a:srgbClr val="FFFFFF"/>
                          </a:solidFill>
                        </a:rPr>
                        <a:t>Sample</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COO</a:t>
                      </a:r>
                      <a:r>
                        <a:rPr lang="en-US" sz="900" b="1" baseline="30000" dirty="0">
                          <a:solidFill>
                            <a:srgbClr val="FFFFFF"/>
                          </a:solidFill>
                        </a:rPr>
                        <a:t>−</a:t>
                      </a:r>
                      <a:r>
                        <a:rPr lang="en-US" sz="900" b="1" dirty="0">
                          <a:solidFill>
                            <a:srgbClr val="FFFFFF"/>
                          </a:solidFill>
                        </a:rPr>
                        <a:t xml:space="preserve"> bands</a:t>
                      </a:r>
                      <a:endParaRPr lang="en-US" sz="900" dirty="0"/>
                    </a:p>
                    <a:p>
                      <a:pPr marL="0" indent="0" algn="ctr">
                        <a:buNone/>
                      </a:pPr>
                      <a:r>
                        <a:rPr lang="en-US" sz="900" b="1" dirty="0">
                          <a:solidFill>
                            <a:srgbClr val="FFFFFF"/>
                          </a:solidFill>
                        </a:rPr>
                        <a:t>~1600 / ~1400</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Stronger band</a:t>
                      </a:r>
                      <a:endParaRPr lang="en-US" sz="900" dirty="0"/>
                    </a:p>
                    <a:p>
                      <a:pPr marL="0" indent="0" algn="ctr">
                        <a:buNone/>
                      </a:pPr>
                      <a:r>
                        <a:rPr lang="en-US" sz="900" b="1" dirty="0">
                          <a:solidFill>
                            <a:srgbClr val="FFFFFF"/>
                          </a:solidFill>
                        </a:rPr>
                        <a:t>in cluster</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Extra band</a:t>
                      </a:r>
                      <a:endParaRPr lang="en-US" sz="900" dirty="0"/>
                    </a:p>
                    <a:p>
                      <a:pPr marL="0" indent="0" algn="ctr">
                        <a:buNone/>
                      </a:pPr>
                      <a:r>
                        <a:rPr lang="en-US" sz="900" b="1" dirty="0">
                          <a:solidFill>
                            <a:srgbClr val="FFFFFF"/>
                          </a:solidFill>
                        </a:rPr>
                        <a:t>&gt;1650 cm</a:t>
                      </a:r>
                      <a:r>
                        <a:rPr lang="en-US" sz="900" b="1" baseline="30000" dirty="0">
                          <a:solidFill>
                            <a:srgbClr val="FFFFFF"/>
                          </a:solidFill>
                        </a:rPr>
                        <a:t>−1</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Noise</a:t>
                      </a:r>
                      <a:endParaRPr lang="en-US" sz="900" dirty="0"/>
                    </a:p>
                    <a:p>
                      <a:pPr marL="0" indent="0" algn="ctr">
                        <a:buNone/>
                      </a:pPr>
                      <a:r>
                        <a:rPr lang="en-US" sz="900" b="1" dirty="0">
                          <a:solidFill>
                            <a:srgbClr val="FFFFFF"/>
                          </a:solidFill>
                        </a:rPr>
                        <a:t>2200–1950 cm</a:t>
                      </a:r>
                      <a:r>
                        <a:rPr lang="en-US" sz="900" b="1" baseline="30000" dirty="0">
                          <a:solidFill>
                            <a:srgbClr val="FFFFFF"/>
                          </a:solidFill>
                        </a:rPr>
                        <a:t>−1</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c>
                  <a:txBody>
                    <a:bodyPr/>
                    <a:lstStyle/>
                    <a:p>
                      <a:pPr marL="0" indent="0" algn="ctr">
                        <a:buNone/>
                      </a:pPr>
                      <a:r>
                        <a:rPr lang="en-US" sz="900" b="1" dirty="0">
                          <a:solidFill>
                            <a:srgbClr val="FFFFFF"/>
                          </a:solidFill>
                        </a:rPr>
                        <a:t>Original</a:t>
                      </a:r>
                      <a:endParaRPr lang="en-US" sz="900" dirty="0"/>
                    </a:p>
                    <a:p>
                      <a:pPr marL="0" indent="0" algn="ctr">
                        <a:buNone/>
                      </a:pPr>
                      <a:r>
                        <a:rPr lang="en-US" sz="900" b="1" dirty="0">
                          <a:solidFill>
                            <a:srgbClr val="FFFFFF"/>
                          </a:solidFill>
                        </a:rPr>
                        <a:t>rating</a:t>
                      </a:r>
                      <a:endParaRPr lang="en-US" sz="900" dirty="0"/>
                    </a:p>
                  </a:txBody>
                  <a:tcPr marL="32004" marR="32004" marT="9144" marB="9144" anchor="ctr">
                    <a:lnL w="0">
                      <a:noFill/>
                    </a:lnL>
                    <a:lnR w="0">
                      <a:noFill/>
                    </a:lnR>
                    <a:lnT w="0">
                      <a:noFill/>
                    </a:lnT>
                    <a:lnB w="6350">
                      <a:solidFill>
                        <a:srgbClr val="D9D5F0"/>
                      </a:solidFill>
                    </a:lnB>
                    <a:solidFill>
                      <a:schemeClr val="accent3"/>
                    </a:solidFill>
                  </a:tcPr>
                </a:tc>
              </a:tr>
              <a:tr h="150876">
                <a:tc>
                  <a:txBody>
                    <a:bodyPr/>
                    <a:lstStyle/>
                    <a:p>
                      <a:pPr marL="0" indent="0" algn="ctr">
                        <a:buNone/>
                      </a:pPr>
                      <a:r>
                        <a:rPr lang="en-US" sz="900" b="1" dirty="0">
                          <a:solidFill>
                            <a:schemeClr val="tx2"/>
                          </a:solidFill>
                        </a:rPr>
                        <a:t>A2-1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~1600 ≈ ~1400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Outstanding</a:t>
                      </a:r>
                      <a:endParaRPr lang="en-US" sz="900" dirty="0"/>
                    </a:p>
                  </a:txBody>
                  <a:tcPr marL="32004" marR="32004" marT="9144" marB="9144" anchor="ctr">
                    <a:lnL w="0">
                      <a:noFill/>
                    </a:lnL>
                    <a:lnR w="0">
                      <a:noFill/>
                    </a:lnR>
                    <a:lnT w="0">
                      <a:noFill/>
                    </a:lnT>
                    <a:lnB w="6350">
                      <a:solidFill>
                        <a:srgbClr val="D9D5F0"/>
                      </a:solidFill>
                    </a:lnB>
                    <a:noFill/>
                  </a:tcPr>
                </a:tc>
              </a:tr>
              <a:tr h="150876">
                <a:tc>
                  <a:txBody>
                    <a:bodyPr/>
                    <a:lstStyle/>
                    <a:p>
                      <a:pPr marL="0" indent="0" algn="ctr">
                        <a:buNone/>
                      </a:pPr>
                      <a:r>
                        <a:rPr lang="en-US" sz="900" b="1" dirty="0">
                          <a:solidFill>
                            <a:schemeClr val="accent3"/>
                          </a:solidFill>
                        </a:rPr>
                        <a:t>B2-1</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Outstanding</a:t>
                      </a:r>
                      <a:endParaRPr lang="en-US" sz="900" dirty="0"/>
                    </a:p>
                  </a:txBody>
                  <a:tcPr marL="32004" marR="32004" marT="9144" marB="9144" anchor="ctr">
                    <a:lnL w="0">
                      <a:noFill/>
                    </a:lnL>
                    <a:lnR w="0">
                      <a:noFill/>
                    </a:lnR>
                    <a:lnT w="0">
                      <a:noFill/>
                    </a:lnT>
                    <a:lnB w="6350">
                      <a:solidFill>
                        <a:srgbClr val="D9D5F0"/>
                      </a:solidFill>
                    </a:lnB>
                    <a:solidFill>
                      <a:srgbClr val="F4F2FF"/>
                    </a:solidFill>
                  </a:tcPr>
                </a:tc>
              </a:tr>
              <a:tr h="150876">
                <a:tc>
                  <a:txBody>
                    <a:bodyPr/>
                    <a:lstStyle/>
                    <a:p>
                      <a:pPr marL="0" indent="0" algn="ctr">
                        <a:buNone/>
                      </a:pPr>
                      <a:r>
                        <a:rPr lang="en-US" sz="900" b="1" dirty="0">
                          <a:solidFill>
                            <a:schemeClr val="accent3"/>
                          </a:solidFill>
                        </a:rPr>
                        <a:t>C2-1</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Good</a:t>
                      </a:r>
                      <a:endParaRPr lang="en-US" sz="900" dirty="0"/>
                    </a:p>
                  </a:txBody>
                  <a:tcPr marL="32004" marR="32004" marT="9144" marB="9144" anchor="ctr">
                    <a:lnL w="0">
                      <a:noFill/>
                    </a:lnL>
                    <a:lnR w="0">
                      <a:noFill/>
                    </a:lnR>
                    <a:lnT w="0">
                      <a:noFill/>
                    </a:lnT>
                    <a:lnB w="6350">
                      <a:solidFill>
                        <a:srgbClr val="D9D5F0"/>
                      </a:solidFill>
                    </a:lnB>
                    <a:solidFill>
                      <a:srgbClr val="F4F2FF"/>
                    </a:solidFill>
                  </a:tcPr>
                </a:tc>
              </a:tr>
              <a:tr h="150876">
                <a:tc>
                  <a:txBody>
                    <a:bodyPr/>
                    <a:lstStyle/>
                    <a:p>
                      <a:pPr marL="0" indent="0" algn="ctr">
                        <a:buNone/>
                      </a:pPr>
                      <a:r>
                        <a:rPr lang="en-US" sz="900" b="1" dirty="0">
                          <a:solidFill>
                            <a:schemeClr val="accent3"/>
                          </a:solidFill>
                        </a:rPr>
                        <a:t>D2-1</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Good</a:t>
                      </a:r>
                      <a:endParaRPr lang="en-US" sz="900" dirty="0"/>
                    </a:p>
                  </a:txBody>
                  <a:tcPr marL="32004" marR="32004" marT="9144" marB="9144" anchor="ctr">
                    <a:lnL w="0">
                      <a:noFill/>
                    </a:lnL>
                    <a:lnR w="0">
                      <a:noFill/>
                    </a:lnR>
                    <a:lnT w="0">
                      <a:noFill/>
                    </a:lnT>
                    <a:lnB w="6350">
                      <a:solidFill>
                        <a:srgbClr val="D9D5F0"/>
                      </a:solidFill>
                    </a:lnB>
                    <a:solidFill>
                      <a:srgbClr val="F4F2FF"/>
                    </a:solidFill>
                  </a:tcPr>
                </a:tc>
              </a:tr>
              <a:tr h="150876">
                <a:tc>
                  <a:txBody>
                    <a:bodyPr/>
                    <a:lstStyle/>
                    <a:p>
                      <a:pPr marL="0" indent="0" algn="ctr">
                        <a:buNone/>
                      </a:pPr>
                      <a:r>
                        <a:rPr lang="en-US" sz="900" b="1" dirty="0">
                          <a:solidFill>
                            <a:schemeClr val="accent3"/>
                          </a:solidFill>
                        </a:rPr>
                        <a:t>E2-1</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Acceptable–good</a:t>
                      </a:r>
                      <a:endParaRPr lang="en-US" sz="900" dirty="0"/>
                    </a:p>
                  </a:txBody>
                  <a:tcPr marL="32004" marR="32004" marT="9144" marB="9144" anchor="ctr">
                    <a:lnL w="0">
                      <a:noFill/>
                    </a:lnL>
                    <a:lnR w="0">
                      <a:noFill/>
                    </a:lnR>
                    <a:lnT w="0">
                      <a:noFill/>
                    </a:lnT>
                    <a:lnB w="6350">
                      <a:solidFill>
                        <a:srgbClr val="D9D5F0"/>
                      </a:solidFill>
                    </a:lnB>
                    <a:solidFill>
                      <a:srgbClr val="F4F2FF"/>
                    </a:solidFill>
                  </a:tcPr>
                </a:tc>
              </a:tr>
              <a:tr h="150876">
                <a:tc>
                  <a:txBody>
                    <a:bodyPr/>
                    <a:lstStyle/>
                    <a:p>
                      <a:pPr marL="0" indent="0" algn="ctr">
                        <a:buNone/>
                      </a:pPr>
                      <a:r>
                        <a:rPr lang="en-US" sz="900" b="1" dirty="0">
                          <a:solidFill>
                            <a:schemeClr val="accent3"/>
                          </a:solidFill>
                        </a:rPr>
                        <a:t>F2-1</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c>
                  <a:txBody>
                    <a:bodyPr/>
                    <a:lstStyle/>
                    <a:p>
                      <a:pPr marL="0" indent="0" algn="ctr">
                        <a:buNone/>
                      </a:pPr>
                      <a:r>
                        <a:rPr lang="en-US" sz="900" dirty="0">
                          <a:solidFill>
                            <a:schemeClr val="tx2"/>
                          </a:solidFill>
                        </a:rPr>
                        <a:t>Acceptable</a:t>
                      </a:r>
                      <a:endParaRPr lang="en-US" sz="900" dirty="0"/>
                    </a:p>
                  </a:txBody>
                  <a:tcPr marL="32004" marR="32004" marT="9144" marB="9144" anchor="ctr">
                    <a:lnL w="0">
                      <a:noFill/>
                    </a:lnL>
                    <a:lnR w="0">
                      <a:noFill/>
                    </a:lnR>
                    <a:lnT w="0">
                      <a:noFill/>
                    </a:lnT>
                    <a:lnB w="6350">
                      <a:solidFill>
                        <a:schemeClr val="accent1"/>
                      </a:solidFill>
                    </a:lnB>
                    <a:solidFill>
                      <a:srgbClr val="F4F2FF"/>
                    </a:solidFill>
                  </a:tcPr>
                </a:tc>
              </a:tr>
              <a:tr h="150876">
                <a:tc>
                  <a:txBody>
                    <a:bodyPr/>
                    <a:lstStyle/>
                    <a:p>
                      <a:pPr marL="0" indent="0" algn="ctr">
                        <a:buNone/>
                      </a:pPr>
                      <a:r>
                        <a:rPr lang="en-US" sz="900" b="1" dirty="0">
                          <a:solidFill>
                            <a:schemeClr val="tx2"/>
                          </a:solidFill>
                        </a:rPr>
                        <a:t>A1-1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~1400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moderate</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Good</a:t>
                      </a:r>
                      <a:endParaRPr lang="en-US" sz="900" dirty="0"/>
                    </a:p>
                  </a:txBody>
                  <a:tcPr marL="32004" marR="32004" marT="9144" marB="9144" anchor="ctr">
                    <a:lnL w="0">
                      <a:noFill/>
                    </a:lnL>
                    <a:lnR w="0">
                      <a:noFill/>
                    </a:lnR>
                    <a:lnT w="0">
                      <a:noFill/>
                    </a:lnT>
                    <a:lnB w="6350">
                      <a:solidFill>
                        <a:srgbClr val="D9D5F0"/>
                      </a:solidFill>
                    </a:lnB>
                    <a:noFill/>
                  </a:tcPr>
                </a:tc>
              </a:tr>
              <a:tr h="150876">
                <a:tc>
                  <a:txBody>
                    <a:bodyPr/>
                    <a:lstStyle/>
                    <a:p>
                      <a:pPr marL="0" indent="0" algn="ctr">
                        <a:buNone/>
                      </a:pPr>
                      <a:r>
                        <a:rPr lang="en-US" sz="900" b="1" dirty="0">
                          <a:solidFill>
                            <a:schemeClr val="tx2"/>
                          </a:solidFill>
                        </a:rPr>
                        <a:t>B1-1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weak band</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Excellent</a:t>
                      </a:r>
                      <a:endParaRPr lang="en-US" sz="900" dirty="0"/>
                    </a:p>
                  </a:txBody>
                  <a:tcPr marL="32004" marR="32004" marT="9144" marB="9144" anchor="ctr">
                    <a:lnL w="0">
                      <a:noFill/>
                    </a:lnL>
                    <a:lnR w="0">
                      <a:noFill/>
                    </a:lnR>
                    <a:lnT w="0">
                      <a:noFill/>
                    </a:lnT>
                    <a:lnB w="6350">
                      <a:solidFill>
                        <a:srgbClr val="D9D5F0"/>
                      </a:solidFill>
                    </a:lnB>
                    <a:noFill/>
                  </a:tcPr>
                </a:tc>
              </a:tr>
              <a:tr h="150876">
                <a:tc>
                  <a:txBody>
                    <a:bodyPr/>
                    <a:lstStyle/>
                    <a:p>
                      <a:pPr marL="0" indent="0" algn="ctr">
                        <a:buNone/>
                      </a:pPr>
                      <a:r>
                        <a:rPr lang="en-US" sz="900" b="1" dirty="0">
                          <a:solidFill>
                            <a:schemeClr val="tx2"/>
                          </a:solidFill>
                        </a:rPr>
                        <a:t>C1-1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~1600 ≈ ~1400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pronounced</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Very good</a:t>
                      </a:r>
                      <a:endParaRPr lang="en-US" sz="900" dirty="0"/>
                    </a:p>
                  </a:txBody>
                  <a:tcPr marL="32004" marR="32004" marT="9144" marB="9144" anchor="ctr">
                    <a:lnL w="0">
                      <a:noFill/>
                    </a:lnL>
                    <a:lnR w="0">
                      <a:noFill/>
                    </a:lnR>
                    <a:lnT w="0">
                      <a:noFill/>
                    </a:lnT>
                    <a:lnB w="6350">
                      <a:solidFill>
                        <a:srgbClr val="D9D5F0"/>
                      </a:solidFill>
                    </a:lnB>
                    <a:noFill/>
                  </a:tcPr>
                </a:tc>
              </a:tr>
              <a:tr h="150876">
                <a:tc>
                  <a:txBody>
                    <a:bodyPr/>
                    <a:lstStyle/>
                    <a:p>
                      <a:pPr marL="0" indent="0" algn="ctr">
                        <a:buNone/>
                      </a:pPr>
                      <a:r>
                        <a:rPr lang="en-US" sz="900" b="1" dirty="0">
                          <a:solidFill>
                            <a:schemeClr val="accent3"/>
                          </a:solidFill>
                        </a:rPr>
                        <a:t>D1-1</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minor</a:t>
                      </a:r>
                      <a:endParaRPr lang="en-US" sz="900" dirty="0"/>
                    </a:p>
                  </a:txBody>
                  <a:tcPr marL="32004" marR="32004" marT="9144" marB="9144" anchor="ctr">
                    <a:lnL w="0">
                      <a:noFill/>
                    </a:lnL>
                    <a:lnR w="0">
                      <a:noFill/>
                    </a:lnR>
                    <a:lnT w="0">
                      <a:noFill/>
                    </a:lnT>
                    <a:lnB w="6350">
                      <a:solidFill>
                        <a:srgbClr val="D9D5F0"/>
                      </a:solidFill>
                    </a:lnB>
                    <a:solidFill>
                      <a:srgbClr val="F4F2FF"/>
                    </a:solidFill>
                  </a:tcPr>
                </a:tc>
                <a:tc>
                  <a:txBody>
                    <a:bodyPr/>
                    <a:lstStyle/>
                    <a:p>
                      <a:pPr marL="0" indent="0" algn="ctr">
                        <a:buNone/>
                      </a:pPr>
                      <a:r>
                        <a:rPr lang="en-US" sz="900" dirty="0">
                          <a:solidFill>
                            <a:schemeClr val="tx2"/>
                          </a:solidFill>
                        </a:rPr>
                        <a:t>Excellent</a:t>
                      </a:r>
                      <a:endParaRPr lang="en-US" sz="900" dirty="0"/>
                    </a:p>
                  </a:txBody>
                  <a:tcPr marL="32004" marR="32004" marT="9144" marB="9144" anchor="ctr">
                    <a:lnL w="0">
                      <a:noFill/>
                    </a:lnL>
                    <a:lnR w="0">
                      <a:noFill/>
                    </a:lnR>
                    <a:lnT w="0">
                      <a:noFill/>
                    </a:lnT>
                    <a:lnB w="6350">
                      <a:solidFill>
                        <a:srgbClr val="D9D5F0"/>
                      </a:solidFill>
                    </a:lnB>
                    <a:solidFill>
                      <a:srgbClr val="F4F2FF"/>
                    </a:solidFill>
                  </a:tcPr>
                </a:tc>
              </a:tr>
              <a:tr h="150876">
                <a:tc>
                  <a:txBody>
                    <a:bodyPr/>
                    <a:lstStyle/>
                    <a:p>
                      <a:pPr marL="0" indent="0" algn="ctr">
                        <a:buNone/>
                      </a:pPr>
                      <a:r>
                        <a:rPr lang="en-US" sz="900" b="1" dirty="0">
                          <a:solidFill>
                            <a:schemeClr val="tx2"/>
                          </a:solidFill>
                        </a:rPr>
                        <a:t>E1-1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~1600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weak band</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moderate</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Very good</a:t>
                      </a:r>
                      <a:endParaRPr lang="en-US" sz="900" dirty="0"/>
                    </a:p>
                  </a:txBody>
                  <a:tcPr marL="32004" marR="32004" marT="9144" marB="9144" anchor="ctr">
                    <a:lnL w="0">
                      <a:noFill/>
                    </a:lnL>
                    <a:lnR w="0">
                      <a:noFill/>
                    </a:lnR>
                    <a:lnT w="0">
                      <a:noFill/>
                    </a:lnT>
                    <a:lnB w="6350">
                      <a:solidFill>
                        <a:srgbClr val="D9D5F0"/>
                      </a:solidFill>
                    </a:lnB>
                    <a:noFill/>
                  </a:tcPr>
                </a:tc>
              </a:tr>
              <a:tr h="150876">
                <a:tc>
                  <a:txBody>
                    <a:bodyPr/>
                    <a:lstStyle/>
                    <a:p>
                      <a:pPr marL="0" indent="0" algn="ctr">
                        <a:buNone/>
                      </a:pPr>
                      <a:r>
                        <a:rPr lang="en-US" sz="900" b="1" dirty="0">
                          <a:solidFill>
                            <a:schemeClr val="tx2"/>
                          </a:solidFill>
                        </a:rPr>
                        <a:t>F1-1</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Both present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b="1" dirty="0">
                          <a:solidFill>
                            <a:srgbClr val="B8531A"/>
                          </a:solidFill>
                        </a:rPr>
                        <a:t>~1600 ≈ ~1400</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accent6"/>
                          </a:solidFill>
                        </a:rPr>
                        <a:t>—</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pronounced</a:t>
                      </a:r>
                      <a:endParaRPr lang="en-US" sz="900" dirty="0"/>
                    </a:p>
                  </a:txBody>
                  <a:tcPr marL="32004" marR="32004" marT="9144" marB="9144" anchor="ctr">
                    <a:lnL w="0">
                      <a:noFill/>
                    </a:lnL>
                    <a:lnR w="0">
                      <a:noFill/>
                    </a:lnR>
                    <a:lnT w="0">
                      <a:noFill/>
                    </a:lnT>
                    <a:lnB w="6350">
                      <a:solidFill>
                        <a:srgbClr val="D9D5F0"/>
                      </a:solidFill>
                    </a:lnB>
                    <a:noFill/>
                  </a:tcPr>
                </a:tc>
                <a:tc>
                  <a:txBody>
                    <a:bodyPr/>
                    <a:lstStyle/>
                    <a:p>
                      <a:pPr marL="0" indent="0" algn="ctr">
                        <a:buNone/>
                      </a:pPr>
                      <a:r>
                        <a:rPr lang="en-US" sz="900" dirty="0">
                          <a:solidFill>
                            <a:schemeClr val="tx2"/>
                          </a:solidFill>
                        </a:rPr>
                        <a:t>Good</a:t>
                      </a:r>
                      <a:endParaRPr lang="en-US" sz="900" dirty="0"/>
                    </a:p>
                  </a:txBody>
                  <a:tcPr marL="32004" marR="32004" marT="9144" marB="9144" anchor="ctr">
                    <a:lnL w="0">
                      <a:noFill/>
                    </a:lnL>
                    <a:lnR w="0">
                      <a:noFill/>
                    </a:lnR>
                    <a:lnT w="0">
                      <a:noFill/>
                    </a:lnT>
                    <a:lnB w="6350">
                      <a:solidFill>
                        <a:srgbClr val="D9D5F0"/>
                      </a:solidFill>
                    </a:lnB>
                    <a:noFill/>
                  </a:tcPr>
                </a:tc>
              </a:tr>
            </a:tbl>
          </a:graphicData>
        </a:graphic>
      </p:graphicFrame>
      <p:sp>
        <p:nvSpPr>
          <p:cNvPr id="16" name="Differences card"/>
          <p:cNvSpPr/>
          <p:nvPr/>
        </p:nvSpPr>
        <p:spPr>
          <a:xfrm>
            <a:off x="5202936" y="4462272"/>
            <a:ext cx="3931920" cy="1097280"/>
          </a:xfrm>
          <a:prstGeom prst="roundRect">
            <a:avLst>
              <a:gd name="adj" fmla="val 5000"/>
            </a:avLst>
          </a:prstGeom>
          <a:solidFill>
            <a:schemeClr val="bg2"/>
          </a:solidFill>
          <a:ln w="12700">
            <a:solidFill>
              <a:schemeClr val="bg2"/>
            </a:solidFill>
            <a:prstDash val="solid"/>
          </a:ln>
        </p:spPr>
      </p:sp>
      <p:sp>
        <p:nvSpPr>
          <p:cNvPr id="17" name="Differences label"/>
          <p:cNvSpPr txBox="1"/>
          <p:nvPr/>
        </p:nvSpPr>
        <p:spPr>
          <a:xfrm>
            <a:off x="5330952" y="4526280"/>
            <a:ext cx="3675888"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DIFFERENCES BETWEEN SAMPLES</a:t>
            </a:r>
            <a:endParaRPr lang="en-US" sz="1000" dirty="0"/>
          </a:p>
        </p:txBody>
      </p:sp>
      <p:sp>
        <p:nvSpPr>
          <p:cNvPr id="18" name="Differences text"/>
          <p:cNvSpPr txBox="1"/>
          <p:nvPr/>
        </p:nvSpPr>
        <p:spPr>
          <a:xfrm>
            <a:off x="5330952" y="4736592"/>
            <a:ext cx="3675888" cy="1027176"/>
          </a:xfrm>
          <a:prstGeom prst="rect">
            <a:avLst/>
          </a:prstGeom>
          <a:noFill/>
          <a:ln/>
        </p:spPr>
        <p:txBody>
          <a:bodyPr wrap="square" lIns="0" tIns="0" rIns="0" bIns="0" rtlCol="0" anchor="t"/>
          <a:lstStyle/>
          <a:p>
            <a:pPr marL="155448" indent="-155448" algn="l">
              <a:spcAft>
                <a:spcPts val="300"/>
              </a:spcAft>
              <a:buClr>
                <a:schemeClr val="accent2"/>
              </a:buClr>
              <a:buFont typeface="Arial"/>
              <a:buChar char="•"/>
            </a:pPr>
            <a:r>
              <a:rPr lang="en-US" sz="1000" dirty="0">
                <a:solidFill>
                  <a:schemeClr val="tx2"/>
                </a:solidFill>
              </a:rPr>
              <a:t>~1400 band ≈ ~1600 (A2-1, C1-1, F1-1) or stronger (A1-1): possibly a different coordination environment.</a:t>
            </a:r>
            <a:endParaRPr lang="en-US" sz="1000" dirty="0"/>
          </a:p>
          <a:p>
            <a:pPr marL="155448" indent="-155448" algn="l">
              <a:spcAft>
                <a:spcPts val="300"/>
              </a:spcAft>
              <a:buClr>
                <a:schemeClr val="accent2"/>
              </a:buClr>
              <a:buFont typeface="Arial"/>
              <a:buChar char="•"/>
            </a:pPr>
            <a:r>
              <a:rPr lang="en-US" sz="1000" dirty="0">
                <a:solidFill>
                  <a:schemeClr val="tx2"/>
                </a:solidFill>
              </a:rPr>
              <a:t>Weak band &gt;1650 cm</a:t>
            </a:r>
            <a:r>
              <a:rPr lang="en-US" sz="1000" baseline="30000" dirty="0">
                <a:solidFill>
                  <a:schemeClr val="tx2"/>
                </a:solidFill>
              </a:rPr>
              <a:t>−1</a:t>
            </a:r>
            <a:r>
              <a:rPr lang="en-US" sz="1000" dirty="0">
                <a:solidFill>
                  <a:schemeClr val="tx2"/>
                </a:solidFill>
              </a:rPr>
              <a:t xml:space="preserve"> (B1-1, E1-1): possibly residual uncoordinated –COOH.</a:t>
            </a:r>
            <a:endParaRPr lang="en-US" sz="1000" dirty="0"/>
          </a:p>
          <a:p>
            <a:pPr marL="155448" indent="-155448" algn="l">
              <a:buClr>
                <a:schemeClr val="accent6"/>
              </a:buClr>
              <a:buFont typeface="Arial"/>
              <a:buChar char="•"/>
            </a:pPr>
            <a:r>
              <a:rPr lang="en-US" sz="1000" dirty="0">
                <a:solidFill>
                  <a:schemeClr val="tx2"/>
                </a:solidFill>
              </a:rPr>
              <a:t>Noise at 2200–1950 cm</a:t>
            </a:r>
            <a:r>
              <a:rPr lang="en-US" sz="1000" baseline="30000" dirty="0">
                <a:solidFill>
                  <a:schemeClr val="tx2"/>
                </a:solidFill>
              </a:rPr>
              <a:t>−1</a:t>
            </a:r>
            <a:r>
              <a:rPr lang="en-US" sz="1000" dirty="0">
                <a:solidFill>
                  <a:schemeClr val="tx2"/>
                </a:solidFill>
              </a:rPr>
              <a:t xml:space="preserve"> (C1-1, F1-1): measurement-related.</a:t>
            </a:r>
            <a:endParaRPr lang="en-US" sz="1000" dirty="0"/>
          </a:p>
        </p:txBody>
      </p:sp>
      <p:sp>
        <p:nvSpPr>
          <p:cNvPr id="19" name="Agreement card"/>
          <p:cNvSpPr/>
          <p:nvPr/>
        </p:nvSpPr>
        <p:spPr>
          <a:xfrm>
            <a:off x="9262872" y="4462272"/>
            <a:ext cx="2478024" cy="1097280"/>
          </a:xfrm>
          <a:prstGeom prst="roundRect">
            <a:avLst>
              <a:gd name="adj" fmla="val 5000"/>
            </a:avLst>
          </a:prstGeom>
          <a:solidFill>
            <a:schemeClr val="bg2"/>
          </a:solidFill>
          <a:ln w="12700">
            <a:solidFill>
              <a:schemeClr val="bg2"/>
            </a:solidFill>
            <a:prstDash val="solid"/>
          </a:ln>
        </p:spPr>
      </p:sp>
      <p:sp>
        <p:nvSpPr>
          <p:cNvPr id="20" name="Agreement label"/>
          <p:cNvSpPr txBox="1"/>
          <p:nvPr/>
        </p:nvSpPr>
        <p:spPr>
          <a:xfrm>
            <a:off x="9390888" y="4526280"/>
            <a:ext cx="2221992" cy="201168"/>
          </a:xfrm>
          <a:prstGeom prst="rect">
            <a:avLst/>
          </a:prstGeom>
          <a:noFill/>
          <a:ln/>
        </p:spPr>
        <p:txBody>
          <a:bodyPr wrap="square" lIns="0" tIns="0" rIns="0" bIns="0" rtlCol="0" anchor="ctr"/>
          <a:lstStyle/>
          <a:p>
            <a:pPr marL="0" indent="0" algn="l">
              <a:buNone/>
            </a:pPr>
            <a:r>
              <a:rPr lang="en-US" sz="1000" b="1" kern="0" spc="100" dirty="0">
                <a:solidFill>
                  <a:schemeClr val="accent3"/>
                </a:solidFill>
              </a:rPr>
              <a:t>AGREEMENT WITH XRD</a:t>
            </a:r>
            <a:endParaRPr lang="en-US" sz="1000" dirty="0"/>
          </a:p>
        </p:txBody>
      </p:sp>
      <p:sp>
        <p:nvSpPr>
          <p:cNvPr id="21" name="Agreement text"/>
          <p:cNvSpPr txBox="1"/>
          <p:nvPr/>
        </p:nvSpPr>
        <p:spPr>
          <a:xfrm>
            <a:off x="9390888" y="4736592"/>
            <a:ext cx="2221992" cy="798576"/>
          </a:xfrm>
          <a:prstGeom prst="rect">
            <a:avLst/>
          </a:prstGeom>
          <a:noFill/>
          <a:ln/>
        </p:spPr>
        <p:txBody>
          <a:bodyPr wrap="square" lIns="0" tIns="0" rIns="0" bIns="0" rtlCol="0" anchor="t"/>
          <a:lstStyle/>
          <a:p>
            <a:pPr marL="0" indent="0" algn="l">
              <a:buNone/>
            </a:pPr>
            <a:r>
              <a:rPr lang="en-US" sz="1000" dirty="0">
                <a:solidFill>
                  <a:schemeClr val="tx2"/>
                </a:solidFill>
              </a:rPr>
              <a:t>Every FTIR-deviating sample (A2-1, A1-1, B1-1, C1-1, E1-1, F1-1) also has extra, shifted or less-defined XRD features. Only D2-1 is flagged by XRD alone.</a:t>
            </a:r>
            <a:endParaRPr lang="en-US" sz="1000" dirty="0"/>
          </a:p>
        </p:txBody>
      </p:sp>
      <p:sp>
        <p:nvSpPr>
          <p:cNvPr id="22" name="Conclusion banner"/>
          <p:cNvSpPr/>
          <p:nvPr/>
        </p:nvSpPr>
        <p:spPr>
          <a:xfrm>
            <a:off x="448056" y="5650992"/>
            <a:ext cx="11292840" cy="402336"/>
          </a:xfrm>
          <a:prstGeom prst="roundRect">
            <a:avLst>
              <a:gd name="adj" fmla="val 12000"/>
            </a:avLst>
          </a:prstGeom>
          <a:solidFill>
            <a:schemeClr val="accent3"/>
          </a:solidFill>
          <a:ln w="12700">
            <a:solidFill>
              <a:schemeClr val="accent3"/>
            </a:solidFill>
            <a:prstDash val="solid"/>
          </a:ln>
        </p:spPr>
      </p:sp>
      <p:sp>
        <p:nvSpPr>
          <p:cNvPr id="23" name="Conclusion text"/>
          <p:cNvSpPr txBox="1"/>
          <p:nvPr/>
        </p:nvSpPr>
        <p:spPr>
          <a:xfrm>
            <a:off x="630936" y="5650992"/>
            <a:ext cx="10927080" cy="402336"/>
          </a:xfrm>
          <a:prstGeom prst="rect">
            <a:avLst/>
          </a:prstGeom>
          <a:noFill/>
          <a:ln/>
        </p:spPr>
        <p:txBody>
          <a:bodyPr wrap="square" lIns="0" tIns="0" rIns="0" bIns="0" rtlCol="0" anchor="ctr"/>
          <a:lstStyle/>
          <a:p>
            <a:pPr marL="0" indent="0" algn="l">
              <a:buNone/>
            </a:pPr>
            <a:r>
              <a:rPr lang="en-US" sz="1100" b="1" dirty="0">
                <a:solidFill>
                  <a:srgbClr val="FFFFFF"/>
                </a:solidFill>
              </a:rPr>
              <a:t xml:space="preserve">FTIR conclusion: </a:t>
            </a:r>
            <a:r>
              <a:rPr lang="en-US" sz="1100" dirty="0">
                <a:solidFill>
                  <a:srgbClr val="FFFFFF"/>
                </a:solidFill>
              </a:rPr>
              <a:t>the data support carboxylate–metal coordination in all 12 samples, and six spectra (B2-1, C2-1, D2-1, E2-1, F2-1, D1-1) match the majority pattern. FTIR alone cannot confirm the full structure, the coordination mode or CO₂ adsorption performance.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lide title"/>
          <p:cNvSpPr txBox="1"/>
          <p:nvPr/>
        </p:nvSpPr>
        <p:spPr>
          <a:xfrm>
            <a:off x="448056" y="1700784"/>
            <a:ext cx="11292840" cy="502920"/>
          </a:xfrm>
          <a:prstGeom prst="rect">
            <a:avLst/>
          </a:prstGeom>
          <a:noFill/>
          <a:ln/>
        </p:spPr>
        <p:txBody>
          <a:bodyPr wrap="square" lIns="0" tIns="0" rIns="0" bIns="0" rtlCol="0" anchor="ctr"/>
          <a:lstStyle/>
          <a:p>
            <a:pPr marL="0" indent="0" algn="l">
              <a:buNone/>
            </a:pPr>
            <a:r>
              <a:rPr lang="en-US" sz="2600" b="1" dirty="0">
                <a:solidFill>
                  <a:schemeClr val="accent3"/>
                </a:solidFill>
              </a:rPr>
              <a:t>Evidence-Based Sample Selection and Planned Experiments</a:t>
            </a:r>
            <a:endParaRPr lang="en-US" sz="2600" dirty="0"/>
          </a:p>
        </p:txBody>
      </p:sp>
      <p:sp>
        <p:nvSpPr>
          <p:cNvPr id="4" name="Selection label"/>
          <p:cNvSpPr txBox="1"/>
          <p:nvPr/>
        </p:nvSpPr>
        <p:spPr>
          <a:xfrm>
            <a:off x="448056" y="2267712"/>
            <a:ext cx="7315200" cy="201168"/>
          </a:xfrm>
          <a:prstGeom prst="rect">
            <a:avLst/>
          </a:prstGeom>
          <a:noFill/>
          <a:ln/>
        </p:spPr>
        <p:txBody>
          <a:bodyPr wrap="square" lIns="0" tIns="0" rIns="0" bIns="0" rtlCol="0" anchor="ctr"/>
          <a:lstStyle/>
          <a:p>
            <a:pPr marL="0" indent="0" algn="l">
              <a:buNone/>
            </a:pPr>
            <a:r>
              <a:rPr lang="en-US" sz="1100" b="1" kern="0" spc="100" dirty="0">
                <a:solidFill>
                  <a:schemeClr val="accent3"/>
                </a:solidFill>
              </a:rPr>
              <a:t>HOW THE 12 SAMPLES WERE NARROWED DOWN — COMPLETED</a:t>
            </a:r>
            <a:endParaRPr lang="en-US" sz="1100" dirty="0"/>
          </a:p>
        </p:txBody>
      </p:sp>
      <p:sp>
        <p:nvSpPr>
          <p:cNvPr id="5" name="Selection stage 1"/>
          <p:cNvSpPr/>
          <p:nvPr/>
        </p:nvSpPr>
        <p:spPr>
          <a:xfrm>
            <a:off x="448056" y="2523744"/>
            <a:ext cx="2596896" cy="1481328"/>
          </a:xfrm>
          <a:prstGeom prst="roundRect">
            <a:avLst>
              <a:gd name="adj" fmla="val 6000"/>
            </a:avLst>
          </a:prstGeom>
          <a:solidFill>
            <a:schemeClr val="bg2"/>
          </a:solidFill>
          <a:ln w="15875">
            <a:solidFill>
              <a:schemeClr val="accent3"/>
            </a:solidFill>
            <a:prstDash val="solid"/>
          </a:ln>
        </p:spPr>
      </p:sp>
      <p:sp>
        <p:nvSpPr>
          <p:cNvPr id="6" name="Selection 1 number"/>
          <p:cNvSpPr/>
          <p:nvPr/>
        </p:nvSpPr>
        <p:spPr>
          <a:xfrm>
            <a:off x="557784" y="2615184"/>
            <a:ext cx="256032" cy="256032"/>
          </a:xfrm>
          <a:prstGeom prst="ellipse">
            <a:avLst/>
          </a:prstGeom>
          <a:solidFill>
            <a:schemeClr val="accent3"/>
          </a:solidFill>
          <a:ln w="12700">
            <a:solidFill>
              <a:schemeClr val="accent3"/>
            </a:solidFill>
            <a:prstDash val="solid"/>
          </a:ln>
        </p:spPr>
      </p:sp>
      <p:sp>
        <p:nvSpPr>
          <p:cNvPr id="7" name="Selection 1 number label"/>
          <p:cNvSpPr txBox="1"/>
          <p:nvPr/>
        </p:nvSpPr>
        <p:spPr>
          <a:xfrm>
            <a:off x="557784" y="261518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Selection 1 title"/>
          <p:cNvSpPr txBox="1"/>
          <p:nvPr/>
        </p:nvSpPr>
        <p:spPr>
          <a:xfrm>
            <a:off x="886968" y="2615184"/>
            <a:ext cx="2048256" cy="256032"/>
          </a:xfrm>
          <a:prstGeom prst="rect">
            <a:avLst/>
          </a:prstGeom>
          <a:noFill/>
          <a:ln/>
        </p:spPr>
        <p:txBody>
          <a:bodyPr wrap="square" lIns="0" tIns="0" rIns="0" bIns="0" rtlCol="0" anchor="ctr"/>
          <a:lstStyle/>
          <a:p>
            <a:pPr marL="0" indent="0" algn="l">
              <a:buNone/>
            </a:pPr>
            <a:r>
              <a:rPr lang="en-US" sz="1250" b="1" dirty="0">
                <a:solidFill>
                  <a:schemeClr val="accent3"/>
                </a:solidFill>
              </a:rPr>
              <a:t>12 samples</a:t>
            </a:r>
            <a:endParaRPr lang="en-US" sz="1250" dirty="0"/>
          </a:p>
        </p:txBody>
      </p:sp>
      <p:sp>
        <p:nvSpPr>
          <p:cNvPr id="9" name="Selection 1 criteria"/>
          <p:cNvSpPr txBox="1"/>
          <p:nvPr/>
        </p:nvSpPr>
        <p:spPr>
          <a:xfrm>
            <a:off x="576072" y="2926080"/>
            <a:ext cx="2340864" cy="310896"/>
          </a:xfrm>
          <a:prstGeom prst="rect">
            <a:avLst/>
          </a:prstGeom>
          <a:noFill/>
          <a:ln/>
        </p:spPr>
        <p:txBody>
          <a:bodyPr wrap="square" lIns="0" tIns="0" rIns="0" bIns="0" rtlCol="0" anchor="t"/>
          <a:lstStyle/>
          <a:p>
            <a:pPr marL="0" indent="0" algn="l">
              <a:buNone/>
            </a:pPr>
            <a:r>
              <a:rPr lang="en-US" sz="950" dirty="0">
                <a:solidFill>
                  <a:schemeClr val="accent6"/>
                </a:solidFill>
              </a:rPr>
              <a:t>All synthesized; XRD and FTIR recorded for every sample</a:t>
            </a:r>
            <a:endParaRPr lang="en-US" sz="950" dirty="0"/>
          </a:p>
        </p:txBody>
      </p:sp>
      <p:sp>
        <p:nvSpPr>
          <p:cNvPr id="10" name="Stage 1 chip A1-1"/>
          <p:cNvSpPr/>
          <p:nvPr/>
        </p:nvSpPr>
        <p:spPr>
          <a:xfrm>
            <a:off x="576072" y="3291840"/>
            <a:ext cx="393192" cy="201168"/>
          </a:xfrm>
          <a:prstGeom prst="roundRect">
            <a:avLst>
              <a:gd name="adj" fmla="val 30000"/>
            </a:avLst>
          </a:prstGeom>
          <a:solidFill>
            <a:schemeClr val="accent3"/>
          </a:solidFill>
          <a:ln w="12700">
            <a:solidFill>
              <a:schemeClr val="accent3"/>
            </a:solidFill>
            <a:prstDash val="solid"/>
          </a:ln>
        </p:spPr>
      </p:sp>
      <p:sp>
        <p:nvSpPr>
          <p:cNvPr id="11" name="Stage 1 chip A1-1 label"/>
          <p:cNvSpPr txBox="1"/>
          <p:nvPr/>
        </p:nvSpPr>
        <p:spPr>
          <a:xfrm>
            <a:off x="57607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A1-1</a:t>
            </a:r>
            <a:endParaRPr lang="en-US" sz="900" dirty="0"/>
          </a:p>
        </p:txBody>
      </p:sp>
      <p:sp>
        <p:nvSpPr>
          <p:cNvPr id="12" name="Stage 1 chip B1-1"/>
          <p:cNvSpPr/>
          <p:nvPr/>
        </p:nvSpPr>
        <p:spPr>
          <a:xfrm>
            <a:off x="987552" y="3291840"/>
            <a:ext cx="393192" cy="201168"/>
          </a:xfrm>
          <a:prstGeom prst="roundRect">
            <a:avLst>
              <a:gd name="adj" fmla="val 30000"/>
            </a:avLst>
          </a:prstGeom>
          <a:solidFill>
            <a:schemeClr val="accent3"/>
          </a:solidFill>
          <a:ln w="12700">
            <a:solidFill>
              <a:schemeClr val="accent3"/>
            </a:solidFill>
            <a:prstDash val="solid"/>
          </a:ln>
        </p:spPr>
      </p:sp>
      <p:sp>
        <p:nvSpPr>
          <p:cNvPr id="13" name="Stage 1 chip B1-1 label"/>
          <p:cNvSpPr txBox="1"/>
          <p:nvPr/>
        </p:nvSpPr>
        <p:spPr>
          <a:xfrm>
            <a:off x="98755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B1-1</a:t>
            </a:r>
            <a:endParaRPr lang="en-US" sz="900" dirty="0"/>
          </a:p>
        </p:txBody>
      </p:sp>
      <p:sp>
        <p:nvSpPr>
          <p:cNvPr id="14" name="Stage 1 chip C1-1"/>
          <p:cNvSpPr/>
          <p:nvPr/>
        </p:nvSpPr>
        <p:spPr>
          <a:xfrm>
            <a:off x="1399032" y="3291840"/>
            <a:ext cx="393192" cy="201168"/>
          </a:xfrm>
          <a:prstGeom prst="roundRect">
            <a:avLst>
              <a:gd name="adj" fmla="val 30000"/>
            </a:avLst>
          </a:prstGeom>
          <a:solidFill>
            <a:schemeClr val="accent3"/>
          </a:solidFill>
          <a:ln w="12700">
            <a:solidFill>
              <a:schemeClr val="accent3"/>
            </a:solidFill>
            <a:prstDash val="solid"/>
          </a:ln>
        </p:spPr>
      </p:sp>
      <p:sp>
        <p:nvSpPr>
          <p:cNvPr id="15" name="Stage 1 chip C1-1 label"/>
          <p:cNvSpPr txBox="1"/>
          <p:nvPr/>
        </p:nvSpPr>
        <p:spPr>
          <a:xfrm>
            <a:off x="139903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C1-1</a:t>
            </a:r>
            <a:endParaRPr lang="en-US" sz="900" dirty="0"/>
          </a:p>
        </p:txBody>
      </p:sp>
      <p:sp>
        <p:nvSpPr>
          <p:cNvPr id="16" name="Stage 1 chip D1-1"/>
          <p:cNvSpPr/>
          <p:nvPr/>
        </p:nvSpPr>
        <p:spPr>
          <a:xfrm>
            <a:off x="1810512" y="3291840"/>
            <a:ext cx="393192" cy="201168"/>
          </a:xfrm>
          <a:prstGeom prst="roundRect">
            <a:avLst>
              <a:gd name="adj" fmla="val 30000"/>
            </a:avLst>
          </a:prstGeom>
          <a:solidFill>
            <a:schemeClr val="accent3"/>
          </a:solidFill>
          <a:ln w="12700">
            <a:solidFill>
              <a:schemeClr val="accent3"/>
            </a:solidFill>
            <a:prstDash val="solid"/>
          </a:ln>
        </p:spPr>
      </p:sp>
      <p:sp>
        <p:nvSpPr>
          <p:cNvPr id="17" name="Stage 1 chip D1-1 label"/>
          <p:cNvSpPr txBox="1"/>
          <p:nvPr/>
        </p:nvSpPr>
        <p:spPr>
          <a:xfrm>
            <a:off x="181051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D1-1</a:t>
            </a:r>
            <a:endParaRPr lang="en-US" sz="900" dirty="0"/>
          </a:p>
        </p:txBody>
      </p:sp>
      <p:sp>
        <p:nvSpPr>
          <p:cNvPr id="18" name="Stage 1 chip E1-1"/>
          <p:cNvSpPr/>
          <p:nvPr/>
        </p:nvSpPr>
        <p:spPr>
          <a:xfrm>
            <a:off x="2221992" y="3291840"/>
            <a:ext cx="393192" cy="201168"/>
          </a:xfrm>
          <a:prstGeom prst="roundRect">
            <a:avLst>
              <a:gd name="adj" fmla="val 30000"/>
            </a:avLst>
          </a:prstGeom>
          <a:solidFill>
            <a:schemeClr val="accent3"/>
          </a:solidFill>
          <a:ln w="12700">
            <a:solidFill>
              <a:schemeClr val="accent3"/>
            </a:solidFill>
            <a:prstDash val="solid"/>
          </a:ln>
        </p:spPr>
      </p:sp>
      <p:sp>
        <p:nvSpPr>
          <p:cNvPr id="19" name="Stage 1 chip E1-1 label"/>
          <p:cNvSpPr txBox="1"/>
          <p:nvPr/>
        </p:nvSpPr>
        <p:spPr>
          <a:xfrm>
            <a:off x="222199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E1-1</a:t>
            </a:r>
            <a:endParaRPr lang="en-US" sz="900" dirty="0"/>
          </a:p>
        </p:txBody>
      </p:sp>
      <p:sp>
        <p:nvSpPr>
          <p:cNvPr id="20" name="Stage 1 chip F1-1"/>
          <p:cNvSpPr/>
          <p:nvPr/>
        </p:nvSpPr>
        <p:spPr>
          <a:xfrm>
            <a:off x="2633472" y="3291840"/>
            <a:ext cx="393192" cy="201168"/>
          </a:xfrm>
          <a:prstGeom prst="roundRect">
            <a:avLst>
              <a:gd name="adj" fmla="val 30000"/>
            </a:avLst>
          </a:prstGeom>
          <a:solidFill>
            <a:schemeClr val="accent3"/>
          </a:solidFill>
          <a:ln w="12700">
            <a:solidFill>
              <a:schemeClr val="accent3"/>
            </a:solidFill>
            <a:prstDash val="solid"/>
          </a:ln>
        </p:spPr>
      </p:sp>
      <p:sp>
        <p:nvSpPr>
          <p:cNvPr id="21" name="Stage 1 chip F1-1 label"/>
          <p:cNvSpPr txBox="1"/>
          <p:nvPr/>
        </p:nvSpPr>
        <p:spPr>
          <a:xfrm>
            <a:off x="2633472"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F1-1</a:t>
            </a:r>
            <a:endParaRPr lang="en-US" sz="900" dirty="0"/>
          </a:p>
        </p:txBody>
      </p:sp>
      <p:sp>
        <p:nvSpPr>
          <p:cNvPr id="22" name="Stage 1 chip A2-1"/>
          <p:cNvSpPr/>
          <p:nvPr/>
        </p:nvSpPr>
        <p:spPr>
          <a:xfrm>
            <a:off x="576072" y="3529584"/>
            <a:ext cx="393192" cy="201168"/>
          </a:xfrm>
          <a:prstGeom prst="roundRect">
            <a:avLst>
              <a:gd name="adj" fmla="val 30000"/>
            </a:avLst>
          </a:prstGeom>
          <a:solidFill>
            <a:schemeClr val="accent3"/>
          </a:solidFill>
          <a:ln w="12700">
            <a:solidFill>
              <a:schemeClr val="accent3"/>
            </a:solidFill>
            <a:prstDash val="solid"/>
          </a:ln>
        </p:spPr>
      </p:sp>
      <p:sp>
        <p:nvSpPr>
          <p:cNvPr id="23" name="Stage 1 chip A2-1 label"/>
          <p:cNvSpPr txBox="1"/>
          <p:nvPr/>
        </p:nvSpPr>
        <p:spPr>
          <a:xfrm>
            <a:off x="57607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A2-1</a:t>
            </a:r>
            <a:endParaRPr lang="en-US" sz="900" dirty="0"/>
          </a:p>
        </p:txBody>
      </p:sp>
      <p:sp>
        <p:nvSpPr>
          <p:cNvPr id="24" name="Stage 1 chip B2-1"/>
          <p:cNvSpPr/>
          <p:nvPr/>
        </p:nvSpPr>
        <p:spPr>
          <a:xfrm>
            <a:off x="987552" y="3529584"/>
            <a:ext cx="393192" cy="201168"/>
          </a:xfrm>
          <a:prstGeom prst="roundRect">
            <a:avLst>
              <a:gd name="adj" fmla="val 30000"/>
            </a:avLst>
          </a:prstGeom>
          <a:solidFill>
            <a:schemeClr val="accent3"/>
          </a:solidFill>
          <a:ln w="12700">
            <a:solidFill>
              <a:schemeClr val="accent3"/>
            </a:solidFill>
            <a:prstDash val="solid"/>
          </a:ln>
        </p:spPr>
      </p:sp>
      <p:sp>
        <p:nvSpPr>
          <p:cNvPr id="25" name="Stage 1 chip B2-1 label"/>
          <p:cNvSpPr txBox="1"/>
          <p:nvPr/>
        </p:nvSpPr>
        <p:spPr>
          <a:xfrm>
            <a:off x="98755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B2-1</a:t>
            </a:r>
            <a:endParaRPr lang="en-US" sz="900" dirty="0"/>
          </a:p>
        </p:txBody>
      </p:sp>
      <p:sp>
        <p:nvSpPr>
          <p:cNvPr id="26" name="Stage 1 chip C2-1"/>
          <p:cNvSpPr/>
          <p:nvPr/>
        </p:nvSpPr>
        <p:spPr>
          <a:xfrm>
            <a:off x="1399032" y="3529584"/>
            <a:ext cx="393192" cy="201168"/>
          </a:xfrm>
          <a:prstGeom prst="roundRect">
            <a:avLst>
              <a:gd name="adj" fmla="val 30000"/>
            </a:avLst>
          </a:prstGeom>
          <a:solidFill>
            <a:schemeClr val="accent3"/>
          </a:solidFill>
          <a:ln w="12700">
            <a:solidFill>
              <a:schemeClr val="accent3"/>
            </a:solidFill>
            <a:prstDash val="solid"/>
          </a:ln>
        </p:spPr>
      </p:sp>
      <p:sp>
        <p:nvSpPr>
          <p:cNvPr id="27" name="Stage 1 chip C2-1 label"/>
          <p:cNvSpPr txBox="1"/>
          <p:nvPr/>
        </p:nvSpPr>
        <p:spPr>
          <a:xfrm>
            <a:off x="139903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C2-1</a:t>
            </a:r>
            <a:endParaRPr lang="en-US" sz="900" dirty="0"/>
          </a:p>
        </p:txBody>
      </p:sp>
      <p:sp>
        <p:nvSpPr>
          <p:cNvPr id="28" name="Stage 1 chip D2-1"/>
          <p:cNvSpPr/>
          <p:nvPr/>
        </p:nvSpPr>
        <p:spPr>
          <a:xfrm>
            <a:off x="1810512" y="3529584"/>
            <a:ext cx="393192" cy="201168"/>
          </a:xfrm>
          <a:prstGeom prst="roundRect">
            <a:avLst>
              <a:gd name="adj" fmla="val 30000"/>
            </a:avLst>
          </a:prstGeom>
          <a:solidFill>
            <a:schemeClr val="accent3"/>
          </a:solidFill>
          <a:ln w="12700">
            <a:solidFill>
              <a:schemeClr val="accent3"/>
            </a:solidFill>
            <a:prstDash val="solid"/>
          </a:ln>
        </p:spPr>
      </p:sp>
      <p:sp>
        <p:nvSpPr>
          <p:cNvPr id="29" name="Stage 1 chip D2-1 label"/>
          <p:cNvSpPr txBox="1"/>
          <p:nvPr/>
        </p:nvSpPr>
        <p:spPr>
          <a:xfrm>
            <a:off x="181051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D2-1</a:t>
            </a:r>
            <a:endParaRPr lang="en-US" sz="900" dirty="0"/>
          </a:p>
        </p:txBody>
      </p:sp>
      <p:sp>
        <p:nvSpPr>
          <p:cNvPr id="30" name="Stage 1 chip E2-1"/>
          <p:cNvSpPr/>
          <p:nvPr/>
        </p:nvSpPr>
        <p:spPr>
          <a:xfrm>
            <a:off x="2221992" y="3529584"/>
            <a:ext cx="393192" cy="201168"/>
          </a:xfrm>
          <a:prstGeom prst="roundRect">
            <a:avLst>
              <a:gd name="adj" fmla="val 30000"/>
            </a:avLst>
          </a:prstGeom>
          <a:solidFill>
            <a:schemeClr val="accent3"/>
          </a:solidFill>
          <a:ln w="12700">
            <a:solidFill>
              <a:schemeClr val="accent3"/>
            </a:solidFill>
            <a:prstDash val="solid"/>
          </a:ln>
        </p:spPr>
      </p:sp>
      <p:sp>
        <p:nvSpPr>
          <p:cNvPr id="31" name="Stage 1 chip E2-1 label"/>
          <p:cNvSpPr txBox="1"/>
          <p:nvPr/>
        </p:nvSpPr>
        <p:spPr>
          <a:xfrm>
            <a:off x="222199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E2-1</a:t>
            </a:r>
            <a:endParaRPr lang="en-US" sz="900" dirty="0"/>
          </a:p>
        </p:txBody>
      </p:sp>
      <p:sp>
        <p:nvSpPr>
          <p:cNvPr id="32" name="Stage 1 chip F2-1"/>
          <p:cNvSpPr/>
          <p:nvPr/>
        </p:nvSpPr>
        <p:spPr>
          <a:xfrm>
            <a:off x="2633472" y="3529584"/>
            <a:ext cx="393192" cy="201168"/>
          </a:xfrm>
          <a:prstGeom prst="roundRect">
            <a:avLst>
              <a:gd name="adj" fmla="val 30000"/>
            </a:avLst>
          </a:prstGeom>
          <a:solidFill>
            <a:schemeClr val="accent3"/>
          </a:solidFill>
          <a:ln w="12700">
            <a:solidFill>
              <a:schemeClr val="accent3"/>
            </a:solidFill>
            <a:prstDash val="solid"/>
          </a:ln>
        </p:spPr>
      </p:sp>
      <p:sp>
        <p:nvSpPr>
          <p:cNvPr id="33" name="Stage 1 chip F2-1 label"/>
          <p:cNvSpPr txBox="1"/>
          <p:nvPr/>
        </p:nvSpPr>
        <p:spPr>
          <a:xfrm>
            <a:off x="2633472"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F2-1</a:t>
            </a:r>
            <a:endParaRPr lang="en-US" sz="900" dirty="0"/>
          </a:p>
        </p:txBody>
      </p:sp>
      <p:sp>
        <p:nvSpPr>
          <p:cNvPr id="34" name="Selection 1 footer"/>
          <p:cNvSpPr txBox="1"/>
          <p:nvPr/>
        </p:nvSpPr>
        <p:spPr>
          <a:xfrm>
            <a:off x="576072" y="3767328"/>
            <a:ext cx="2340864" cy="201168"/>
          </a:xfrm>
          <a:prstGeom prst="rect">
            <a:avLst/>
          </a:prstGeom>
          <a:noFill/>
          <a:ln/>
        </p:spPr>
        <p:txBody>
          <a:bodyPr wrap="square" lIns="0" tIns="0" rIns="0" bIns="0" rtlCol="0" anchor="ctr"/>
          <a:lstStyle/>
          <a:p>
            <a:pPr marL="0" indent="0" algn="l">
              <a:buNone/>
            </a:pPr>
            <a:r>
              <a:rPr lang="en-US" sz="950" b="1" dirty="0">
                <a:solidFill>
                  <a:schemeClr val="accent3"/>
                </a:solidFill>
              </a:rPr>
              <a:t>Start: all 12 compared (slides 4–5)</a:t>
            </a:r>
            <a:endParaRPr lang="en-US" sz="950" dirty="0"/>
          </a:p>
        </p:txBody>
      </p:sp>
      <p:sp>
        <p:nvSpPr>
          <p:cNvPr id="35" name="Selection arrow 1"/>
          <p:cNvSpPr/>
          <p:nvPr/>
        </p:nvSpPr>
        <p:spPr>
          <a:xfrm>
            <a:off x="3090672" y="3264408"/>
            <a:ext cx="210312" cy="0"/>
          </a:xfrm>
          <a:prstGeom prst="line">
            <a:avLst/>
          </a:prstGeom>
          <a:noFill/>
          <a:ln w="28575">
            <a:solidFill>
              <a:schemeClr val="accent3"/>
            </a:solidFill>
            <a:prstDash val="solid"/>
            <a:tailEnd type="triangle"/>
          </a:ln>
        </p:spPr>
      </p:sp>
      <p:sp>
        <p:nvSpPr>
          <p:cNvPr id="36" name="Selection stage 2"/>
          <p:cNvSpPr/>
          <p:nvPr/>
        </p:nvSpPr>
        <p:spPr>
          <a:xfrm>
            <a:off x="3346704" y="2523744"/>
            <a:ext cx="2596896" cy="1481328"/>
          </a:xfrm>
          <a:prstGeom prst="roundRect">
            <a:avLst>
              <a:gd name="adj" fmla="val 6000"/>
            </a:avLst>
          </a:prstGeom>
          <a:solidFill>
            <a:schemeClr val="bg2"/>
          </a:solidFill>
          <a:ln w="15875">
            <a:solidFill>
              <a:schemeClr val="accent3"/>
            </a:solidFill>
            <a:prstDash val="solid"/>
          </a:ln>
        </p:spPr>
      </p:sp>
      <p:sp>
        <p:nvSpPr>
          <p:cNvPr id="37" name="Selection 2 number"/>
          <p:cNvSpPr/>
          <p:nvPr/>
        </p:nvSpPr>
        <p:spPr>
          <a:xfrm>
            <a:off x="3456432" y="2615184"/>
            <a:ext cx="256032" cy="256032"/>
          </a:xfrm>
          <a:prstGeom prst="ellipse">
            <a:avLst/>
          </a:prstGeom>
          <a:solidFill>
            <a:schemeClr val="accent3"/>
          </a:solidFill>
          <a:ln w="12700">
            <a:solidFill>
              <a:schemeClr val="accent3"/>
            </a:solidFill>
            <a:prstDash val="solid"/>
          </a:ln>
        </p:spPr>
      </p:sp>
      <p:sp>
        <p:nvSpPr>
          <p:cNvPr id="38" name="Selection 2 number label"/>
          <p:cNvSpPr txBox="1"/>
          <p:nvPr/>
        </p:nvSpPr>
        <p:spPr>
          <a:xfrm>
            <a:off x="3456432" y="261518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9" name="Selection 2 title"/>
          <p:cNvSpPr txBox="1"/>
          <p:nvPr/>
        </p:nvSpPr>
        <p:spPr>
          <a:xfrm>
            <a:off x="3785616" y="2615184"/>
            <a:ext cx="2048256" cy="256032"/>
          </a:xfrm>
          <a:prstGeom prst="rect">
            <a:avLst/>
          </a:prstGeom>
          <a:noFill/>
          <a:ln/>
        </p:spPr>
        <p:txBody>
          <a:bodyPr wrap="square" lIns="0" tIns="0" rIns="0" bIns="0" rtlCol="0" anchor="ctr"/>
          <a:lstStyle/>
          <a:p>
            <a:pPr marL="0" indent="0" algn="l">
              <a:buNone/>
            </a:pPr>
            <a:r>
              <a:rPr lang="en-US" sz="1250" b="1" dirty="0">
                <a:solidFill>
                  <a:schemeClr val="accent3"/>
                </a:solidFill>
              </a:rPr>
              <a:t>XRD screen → 5</a:t>
            </a:r>
            <a:endParaRPr lang="en-US" sz="1250" dirty="0"/>
          </a:p>
        </p:txBody>
      </p:sp>
      <p:sp>
        <p:nvSpPr>
          <p:cNvPr id="40" name="Selection 2 criteria"/>
          <p:cNvSpPr txBox="1"/>
          <p:nvPr/>
        </p:nvSpPr>
        <p:spPr>
          <a:xfrm>
            <a:off x="3474720" y="2926080"/>
            <a:ext cx="2340864" cy="310896"/>
          </a:xfrm>
          <a:prstGeom prst="rect">
            <a:avLst/>
          </a:prstGeom>
          <a:noFill/>
          <a:ln/>
        </p:spPr>
        <p:txBody>
          <a:bodyPr wrap="square" lIns="0" tIns="0" rIns="0" bIns="0" rtlCol="0" anchor="t"/>
          <a:lstStyle/>
          <a:p>
            <a:pPr marL="0" indent="0" algn="l">
              <a:buNone/>
            </a:pPr>
            <a:r>
              <a:rPr lang="en-US" sz="950" dirty="0">
                <a:solidFill>
                  <a:schemeClr val="accent6"/>
                </a:solidFill>
              </a:rPr>
              <a:t>Complete common set · sharp peaks, low background · no extra/shifted peaks</a:t>
            </a:r>
            <a:endParaRPr lang="en-US" sz="950" dirty="0"/>
          </a:p>
        </p:txBody>
      </p:sp>
      <p:sp>
        <p:nvSpPr>
          <p:cNvPr id="41" name="Stage 2 chip A1-1"/>
          <p:cNvSpPr/>
          <p:nvPr/>
        </p:nvSpPr>
        <p:spPr>
          <a:xfrm>
            <a:off x="3474720" y="3291840"/>
            <a:ext cx="393192" cy="201168"/>
          </a:xfrm>
          <a:prstGeom prst="roundRect">
            <a:avLst>
              <a:gd name="adj" fmla="val 30000"/>
            </a:avLst>
          </a:prstGeom>
          <a:solidFill>
            <a:srgbClr val="FFFFFF"/>
          </a:solidFill>
          <a:ln w="12700">
            <a:solidFill>
              <a:srgbClr val="C9C6D6"/>
            </a:solidFill>
            <a:prstDash val="solid"/>
          </a:ln>
        </p:spPr>
      </p:sp>
      <p:sp>
        <p:nvSpPr>
          <p:cNvPr id="42" name="Stage 2 chip A1-1 label"/>
          <p:cNvSpPr txBox="1"/>
          <p:nvPr/>
        </p:nvSpPr>
        <p:spPr>
          <a:xfrm>
            <a:off x="3474720" y="3291840"/>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A1-1</a:t>
            </a:r>
            <a:endParaRPr lang="en-US" sz="900" dirty="0"/>
          </a:p>
        </p:txBody>
      </p:sp>
      <p:sp>
        <p:nvSpPr>
          <p:cNvPr id="43" name="Stage 2 chip B1-1"/>
          <p:cNvSpPr/>
          <p:nvPr/>
        </p:nvSpPr>
        <p:spPr>
          <a:xfrm>
            <a:off x="3886200" y="3291840"/>
            <a:ext cx="393192" cy="201168"/>
          </a:xfrm>
          <a:prstGeom prst="roundRect">
            <a:avLst>
              <a:gd name="adj" fmla="val 30000"/>
            </a:avLst>
          </a:prstGeom>
          <a:solidFill>
            <a:srgbClr val="FFFFFF"/>
          </a:solidFill>
          <a:ln w="12700">
            <a:solidFill>
              <a:srgbClr val="C9C6D6"/>
            </a:solidFill>
            <a:prstDash val="solid"/>
          </a:ln>
        </p:spPr>
      </p:sp>
      <p:sp>
        <p:nvSpPr>
          <p:cNvPr id="44" name="Stage 2 chip B1-1 label"/>
          <p:cNvSpPr txBox="1"/>
          <p:nvPr/>
        </p:nvSpPr>
        <p:spPr>
          <a:xfrm>
            <a:off x="3886200" y="3291840"/>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B1-1</a:t>
            </a:r>
            <a:endParaRPr lang="en-US" sz="900" dirty="0"/>
          </a:p>
        </p:txBody>
      </p:sp>
      <p:sp>
        <p:nvSpPr>
          <p:cNvPr id="45" name="Stage 2 chip C1-1"/>
          <p:cNvSpPr/>
          <p:nvPr/>
        </p:nvSpPr>
        <p:spPr>
          <a:xfrm>
            <a:off x="4297680" y="3291840"/>
            <a:ext cx="393192" cy="201168"/>
          </a:xfrm>
          <a:prstGeom prst="roundRect">
            <a:avLst>
              <a:gd name="adj" fmla="val 30000"/>
            </a:avLst>
          </a:prstGeom>
          <a:solidFill>
            <a:srgbClr val="FFFFFF"/>
          </a:solidFill>
          <a:ln w="12700">
            <a:solidFill>
              <a:srgbClr val="C9C6D6"/>
            </a:solidFill>
            <a:prstDash val="solid"/>
          </a:ln>
        </p:spPr>
      </p:sp>
      <p:sp>
        <p:nvSpPr>
          <p:cNvPr id="46" name="Stage 2 chip C1-1 label"/>
          <p:cNvSpPr txBox="1"/>
          <p:nvPr/>
        </p:nvSpPr>
        <p:spPr>
          <a:xfrm>
            <a:off x="4297680" y="3291840"/>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C1-1</a:t>
            </a:r>
            <a:endParaRPr lang="en-US" sz="900" dirty="0"/>
          </a:p>
        </p:txBody>
      </p:sp>
      <p:sp>
        <p:nvSpPr>
          <p:cNvPr id="47" name="Stage 2 chip D1-1"/>
          <p:cNvSpPr/>
          <p:nvPr/>
        </p:nvSpPr>
        <p:spPr>
          <a:xfrm>
            <a:off x="4709160" y="3291840"/>
            <a:ext cx="393192" cy="201168"/>
          </a:xfrm>
          <a:prstGeom prst="roundRect">
            <a:avLst>
              <a:gd name="adj" fmla="val 30000"/>
            </a:avLst>
          </a:prstGeom>
          <a:solidFill>
            <a:schemeClr val="accent3"/>
          </a:solidFill>
          <a:ln w="12700">
            <a:solidFill>
              <a:schemeClr val="accent3"/>
            </a:solidFill>
            <a:prstDash val="solid"/>
          </a:ln>
        </p:spPr>
      </p:sp>
      <p:sp>
        <p:nvSpPr>
          <p:cNvPr id="48" name="Stage 2 chip D1-1 label"/>
          <p:cNvSpPr txBox="1"/>
          <p:nvPr/>
        </p:nvSpPr>
        <p:spPr>
          <a:xfrm>
            <a:off x="4709160"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D1-1</a:t>
            </a:r>
            <a:endParaRPr lang="en-US" sz="900" dirty="0"/>
          </a:p>
        </p:txBody>
      </p:sp>
      <p:sp>
        <p:nvSpPr>
          <p:cNvPr id="49" name="Stage 2 chip E1-1"/>
          <p:cNvSpPr/>
          <p:nvPr/>
        </p:nvSpPr>
        <p:spPr>
          <a:xfrm>
            <a:off x="5120640" y="3291840"/>
            <a:ext cx="393192" cy="201168"/>
          </a:xfrm>
          <a:prstGeom prst="roundRect">
            <a:avLst>
              <a:gd name="adj" fmla="val 30000"/>
            </a:avLst>
          </a:prstGeom>
          <a:solidFill>
            <a:srgbClr val="FFFFFF"/>
          </a:solidFill>
          <a:ln w="12700">
            <a:solidFill>
              <a:srgbClr val="C9C6D6"/>
            </a:solidFill>
            <a:prstDash val="solid"/>
          </a:ln>
        </p:spPr>
      </p:sp>
      <p:sp>
        <p:nvSpPr>
          <p:cNvPr id="50" name="Stage 2 chip E1-1 label"/>
          <p:cNvSpPr txBox="1"/>
          <p:nvPr/>
        </p:nvSpPr>
        <p:spPr>
          <a:xfrm>
            <a:off x="5120640" y="3291840"/>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E1-1</a:t>
            </a:r>
            <a:endParaRPr lang="en-US" sz="900" dirty="0"/>
          </a:p>
        </p:txBody>
      </p:sp>
      <p:sp>
        <p:nvSpPr>
          <p:cNvPr id="51" name="Stage 2 chip F1-1"/>
          <p:cNvSpPr/>
          <p:nvPr/>
        </p:nvSpPr>
        <p:spPr>
          <a:xfrm>
            <a:off x="5532120" y="3291840"/>
            <a:ext cx="393192" cy="201168"/>
          </a:xfrm>
          <a:prstGeom prst="roundRect">
            <a:avLst>
              <a:gd name="adj" fmla="val 30000"/>
            </a:avLst>
          </a:prstGeom>
          <a:solidFill>
            <a:srgbClr val="FFFFFF"/>
          </a:solidFill>
          <a:ln w="12700">
            <a:solidFill>
              <a:srgbClr val="C9C6D6"/>
            </a:solidFill>
            <a:prstDash val="solid"/>
          </a:ln>
        </p:spPr>
      </p:sp>
      <p:sp>
        <p:nvSpPr>
          <p:cNvPr id="52" name="Stage 2 chip F1-1 label"/>
          <p:cNvSpPr txBox="1"/>
          <p:nvPr/>
        </p:nvSpPr>
        <p:spPr>
          <a:xfrm>
            <a:off x="5532120" y="3291840"/>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F1-1</a:t>
            </a:r>
            <a:endParaRPr lang="en-US" sz="900" dirty="0"/>
          </a:p>
        </p:txBody>
      </p:sp>
      <p:sp>
        <p:nvSpPr>
          <p:cNvPr id="53" name="Stage 2 chip A2-1"/>
          <p:cNvSpPr/>
          <p:nvPr/>
        </p:nvSpPr>
        <p:spPr>
          <a:xfrm>
            <a:off x="3474720" y="3529584"/>
            <a:ext cx="393192" cy="201168"/>
          </a:xfrm>
          <a:prstGeom prst="roundRect">
            <a:avLst>
              <a:gd name="adj" fmla="val 30000"/>
            </a:avLst>
          </a:prstGeom>
          <a:solidFill>
            <a:srgbClr val="FFFFFF"/>
          </a:solidFill>
          <a:ln w="12700">
            <a:solidFill>
              <a:srgbClr val="C9C6D6"/>
            </a:solidFill>
            <a:prstDash val="solid"/>
          </a:ln>
        </p:spPr>
      </p:sp>
      <p:sp>
        <p:nvSpPr>
          <p:cNvPr id="54" name="Stage 2 chip A2-1 label"/>
          <p:cNvSpPr txBox="1"/>
          <p:nvPr/>
        </p:nvSpPr>
        <p:spPr>
          <a:xfrm>
            <a:off x="3474720" y="3529584"/>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A2-1</a:t>
            </a:r>
            <a:endParaRPr lang="en-US" sz="900" dirty="0"/>
          </a:p>
        </p:txBody>
      </p:sp>
      <p:sp>
        <p:nvSpPr>
          <p:cNvPr id="55" name="Stage 2 chip B2-1"/>
          <p:cNvSpPr/>
          <p:nvPr/>
        </p:nvSpPr>
        <p:spPr>
          <a:xfrm>
            <a:off x="3886200" y="3529584"/>
            <a:ext cx="393192" cy="201168"/>
          </a:xfrm>
          <a:prstGeom prst="roundRect">
            <a:avLst>
              <a:gd name="adj" fmla="val 30000"/>
            </a:avLst>
          </a:prstGeom>
          <a:solidFill>
            <a:schemeClr val="accent3"/>
          </a:solidFill>
          <a:ln w="12700">
            <a:solidFill>
              <a:schemeClr val="accent3"/>
            </a:solidFill>
            <a:prstDash val="solid"/>
          </a:ln>
        </p:spPr>
      </p:sp>
      <p:sp>
        <p:nvSpPr>
          <p:cNvPr id="56" name="Stage 2 chip B2-1 label"/>
          <p:cNvSpPr txBox="1"/>
          <p:nvPr/>
        </p:nvSpPr>
        <p:spPr>
          <a:xfrm>
            <a:off x="3886200"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B2-1</a:t>
            </a:r>
            <a:endParaRPr lang="en-US" sz="900" dirty="0"/>
          </a:p>
        </p:txBody>
      </p:sp>
      <p:sp>
        <p:nvSpPr>
          <p:cNvPr id="57" name="Stage 2 chip C2-1"/>
          <p:cNvSpPr/>
          <p:nvPr/>
        </p:nvSpPr>
        <p:spPr>
          <a:xfrm>
            <a:off x="4297680" y="3529584"/>
            <a:ext cx="393192" cy="201168"/>
          </a:xfrm>
          <a:prstGeom prst="roundRect">
            <a:avLst>
              <a:gd name="adj" fmla="val 30000"/>
            </a:avLst>
          </a:prstGeom>
          <a:solidFill>
            <a:schemeClr val="accent3"/>
          </a:solidFill>
          <a:ln w="12700">
            <a:solidFill>
              <a:schemeClr val="accent3"/>
            </a:solidFill>
            <a:prstDash val="solid"/>
          </a:ln>
        </p:spPr>
      </p:sp>
      <p:sp>
        <p:nvSpPr>
          <p:cNvPr id="58" name="Stage 2 chip C2-1 label"/>
          <p:cNvSpPr txBox="1"/>
          <p:nvPr/>
        </p:nvSpPr>
        <p:spPr>
          <a:xfrm>
            <a:off x="4297680"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C2-1</a:t>
            </a:r>
            <a:endParaRPr lang="en-US" sz="900" dirty="0"/>
          </a:p>
        </p:txBody>
      </p:sp>
      <p:sp>
        <p:nvSpPr>
          <p:cNvPr id="59" name="Stage 2 chip D2-1"/>
          <p:cNvSpPr/>
          <p:nvPr/>
        </p:nvSpPr>
        <p:spPr>
          <a:xfrm>
            <a:off x="4709160" y="3529584"/>
            <a:ext cx="393192" cy="201168"/>
          </a:xfrm>
          <a:prstGeom prst="roundRect">
            <a:avLst>
              <a:gd name="adj" fmla="val 30000"/>
            </a:avLst>
          </a:prstGeom>
          <a:solidFill>
            <a:srgbClr val="FFFFFF"/>
          </a:solidFill>
          <a:ln w="12700">
            <a:solidFill>
              <a:srgbClr val="C9C6D6"/>
            </a:solidFill>
            <a:prstDash val="solid"/>
          </a:ln>
        </p:spPr>
      </p:sp>
      <p:sp>
        <p:nvSpPr>
          <p:cNvPr id="60" name="Stage 2 chip D2-1 label"/>
          <p:cNvSpPr txBox="1"/>
          <p:nvPr/>
        </p:nvSpPr>
        <p:spPr>
          <a:xfrm>
            <a:off x="4709160" y="3529584"/>
            <a:ext cx="393192" cy="201168"/>
          </a:xfrm>
          <a:prstGeom prst="rect">
            <a:avLst/>
          </a:prstGeom>
          <a:noFill/>
          <a:ln/>
        </p:spPr>
        <p:txBody>
          <a:bodyPr wrap="square" lIns="0" tIns="0" rIns="0" bIns="0" rtlCol="0" anchor="ctr"/>
          <a:lstStyle/>
          <a:p>
            <a:pPr marL="0" indent="0" algn="ctr">
              <a:buNone/>
            </a:pPr>
            <a:r>
              <a:rPr lang="en-US" sz="900" b="1" dirty="0">
                <a:solidFill>
                  <a:srgbClr val="A3A0B0"/>
                </a:solidFill>
              </a:rPr>
              <a:t>D2-1</a:t>
            </a:r>
            <a:endParaRPr lang="en-US" sz="900" dirty="0"/>
          </a:p>
        </p:txBody>
      </p:sp>
      <p:sp>
        <p:nvSpPr>
          <p:cNvPr id="61" name="Stage 2 chip E2-1"/>
          <p:cNvSpPr/>
          <p:nvPr/>
        </p:nvSpPr>
        <p:spPr>
          <a:xfrm>
            <a:off x="5120640" y="3529584"/>
            <a:ext cx="393192" cy="201168"/>
          </a:xfrm>
          <a:prstGeom prst="roundRect">
            <a:avLst>
              <a:gd name="adj" fmla="val 30000"/>
            </a:avLst>
          </a:prstGeom>
          <a:solidFill>
            <a:schemeClr val="accent3"/>
          </a:solidFill>
          <a:ln w="12700">
            <a:solidFill>
              <a:schemeClr val="accent3"/>
            </a:solidFill>
            <a:prstDash val="solid"/>
          </a:ln>
        </p:spPr>
      </p:sp>
      <p:sp>
        <p:nvSpPr>
          <p:cNvPr id="62" name="Stage 2 chip E2-1 label"/>
          <p:cNvSpPr txBox="1"/>
          <p:nvPr/>
        </p:nvSpPr>
        <p:spPr>
          <a:xfrm>
            <a:off x="5120640"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E2-1</a:t>
            </a:r>
            <a:endParaRPr lang="en-US" sz="900" dirty="0"/>
          </a:p>
        </p:txBody>
      </p:sp>
      <p:sp>
        <p:nvSpPr>
          <p:cNvPr id="63" name="Stage 2 chip F2-1"/>
          <p:cNvSpPr/>
          <p:nvPr/>
        </p:nvSpPr>
        <p:spPr>
          <a:xfrm>
            <a:off x="5532120" y="3529584"/>
            <a:ext cx="393192" cy="201168"/>
          </a:xfrm>
          <a:prstGeom prst="roundRect">
            <a:avLst>
              <a:gd name="adj" fmla="val 30000"/>
            </a:avLst>
          </a:prstGeom>
          <a:solidFill>
            <a:schemeClr val="accent3"/>
          </a:solidFill>
          <a:ln w="12700">
            <a:solidFill>
              <a:schemeClr val="accent3"/>
            </a:solidFill>
            <a:prstDash val="solid"/>
          </a:ln>
        </p:spPr>
      </p:sp>
      <p:sp>
        <p:nvSpPr>
          <p:cNvPr id="64" name="Stage 2 chip F2-1 label"/>
          <p:cNvSpPr txBox="1"/>
          <p:nvPr/>
        </p:nvSpPr>
        <p:spPr>
          <a:xfrm>
            <a:off x="5532120" y="3529584"/>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F2-1</a:t>
            </a:r>
            <a:endParaRPr lang="en-US" sz="900" dirty="0"/>
          </a:p>
        </p:txBody>
      </p:sp>
      <p:sp>
        <p:nvSpPr>
          <p:cNvPr id="65" name="Selection 2 footer"/>
          <p:cNvSpPr txBox="1"/>
          <p:nvPr/>
        </p:nvSpPr>
        <p:spPr>
          <a:xfrm>
            <a:off x="3474720" y="3767328"/>
            <a:ext cx="2340864" cy="201168"/>
          </a:xfrm>
          <a:prstGeom prst="rect">
            <a:avLst/>
          </a:prstGeom>
          <a:noFill/>
          <a:ln/>
        </p:spPr>
        <p:txBody>
          <a:bodyPr wrap="square" lIns="0" tIns="0" rIns="0" bIns="0" rtlCol="0" anchor="ctr"/>
          <a:lstStyle/>
          <a:p>
            <a:pPr marL="0" indent="0" algn="l">
              <a:buNone/>
            </a:pPr>
            <a:r>
              <a:rPr lang="en-US" sz="950" b="1" dirty="0">
                <a:solidFill>
                  <a:schemeClr val="accent3"/>
                </a:solidFill>
              </a:rPr>
              <a:t>7 excluded (reasons: slide 4)</a:t>
            </a:r>
            <a:endParaRPr lang="en-US" sz="950" dirty="0"/>
          </a:p>
        </p:txBody>
      </p:sp>
      <p:sp>
        <p:nvSpPr>
          <p:cNvPr id="66" name="Selection arrow 2"/>
          <p:cNvSpPr/>
          <p:nvPr/>
        </p:nvSpPr>
        <p:spPr>
          <a:xfrm>
            <a:off x="5989320" y="3264408"/>
            <a:ext cx="210312" cy="0"/>
          </a:xfrm>
          <a:prstGeom prst="line">
            <a:avLst/>
          </a:prstGeom>
          <a:noFill/>
          <a:ln w="28575">
            <a:solidFill>
              <a:schemeClr val="accent3"/>
            </a:solidFill>
            <a:prstDash val="solid"/>
            <a:tailEnd type="triangle"/>
          </a:ln>
        </p:spPr>
      </p:sp>
      <p:sp>
        <p:nvSpPr>
          <p:cNvPr id="67" name="Selection stage 3"/>
          <p:cNvSpPr/>
          <p:nvPr/>
        </p:nvSpPr>
        <p:spPr>
          <a:xfrm>
            <a:off x="6245352" y="2523744"/>
            <a:ext cx="2596896" cy="1481328"/>
          </a:xfrm>
          <a:prstGeom prst="roundRect">
            <a:avLst>
              <a:gd name="adj" fmla="val 6000"/>
            </a:avLst>
          </a:prstGeom>
          <a:solidFill>
            <a:schemeClr val="bg2"/>
          </a:solidFill>
          <a:ln w="15875">
            <a:solidFill>
              <a:schemeClr val="accent3"/>
            </a:solidFill>
            <a:prstDash val="solid"/>
          </a:ln>
        </p:spPr>
      </p:sp>
      <p:sp>
        <p:nvSpPr>
          <p:cNvPr id="68" name="Selection 3 number"/>
          <p:cNvSpPr/>
          <p:nvPr/>
        </p:nvSpPr>
        <p:spPr>
          <a:xfrm>
            <a:off x="6355080" y="2615184"/>
            <a:ext cx="256032" cy="256032"/>
          </a:xfrm>
          <a:prstGeom prst="ellipse">
            <a:avLst/>
          </a:prstGeom>
          <a:solidFill>
            <a:schemeClr val="accent3"/>
          </a:solidFill>
          <a:ln w="12700">
            <a:solidFill>
              <a:schemeClr val="accent3"/>
            </a:solidFill>
            <a:prstDash val="solid"/>
          </a:ln>
        </p:spPr>
      </p:sp>
      <p:sp>
        <p:nvSpPr>
          <p:cNvPr id="69" name="Selection 3 number label"/>
          <p:cNvSpPr txBox="1"/>
          <p:nvPr/>
        </p:nvSpPr>
        <p:spPr>
          <a:xfrm>
            <a:off x="6355080" y="261518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70" name="Selection 3 title"/>
          <p:cNvSpPr txBox="1"/>
          <p:nvPr/>
        </p:nvSpPr>
        <p:spPr>
          <a:xfrm>
            <a:off x="6684264" y="2615184"/>
            <a:ext cx="2048256" cy="256032"/>
          </a:xfrm>
          <a:prstGeom prst="rect">
            <a:avLst/>
          </a:prstGeom>
          <a:noFill/>
          <a:ln/>
        </p:spPr>
        <p:txBody>
          <a:bodyPr wrap="square" lIns="0" tIns="0" rIns="0" bIns="0" rtlCol="0" anchor="ctr"/>
          <a:lstStyle/>
          <a:p>
            <a:pPr marL="0" indent="0" algn="l">
              <a:buNone/>
            </a:pPr>
            <a:r>
              <a:rPr lang="en-US" sz="1250" b="1" dirty="0">
                <a:solidFill>
                  <a:schemeClr val="accent3"/>
                </a:solidFill>
              </a:rPr>
              <a:t>FTIR check → 5</a:t>
            </a:r>
            <a:endParaRPr lang="en-US" sz="1250" dirty="0"/>
          </a:p>
        </p:txBody>
      </p:sp>
      <p:sp>
        <p:nvSpPr>
          <p:cNvPr id="71" name="Selection 3 criteria"/>
          <p:cNvSpPr txBox="1"/>
          <p:nvPr/>
        </p:nvSpPr>
        <p:spPr>
          <a:xfrm>
            <a:off x="6373368" y="2926080"/>
            <a:ext cx="2340864" cy="310896"/>
          </a:xfrm>
          <a:prstGeom prst="rect">
            <a:avLst/>
          </a:prstGeom>
          <a:noFill/>
          <a:ln/>
        </p:spPr>
        <p:txBody>
          <a:bodyPr wrap="square" lIns="0" tIns="0" rIns="0" bIns="0" rtlCol="0" anchor="t"/>
          <a:lstStyle/>
          <a:p>
            <a:pPr marL="0" indent="0" algn="l">
              <a:buNone/>
            </a:pPr>
            <a:r>
              <a:rPr lang="en-US" sz="950" dirty="0">
                <a:solidFill>
                  <a:schemeClr val="accent6"/>
                </a:solidFill>
              </a:rPr>
              <a:t>Both COO</a:t>
            </a:r>
            <a:r>
              <a:rPr lang="en-US" sz="950" baseline="30000" dirty="0">
                <a:solidFill>
                  <a:schemeClr val="accent6"/>
                </a:solidFill>
              </a:rPr>
              <a:t>−</a:t>
            </a:r>
            <a:r>
              <a:rPr lang="en-US" sz="950" dirty="0">
                <a:solidFill>
                  <a:schemeClr val="accent6"/>
                </a:solidFill>
              </a:rPr>
              <a:t xml:space="preserve"> bands · majority band pattern · no extra band</a:t>
            </a:r>
            <a:endParaRPr lang="en-US" sz="950" dirty="0"/>
          </a:p>
        </p:txBody>
      </p:sp>
      <p:sp>
        <p:nvSpPr>
          <p:cNvPr id="72" name="Stage 3 chip B2-1"/>
          <p:cNvSpPr/>
          <p:nvPr/>
        </p:nvSpPr>
        <p:spPr>
          <a:xfrm>
            <a:off x="6373368" y="3291840"/>
            <a:ext cx="393192" cy="201168"/>
          </a:xfrm>
          <a:prstGeom prst="roundRect">
            <a:avLst>
              <a:gd name="adj" fmla="val 30000"/>
            </a:avLst>
          </a:prstGeom>
          <a:solidFill>
            <a:schemeClr val="accent3"/>
          </a:solidFill>
          <a:ln w="12700">
            <a:solidFill>
              <a:schemeClr val="accent3"/>
            </a:solidFill>
            <a:prstDash val="solid"/>
          </a:ln>
        </p:spPr>
      </p:sp>
      <p:sp>
        <p:nvSpPr>
          <p:cNvPr id="73" name="Stage 3 chip B2-1 label"/>
          <p:cNvSpPr txBox="1"/>
          <p:nvPr/>
        </p:nvSpPr>
        <p:spPr>
          <a:xfrm>
            <a:off x="6373368"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B2-1</a:t>
            </a:r>
            <a:endParaRPr lang="en-US" sz="900" dirty="0"/>
          </a:p>
        </p:txBody>
      </p:sp>
      <p:sp>
        <p:nvSpPr>
          <p:cNvPr id="74" name="Stage 3 chip C2-1"/>
          <p:cNvSpPr/>
          <p:nvPr/>
        </p:nvSpPr>
        <p:spPr>
          <a:xfrm>
            <a:off x="6784848" y="3291840"/>
            <a:ext cx="393192" cy="201168"/>
          </a:xfrm>
          <a:prstGeom prst="roundRect">
            <a:avLst>
              <a:gd name="adj" fmla="val 30000"/>
            </a:avLst>
          </a:prstGeom>
          <a:solidFill>
            <a:schemeClr val="accent3"/>
          </a:solidFill>
          <a:ln w="12700">
            <a:solidFill>
              <a:schemeClr val="accent3"/>
            </a:solidFill>
            <a:prstDash val="solid"/>
          </a:ln>
        </p:spPr>
      </p:sp>
      <p:sp>
        <p:nvSpPr>
          <p:cNvPr id="75" name="Stage 3 chip C2-1 label"/>
          <p:cNvSpPr txBox="1"/>
          <p:nvPr/>
        </p:nvSpPr>
        <p:spPr>
          <a:xfrm>
            <a:off x="6784848"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C2-1</a:t>
            </a:r>
            <a:endParaRPr lang="en-US" sz="900" dirty="0"/>
          </a:p>
        </p:txBody>
      </p:sp>
      <p:sp>
        <p:nvSpPr>
          <p:cNvPr id="76" name="Stage 3 chip E2-1"/>
          <p:cNvSpPr/>
          <p:nvPr/>
        </p:nvSpPr>
        <p:spPr>
          <a:xfrm>
            <a:off x="7196328" y="3291840"/>
            <a:ext cx="393192" cy="201168"/>
          </a:xfrm>
          <a:prstGeom prst="roundRect">
            <a:avLst>
              <a:gd name="adj" fmla="val 30000"/>
            </a:avLst>
          </a:prstGeom>
          <a:solidFill>
            <a:schemeClr val="accent3"/>
          </a:solidFill>
          <a:ln w="12700">
            <a:solidFill>
              <a:schemeClr val="accent3"/>
            </a:solidFill>
            <a:prstDash val="solid"/>
          </a:ln>
        </p:spPr>
      </p:sp>
      <p:sp>
        <p:nvSpPr>
          <p:cNvPr id="77" name="Stage 3 chip E2-1 label"/>
          <p:cNvSpPr txBox="1"/>
          <p:nvPr/>
        </p:nvSpPr>
        <p:spPr>
          <a:xfrm>
            <a:off x="7196328"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E2-1</a:t>
            </a:r>
            <a:endParaRPr lang="en-US" sz="900" dirty="0"/>
          </a:p>
        </p:txBody>
      </p:sp>
      <p:sp>
        <p:nvSpPr>
          <p:cNvPr id="78" name="Stage 3 chip F2-1"/>
          <p:cNvSpPr/>
          <p:nvPr/>
        </p:nvSpPr>
        <p:spPr>
          <a:xfrm>
            <a:off x="7607808" y="3291840"/>
            <a:ext cx="393192" cy="201168"/>
          </a:xfrm>
          <a:prstGeom prst="roundRect">
            <a:avLst>
              <a:gd name="adj" fmla="val 30000"/>
            </a:avLst>
          </a:prstGeom>
          <a:solidFill>
            <a:schemeClr val="accent3"/>
          </a:solidFill>
          <a:ln w="12700">
            <a:solidFill>
              <a:schemeClr val="accent3"/>
            </a:solidFill>
            <a:prstDash val="solid"/>
          </a:ln>
        </p:spPr>
      </p:sp>
      <p:sp>
        <p:nvSpPr>
          <p:cNvPr id="79" name="Stage 3 chip F2-1 label"/>
          <p:cNvSpPr txBox="1"/>
          <p:nvPr/>
        </p:nvSpPr>
        <p:spPr>
          <a:xfrm>
            <a:off x="7607808"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F2-1</a:t>
            </a:r>
            <a:endParaRPr lang="en-US" sz="900" dirty="0"/>
          </a:p>
        </p:txBody>
      </p:sp>
      <p:sp>
        <p:nvSpPr>
          <p:cNvPr id="80" name="Stage 3 chip D1-1"/>
          <p:cNvSpPr/>
          <p:nvPr/>
        </p:nvSpPr>
        <p:spPr>
          <a:xfrm>
            <a:off x="8019288" y="3291840"/>
            <a:ext cx="393192" cy="201168"/>
          </a:xfrm>
          <a:prstGeom prst="roundRect">
            <a:avLst>
              <a:gd name="adj" fmla="val 30000"/>
            </a:avLst>
          </a:prstGeom>
          <a:solidFill>
            <a:schemeClr val="accent3"/>
          </a:solidFill>
          <a:ln w="12700">
            <a:solidFill>
              <a:schemeClr val="accent3"/>
            </a:solidFill>
            <a:prstDash val="solid"/>
          </a:ln>
        </p:spPr>
      </p:sp>
      <p:sp>
        <p:nvSpPr>
          <p:cNvPr id="81" name="Stage 3 chip D1-1 label"/>
          <p:cNvSpPr txBox="1"/>
          <p:nvPr/>
        </p:nvSpPr>
        <p:spPr>
          <a:xfrm>
            <a:off x="8019288" y="3291840"/>
            <a:ext cx="393192" cy="201168"/>
          </a:xfrm>
          <a:prstGeom prst="rect">
            <a:avLst/>
          </a:prstGeom>
          <a:noFill/>
          <a:ln/>
        </p:spPr>
        <p:txBody>
          <a:bodyPr wrap="square" lIns="0" tIns="0" rIns="0" bIns="0" rtlCol="0" anchor="ctr"/>
          <a:lstStyle/>
          <a:p>
            <a:pPr marL="0" indent="0" algn="ctr">
              <a:buNone/>
            </a:pPr>
            <a:r>
              <a:rPr lang="en-US" sz="900" b="1" dirty="0">
                <a:solidFill>
                  <a:srgbClr val="FFFFFF"/>
                </a:solidFill>
              </a:rPr>
              <a:t>D1-1</a:t>
            </a:r>
            <a:endParaRPr lang="en-US" sz="900" dirty="0"/>
          </a:p>
        </p:txBody>
      </p:sp>
      <p:sp>
        <p:nvSpPr>
          <p:cNvPr id="82" name="Selection 3 footer"/>
          <p:cNvSpPr txBox="1"/>
          <p:nvPr/>
        </p:nvSpPr>
        <p:spPr>
          <a:xfrm>
            <a:off x="6373368" y="3767328"/>
            <a:ext cx="2340864" cy="201168"/>
          </a:xfrm>
          <a:prstGeom prst="rect">
            <a:avLst/>
          </a:prstGeom>
          <a:noFill/>
          <a:ln/>
        </p:spPr>
        <p:txBody>
          <a:bodyPr wrap="square" lIns="0" tIns="0" rIns="0" bIns="0" rtlCol="0" anchor="ctr"/>
          <a:lstStyle/>
          <a:p>
            <a:pPr marL="0" indent="0" algn="l">
              <a:buNone/>
            </a:pPr>
            <a:r>
              <a:rPr lang="en-US" sz="950" b="1" dirty="0">
                <a:solidFill>
                  <a:schemeClr val="accent3"/>
                </a:solidFill>
              </a:rPr>
              <a:t>All 5 pass · agrees with XRD</a:t>
            </a:r>
            <a:endParaRPr lang="en-US" sz="950" dirty="0"/>
          </a:p>
        </p:txBody>
      </p:sp>
      <p:sp>
        <p:nvSpPr>
          <p:cNvPr id="83" name="Selection arrow 3"/>
          <p:cNvSpPr/>
          <p:nvPr/>
        </p:nvSpPr>
        <p:spPr>
          <a:xfrm>
            <a:off x="8887968" y="3264408"/>
            <a:ext cx="210312" cy="0"/>
          </a:xfrm>
          <a:prstGeom prst="line">
            <a:avLst/>
          </a:prstGeom>
          <a:noFill/>
          <a:ln w="28575">
            <a:solidFill>
              <a:schemeClr val="accent3"/>
            </a:solidFill>
            <a:prstDash val="solid"/>
            <a:tailEnd type="triangle"/>
          </a:ln>
        </p:spPr>
      </p:sp>
      <p:sp>
        <p:nvSpPr>
          <p:cNvPr id="84" name="Selection stage 4"/>
          <p:cNvSpPr/>
          <p:nvPr/>
        </p:nvSpPr>
        <p:spPr>
          <a:xfrm>
            <a:off x="9144000" y="2523744"/>
            <a:ext cx="2596896" cy="1481328"/>
          </a:xfrm>
          <a:prstGeom prst="roundRect">
            <a:avLst>
              <a:gd name="adj" fmla="val 6000"/>
            </a:avLst>
          </a:prstGeom>
          <a:solidFill>
            <a:srgbClr val="FFF0E6"/>
          </a:solidFill>
          <a:ln w="15875">
            <a:solidFill>
              <a:schemeClr val="accent2"/>
            </a:solidFill>
            <a:prstDash val="solid"/>
          </a:ln>
        </p:spPr>
      </p:sp>
      <p:sp>
        <p:nvSpPr>
          <p:cNvPr id="85" name="Selection 4 number"/>
          <p:cNvSpPr/>
          <p:nvPr/>
        </p:nvSpPr>
        <p:spPr>
          <a:xfrm>
            <a:off x="9253728" y="2615184"/>
            <a:ext cx="256032" cy="256032"/>
          </a:xfrm>
          <a:prstGeom prst="ellipse">
            <a:avLst/>
          </a:prstGeom>
          <a:solidFill>
            <a:schemeClr val="accent2"/>
          </a:solidFill>
          <a:ln w="12700">
            <a:solidFill>
              <a:schemeClr val="accent2"/>
            </a:solidFill>
            <a:prstDash val="solid"/>
          </a:ln>
        </p:spPr>
      </p:sp>
      <p:sp>
        <p:nvSpPr>
          <p:cNvPr id="86" name="Selection 4 number label"/>
          <p:cNvSpPr txBox="1"/>
          <p:nvPr/>
        </p:nvSpPr>
        <p:spPr>
          <a:xfrm>
            <a:off x="9253728" y="261518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87" name="Selection 4 title"/>
          <p:cNvSpPr txBox="1"/>
          <p:nvPr/>
        </p:nvSpPr>
        <p:spPr>
          <a:xfrm>
            <a:off x="9582912" y="2615184"/>
            <a:ext cx="2048256" cy="256032"/>
          </a:xfrm>
          <a:prstGeom prst="rect">
            <a:avLst/>
          </a:prstGeom>
          <a:noFill/>
          <a:ln/>
        </p:spPr>
        <p:txBody>
          <a:bodyPr wrap="square" lIns="0" tIns="0" rIns="0" bIns="0" rtlCol="0" anchor="ctr"/>
          <a:lstStyle/>
          <a:p>
            <a:pPr marL="0" indent="0" algn="l">
              <a:buNone/>
            </a:pPr>
            <a:r>
              <a:rPr lang="en-US" sz="1250" b="1" dirty="0">
                <a:solidFill>
                  <a:srgbClr val="B8531A"/>
                </a:solidFill>
              </a:rPr>
              <a:t>Lead + shortlist</a:t>
            </a:r>
            <a:endParaRPr lang="en-US" sz="1250" dirty="0"/>
          </a:p>
        </p:txBody>
      </p:sp>
      <p:sp>
        <p:nvSpPr>
          <p:cNvPr id="88" name="Selection 4 criteria"/>
          <p:cNvSpPr txBox="1"/>
          <p:nvPr/>
        </p:nvSpPr>
        <p:spPr>
          <a:xfrm>
            <a:off x="9272016" y="2926080"/>
            <a:ext cx="2340864" cy="310896"/>
          </a:xfrm>
          <a:prstGeom prst="rect">
            <a:avLst/>
          </a:prstGeom>
          <a:noFill/>
          <a:ln/>
        </p:spPr>
        <p:txBody>
          <a:bodyPr wrap="square" lIns="0" tIns="0" rIns="0" bIns="0" rtlCol="0" anchor="t"/>
          <a:lstStyle/>
          <a:p>
            <a:pPr marL="0" indent="0" algn="l">
              <a:buNone/>
            </a:pPr>
            <a:r>
              <a:rPr lang="en-US" sz="950" dirty="0">
                <a:solidFill>
                  <a:schemeClr val="accent6"/>
                </a:solidFill>
              </a:rPr>
              <a:t>Agreement of both techniques</a:t>
            </a:r>
            <a:endParaRPr lang="en-US" sz="950" dirty="0"/>
          </a:p>
        </p:txBody>
      </p:sp>
      <p:sp>
        <p:nvSpPr>
          <p:cNvPr id="89" name="Stage 4 chip B2-1"/>
          <p:cNvSpPr/>
          <p:nvPr/>
        </p:nvSpPr>
        <p:spPr>
          <a:xfrm>
            <a:off x="9272016" y="3291840"/>
            <a:ext cx="402336" cy="201168"/>
          </a:xfrm>
          <a:prstGeom prst="roundRect">
            <a:avLst>
              <a:gd name="adj" fmla="val 30000"/>
            </a:avLst>
          </a:prstGeom>
          <a:solidFill>
            <a:schemeClr val="accent2"/>
          </a:solidFill>
          <a:ln w="12700">
            <a:solidFill>
              <a:schemeClr val="accent2"/>
            </a:solidFill>
            <a:prstDash val="solid"/>
          </a:ln>
        </p:spPr>
      </p:sp>
      <p:sp>
        <p:nvSpPr>
          <p:cNvPr id="90" name="Stage 4 chip B2-1 label"/>
          <p:cNvSpPr txBox="1"/>
          <p:nvPr/>
        </p:nvSpPr>
        <p:spPr>
          <a:xfrm>
            <a:off x="9272016" y="3291840"/>
            <a:ext cx="402336" cy="201168"/>
          </a:xfrm>
          <a:prstGeom prst="rect">
            <a:avLst/>
          </a:prstGeom>
          <a:noFill/>
          <a:ln/>
        </p:spPr>
        <p:txBody>
          <a:bodyPr wrap="square" lIns="0" tIns="0" rIns="0" bIns="0" rtlCol="0" anchor="ctr"/>
          <a:lstStyle/>
          <a:p>
            <a:pPr marL="0" indent="0" algn="ctr">
              <a:buNone/>
            </a:pPr>
            <a:r>
              <a:rPr lang="en-US" sz="900" b="1" dirty="0">
                <a:solidFill>
                  <a:srgbClr val="FFFFFF"/>
                </a:solidFill>
              </a:rPr>
              <a:t>B2-1</a:t>
            </a:r>
            <a:endParaRPr lang="en-US" sz="900" dirty="0"/>
          </a:p>
        </p:txBody>
      </p:sp>
      <p:sp>
        <p:nvSpPr>
          <p:cNvPr id="91" name="Stage 4 chip C2-1"/>
          <p:cNvSpPr/>
          <p:nvPr/>
        </p:nvSpPr>
        <p:spPr>
          <a:xfrm>
            <a:off x="9692640" y="3291840"/>
            <a:ext cx="402336" cy="201168"/>
          </a:xfrm>
          <a:prstGeom prst="roundRect">
            <a:avLst>
              <a:gd name="adj" fmla="val 30000"/>
            </a:avLst>
          </a:prstGeom>
          <a:solidFill>
            <a:srgbClr val="FFFFFF"/>
          </a:solidFill>
          <a:ln w="12700">
            <a:solidFill>
              <a:schemeClr val="accent3"/>
            </a:solidFill>
            <a:prstDash val="solid"/>
          </a:ln>
        </p:spPr>
      </p:sp>
      <p:sp>
        <p:nvSpPr>
          <p:cNvPr id="92" name="Stage 4 chip C2-1 label"/>
          <p:cNvSpPr txBox="1"/>
          <p:nvPr/>
        </p:nvSpPr>
        <p:spPr>
          <a:xfrm>
            <a:off x="9692640" y="3291840"/>
            <a:ext cx="402336" cy="201168"/>
          </a:xfrm>
          <a:prstGeom prst="rect">
            <a:avLst/>
          </a:prstGeom>
          <a:noFill/>
          <a:ln/>
        </p:spPr>
        <p:txBody>
          <a:bodyPr wrap="square" lIns="0" tIns="0" rIns="0" bIns="0" rtlCol="0" anchor="ctr"/>
          <a:lstStyle/>
          <a:p>
            <a:pPr marL="0" indent="0" algn="ctr">
              <a:buNone/>
            </a:pPr>
            <a:r>
              <a:rPr lang="en-US" sz="900" b="1" dirty="0">
                <a:solidFill>
                  <a:schemeClr val="accent3"/>
                </a:solidFill>
              </a:rPr>
              <a:t>C2-1</a:t>
            </a:r>
            <a:endParaRPr lang="en-US" sz="900" dirty="0"/>
          </a:p>
        </p:txBody>
      </p:sp>
      <p:sp>
        <p:nvSpPr>
          <p:cNvPr id="93" name="Stage 4 chip E2-1"/>
          <p:cNvSpPr/>
          <p:nvPr/>
        </p:nvSpPr>
        <p:spPr>
          <a:xfrm>
            <a:off x="10113264" y="3291840"/>
            <a:ext cx="402336" cy="201168"/>
          </a:xfrm>
          <a:prstGeom prst="roundRect">
            <a:avLst>
              <a:gd name="adj" fmla="val 30000"/>
            </a:avLst>
          </a:prstGeom>
          <a:solidFill>
            <a:srgbClr val="FFFFFF"/>
          </a:solidFill>
          <a:ln w="12700">
            <a:solidFill>
              <a:schemeClr val="accent3"/>
            </a:solidFill>
            <a:prstDash val="solid"/>
          </a:ln>
        </p:spPr>
      </p:sp>
      <p:sp>
        <p:nvSpPr>
          <p:cNvPr id="94" name="Stage 4 chip E2-1 label"/>
          <p:cNvSpPr txBox="1"/>
          <p:nvPr/>
        </p:nvSpPr>
        <p:spPr>
          <a:xfrm>
            <a:off x="10113264" y="3291840"/>
            <a:ext cx="402336" cy="201168"/>
          </a:xfrm>
          <a:prstGeom prst="rect">
            <a:avLst/>
          </a:prstGeom>
          <a:noFill/>
          <a:ln/>
        </p:spPr>
        <p:txBody>
          <a:bodyPr wrap="square" lIns="0" tIns="0" rIns="0" bIns="0" rtlCol="0" anchor="ctr"/>
          <a:lstStyle/>
          <a:p>
            <a:pPr marL="0" indent="0" algn="ctr">
              <a:buNone/>
            </a:pPr>
            <a:r>
              <a:rPr lang="en-US" sz="900" b="1" dirty="0">
                <a:solidFill>
                  <a:schemeClr val="accent3"/>
                </a:solidFill>
              </a:rPr>
              <a:t>E2-1</a:t>
            </a:r>
            <a:endParaRPr lang="en-US" sz="900" dirty="0"/>
          </a:p>
        </p:txBody>
      </p:sp>
      <p:sp>
        <p:nvSpPr>
          <p:cNvPr id="95" name="Stage 4 chip F2-1"/>
          <p:cNvSpPr/>
          <p:nvPr/>
        </p:nvSpPr>
        <p:spPr>
          <a:xfrm>
            <a:off x="10533888" y="3291840"/>
            <a:ext cx="402336" cy="201168"/>
          </a:xfrm>
          <a:prstGeom prst="roundRect">
            <a:avLst>
              <a:gd name="adj" fmla="val 30000"/>
            </a:avLst>
          </a:prstGeom>
          <a:solidFill>
            <a:srgbClr val="FFFFFF"/>
          </a:solidFill>
          <a:ln w="12700">
            <a:solidFill>
              <a:schemeClr val="accent3"/>
            </a:solidFill>
            <a:prstDash val="solid"/>
          </a:ln>
        </p:spPr>
      </p:sp>
      <p:sp>
        <p:nvSpPr>
          <p:cNvPr id="96" name="Stage 4 chip F2-1 label"/>
          <p:cNvSpPr txBox="1"/>
          <p:nvPr/>
        </p:nvSpPr>
        <p:spPr>
          <a:xfrm>
            <a:off x="10533888" y="3291840"/>
            <a:ext cx="402336" cy="201168"/>
          </a:xfrm>
          <a:prstGeom prst="rect">
            <a:avLst/>
          </a:prstGeom>
          <a:noFill/>
          <a:ln/>
        </p:spPr>
        <p:txBody>
          <a:bodyPr wrap="square" lIns="0" tIns="0" rIns="0" bIns="0" rtlCol="0" anchor="ctr"/>
          <a:lstStyle/>
          <a:p>
            <a:pPr marL="0" indent="0" algn="ctr">
              <a:buNone/>
            </a:pPr>
            <a:r>
              <a:rPr lang="en-US" sz="900" b="1" dirty="0">
                <a:solidFill>
                  <a:schemeClr val="accent3"/>
                </a:solidFill>
              </a:rPr>
              <a:t>F2-1</a:t>
            </a:r>
            <a:endParaRPr lang="en-US" sz="900" dirty="0"/>
          </a:p>
        </p:txBody>
      </p:sp>
      <p:sp>
        <p:nvSpPr>
          <p:cNvPr id="97" name="Stage 4 chip D1-1"/>
          <p:cNvSpPr/>
          <p:nvPr/>
        </p:nvSpPr>
        <p:spPr>
          <a:xfrm>
            <a:off x="10954512" y="3291840"/>
            <a:ext cx="402336" cy="201168"/>
          </a:xfrm>
          <a:prstGeom prst="roundRect">
            <a:avLst>
              <a:gd name="adj" fmla="val 30000"/>
            </a:avLst>
          </a:prstGeom>
          <a:solidFill>
            <a:srgbClr val="FFFFFF"/>
          </a:solidFill>
          <a:ln w="12700">
            <a:solidFill>
              <a:schemeClr val="accent3"/>
            </a:solidFill>
            <a:prstDash val="solid"/>
          </a:ln>
        </p:spPr>
      </p:sp>
      <p:sp>
        <p:nvSpPr>
          <p:cNvPr id="98" name="Stage 4 chip D1-1 label"/>
          <p:cNvSpPr txBox="1"/>
          <p:nvPr/>
        </p:nvSpPr>
        <p:spPr>
          <a:xfrm>
            <a:off x="10954512" y="3291840"/>
            <a:ext cx="402336" cy="201168"/>
          </a:xfrm>
          <a:prstGeom prst="rect">
            <a:avLst/>
          </a:prstGeom>
          <a:noFill/>
          <a:ln/>
        </p:spPr>
        <p:txBody>
          <a:bodyPr wrap="square" lIns="0" tIns="0" rIns="0" bIns="0" rtlCol="0" anchor="ctr"/>
          <a:lstStyle/>
          <a:p>
            <a:pPr marL="0" indent="0" algn="ctr">
              <a:buNone/>
            </a:pPr>
            <a:r>
              <a:rPr lang="en-US" sz="900" b="1" dirty="0">
                <a:solidFill>
                  <a:schemeClr val="accent3"/>
                </a:solidFill>
              </a:rPr>
              <a:t>D1-1</a:t>
            </a:r>
            <a:endParaRPr lang="en-US" sz="900" dirty="0"/>
          </a:p>
        </p:txBody>
      </p:sp>
      <p:sp>
        <p:nvSpPr>
          <p:cNvPr id="99" name="Selection 4 footer"/>
          <p:cNvSpPr txBox="1"/>
          <p:nvPr/>
        </p:nvSpPr>
        <p:spPr>
          <a:xfrm>
            <a:off x="9272016" y="3767328"/>
            <a:ext cx="2340864" cy="201168"/>
          </a:xfrm>
          <a:prstGeom prst="rect">
            <a:avLst/>
          </a:prstGeom>
          <a:noFill/>
          <a:ln/>
        </p:spPr>
        <p:txBody>
          <a:bodyPr wrap="square" lIns="0" tIns="0" rIns="0" bIns="0" rtlCol="0" anchor="ctr"/>
          <a:lstStyle/>
          <a:p>
            <a:pPr marL="0" indent="0" algn="l">
              <a:buNone/>
            </a:pPr>
            <a:r>
              <a:rPr lang="en-US" sz="950" b="1" dirty="0">
                <a:solidFill>
                  <a:srgbClr val="B8531A"/>
                </a:solidFill>
              </a:rPr>
              <a:t>Lead B2-1; four alternates, not ranked</a:t>
            </a:r>
            <a:endParaRPr lang="en-US" sz="950" dirty="0"/>
          </a:p>
        </p:txBody>
      </p:sp>
      <p:sp>
        <p:nvSpPr>
          <p:cNvPr id="100" name="Why B2-1 card"/>
          <p:cNvSpPr/>
          <p:nvPr/>
        </p:nvSpPr>
        <p:spPr>
          <a:xfrm>
            <a:off x="448056" y="4096512"/>
            <a:ext cx="7498080" cy="603504"/>
          </a:xfrm>
          <a:prstGeom prst="roundRect">
            <a:avLst>
              <a:gd name="adj" fmla="val 8000"/>
            </a:avLst>
          </a:prstGeom>
          <a:solidFill>
            <a:schemeClr val="bg2"/>
          </a:solidFill>
          <a:ln w="12700">
            <a:solidFill>
              <a:schemeClr val="bg2"/>
            </a:solidFill>
            <a:prstDash val="solid"/>
          </a:ln>
        </p:spPr>
      </p:sp>
      <p:sp>
        <p:nvSpPr>
          <p:cNvPr id="101" name="Why B2-1 text"/>
          <p:cNvSpPr txBox="1"/>
          <p:nvPr/>
        </p:nvSpPr>
        <p:spPr>
          <a:xfrm>
            <a:off x="594360" y="4151376"/>
            <a:ext cx="7223760" cy="512064"/>
          </a:xfrm>
          <a:prstGeom prst="rect">
            <a:avLst/>
          </a:prstGeom>
          <a:noFill/>
          <a:ln/>
        </p:spPr>
        <p:txBody>
          <a:bodyPr wrap="square" lIns="0" tIns="0" rIns="0" bIns="0" rtlCol="0" anchor="ctr"/>
          <a:lstStyle/>
          <a:p>
            <a:pPr marL="0" indent="0" algn="l">
              <a:buNone/>
            </a:pPr>
            <a:r>
              <a:rPr lang="en-US" sz="1050" b="1" dirty="0">
                <a:solidFill>
                  <a:srgbClr val="B8531A"/>
                </a:solidFill>
              </a:rPr>
              <a:t xml:space="preserve">Why B2-1 leads: </a:t>
            </a:r>
            <a:r>
              <a:rPr lang="en-US" sz="1050" dirty="0">
                <a:solidFill>
                  <a:schemeClr val="tx2"/>
                </a:solidFill>
              </a:rPr>
              <a:t>it meets every criterion in both techniques — the complete set of sharp reflections on a low background (XRD) and both COO</a:t>
            </a:r>
            <a:r>
              <a:rPr lang="en-US" sz="1050" baseline="30000" dirty="0">
                <a:solidFill>
                  <a:schemeClr val="tx2"/>
                </a:solidFill>
              </a:rPr>
              <a:t>−</a:t>
            </a:r>
            <a:r>
              <a:rPr lang="en-US" sz="1050" dirty="0">
                <a:solidFill>
                  <a:schemeClr val="tx2"/>
                </a:solidFill>
              </a:rPr>
              <a:t xml:space="preserve"> bands in the majority pattern with no extra band (FTIR) — and it has the top qualitative rating in the original FTIR figure. C2-1, E2-1, F2-1 and D1-1 also pass; the data do not support ranking them.</a:t>
            </a:r>
            <a:endParaRPr lang="en-US" sz="1050" dirty="0"/>
          </a:p>
        </p:txBody>
      </p:sp>
      <p:sp>
        <p:nvSpPr>
          <p:cNvPr id="102" name="Caveat card"/>
          <p:cNvSpPr/>
          <p:nvPr/>
        </p:nvSpPr>
        <p:spPr>
          <a:xfrm>
            <a:off x="8083296" y="4096512"/>
            <a:ext cx="3657600" cy="603504"/>
          </a:xfrm>
          <a:prstGeom prst="roundRect">
            <a:avLst>
              <a:gd name="adj" fmla="val 8000"/>
            </a:avLst>
          </a:prstGeom>
          <a:solidFill>
            <a:srgbClr val="FFFFFF"/>
          </a:solidFill>
          <a:ln w="15875">
            <a:solidFill>
              <a:schemeClr val="accent5"/>
            </a:solidFill>
            <a:prstDash val="solid"/>
          </a:ln>
        </p:spPr>
      </p:sp>
      <p:sp>
        <p:nvSpPr>
          <p:cNvPr id="103" name="Caveat text"/>
          <p:cNvSpPr txBox="1"/>
          <p:nvPr/>
        </p:nvSpPr>
        <p:spPr>
          <a:xfrm>
            <a:off x="8211312" y="4151376"/>
            <a:ext cx="3401568" cy="512064"/>
          </a:xfrm>
          <a:prstGeom prst="rect">
            <a:avLst/>
          </a:prstGeom>
          <a:noFill/>
          <a:ln/>
        </p:spPr>
        <p:txBody>
          <a:bodyPr wrap="square" lIns="0" tIns="0" rIns="0" bIns="0" rtlCol="0" anchor="ctr"/>
          <a:lstStyle/>
          <a:p>
            <a:pPr marL="0" indent="0" algn="l">
              <a:buNone/>
            </a:pPr>
            <a:r>
              <a:rPr lang="en-US" sz="1050" b="1" dirty="0">
                <a:solidFill>
                  <a:schemeClr val="accent5"/>
                </a:solidFill>
              </a:rPr>
              <a:t>Best-characterized ≠ highest CO₂ capacity</a:t>
            </a:r>
            <a:endParaRPr lang="en-US" sz="1050" dirty="0"/>
          </a:p>
          <a:p>
            <a:pPr marL="0" indent="0" algn="l">
              <a:buNone/>
            </a:pPr>
            <a:r>
              <a:rPr lang="en-US" sz="1000" dirty="0">
                <a:solidFill>
                  <a:schemeClr val="tx2"/>
                </a:solidFill>
              </a:rPr>
              <a:t>B2-1's CO₂ adsorption has not been measured; no sample has been tested yet.</a:t>
            </a:r>
            <a:endParaRPr lang="en-US" sz="1000" dirty="0"/>
          </a:p>
        </p:txBody>
      </p:sp>
      <p:sp>
        <p:nvSpPr>
          <p:cNvPr id="104" name="Planned label"/>
          <p:cNvSpPr txBox="1"/>
          <p:nvPr/>
        </p:nvSpPr>
        <p:spPr>
          <a:xfrm>
            <a:off x="448056" y="4828032"/>
            <a:ext cx="5943600" cy="201168"/>
          </a:xfrm>
          <a:prstGeom prst="rect">
            <a:avLst/>
          </a:prstGeom>
          <a:noFill/>
          <a:ln/>
        </p:spPr>
        <p:txBody>
          <a:bodyPr wrap="square" lIns="0" tIns="0" rIns="0" bIns="0" rtlCol="0" anchor="ctr"/>
          <a:lstStyle/>
          <a:p>
            <a:pPr marL="0" indent="0" algn="l">
              <a:buNone/>
            </a:pPr>
            <a:r>
              <a:rPr lang="en-US" sz="1100" b="1" kern="0" spc="100" dirty="0">
                <a:solidFill>
                  <a:schemeClr val="accent6"/>
                </a:solidFill>
              </a:rPr>
              <a:t>PLANNED NEXT STEPS — NOT YET PERFORMED</a:t>
            </a:r>
            <a:endParaRPr lang="en-US" sz="1100" dirty="0"/>
          </a:p>
        </p:txBody>
      </p:sp>
      <p:sp>
        <p:nvSpPr>
          <p:cNvPr id="105" name="Planned note"/>
          <p:cNvSpPr txBox="1"/>
          <p:nvPr/>
        </p:nvSpPr>
        <p:spPr>
          <a:xfrm>
            <a:off x="6035040" y="4828032"/>
            <a:ext cx="5705856" cy="201168"/>
          </a:xfrm>
          <a:prstGeom prst="rect">
            <a:avLst/>
          </a:prstGeom>
          <a:noFill/>
          <a:ln/>
        </p:spPr>
        <p:txBody>
          <a:bodyPr wrap="square" lIns="0" tIns="0" rIns="0" bIns="0" rtlCol="0" anchor="ctr"/>
          <a:lstStyle/>
          <a:p>
            <a:pPr marL="0" indent="0" algn="r">
              <a:buNone/>
            </a:pPr>
            <a:r>
              <a:rPr lang="en-US" sz="950" i="1" dirty="0">
                <a:solidFill>
                  <a:schemeClr val="accent6"/>
                </a:solidFill>
              </a:rPr>
              <a:t>No capacities, humidity levels, temperatures or efficiencies are reported.</a:t>
            </a:r>
            <a:endParaRPr lang="en-US" sz="950" dirty="0"/>
          </a:p>
        </p:txBody>
      </p:sp>
      <p:sp>
        <p:nvSpPr>
          <p:cNvPr id="106" name="Plan stage 1"/>
          <p:cNvSpPr/>
          <p:nvPr/>
        </p:nvSpPr>
        <p:spPr>
          <a:xfrm>
            <a:off x="448056" y="5084064"/>
            <a:ext cx="2596896" cy="932688"/>
          </a:xfrm>
          <a:prstGeom prst="roundRect">
            <a:avLst>
              <a:gd name="adj" fmla="val 7000"/>
            </a:avLst>
          </a:prstGeom>
          <a:solidFill>
            <a:srgbClr val="FFFFFF"/>
          </a:solidFill>
          <a:ln w="15875">
            <a:solidFill>
              <a:schemeClr val="accent1"/>
            </a:solidFill>
            <a:prstDash val="dash"/>
          </a:ln>
        </p:spPr>
      </p:sp>
      <p:sp>
        <p:nvSpPr>
          <p:cNvPr id="107" name="Plan 1 number"/>
          <p:cNvSpPr/>
          <p:nvPr/>
        </p:nvSpPr>
        <p:spPr>
          <a:xfrm>
            <a:off x="557784" y="5175504"/>
            <a:ext cx="256032" cy="256032"/>
          </a:xfrm>
          <a:prstGeom prst="ellipse">
            <a:avLst/>
          </a:prstGeom>
          <a:solidFill>
            <a:srgbClr val="FFFFFF"/>
          </a:solidFill>
          <a:ln w="15875">
            <a:solidFill>
              <a:schemeClr val="accent6"/>
            </a:solidFill>
            <a:prstDash val="solid"/>
          </a:ln>
        </p:spPr>
      </p:sp>
      <p:sp>
        <p:nvSpPr>
          <p:cNvPr id="108" name="Plan 1 number label"/>
          <p:cNvSpPr txBox="1"/>
          <p:nvPr/>
        </p:nvSpPr>
        <p:spPr>
          <a:xfrm>
            <a:off x="557784" y="5175504"/>
            <a:ext cx="256032" cy="256032"/>
          </a:xfrm>
          <a:prstGeom prst="rect">
            <a:avLst/>
          </a:prstGeom>
          <a:noFill/>
          <a:ln/>
        </p:spPr>
        <p:txBody>
          <a:bodyPr wrap="square" lIns="0" tIns="0" rIns="0" bIns="0" rtlCol="0" anchor="ctr"/>
          <a:lstStyle/>
          <a:p>
            <a:pPr marL="0" indent="0" algn="ctr">
              <a:buNone/>
            </a:pPr>
            <a:r>
              <a:rPr lang="en-US" sz="1100" b="1" dirty="0">
                <a:solidFill>
                  <a:schemeClr val="accent6"/>
                </a:solidFill>
              </a:rPr>
              <a:t>1</a:t>
            </a:r>
            <a:endParaRPr lang="en-US" sz="1100" dirty="0"/>
          </a:p>
        </p:txBody>
      </p:sp>
      <p:sp>
        <p:nvSpPr>
          <p:cNvPr id="109" name="Plan 1 title"/>
          <p:cNvSpPr txBox="1"/>
          <p:nvPr/>
        </p:nvSpPr>
        <p:spPr>
          <a:xfrm>
            <a:off x="868680" y="5175504"/>
            <a:ext cx="2121408" cy="256032"/>
          </a:xfrm>
          <a:prstGeom prst="rect">
            <a:avLst/>
          </a:prstGeom>
          <a:noFill/>
          <a:ln/>
        </p:spPr>
        <p:txBody>
          <a:bodyPr wrap="square" lIns="0" tIns="0" rIns="0" bIns="0" rtlCol="0" anchor="ctr"/>
          <a:lstStyle/>
          <a:p>
            <a:pPr marL="0" indent="0" algn="l">
              <a:buNone/>
            </a:pPr>
            <a:r>
              <a:rPr lang="en-US" sz="1100" b="1" dirty="0">
                <a:solidFill>
                  <a:schemeClr val="accent3"/>
                </a:solidFill>
              </a:rPr>
              <a:t>CO₂ adsorption evaluation</a:t>
            </a:r>
            <a:endParaRPr lang="en-US" sz="1100" dirty="0"/>
          </a:p>
        </p:txBody>
      </p:sp>
      <p:sp>
        <p:nvSpPr>
          <p:cNvPr id="110" name="Plan 1 text"/>
          <p:cNvSpPr txBox="1"/>
          <p:nvPr/>
        </p:nvSpPr>
        <p:spPr>
          <a:xfrm>
            <a:off x="576072" y="5486400"/>
            <a:ext cx="2340864" cy="310896"/>
          </a:xfrm>
          <a:prstGeom prst="rect">
            <a:avLst/>
          </a:prstGeom>
          <a:noFill/>
          <a:ln/>
        </p:spPr>
        <p:txBody>
          <a:bodyPr wrap="square" lIns="0" tIns="0" rIns="0" bIns="0" rtlCol="0" anchor="t"/>
          <a:lstStyle/>
          <a:p>
            <a:pPr marL="0" indent="0" algn="l">
              <a:buNone/>
            </a:pPr>
            <a:r>
              <a:rPr lang="en-US" sz="1000" dirty="0">
                <a:solidFill>
                  <a:schemeClr val="tx2"/>
                </a:solidFill>
              </a:rPr>
              <a:t>Uptake of B2-1, then the shortlist, under defined conditions</a:t>
            </a:r>
            <a:endParaRPr lang="en-US" sz="1000" dirty="0"/>
          </a:p>
        </p:txBody>
      </p:sp>
      <p:sp>
        <p:nvSpPr>
          <p:cNvPr id="111" name="Plan 1 status"/>
          <p:cNvSpPr/>
          <p:nvPr/>
        </p:nvSpPr>
        <p:spPr>
          <a:xfrm>
            <a:off x="2203704" y="5724144"/>
            <a:ext cx="731520" cy="210312"/>
          </a:xfrm>
          <a:prstGeom prst="roundRect">
            <a:avLst>
              <a:gd name="adj" fmla="val 50000"/>
            </a:avLst>
          </a:prstGeom>
          <a:solidFill>
            <a:srgbClr val="FFFFFF"/>
          </a:solidFill>
          <a:ln w="12700">
            <a:solidFill>
              <a:schemeClr val="accent6"/>
            </a:solidFill>
            <a:prstDash val="solid"/>
          </a:ln>
        </p:spPr>
      </p:sp>
      <p:sp>
        <p:nvSpPr>
          <p:cNvPr id="112" name="Plan 1 status label"/>
          <p:cNvSpPr txBox="1"/>
          <p:nvPr/>
        </p:nvSpPr>
        <p:spPr>
          <a:xfrm>
            <a:off x="2203704" y="5724144"/>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
        <p:nvSpPr>
          <p:cNvPr id="113" name="Plan arrow 1"/>
          <p:cNvSpPr/>
          <p:nvPr/>
        </p:nvSpPr>
        <p:spPr>
          <a:xfrm>
            <a:off x="3090672" y="5550408"/>
            <a:ext cx="210312" cy="0"/>
          </a:xfrm>
          <a:prstGeom prst="line">
            <a:avLst/>
          </a:prstGeom>
          <a:noFill/>
          <a:ln w="28575">
            <a:solidFill>
              <a:schemeClr val="accent6"/>
            </a:solidFill>
            <a:prstDash val="solid"/>
            <a:tailEnd type="triangle"/>
          </a:ln>
        </p:spPr>
      </p:sp>
      <p:sp>
        <p:nvSpPr>
          <p:cNvPr id="114" name="Plan stage 2"/>
          <p:cNvSpPr/>
          <p:nvPr/>
        </p:nvSpPr>
        <p:spPr>
          <a:xfrm>
            <a:off x="3346704" y="5084064"/>
            <a:ext cx="2596896" cy="932688"/>
          </a:xfrm>
          <a:prstGeom prst="roundRect">
            <a:avLst>
              <a:gd name="adj" fmla="val 7000"/>
            </a:avLst>
          </a:prstGeom>
          <a:solidFill>
            <a:srgbClr val="FFFFFF"/>
          </a:solidFill>
          <a:ln w="15875">
            <a:solidFill>
              <a:schemeClr val="accent1"/>
            </a:solidFill>
            <a:prstDash val="dash"/>
          </a:ln>
        </p:spPr>
      </p:sp>
      <p:sp>
        <p:nvSpPr>
          <p:cNvPr id="115" name="Plan 2 number"/>
          <p:cNvSpPr/>
          <p:nvPr/>
        </p:nvSpPr>
        <p:spPr>
          <a:xfrm>
            <a:off x="3456432" y="5175504"/>
            <a:ext cx="256032" cy="256032"/>
          </a:xfrm>
          <a:prstGeom prst="ellipse">
            <a:avLst/>
          </a:prstGeom>
          <a:solidFill>
            <a:srgbClr val="FFFFFF"/>
          </a:solidFill>
          <a:ln w="15875">
            <a:solidFill>
              <a:schemeClr val="accent6"/>
            </a:solidFill>
            <a:prstDash val="solid"/>
          </a:ln>
        </p:spPr>
      </p:sp>
      <p:sp>
        <p:nvSpPr>
          <p:cNvPr id="116" name="Plan 2 number label"/>
          <p:cNvSpPr txBox="1"/>
          <p:nvPr/>
        </p:nvSpPr>
        <p:spPr>
          <a:xfrm>
            <a:off x="3456432" y="5175504"/>
            <a:ext cx="256032" cy="256032"/>
          </a:xfrm>
          <a:prstGeom prst="rect">
            <a:avLst/>
          </a:prstGeom>
          <a:noFill/>
          <a:ln/>
        </p:spPr>
        <p:txBody>
          <a:bodyPr wrap="square" lIns="0" tIns="0" rIns="0" bIns="0" rtlCol="0" anchor="ctr"/>
          <a:lstStyle/>
          <a:p>
            <a:pPr marL="0" indent="0" algn="ctr">
              <a:buNone/>
            </a:pPr>
            <a:r>
              <a:rPr lang="en-US" sz="1100" b="1" dirty="0">
                <a:solidFill>
                  <a:schemeClr val="accent6"/>
                </a:solidFill>
              </a:rPr>
              <a:t>2</a:t>
            </a:r>
            <a:endParaRPr lang="en-US" sz="1100" dirty="0"/>
          </a:p>
        </p:txBody>
      </p:sp>
      <p:sp>
        <p:nvSpPr>
          <p:cNvPr id="117" name="Plan 2 title"/>
          <p:cNvSpPr txBox="1"/>
          <p:nvPr/>
        </p:nvSpPr>
        <p:spPr>
          <a:xfrm>
            <a:off x="3767328" y="5175504"/>
            <a:ext cx="2121408" cy="256032"/>
          </a:xfrm>
          <a:prstGeom prst="rect">
            <a:avLst/>
          </a:prstGeom>
          <a:noFill/>
          <a:ln/>
        </p:spPr>
        <p:txBody>
          <a:bodyPr wrap="square" lIns="0" tIns="0" rIns="0" bIns="0" rtlCol="0" anchor="ctr"/>
          <a:lstStyle/>
          <a:p>
            <a:pPr marL="0" indent="0" algn="l">
              <a:buNone/>
            </a:pPr>
            <a:r>
              <a:rPr lang="en-US" sz="1100" b="1" dirty="0">
                <a:solidFill>
                  <a:schemeClr val="accent3"/>
                </a:solidFill>
              </a:rPr>
              <a:t>Dry vs humid comparison</a:t>
            </a:r>
            <a:endParaRPr lang="en-US" sz="1100" dirty="0"/>
          </a:p>
        </p:txBody>
      </p:sp>
      <p:sp>
        <p:nvSpPr>
          <p:cNvPr id="118" name="Plan 2 text"/>
          <p:cNvSpPr txBox="1"/>
          <p:nvPr/>
        </p:nvSpPr>
        <p:spPr>
          <a:xfrm>
            <a:off x="3474720" y="5486400"/>
            <a:ext cx="2340864" cy="310896"/>
          </a:xfrm>
          <a:prstGeom prst="rect">
            <a:avLst/>
          </a:prstGeom>
          <a:noFill/>
          <a:ln/>
        </p:spPr>
        <p:txBody>
          <a:bodyPr wrap="square" lIns="0" tIns="0" rIns="0" bIns="0" rtlCol="0" anchor="t"/>
          <a:lstStyle/>
          <a:p>
            <a:pPr marL="0" indent="0" algn="l">
              <a:buNone/>
            </a:pPr>
            <a:r>
              <a:rPr lang="en-US" sz="1000" dirty="0">
                <a:solidFill>
                  <a:schemeClr val="tx2"/>
                </a:solidFill>
              </a:rPr>
              <a:t>Same procedure with and without water vapor</a:t>
            </a:r>
            <a:endParaRPr lang="en-US" sz="1000" dirty="0"/>
          </a:p>
        </p:txBody>
      </p:sp>
      <p:sp>
        <p:nvSpPr>
          <p:cNvPr id="119" name="Plan 2 status"/>
          <p:cNvSpPr/>
          <p:nvPr/>
        </p:nvSpPr>
        <p:spPr>
          <a:xfrm>
            <a:off x="5102352" y="5724144"/>
            <a:ext cx="731520" cy="210312"/>
          </a:xfrm>
          <a:prstGeom prst="roundRect">
            <a:avLst>
              <a:gd name="adj" fmla="val 50000"/>
            </a:avLst>
          </a:prstGeom>
          <a:solidFill>
            <a:srgbClr val="FFFFFF"/>
          </a:solidFill>
          <a:ln w="12700">
            <a:solidFill>
              <a:schemeClr val="accent6"/>
            </a:solidFill>
            <a:prstDash val="solid"/>
          </a:ln>
        </p:spPr>
      </p:sp>
      <p:sp>
        <p:nvSpPr>
          <p:cNvPr id="120" name="Plan 2 status label"/>
          <p:cNvSpPr txBox="1"/>
          <p:nvPr/>
        </p:nvSpPr>
        <p:spPr>
          <a:xfrm>
            <a:off x="5102352" y="5724144"/>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
        <p:nvSpPr>
          <p:cNvPr id="121" name="Plan arrow 2"/>
          <p:cNvSpPr/>
          <p:nvPr/>
        </p:nvSpPr>
        <p:spPr>
          <a:xfrm>
            <a:off x="5989320" y="5550408"/>
            <a:ext cx="210312" cy="0"/>
          </a:xfrm>
          <a:prstGeom prst="line">
            <a:avLst/>
          </a:prstGeom>
          <a:noFill/>
          <a:ln w="28575">
            <a:solidFill>
              <a:schemeClr val="accent6"/>
            </a:solidFill>
            <a:prstDash val="solid"/>
            <a:tailEnd type="triangle"/>
          </a:ln>
        </p:spPr>
      </p:sp>
      <p:sp>
        <p:nvSpPr>
          <p:cNvPr id="122" name="Plan stage 3"/>
          <p:cNvSpPr/>
          <p:nvPr/>
        </p:nvSpPr>
        <p:spPr>
          <a:xfrm>
            <a:off x="6245352" y="5084064"/>
            <a:ext cx="2596896" cy="932688"/>
          </a:xfrm>
          <a:prstGeom prst="roundRect">
            <a:avLst>
              <a:gd name="adj" fmla="val 7000"/>
            </a:avLst>
          </a:prstGeom>
          <a:solidFill>
            <a:srgbClr val="FFFFFF"/>
          </a:solidFill>
          <a:ln w="15875">
            <a:solidFill>
              <a:schemeClr val="accent1"/>
            </a:solidFill>
            <a:prstDash val="dash"/>
          </a:ln>
        </p:spPr>
      </p:sp>
      <p:sp>
        <p:nvSpPr>
          <p:cNvPr id="123" name="Plan 3 number"/>
          <p:cNvSpPr/>
          <p:nvPr/>
        </p:nvSpPr>
        <p:spPr>
          <a:xfrm>
            <a:off x="6355080" y="5175504"/>
            <a:ext cx="256032" cy="256032"/>
          </a:xfrm>
          <a:prstGeom prst="ellipse">
            <a:avLst/>
          </a:prstGeom>
          <a:solidFill>
            <a:srgbClr val="FFFFFF"/>
          </a:solidFill>
          <a:ln w="15875">
            <a:solidFill>
              <a:schemeClr val="accent6"/>
            </a:solidFill>
            <a:prstDash val="solid"/>
          </a:ln>
        </p:spPr>
      </p:sp>
      <p:sp>
        <p:nvSpPr>
          <p:cNvPr id="124" name="Plan 3 number label"/>
          <p:cNvSpPr txBox="1"/>
          <p:nvPr/>
        </p:nvSpPr>
        <p:spPr>
          <a:xfrm>
            <a:off x="6355080" y="5175504"/>
            <a:ext cx="256032" cy="256032"/>
          </a:xfrm>
          <a:prstGeom prst="rect">
            <a:avLst/>
          </a:prstGeom>
          <a:noFill/>
          <a:ln/>
        </p:spPr>
        <p:txBody>
          <a:bodyPr wrap="square" lIns="0" tIns="0" rIns="0" bIns="0" rtlCol="0" anchor="ctr"/>
          <a:lstStyle/>
          <a:p>
            <a:pPr marL="0" indent="0" algn="ctr">
              <a:buNone/>
            </a:pPr>
            <a:r>
              <a:rPr lang="en-US" sz="1100" b="1" dirty="0">
                <a:solidFill>
                  <a:schemeClr val="accent6"/>
                </a:solidFill>
              </a:rPr>
              <a:t>3</a:t>
            </a:r>
            <a:endParaRPr lang="en-US" sz="1100" dirty="0"/>
          </a:p>
        </p:txBody>
      </p:sp>
      <p:sp>
        <p:nvSpPr>
          <p:cNvPr id="125" name="Plan 3 title"/>
          <p:cNvSpPr txBox="1"/>
          <p:nvPr/>
        </p:nvSpPr>
        <p:spPr>
          <a:xfrm>
            <a:off x="6665976" y="5175504"/>
            <a:ext cx="2121408" cy="256032"/>
          </a:xfrm>
          <a:prstGeom prst="rect">
            <a:avLst/>
          </a:prstGeom>
          <a:noFill/>
          <a:ln/>
        </p:spPr>
        <p:txBody>
          <a:bodyPr wrap="square" lIns="0" tIns="0" rIns="0" bIns="0" rtlCol="0" anchor="ctr"/>
          <a:lstStyle/>
          <a:p>
            <a:pPr marL="0" indent="0" algn="l">
              <a:buNone/>
            </a:pPr>
            <a:r>
              <a:rPr lang="en-US" sz="1100" b="1" dirty="0">
                <a:solidFill>
                  <a:schemeClr val="accent3"/>
                </a:solidFill>
              </a:rPr>
              <a:t>Regeneration and CO₂ release</a:t>
            </a:r>
            <a:endParaRPr lang="en-US" sz="1100" dirty="0"/>
          </a:p>
        </p:txBody>
      </p:sp>
      <p:sp>
        <p:nvSpPr>
          <p:cNvPr id="126" name="Plan 3 text"/>
          <p:cNvSpPr txBox="1"/>
          <p:nvPr/>
        </p:nvSpPr>
        <p:spPr>
          <a:xfrm>
            <a:off x="6373368" y="5486400"/>
            <a:ext cx="2340864" cy="310896"/>
          </a:xfrm>
          <a:prstGeom prst="rect">
            <a:avLst/>
          </a:prstGeom>
          <a:noFill/>
          <a:ln/>
        </p:spPr>
        <p:txBody>
          <a:bodyPr wrap="square" lIns="0" tIns="0" rIns="0" bIns="0" rtlCol="0" anchor="t"/>
          <a:lstStyle/>
          <a:p>
            <a:pPr marL="0" indent="0" algn="l">
              <a:buNone/>
            </a:pPr>
            <a:r>
              <a:rPr lang="en-US" sz="1000" dirty="0">
                <a:solidFill>
                  <a:schemeClr val="tx2"/>
                </a:solidFill>
              </a:rPr>
              <a:t>Release of captured CO₂; recovery of the sorbent</a:t>
            </a:r>
            <a:endParaRPr lang="en-US" sz="1000" dirty="0"/>
          </a:p>
        </p:txBody>
      </p:sp>
      <p:sp>
        <p:nvSpPr>
          <p:cNvPr id="127" name="Plan 3 status"/>
          <p:cNvSpPr/>
          <p:nvPr/>
        </p:nvSpPr>
        <p:spPr>
          <a:xfrm>
            <a:off x="8001000" y="5724144"/>
            <a:ext cx="731520" cy="210312"/>
          </a:xfrm>
          <a:prstGeom prst="roundRect">
            <a:avLst>
              <a:gd name="adj" fmla="val 50000"/>
            </a:avLst>
          </a:prstGeom>
          <a:solidFill>
            <a:srgbClr val="FFFFFF"/>
          </a:solidFill>
          <a:ln w="12700">
            <a:solidFill>
              <a:schemeClr val="accent6"/>
            </a:solidFill>
            <a:prstDash val="solid"/>
          </a:ln>
        </p:spPr>
      </p:sp>
      <p:sp>
        <p:nvSpPr>
          <p:cNvPr id="128" name="Plan 3 status label"/>
          <p:cNvSpPr txBox="1"/>
          <p:nvPr/>
        </p:nvSpPr>
        <p:spPr>
          <a:xfrm>
            <a:off x="8001000" y="5724144"/>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
        <p:nvSpPr>
          <p:cNvPr id="129" name="Plan arrow 3"/>
          <p:cNvSpPr/>
          <p:nvPr/>
        </p:nvSpPr>
        <p:spPr>
          <a:xfrm>
            <a:off x="8887968" y="5550408"/>
            <a:ext cx="210312" cy="0"/>
          </a:xfrm>
          <a:prstGeom prst="line">
            <a:avLst/>
          </a:prstGeom>
          <a:noFill/>
          <a:ln w="28575">
            <a:solidFill>
              <a:schemeClr val="accent6"/>
            </a:solidFill>
            <a:prstDash val="solid"/>
            <a:tailEnd type="triangle"/>
          </a:ln>
        </p:spPr>
      </p:sp>
      <p:sp>
        <p:nvSpPr>
          <p:cNvPr id="130" name="Plan stage 4"/>
          <p:cNvSpPr/>
          <p:nvPr/>
        </p:nvSpPr>
        <p:spPr>
          <a:xfrm>
            <a:off x="9144000" y="5084064"/>
            <a:ext cx="2596896" cy="932688"/>
          </a:xfrm>
          <a:prstGeom prst="roundRect">
            <a:avLst>
              <a:gd name="adj" fmla="val 7000"/>
            </a:avLst>
          </a:prstGeom>
          <a:solidFill>
            <a:srgbClr val="FFFFFF"/>
          </a:solidFill>
          <a:ln w="15875">
            <a:solidFill>
              <a:schemeClr val="accent1"/>
            </a:solidFill>
            <a:prstDash val="dash"/>
          </a:ln>
        </p:spPr>
      </p:sp>
      <p:sp>
        <p:nvSpPr>
          <p:cNvPr id="131" name="Plan 4 number"/>
          <p:cNvSpPr/>
          <p:nvPr/>
        </p:nvSpPr>
        <p:spPr>
          <a:xfrm>
            <a:off x="9253728" y="5175504"/>
            <a:ext cx="256032" cy="256032"/>
          </a:xfrm>
          <a:prstGeom prst="ellipse">
            <a:avLst/>
          </a:prstGeom>
          <a:solidFill>
            <a:srgbClr val="FFFFFF"/>
          </a:solidFill>
          <a:ln w="15875">
            <a:solidFill>
              <a:schemeClr val="accent6"/>
            </a:solidFill>
            <a:prstDash val="solid"/>
          </a:ln>
        </p:spPr>
      </p:sp>
      <p:sp>
        <p:nvSpPr>
          <p:cNvPr id="132" name="Plan 4 number label"/>
          <p:cNvSpPr txBox="1"/>
          <p:nvPr/>
        </p:nvSpPr>
        <p:spPr>
          <a:xfrm>
            <a:off x="9253728" y="5175504"/>
            <a:ext cx="256032" cy="256032"/>
          </a:xfrm>
          <a:prstGeom prst="rect">
            <a:avLst/>
          </a:prstGeom>
          <a:noFill/>
          <a:ln/>
        </p:spPr>
        <p:txBody>
          <a:bodyPr wrap="square" lIns="0" tIns="0" rIns="0" bIns="0" rtlCol="0" anchor="ctr"/>
          <a:lstStyle/>
          <a:p>
            <a:pPr marL="0" indent="0" algn="ctr">
              <a:buNone/>
            </a:pPr>
            <a:r>
              <a:rPr lang="en-US" sz="1100" b="1" dirty="0">
                <a:solidFill>
                  <a:schemeClr val="accent6"/>
                </a:solidFill>
              </a:rPr>
              <a:t>4</a:t>
            </a:r>
            <a:endParaRPr lang="en-US" sz="1100" dirty="0"/>
          </a:p>
        </p:txBody>
      </p:sp>
      <p:sp>
        <p:nvSpPr>
          <p:cNvPr id="133" name="Plan 4 title"/>
          <p:cNvSpPr txBox="1"/>
          <p:nvPr/>
        </p:nvSpPr>
        <p:spPr>
          <a:xfrm>
            <a:off x="9564624" y="5175504"/>
            <a:ext cx="2121408" cy="256032"/>
          </a:xfrm>
          <a:prstGeom prst="rect">
            <a:avLst/>
          </a:prstGeom>
          <a:noFill/>
          <a:ln/>
        </p:spPr>
        <p:txBody>
          <a:bodyPr wrap="square" lIns="0" tIns="0" rIns="0" bIns="0" rtlCol="0" anchor="ctr"/>
          <a:lstStyle/>
          <a:p>
            <a:pPr marL="0" indent="0" algn="l">
              <a:buNone/>
            </a:pPr>
            <a:r>
              <a:rPr lang="en-US" sz="1100" b="1" dirty="0">
                <a:solidFill>
                  <a:schemeClr val="accent3"/>
                </a:solidFill>
              </a:rPr>
              <a:t>Repeated-cycle testing</a:t>
            </a:r>
            <a:endParaRPr lang="en-US" sz="1100" dirty="0"/>
          </a:p>
        </p:txBody>
      </p:sp>
      <p:sp>
        <p:nvSpPr>
          <p:cNvPr id="134" name="Plan 4 text"/>
          <p:cNvSpPr txBox="1"/>
          <p:nvPr/>
        </p:nvSpPr>
        <p:spPr>
          <a:xfrm>
            <a:off x="9272016" y="5486400"/>
            <a:ext cx="2340864" cy="310896"/>
          </a:xfrm>
          <a:prstGeom prst="rect">
            <a:avLst/>
          </a:prstGeom>
          <a:noFill/>
          <a:ln/>
        </p:spPr>
        <p:txBody>
          <a:bodyPr wrap="square" lIns="0" tIns="0" rIns="0" bIns="0" rtlCol="0" anchor="t"/>
          <a:lstStyle/>
          <a:p>
            <a:pPr marL="0" indent="0" algn="l">
              <a:buNone/>
            </a:pPr>
            <a:r>
              <a:rPr lang="en-US" sz="1000" dirty="0">
                <a:solidFill>
                  <a:schemeClr val="tx2"/>
                </a:solidFill>
              </a:rPr>
              <a:t>Is performance maintained over cycles? (potential reuse)</a:t>
            </a:r>
            <a:endParaRPr lang="en-US" sz="1000" dirty="0"/>
          </a:p>
        </p:txBody>
      </p:sp>
      <p:sp>
        <p:nvSpPr>
          <p:cNvPr id="135" name="Plan 4 status"/>
          <p:cNvSpPr/>
          <p:nvPr/>
        </p:nvSpPr>
        <p:spPr>
          <a:xfrm>
            <a:off x="10899648" y="5724144"/>
            <a:ext cx="731520" cy="210312"/>
          </a:xfrm>
          <a:prstGeom prst="roundRect">
            <a:avLst>
              <a:gd name="adj" fmla="val 50000"/>
            </a:avLst>
          </a:prstGeom>
          <a:solidFill>
            <a:srgbClr val="FFFFFF"/>
          </a:solidFill>
          <a:ln w="12700">
            <a:solidFill>
              <a:schemeClr val="accent6"/>
            </a:solidFill>
            <a:prstDash val="solid"/>
          </a:ln>
        </p:spPr>
      </p:sp>
      <p:sp>
        <p:nvSpPr>
          <p:cNvPr id="136" name="Plan 4 status label"/>
          <p:cNvSpPr txBox="1"/>
          <p:nvPr/>
        </p:nvSpPr>
        <p:spPr>
          <a:xfrm>
            <a:off x="10899648" y="5724144"/>
            <a:ext cx="731520" cy="210312"/>
          </a:xfrm>
          <a:prstGeom prst="rect">
            <a:avLst/>
          </a:prstGeom>
          <a:noFill/>
          <a:ln/>
        </p:spPr>
        <p:txBody>
          <a:bodyPr wrap="square" lIns="0" tIns="0" rIns="0" bIns="0" rtlCol="0" anchor="ctr"/>
          <a:lstStyle/>
          <a:p>
            <a:pPr marL="0" indent="0" algn="ctr">
              <a:buNone/>
            </a:pPr>
            <a:r>
              <a:rPr lang="en-US" sz="1050" b="1" dirty="0">
                <a:solidFill>
                  <a:schemeClr val="accent6"/>
                </a:solidFill>
              </a:rPr>
              <a:t>Planned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61CDFE-41D0-D3F3-D225-C63CE209D543}"/>
              </a:ext>
            </a:extLst>
          </p:cNvPr>
          <p:cNvSpPr txBox="1"/>
          <p:nvPr/>
        </p:nvSpPr>
        <p:spPr>
          <a:xfrm>
            <a:off x="656790" y="2844225"/>
            <a:ext cx="7400000" cy="584775"/>
          </a:xfrm>
          <a:prstGeom prst="rect">
            <a:avLst/>
          </a:prstGeom>
          <a:noFill/>
        </p:spPr>
        <p:txBody>
          <a:bodyPr wrap="square">
            <a:spAutoFit/>
          </a:bodyPr>
          <a:lstStyle/>
          <a:p>
            <a:r>
              <a:rPr lang="en-US" sz="2800" b="1" dirty="0">
                <a:solidFill>
                  <a:schemeClr val="bg1"/>
                </a:solidFill>
                <a:latin typeface="Arial" pitchFamily="34" charset="0"/>
                <a:ea typeface="Arial" pitchFamily="34" charset="-122"/>
                <a:cs typeface="Arial" pitchFamily="34" charset="-120"/>
              </a:rPr>
              <a:t>Capturing CO₂ Directly from Air: Bimetal-Engineered MOFs with Moisture-Responsive Regeneration</a:t>
            </a:r>
            <a:endParaRPr lang="en-SA" sz="2800" dirty="0"/>
          </a:p>
        </p:txBody>
      </p:sp>
    </p:spTree>
    <p:extLst>
      <p:ext uri="{BB962C8B-B14F-4D97-AF65-F5344CB8AC3E}">
        <p14:creationId xmlns:p14="http://schemas.microsoft.com/office/powerpoint/2010/main" val="4155479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037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1074828" y="3187072"/>
            <a:ext cx="2564901" cy="919739"/>
          </a:xfrm>
          <a:prstGeom prst="rect">
            <a:avLst/>
          </a:prstGeom>
          <a:noFill/>
          <a:ln/>
        </p:spPr>
        <p:txBody>
          <a:bodyPr wrap="square" lIns="0" tIns="0" rIns="0" bIns="0" rtlCol="0" anchor="ctr"/>
          <a:lstStyle/>
          <a:p>
            <a:pPr marL="0" indent="0" algn="l">
              <a:buNone/>
            </a:pPr>
            <a:r>
              <a:rPr lang="en-US" sz="3200" b="1" dirty="0">
                <a:solidFill>
                  <a:schemeClr val="bg1"/>
                </a:solidFill>
                <a:latin typeface="Arial" pitchFamily="34" charset="0"/>
                <a:ea typeface="Arial" pitchFamily="34" charset="-122"/>
                <a:cs typeface="Arial" pitchFamily="34" charset="-120"/>
              </a:rPr>
              <a:t>Thank You</a:t>
            </a:r>
            <a:endParaRPr lang="en-US" sz="3200" dirty="0"/>
          </a:p>
        </p:txBody>
      </p:sp>
    </p:spTree>
  </p:cSld>
  <p:clrMapOvr>
    <a:masterClrMapping/>
  </p:clrMapOvr>
</p:sld>
</file>

<file path=ppt/theme/theme1.xml><?xml version="1.0" encoding="utf-8"?>
<a:theme xmlns:a="http://schemas.openxmlformats.org/drawingml/2006/main" name="WPC 2026 Scientific">
  <a:themeElements>
    <a:clrScheme name="WPC 2026 Scientific">
      <a:dk1>
        <a:srgbClr val="1C1C1C"/>
      </a:dk1>
      <a:lt1>
        <a:srgbClr val="FFFFFF"/>
      </a:lt1>
      <a:dk2>
        <a:srgbClr val="24212C"/>
      </a:dk2>
      <a:lt2>
        <a:srgbClr val="F4F2FF"/>
      </a:lt2>
      <a:accent1>
        <a:srgbClr val="A299FF"/>
      </a:accent1>
      <a:accent2>
        <a:srgbClr val="FC833C"/>
      </a:accent2>
      <a:accent3>
        <a:srgbClr val="5B4BC4"/>
      </a:accent3>
      <a:accent4>
        <a:srgbClr val="3D8BD9"/>
      </a:accent4>
      <a:accent5>
        <a:srgbClr val="E5533D"/>
      </a:accent5>
      <a:accent6>
        <a:srgbClr val="6B6B76"/>
      </a:accent6>
      <a:hlink>
        <a:srgbClr val="5B4BC4"/>
      </a:hlink>
      <a:folHlink>
        <a:srgbClr val="8E7CC3"/>
      </a:folHlink>
    </a:clrScheme>
    <a:fontScheme name="WPC 2026 Scientifi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WPC 2026 Scientific</vt:lpstr>
      <vt:lpstr>Capturing CO₂ Directly from Air:  Bimetal-Engineered MOFs with Moisture-Responsive Regeneration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Capturing CO₂ Directly from Air – MOF-based approaches for CO₂ capture</dc:title>
  <dc:subject>25th WPC Energy Congress 2026 – Block 4: Energy Technologies – Future Pathways</dc:subject>
  <dc:creator>Raghad AlSawilam</dc:creator>
  <cp:lastModifiedBy>Raghad Sultan Abdelrhaman ALSAWILAM</cp:lastModifiedBy>
  <cp:revision>20</cp:revision>
  <dcterms:created xsi:type="dcterms:W3CDTF">2026-10-07T18:58:42Z</dcterms:created>
  <dcterms:modified xsi:type="dcterms:W3CDTF">2026-10-11T16:40:16Z</dcterms:modified>
</cp:coreProperties>
</file>