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0" r:id="rId5"/>
    <p:sldId id="267" r:id="rId6"/>
    <p:sldId id="261" r:id="rId7"/>
    <p:sldId id="265" r:id="rId8"/>
    <p:sldId id="266"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60779E0-D329-6F88-E47F-9C901D885E07}">
          <p14:sldIdLst>
            <p14:sldId id="256"/>
            <p14:sldId id="257"/>
            <p14:sldId id="258"/>
          </p14:sldIdLst>
        </p14:section>
        <p14:section name="Research 1 (Main)" id="{0F79CB11-F936-C6F6-6E53-C9A177FFCFB3}">
          <p14:sldIdLst>
            <p14:sldId id="260"/>
            <p14:sldId id="267"/>
            <p14:sldId id="261"/>
          </p14:sldIdLst>
        </p14:section>
        <p14:section name="Research 2 (Complementary)" id="{BEE1C086-9ED5-915E-D5BD-899AF5ECFB71}">
          <p14:sldIdLst>
            <p14:sldId id="265"/>
            <p14:sldId id="266"/>
          </p14:sldIdLst>
        </p14:section>
        <p14:section name="Closing" id="{46DF172D-13D0-7366-97A9-DF2EA8C8182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SA"/>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7B1FCFD-B869-A44D-BD5E-F9D8CFCD140A}" type="datetimeFigureOut">
              <a:rPr lang="en-SA" smtClean="0"/>
              <a:t>11/10/2026 R</a:t>
            </a:fld>
            <a:endParaRPr lang="en-SA"/>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SA"/>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A"/>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SA"/>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F0C32F1F-0ECB-D040-92D6-BA57159F8670}" type="slidenum">
              <a:rPr lang="en-SA" smtClean="0"/>
              <a:t>‹#›</a:t>
            </a:fld>
            <a:endParaRPr lang="en-SA"/>
          </a:p>
        </p:txBody>
      </p:sp>
    </p:spTree>
    <p:extLst>
      <p:ext uri="{BB962C8B-B14F-4D97-AF65-F5344CB8AC3E}">
        <p14:creationId xmlns:p14="http://schemas.microsoft.com/office/powerpoint/2010/main" val="54330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morning/afternoon. I am Raghad AlSawilam from the Advanced Materials Technologies Institute at KACST, supervised by Dr. Lana Alghamdi. Today I will present our study on bimetal-engineered metal–organic frameworks for capturing CO₂ directly from air, with moisture-responsive regeneration.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(about 1.5-2 min). Research background, research gap and objective.</a:t>
            </a:r>
          </a:p>
          <a:p>
            <a:r>
              <a:rPr lang="en-US" dirty="0"/>
              <a:t>Introduce yourself and the team (KACST, Advanced Materials Technologies Institute). Metal-organic frameworks are porous crystalline solids built from metal nodes joined by organic linkers; their tunable pores and chemistry make them candidate materials for CO2 capture. Direct air capture is demanding because CO2 in ambient air is dilute (roughly 420 ppm), so a sorbent has to capture it at very low partial pressure, and ambient air always carries water vapor. Water vapor may compete with CO2 for adsorption sites or alter how CO2 binds - the direction of that effect is not assumed. Research gap: for the bimetal-engineered MOF developed here, the influence of humidity on CO2 adsorption and regeneration has not yet been investigated. State the question slowly: how does humidity influence CO2 adsorption and regeneration behavior in a bimetal-engineered MOF? Objective: to characterize and compare the 12 synthesized samples, select the best-characterized candidate, and then investigate how humidity may influence CO2 adsorption and regeneration. Transition: first, how the 12 samples were prepared.</a:t>
            </a:r>
          </a:p>
          <a:p>
            <a:r>
              <a:rPr lang="en-US" dirty="0"/>
              <a:t>(The three diagrams are schematic and not to scale. No CO2 capture performance is claimed for this material.)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(about 1.5 min). Material synthesis of all 12 samples and experimental progress.</a:t>
            </a:r>
          </a:p>
          <a:p>
            <a:r>
              <a:rPr lang="en-US" dirty="0"/>
              <a:t>Section A: the ten laboratory photographs follow the synthesis in process order - weighing, preparation, mixing, heating, the reaction vessel after heating, washing, separation by centrifugation, drying, the dried powder, and the labelled vials after activation. Section B: all twelve mixed-metal MOF samples were synthesized by the solvothermal route - six metal compositions (A to F) at two metal-to-linker ratios (1:1 and 2:1). The code combines composition and ratio, so B2-1 is composition B at the 2:1 ratio. White crystalline solids were obtained in all twelve. Composition details are not disclosed. All twelve samples are compared on the next two slides - XRD first, then FTIR - and the best-characterized candidate is selected from that comparison on slide 6. Section C: synthesis, XRD/FTIR of all twelve samples and the evidence-based selection are completed; CO2 adsorption, dry-versus-humid comparison, regeneration and cycling are planned and have not yet been performed.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(about 2.5 min). Comparative XRD analysis of all 12 samples.</a:t>
            </a:r>
          </a:p>
          <a:p>
            <a:r>
              <a:rPr lang="en-US" dirty="0"/>
              <a:t>The figure is my original, unmodified XRD figure with all twelve patterns: top two rows are the 2:1 series (A2-1 to F2-1), bottom two rows the 1:1 series (A1-1 to F1-1). The table transcribes the peak positions exactly as labelled in the figure. Criteria: (1) presence of the common reflections near 9.3, 12.1, 17.5, 24.3 and 26.3 degrees 2-theta; (2) peak definition - sharp, separated peaks on a low background; (3) no extra or shifted reflections. Similarities: every sample shows reflections near 9.1-9.5, 11.5-12.1 and 17.1-17.6 degrees, so all twelve are crystalline with closely related patterns. Differences: the 2:1 series is very consistent - B2-1 to F2-1 share the same five reflections; D2-1 has a rougher background; A2-1 has only three labelled peaks. The 1:1 series is more variable: A1-1, B1-1 and C1-1 show an additional reflection at 18.2-18.4 degrees, F1-1 one at 14.76 degrees, and E1-1 has its whole set shifted to lower angles; such features may point to an additional phase or a lattice change and need verification. D1-1 is the 1:1 sample that matches the common set. XRD shortlist: B2-1, C2-1, E2-1, F2-1 and D1-1. Limitations: each panel is scaled individually, so intensities are not compared between samples; no crystallinity score, crystallite size or phase is assigned; and good XRD quality does not by itself mean better CO2 adsorption.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(about 2.5 min). Comparative FTIR analysis of all 12 samples.</a:t>
            </a:r>
          </a:p>
          <a:p>
            <a:r>
              <a:rPr lang="en-US" dirty="0"/>
              <a:t>The figure is my original, unmodified FTIR figure with all twelve spectra and the qualitative labels printed in it. Criteria: (1) both carboxylate regions present, around 1600 cm-1 (asymmetric COO- stretch) and 1400 cm-1 (symmetric COO- stretch); (2) a band pattern consistent with the rest of the series; (3) no extra band above about 1650 cm-1. Similarities: all twelve spectra show the strong carboxylate cluster between about 1650 and 1350 cm-1, so carboxylate groups are present in every sample, consistent with carboxylate-metal coordination. Differences, read from the band heights within each panel: in eight samples the ~1600 cm-1 band is the strongest; in A2-1, C1-1 and F1-1 the ~1400 cm-1 band is about as strong, and in A1-1 it is stronger. B1-1 and E1-1 show a weak extra band above about 1650 cm-1, which could indicate residual uncoordinated carboxylic acid and should be checked against the free-linker spectrum. The noisy region near 2200-1950 cm-1 is measurement-related and is not interpreted. Agreement with XRD: the samples that deviate in FTIR - A2-1, A1-1, B1-1, C1-1, E1-1 and F1-1 - are all also flagged by XRD; only D2-1 is flagged by XRD alone. Most consistent FTIR spectra: B2-1, C2-1, D2-1, E2-1, F2-1 and D1-1. Limitations: the spectra are photographs, so small band shifts cannot be resolved; FTIR alone does not prove the full structure or CO2 performance; the printed ratings are qualitative labels, not performance 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(about 2 min). Evidence-based sample selection and planned experiments.</a:t>
            </a:r>
          </a:p>
          <a:p>
            <a:r>
              <a:rPr lang="en-US" dirty="0"/>
              <a:t>Left: how the candidates were selected from the comparison - this part is completed. Step 1: all twelve samples were synthesized and measured by XRD and FTIR. Step 2, XRD screen: keep samples with the complete common reflection set, well-defined peaks and no extra or shifted reflections - B2-1, C2-1, E2-1, F2-1 and D1-1. Excluded: A1-1, B1-1, C1-1 and F1-1 for extra reflections, E1-1 for a shifted set, D2-1 for a rougher background, and A2-1 because only three peaks are labelled. Step 3, FTIR check: all five show both carboxylate bands, the series-consistent pattern and no extra band; independently, every sample FTIR flags (A2-1, A1-1, B1-1, C1-1, E1-1, F1-1) was also flagged by XRD, so the two techniques agree. Step 4: B2-1 is the lead candidate because it meets every criterion and carries the top qualitative rating in the original FTIR figure; C2-1, E2-1, F2-1 and D1-1 form the shortlist. I do not rank those four further, because the available figures do not support it. Important: best-characterized does not mean best CO2 adsorbent - adsorption, humidity response and regeneration have not yet been measured. Right: the planned next steps, none performed yet - CO2 adsorption evaluation starting with B2-1 and then the shortlist; a controlled dry-versus-humid comparison; regeneration and CO2-release evaluation; and repeated-cycle testing to assess potential reuse. Close with the broader goal - advancing MOF-based approaches for CO2 capture under environmentally relevant conditions - 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To close: our study combines bimetal engineering with the evaluation of humidity and regeneration, as one route to advancing MOF-based direct air capture of CO₂. Thank you — I welcome your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P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bg1"/>
                </a:solidFill>
                <a:latin typeface="Arial" pitchFamily="34" charset="0"/>
                <a:ea typeface="Arial" pitchFamily="34" charset="-122"/>
                <a:cs typeface="Arial" pitchFamily="34" charset="-120"/>
              </a:rPr>
              <a:t>Poster Presenter</a:t>
            </a:r>
            <a:endParaRPr lang="en-US" sz="1200" dirty="0"/>
          </a:p>
        </p:txBody>
      </p:sp>
      <p:sp>
        <p:nvSpPr>
          <p:cNvPr id="5" name="Text 1"/>
          <p:cNvSpPr>
            <a:spLocks noGrp="1"/>
          </p:cNvSpPr>
          <p:nvPr>
            <p:ph type="title" idx="103" hasCustomPrompt="1"/>
          </p:nvPr>
        </p:nvSpPr>
        <p:spPr>
          <a:xfrm>
            <a:off x="621792" y="1993392"/>
            <a:ext cx="6766560" cy="1481328"/>
          </a:xfrm>
          <a:prstGeom prst="rect">
            <a:avLst/>
          </a:prstGeom>
          <a:noFill/>
          <a:ln/>
        </p:spPr>
        <p:txBody>
          <a:bodyPr wrap="square" rtlCol="0"/>
          <a:lstStyle>
            <a:lvl1pPr marL="0" indent="0" algn="l">
              <a:buNone/>
              <a:defRPr lang="en-US" sz="3000" b="1" dirty="0">
                <a:solidFill>
                  <a:schemeClr val="bg1"/>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6" name="Text 1"/>
          <p:cNvSpPr>
            <a:spLocks noGrp="1"/>
          </p:cNvSpPr>
          <p:nvPr>
            <p:ph type="body" idx="104" hasCustomPrompt="1"/>
          </p:nvPr>
        </p:nvSpPr>
        <p:spPr>
          <a:xfrm>
            <a:off x="621792" y="3547872"/>
            <a:ext cx="6766560" cy="310896"/>
          </a:xfrm>
          <a:prstGeom prst="rect">
            <a:avLst/>
          </a:prstGeom>
          <a:noFill/>
          <a:ln/>
        </p:spPr>
        <p:txBody>
          <a:bodyPr wrap="square" rtlCol="0"/>
          <a:lstStyle>
            <a:lvl1pPr marL="0" indent="0" algn="l">
              <a:buNone/>
              <a:defRPr lang="en-US" sz="1600" dirty="0">
                <a:solidFill>
                  <a:srgbClr val="D9D4FF"/>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7" name="Text 1"/>
          <p:cNvSpPr>
            <a:spLocks noGrp="1"/>
          </p:cNvSpPr>
          <p:nvPr>
            <p:ph type="body" idx="105" hasCustomPrompt="1"/>
          </p:nvPr>
        </p:nvSpPr>
        <p:spPr>
          <a:xfrm>
            <a:off x="621792" y="4005072"/>
            <a:ext cx="6766560" cy="384048"/>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
        <p:nvSpPr>
          <p:cNvPr id="8" name="Text 1"/>
          <p:cNvSpPr>
            <a:spLocks noGrp="1"/>
          </p:cNvSpPr>
          <p:nvPr>
            <p:ph type="body" idx="106" hasCustomPrompt="1"/>
          </p:nvPr>
        </p:nvSpPr>
        <p:spPr>
          <a:xfrm>
            <a:off x="621792" y="4425696"/>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9" name="Text 1"/>
          <p:cNvSpPr>
            <a:spLocks noGrp="1"/>
          </p:cNvSpPr>
          <p:nvPr>
            <p:ph type="body" idx="107" hasCustomPrompt="1"/>
          </p:nvPr>
        </p:nvSpPr>
        <p:spPr>
          <a:xfrm>
            <a:off x="621792" y="4718304"/>
            <a:ext cx="6766560" cy="274320"/>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
        <p:nvSpPr>
          <p:cNvPr id="10" name="Text 1"/>
          <p:cNvSpPr>
            <a:spLocks noGrp="1"/>
          </p:cNvSpPr>
          <p:nvPr>
            <p:ph type="body" idx="108" hasCustomPrompt="1"/>
          </p:nvPr>
        </p:nvSpPr>
        <p:spPr>
          <a:xfrm>
            <a:off x="621792" y="5102352"/>
            <a:ext cx="6766560" cy="493776"/>
          </a:xfrm>
          <a:prstGeom prst="rect">
            <a:avLst/>
          </a:prstGeom>
          <a:noFill/>
          <a:ln/>
        </p:spPr>
        <p:txBody>
          <a:bodyPr wrap="square" rtlCol="0"/>
          <a:lstStyle>
            <a:lvl1pPr marL="0" indent="0" algn="l">
              <a:buNone/>
              <a:defRPr lang="en-US" sz="1400" b="1" dirty="0">
                <a:solidFill>
                  <a:schemeClr val="bg1"/>
                </a:solidFill>
                <a:latin typeface="Arial" pitchFamily="34" charset="0"/>
                <a:ea typeface="Arial" pitchFamily="34" charset="-122"/>
                <a:cs typeface="Arial" pitchFamily="34" charset="-120"/>
              </a:defRPr>
            </a:lvl1pPr>
          </a:lstStyle>
          <a:p>
            <a:pPr marL="0" indent="0" algn="l">
              <a:buNone/>
            </a:pPr>
            <a:endParaRPr lang="en-US" sz="1400" dirty="0"/>
          </a:p>
        </p:txBody>
      </p:sp>
      <p:sp>
        <p:nvSpPr>
          <p:cNvPr id="11" name="Text 1"/>
          <p:cNvSpPr>
            <a:spLocks noGrp="1"/>
          </p:cNvSpPr>
          <p:nvPr>
            <p:ph type="body" idx="109" hasCustomPrompt="1"/>
          </p:nvPr>
        </p:nvSpPr>
        <p:spPr>
          <a:xfrm>
            <a:off x="621792" y="5687568"/>
            <a:ext cx="6766560" cy="274320"/>
          </a:xfrm>
          <a:prstGeom prst="rect">
            <a:avLst/>
          </a:prstGeom>
          <a:noFill/>
          <a:ln/>
        </p:spPr>
        <p:txBody>
          <a:bodyPr wrap="square" rtlCol="0"/>
          <a:lstStyle>
            <a:lvl1pPr marL="0" indent="0" algn="l">
              <a:buNone/>
              <a:defRPr lang="en-US" sz="1400" b="1" dirty="0">
                <a:solidFill>
                  <a:srgbClr val="FFB98F"/>
                </a:solidFill>
                <a:latin typeface="Arial" pitchFamily="34" charset="0"/>
                <a:ea typeface="Arial" pitchFamily="34" charset="-122"/>
                <a:cs typeface="Arial" pitchFamily="34" charset="-120"/>
              </a:defRPr>
            </a:lvl1pPr>
          </a:lstStyle>
          <a:p>
            <a:pPr marL="0" indent="0" algn="l">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PC_CONTENT">
    <p:bg>
      <p:bgPr>
        <a:solidFill>
          <a:schemeClr val="bg1"/>
        </a:solidFill>
        <a:effectLst/>
      </p:bgPr>
    </p:bg>
    <p:spTree>
      <p:nvGrpSpPr>
        <p:cNvPr id="1" name=""/>
        <p:cNvGrpSpPr/>
        <p:nvPr/>
      </p:nvGrpSpPr>
      <p:grpSpPr>
        <a:xfrm>
          <a:off x="0" y="0"/>
          <a:ext cx="0" cy="0"/>
          <a:chOff x="0" y="0"/>
          <a:chExt cx="0" cy="0"/>
        </a:xfrm>
      </p:grpSpPr>
      <p:pic>
        <p:nvPicPr>
          <p:cNvPr id="2" name="Image 0" descr="WPC Block 4 header and footer artwork"/>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448056" y="76809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Energy Technologies</a:t>
            </a:r>
            <a:endParaRPr lang="en-US" sz="2400" dirty="0"/>
          </a:p>
        </p:txBody>
      </p:sp>
      <p:sp>
        <p:nvSpPr>
          <p:cNvPr id="4" name="Text 1"/>
          <p:cNvSpPr/>
          <p:nvPr/>
        </p:nvSpPr>
        <p:spPr>
          <a:xfrm>
            <a:off x="448056" y="1133856"/>
            <a:ext cx="5486400" cy="365760"/>
          </a:xfrm>
          <a:prstGeom prst="rect">
            <a:avLst/>
          </a:prstGeom>
          <a:noFill/>
          <a:ln/>
        </p:spPr>
        <p:txBody>
          <a:bodyPr wrap="square" lIns="0" tIns="0" rIns="0" bIns="0"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-Future Pathways</a:t>
            </a:r>
            <a:endParaRPr lang="en-US" sz="2400" dirty="0"/>
          </a:p>
        </p:txBody>
      </p:sp>
      <p:sp>
        <p:nvSpPr>
          <p:cNvPr id="5" name="Text 2"/>
          <p:cNvSpPr/>
          <p:nvPr/>
        </p:nvSpPr>
        <p:spPr>
          <a:xfrm>
            <a:off x="393192" y="6382512"/>
            <a:ext cx="2743200" cy="274320"/>
          </a:xfrm>
          <a:prstGeom prst="rect">
            <a:avLst/>
          </a:prstGeom>
          <a:noFill/>
          <a:ln/>
        </p:spPr>
        <p:txBody>
          <a:bodyPr wrap="square" lIns="0" tIns="0" rIns="0" bIns="0" rtlCol="0" anchor="ctr"/>
          <a:lstStyle/>
          <a:p>
            <a:pPr marL="0" indent="0">
              <a:buNone/>
            </a:pPr>
            <a:r>
              <a:rPr lang="en-US" sz="1200" b="1" dirty="0">
                <a:solidFill>
                  <a:schemeClr val="tx1"/>
                </a:solidFill>
                <a:latin typeface="Arial" pitchFamily="34" charset="0"/>
                <a:ea typeface="Arial" pitchFamily="34" charset="-122"/>
                <a:cs typeface="Arial" pitchFamily="34" charset="-120"/>
              </a:rPr>
              <a:t>Raghad AlSawilam | KACST</a:t>
            </a:r>
            <a:endParaRPr lang="en-US" sz="1200" dirty="0"/>
          </a:p>
        </p:txBody>
      </p:sp>
      <p:sp>
        <p:nvSpPr>
          <p:cNvPr id="6" name="Text 3"/>
          <p:cNvSpPr>
            <a:spLocks noGrp="1"/>
          </p:cNvSpPr>
          <p:nvPr>
            <p:ph type="title" idx="104" hasCustomPrompt="1"/>
          </p:nvPr>
        </p:nvSpPr>
        <p:spPr>
          <a:xfrm>
            <a:off x="448056" y="1828800"/>
            <a:ext cx="11292840" cy="457200"/>
          </a:xfrm>
          <a:prstGeom prst="rect">
            <a:avLst/>
          </a:prstGeom>
          <a:noFill/>
          <a:ln/>
        </p:spPr>
        <p:txBody>
          <a:bodyPr wrap="square" rtlCol="0"/>
          <a:lstStyle>
            <a:lvl1pPr marL="0" indent="0" algn="l">
              <a:buNone/>
              <a:defRPr lang="en-US" sz="2400" b="1" dirty="0">
                <a:solidFill>
                  <a:schemeClr val="accent1"/>
                </a:solidFill>
                <a:latin typeface="Arial" pitchFamily="34" charset="0"/>
                <a:ea typeface="Arial" pitchFamily="34" charset="-122"/>
                <a:cs typeface="Arial" pitchFamily="34" charset="-120"/>
              </a:defRPr>
            </a:lvl1pPr>
          </a:lstStyle>
          <a:p>
            <a:pPr marL="0" indent="0" algn="l">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WPC_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25th WPC Energy Congress logo"/>
          <p:cNvPicPr>
            <a:picLocks noChangeAspect="1"/>
          </p:cNvPicPr>
          <p:nvPr/>
        </p:nvPicPr>
        <p:blipFill>
          <a:blip r:embed="rId3"/>
          <a:stretch>
            <a:fillRect/>
          </a:stretch>
        </p:blipFill>
        <p:spPr>
          <a:xfrm>
            <a:off x="512064" y="493776"/>
            <a:ext cx="3273552" cy="1380744"/>
          </a:xfrm>
          <a:prstGeom prst="rect">
            <a:avLst/>
          </a:prstGeom>
        </p:spPr>
      </p:pic>
      <p:pic>
        <p:nvPicPr>
          <p:cNvPr id="3" name="Image 1" descr="WPC Energy and Ministry of Energy logos"/>
          <p:cNvPicPr>
            <a:picLocks noChangeAspect="1"/>
          </p:cNvPicPr>
          <p:nvPr/>
        </p:nvPicPr>
        <p:blipFill>
          <a:blip r:embed="rId4"/>
          <a:stretch>
            <a:fillRect/>
          </a:stretch>
        </p:blipFill>
        <p:spPr>
          <a:xfrm>
            <a:off x="8421624" y="594360"/>
            <a:ext cx="3383280" cy="676656"/>
          </a:xfrm>
          <a:prstGeom prst="rect">
            <a:avLst/>
          </a:prstGeom>
        </p:spPr>
      </p:pic>
      <p:sp>
        <p:nvSpPr>
          <p:cNvPr id="4" name="Text 0"/>
          <p:cNvSpPr>
            <a:spLocks noGrp="1"/>
          </p:cNvSpPr>
          <p:nvPr>
            <p:ph type="title" idx="102" hasCustomPrompt="1"/>
          </p:nvPr>
        </p:nvSpPr>
        <p:spPr>
          <a:xfrm>
            <a:off x="612648" y="3163824"/>
            <a:ext cx="6035040" cy="566928"/>
          </a:xfrm>
          <a:prstGeom prst="rect">
            <a:avLst/>
          </a:prstGeom>
          <a:noFill/>
          <a:ln/>
        </p:spPr>
        <p:txBody>
          <a:bodyPr wrap="square" rtlCol="0"/>
          <a:lstStyle>
            <a:lvl1pPr marL="0" indent="0" algn="l">
              <a:buNone/>
              <a:defRPr lang="en-US" sz="3200" b="1" dirty="0">
                <a:solidFill>
                  <a:schemeClr val="bg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5" name="Text 0"/>
          <p:cNvSpPr>
            <a:spLocks noGrp="1"/>
          </p:cNvSpPr>
          <p:nvPr>
            <p:ph type="body" idx="103" hasCustomPrompt="1"/>
          </p:nvPr>
        </p:nvSpPr>
        <p:spPr>
          <a:xfrm>
            <a:off x="612648" y="3803904"/>
            <a:ext cx="6035040" cy="329184"/>
          </a:xfrm>
          <a:prstGeom prst="rect">
            <a:avLst/>
          </a:prstGeom>
          <a:noFill/>
          <a:ln/>
        </p:spPr>
        <p:txBody>
          <a:bodyPr wrap="square" rtlCol="0"/>
          <a:lstStyle>
            <a:lvl1pPr marL="0" indent="0" algn="l">
              <a:buNone/>
              <a:defRPr lang="en-US" sz="2000" dirty="0">
                <a:solidFill>
                  <a:srgbClr val="D9D4FF"/>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6" name="Text 0"/>
          <p:cNvSpPr>
            <a:spLocks noGrp="1"/>
          </p:cNvSpPr>
          <p:nvPr>
            <p:ph type="body" idx="104" hasCustomPrompt="1"/>
          </p:nvPr>
        </p:nvSpPr>
        <p:spPr>
          <a:xfrm>
            <a:off x="612648" y="4443984"/>
            <a:ext cx="6035040" cy="329184"/>
          </a:xfrm>
          <a:prstGeom prst="rect">
            <a:avLst/>
          </a:prstGeom>
          <a:noFill/>
          <a:ln/>
        </p:spPr>
        <p:txBody>
          <a:bodyPr wrap="square" rtlCol="0"/>
          <a:lstStyle>
            <a:lvl1pPr marL="0" indent="0" algn="l">
              <a:buNone/>
              <a:defRPr lang="en-US" sz="2000" b="1" dirty="0">
                <a:solidFill>
                  <a:schemeClr val="accent1"/>
                </a:solidFill>
                <a:latin typeface="Arial" pitchFamily="34" charset="0"/>
                <a:ea typeface="Arial" pitchFamily="34" charset="-122"/>
                <a:cs typeface="Arial" pitchFamily="34" charset="-120"/>
              </a:defRPr>
            </a:lvl1pPr>
          </a:lstStyle>
          <a:p>
            <a:pPr marL="0" indent="0" algn="l">
              <a:buNone/>
            </a:pPr>
            <a:endParaRPr lang="en-US" sz="2000" dirty="0"/>
          </a:p>
        </p:txBody>
      </p:sp>
      <p:sp>
        <p:nvSpPr>
          <p:cNvPr id="7" name="Text 0"/>
          <p:cNvSpPr>
            <a:spLocks noGrp="1"/>
          </p:cNvSpPr>
          <p:nvPr>
            <p:ph type="body" idx="105" hasCustomPrompt="1"/>
          </p:nvPr>
        </p:nvSpPr>
        <p:spPr>
          <a:xfrm>
            <a:off x="612648" y="4791456"/>
            <a:ext cx="6035040" cy="292608"/>
          </a:xfrm>
          <a:prstGeom prst="rect">
            <a:avLst/>
          </a:prstGeom>
          <a:noFill/>
          <a:ln/>
        </p:spPr>
        <p:txBody>
          <a:bodyPr wrap="square" rtlCol="0"/>
          <a:lstStyle>
            <a:lvl1pPr marL="0" indent="0" algn="l">
              <a:buNone/>
              <a:defRPr lang="en-US" sz="1600" dirty="0">
                <a:solidFill>
                  <a:schemeClr val="bg1"/>
                </a:solidFill>
                <a:latin typeface="Arial" pitchFamily="34" charset="0"/>
                <a:ea typeface="Arial" pitchFamily="34" charset="-122"/>
                <a:cs typeface="Arial" pitchFamily="34" charset="-120"/>
              </a:defRPr>
            </a:lvl1pPr>
          </a:lstStyle>
          <a:p>
            <a:pPr marL="0" indent="0" algn="l">
              <a:buNone/>
            </a:pPr>
            <a:endParaRPr lang="en-US" sz="16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0B53BF-6A52-3A55-4E2D-0173CF4D76A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endParaRPr lang="en-AE"/>
          </a:p>
        </p:txBody>
      </p:sp>
      <p:sp>
        <p:nvSpPr>
          <p:cNvPr id="3" name="Subtitle 2">
            <a:extLst>
              <a:ext uri="{FF2B5EF4-FFF2-40B4-BE49-F238E27FC236}">
                <a16:creationId xmlns:a16="http://schemas.microsoft.com/office/drawing/2014/main" id="{490DE4B1-D593-CC3C-F804-C5E68548321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E"/>
          </a:p>
        </p:txBody>
      </p:sp>
      <p:sp>
        <p:nvSpPr>
          <p:cNvPr id="4" name="Date Placeholder 3">
            <a:extLst>
              <a:ext uri="{FF2B5EF4-FFF2-40B4-BE49-F238E27FC236}">
                <a16:creationId xmlns:a16="http://schemas.microsoft.com/office/drawing/2014/main" id="{7CE087ED-D878-7E75-58E1-816B23E8037A}"/>
              </a:ext>
            </a:extLst>
          </p:cNvPr>
          <p:cNvSpPr>
            <a:spLocks noGrp="1"/>
          </p:cNvSpPr>
          <p:nvPr>
            <p:ph type="dt" sz="half" idx="10"/>
          </p:nvPr>
        </p:nvSpPr>
        <p:spPr>
          <a:xfrm>
            <a:off x="331304" y="6356350"/>
            <a:ext cx="2743200" cy="365125"/>
          </a:xfrm>
          <a:prstGeom prst="rect">
            <a:avLst/>
          </a:prstGeom>
        </p:spPr>
        <p:txBody>
          <a:bodyPr/>
          <a:lstStyle/>
          <a:p>
            <a:fld id="{D2196A8F-0171-AF4D-9E96-F285C400C663}" type="datetimeFigureOut">
              <a:rPr lang="en-AE" smtClean="0"/>
              <a:t>10/11/26</a:t>
            </a:fld>
            <a:endParaRPr lang="en-AE"/>
          </a:p>
        </p:txBody>
      </p:sp>
      <p:sp>
        <p:nvSpPr>
          <p:cNvPr id="5" name="Footer Placeholder 4">
            <a:extLst>
              <a:ext uri="{FF2B5EF4-FFF2-40B4-BE49-F238E27FC236}">
                <a16:creationId xmlns:a16="http://schemas.microsoft.com/office/drawing/2014/main" id="{F76FF3D5-7242-66B9-CDA4-F58A025BDA7C}"/>
              </a:ext>
            </a:extLst>
          </p:cNvPr>
          <p:cNvSpPr>
            <a:spLocks noGrp="1"/>
          </p:cNvSpPr>
          <p:nvPr>
            <p:ph type="ftr" sz="quarter" idx="11"/>
          </p:nvPr>
        </p:nvSpPr>
        <p:spPr>
          <a:xfrm>
            <a:off x="4038600" y="6356350"/>
            <a:ext cx="4114800" cy="365125"/>
          </a:xfrm>
          <a:prstGeom prst="rect">
            <a:avLst/>
          </a:prstGeom>
        </p:spPr>
        <p:txBody>
          <a:bodyPr/>
          <a:lstStyle/>
          <a:p>
            <a:endParaRPr lang="en-AE"/>
          </a:p>
        </p:txBody>
      </p:sp>
      <p:sp>
        <p:nvSpPr>
          <p:cNvPr id="6" name="Slide Number Placeholder 5">
            <a:extLst>
              <a:ext uri="{FF2B5EF4-FFF2-40B4-BE49-F238E27FC236}">
                <a16:creationId xmlns:a16="http://schemas.microsoft.com/office/drawing/2014/main" id="{1B34FD92-AAFC-CC11-DA0D-9CFEC4C4B7A0}"/>
              </a:ext>
            </a:extLst>
          </p:cNvPr>
          <p:cNvSpPr>
            <a:spLocks noGrp="1"/>
          </p:cNvSpPr>
          <p:nvPr>
            <p:ph type="sldNum" sz="quarter" idx="12"/>
          </p:nvPr>
        </p:nvSpPr>
        <p:spPr>
          <a:xfrm>
            <a:off x="331304" y="6356350"/>
            <a:ext cx="2743200" cy="365125"/>
          </a:xfrm>
          <a:prstGeom prst="rect">
            <a:avLst/>
          </a:prstGeom>
        </p:spPr>
        <p:txBody>
          <a:bodyPr/>
          <a:lstStyle/>
          <a:p>
            <a:fld id="{388DA25C-1014-654B-B0A9-357B89C41D9C}" type="slidenum">
              <a:rPr lang="en-AE" smtClean="0"/>
              <a:t>‹#›</a:t>
            </a:fld>
            <a:endParaRPr lang="en-AE"/>
          </a:p>
        </p:txBody>
      </p:sp>
    </p:spTree>
    <p:extLst>
      <p:ext uri="{BB962C8B-B14F-4D97-AF65-F5344CB8AC3E}">
        <p14:creationId xmlns:p14="http://schemas.microsoft.com/office/powerpoint/2010/main" val="39035159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 Id="rId100" Type="http://schemas.openxmlformats.org/officeDocument/2006/relationships/image" Target="../media/image15.png"/><Relationship Id="rId101" Type="http://schemas.openxmlformats.org/officeDocument/2006/relationships/image" Target="../media/image16.png"/><Relationship Id="rId102" Type="http://schemas.openxmlformats.org/officeDocument/2006/relationships/image" Target="../media/image17.png"/><Relationship Id="rId103" Type="http://schemas.openxmlformats.org/officeDocument/2006/relationships/image" Target="../media/image18.png"/><Relationship Id="rId104" Type="http://schemas.openxmlformats.org/officeDocument/2006/relationships/image" Target="../media/image9.png"/><Relationship Id="rId105" Type="http://schemas.openxmlformats.org/officeDocument/2006/relationships/image" Target="../media/image19.png"/><Relationship Id="rId106" Type="http://schemas.openxmlformats.org/officeDocument/2006/relationships/image" Target="../media/image20.png"/><Relationship Id="rId107" Type="http://schemas.openxmlformats.org/officeDocument/2006/relationships/image" Target="../media/image21.png"/><Relationship Id="rId108" Type="http://schemas.openxmlformats.org/officeDocument/2006/relationships/image" Target="../media/image13.jpg"/><Relationship Id="rId109" Type="http://schemas.openxmlformats.org/officeDocument/2006/relationships/image" Target="../media/image1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 Id="rId100" Type="http://schemas.openxmlformats.org/officeDocument/2006/relationships/image" Target="../media/image2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 Id="rId100" Type="http://schemas.openxmlformats.org/officeDocument/2006/relationships/image" Target="../media/image2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title" idx="103" hasCustomPrompt="1"/>
          </p:nvPr>
        </p:nvSpPr>
        <p:spPr>
          <a:xfrm>
            <a:off x="633832" y="1900000"/>
            <a:ext cx="6900000" cy="1700000"/>
          </a:xfrm>
          <a:prstGeom prst="rect">
            <a:avLst/>
          </a:prstGeom>
          <a:noFill/>
          <a:ln/>
        </p:spPr>
        <p:txBody>
          <a:bodyPr wrap="square" lIns="0" tIns="0" rIns="0" bIns="0" rtlCol="0" anchor="b"/>
          <a:lstStyle/>
          <a:p>
            <a:pPr marL="0" indent="0" algn="l">
              <a:buNone/>
            </a:pPr>
            <a:r>
              <a:rPr lang="en-US" sz="2800" b="1" dirty="0">
                <a:solidFill>
                  <a:schemeClr val="bg1"/>
                </a:solidFill>
                <a:latin typeface="Arial" pitchFamily="34" charset="0"/>
                <a:ea typeface="Arial" pitchFamily="34" charset="-122"/>
                <a:cs typeface="Arial" pitchFamily="34" charset="-120"/>
              </a:rPr>
              <a:t>Capturing CO₂ Directly from Air: </a:t>
            </a:r>
            <a:br>
              <a:rPr lang="en-US" sz="2800" b="1" dirty="0">
                <a:solidFill>
                  <a:schemeClr val="bg1"/>
                </a:solidFill>
                <a:latin typeface="Arial" pitchFamily="34" charset="0"/>
                <a:ea typeface="Arial" pitchFamily="34" charset="-122"/>
                <a:cs typeface="Arial" pitchFamily="34" charset="-120"/>
              </a:rPr>
            </a:br>
            <a:r>
              <a:rPr lang="en-US" sz="2800" b="1" dirty="0">
                <a:solidFill>
                  <a:schemeClr val="bg1"/>
                </a:solidFill>
                <a:latin typeface="Arial" pitchFamily="34" charset="0"/>
                <a:ea typeface="Arial" pitchFamily="34" charset="-122"/>
                <a:cs typeface="Arial" pitchFamily="34" charset="-120"/>
              </a:rPr>
              <a:t>Bimetal-Engineered MOFs with Moisture-Responsive Regeneration</a:t>
            </a:r>
          </a:p>
        </p:txBody>
      </p:sp>
      <p:sp>
        <p:nvSpPr>
          <p:cNvPr id="6" name="Text 1"/>
          <p:cNvSpPr>
            <a:spLocks noGrp="1"/>
          </p:cNvSpPr>
          <p:nvPr>
            <p:ph type="body" idx="107" hasCustomPrompt="1"/>
          </p:nvPr>
        </p:nvSpPr>
        <p:spPr>
          <a:xfrm>
            <a:off x="502921" y="4897402"/>
            <a:ext cx="6766560" cy="274320"/>
          </a:xfrm>
          <a:prstGeom prst="rect">
            <a:avLst/>
          </a:prstGeom>
          <a:noFill/>
          <a:ln/>
        </p:spPr>
        <p:txBody>
          <a:bodyPr wrap="square" lIns="0" tIns="0" rIns="0" bIns="0" rtlCol="0" anchor="t"/>
          <a:lstStyle/>
          <a:p>
            <a:pPr marL="0" indent="0" algn="l">
              <a:buNone/>
            </a:pPr>
            <a:r>
              <a:rPr lang="en-US" sz="2000" dirty="0">
                <a:solidFill>
                  <a:srgbClr val="D9D4FF"/>
                </a:solidFill>
                <a:latin typeface="Arial" pitchFamily="34" charset="0"/>
                <a:ea typeface="Arial" pitchFamily="34" charset="-122"/>
                <a:cs typeface="Arial" pitchFamily="34" charset="-120"/>
              </a:rPr>
              <a:t>Supervisor: </a:t>
            </a:r>
            <a:r>
              <a:rPr lang="en-US" sz="2000" dirty="0">
                <a:solidFill>
                  <a:schemeClr val="bg1"/>
                </a:solidFill>
                <a:latin typeface="Arial" pitchFamily="34" charset="0"/>
                <a:ea typeface="Arial" pitchFamily="34" charset="-122"/>
                <a:cs typeface="Arial" pitchFamily="34" charset="-120"/>
              </a:rPr>
              <a:t>Dr. Lana Alghamdi</a:t>
            </a:r>
            <a:endParaRPr lang="en-US" sz="2000" dirty="0"/>
          </a:p>
        </p:txBody>
      </p:sp>
      <p:sp>
        <p:nvSpPr>
          <p:cNvPr id="7" name="Text 1"/>
          <p:cNvSpPr>
            <a:spLocks noGrp="1"/>
          </p:cNvSpPr>
          <p:nvPr>
            <p:ph type="body" idx="108" hasCustomPrompt="1"/>
          </p:nvPr>
        </p:nvSpPr>
        <p:spPr>
          <a:xfrm>
            <a:off x="534925" y="5427793"/>
            <a:ext cx="6766560" cy="493776"/>
          </a:xfrm>
          <a:prstGeom prst="rect">
            <a:avLst/>
          </a:prstGeom>
          <a:noFill/>
          <a:ln/>
        </p:spPr>
        <p:txBody>
          <a:bodyPr wrap="square" lIns="0" tIns="0" rIns="0" bIns="0" rtlCol="0" anchor="t"/>
          <a:lstStyle/>
          <a:p>
            <a:pPr marL="0" indent="0" algn="l">
              <a:buNone/>
            </a:pPr>
            <a:r>
              <a:rPr lang="en-US" sz="2000" b="1" dirty="0">
                <a:solidFill>
                  <a:schemeClr val="bg1"/>
                </a:solidFill>
                <a:latin typeface="Arial" pitchFamily="34" charset="0"/>
                <a:ea typeface="Arial" pitchFamily="34" charset="-122"/>
                <a:cs typeface="Arial" pitchFamily="34" charset="-120"/>
              </a:rPr>
              <a:t>Advanced Materials Technologies Institute</a:t>
            </a:r>
            <a:endParaRPr lang="en-US" sz="2000" dirty="0"/>
          </a:p>
          <a:p>
            <a:pPr marL="0" indent="0" algn="l">
              <a:buNone/>
            </a:pPr>
            <a:r>
              <a:rPr lang="en-US" sz="1800" b="1" dirty="0">
                <a:solidFill>
                  <a:schemeClr val="bg1"/>
                </a:solidFill>
                <a:latin typeface="Arial" pitchFamily="34" charset="0"/>
                <a:ea typeface="Arial" pitchFamily="34" charset="-122"/>
                <a:cs typeface="Arial" pitchFamily="34" charset="-120"/>
              </a:rPr>
              <a:t>King Abdulaziz City for Science and Technology (KACST)</a:t>
            </a:r>
            <a:endParaRPr lang="en-US" sz="1800" dirty="0"/>
          </a:p>
        </p:txBody>
      </p:sp>
      <p:sp>
        <p:nvSpPr>
          <p:cNvPr id="4" name="Text 1"/>
          <p:cNvSpPr>
            <a:spLocks noGrp="1"/>
          </p:cNvSpPr>
          <p:nvPr>
            <p:ph type="body" idx="105" hasCustomPrompt="1"/>
          </p:nvPr>
        </p:nvSpPr>
        <p:spPr>
          <a:xfrm>
            <a:off x="594360" y="3842021"/>
            <a:ext cx="6766560" cy="384048"/>
          </a:xfrm>
          <a:prstGeom prst="rect">
            <a:avLst/>
          </a:prstGeom>
          <a:noFill/>
          <a:ln/>
        </p:spPr>
        <p:txBody>
          <a:bodyPr wrap="square" lIns="0" tIns="0" rIns="0" bIns="0" rtlCol="0" anchor="t"/>
          <a:lstStyle/>
          <a:p>
            <a:pPr marL="0" indent="0" algn="l">
              <a:buNone/>
            </a:pPr>
            <a:r>
              <a:rPr lang="en-US" sz="2400" b="1" dirty="0">
                <a:solidFill>
                  <a:schemeClr val="accent1"/>
                </a:solidFill>
                <a:latin typeface="Arial" pitchFamily="34" charset="0"/>
                <a:ea typeface="Arial" pitchFamily="34" charset="-122"/>
                <a:cs typeface="Arial" pitchFamily="34" charset="-120"/>
              </a:rPr>
              <a:t>Raghad AlSawilam</a:t>
            </a:r>
            <a:endParaRPr lang="en-US" sz="2400" dirty="0"/>
          </a:p>
        </p:txBody>
      </p:sp>
      <p:sp>
        <p:nvSpPr>
          <p:cNvPr id="9" name="Title visual panel"/>
          <p:cNvSpPr/>
          <p:nvPr/>
        </p:nvSpPr>
        <p:spPr>
          <a:xfrm>
            <a:off x="7680960" y="1993392"/>
            <a:ext cx="4050792" cy="3877056"/>
          </a:xfrm>
          <a:prstGeom prst="roundRect">
            <a:avLst>
              <a:gd name="adj" fmla="val 2358"/>
            </a:avLst>
          </a:prstGeom>
          <a:solidFill>
            <a:srgbClr val="000000">
              <a:alpha val="58000"/>
            </a:srgbClr>
          </a:solidFill>
          <a:ln w="6350">
            <a:solidFill>
              <a:srgbClr val="FFFFFF">
                <a:alpha val="30000"/>
              </a:srgbClr>
            </a:solidFill>
            <a:prstDash val="solid"/>
          </a:ln>
        </p:spPr>
      </p:sp>
      <p:sp>
        <p:nvSpPr>
          <p:cNvPr id="10" name="Section label FROM AMBIENT AIR TO CO₂ CAPTURE"/>
          <p:cNvSpPr txBox="1"/>
          <p:nvPr/>
        </p:nvSpPr>
        <p:spPr>
          <a:xfrm>
            <a:off x="7909560" y="2139696"/>
            <a:ext cx="3566160" cy="219456"/>
          </a:xfrm>
          <a:prstGeom prst="rect">
            <a:avLst/>
          </a:prstGeom>
          <a:noFill/>
          <a:ln/>
        </p:spPr>
        <p:txBody>
          <a:bodyPr wrap="square" lIns="0" tIns="0" rIns="0" bIns="0" rtlCol="0" anchor="ctr"/>
          <a:lstStyle/>
          <a:p>
            <a:pPr marL="0" indent="0">
              <a:buNone/>
            </a:pPr>
            <a:r>
              <a:rPr lang="en-US" sz="1000" b="1" kern="0" spc="100" dirty="0">
                <a:solidFill>
                  <a:schemeClr val="accent1"/>
                </a:solidFill>
                <a:latin typeface="Arial" pitchFamily="34" charset="0"/>
                <a:ea typeface="Arial" pitchFamily="34" charset="-122"/>
                <a:cs typeface="Arial" pitchFamily="34" charset="-120"/>
              </a:rPr>
              <a:t>FROM AMBIENT AIR TO CO₂ CAPTURE</a:t>
            </a:r>
            <a:endParaRPr lang="en-US" sz="1000" dirty="0"/>
          </a:p>
        </p:txBody>
      </p:sp>
      <p:sp>
        <p:nvSpPr>
          <p:cNvPr id="11" name="Title stage 1 glyph box"/>
          <p:cNvSpPr/>
          <p:nvPr/>
        </p:nvSpPr>
        <p:spPr>
          <a:xfrm>
            <a:off x="7909560" y="2496312"/>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12" name="Title air N2/O2 atom"/>
          <p:cNvSpPr/>
          <p:nvPr/>
        </p:nvSpPr>
        <p:spPr>
          <a:xfrm>
            <a:off x="8070537" y="2594476"/>
            <a:ext cx="132857" cy="132857"/>
          </a:xfrm>
          <a:prstGeom prst="ellipse">
            <a:avLst/>
          </a:prstGeom>
          <a:solidFill>
            <a:srgbClr val="B4B8C5"/>
          </a:solidFill>
          <a:ln w="9525">
            <a:solidFill>
              <a:srgbClr val="FFFFFF"/>
            </a:solidFill>
            <a:prstDash val="solid"/>
          </a:ln>
        </p:spPr>
      </p:sp>
      <p:sp>
        <p:nvSpPr>
          <p:cNvPr id="13" name="Title air N2/O2 atom"/>
          <p:cNvSpPr/>
          <p:nvPr/>
        </p:nvSpPr>
        <p:spPr>
          <a:xfrm>
            <a:off x="8166194" y="2594476"/>
            <a:ext cx="132857" cy="132857"/>
          </a:xfrm>
          <a:prstGeom prst="ellipse">
            <a:avLst/>
          </a:prstGeom>
          <a:solidFill>
            <a:srgbClr val="B4B8C5"/>
          </a:solidFill>
          <a:ln w="9525">
            <a:solidFill>
              <a:srgbClr val="FFFFFF"/>
            </a:solidFill>
            <a:prstDash val="solid"/>
          </a:ln>
        </p:spPr>
      </p:sp>
      <p:sp>
        <p:nvSpPr>
          <p:cNvPr id="14" name="Title air N2/O2 atom"/>
          <p:cNvSpPr/>
          <p:nvPr/>
        </p:nvSpPr>
        <p:spPr>
          <a:xfrm>
            <a:off x="8478817" y="2976695"/>
            <a:ext cx="132857" cy="132857"/>
          </a:xfrm>
          <a:prstGeom prst="ellipse">
            <a:avLst/>
          </a:prstGeom>
          <a:solidFill>
            <a:srgbClr val="B4B8C5"/>
          </a:solidFill>
          <a:ln w="9525">
            <a:solidFill>
              <a:srgbClr val="FFFFFF"/>
            </a:solidFill>
            <a:prstDash val="solid"/>
          </a:ln>
        </p:spPr>
      </p:sp>
      <p:sp>
        <p:nvSpPr>
          <p:cNvPr id="15" name="Title air N2/O2 atom"/>
          <p:cNvSpPr/>
          <p:nvPr/>
        </p:nvSpPr>
        <p:spPr>
          <a:xfrm>
            <a:off x="8574474" y="2976695"/>
            <a:ext cx="132857" cy="132857"/>
          </a:xfrm>
          <a:prstGeom prst="ellipse">
            <a:avLst/>
          </a:prstGeom>
          <a:solidFill>
            <a:srgbClr val="B4B8C5"/>
          </a:solidFill>
          <a:ln w="9525">
            <a:solidFill>
              <a:srgbClr val="FFFFFF"/>
            </a:solidFill>
            <a:prstDash val="solid"/>
          </a:ln>
        </p:spPr>
      </p:sp>
      <p:sp>
        <p:nvSpPr>
          <p:cNvPr id="16" name="Title air N2/O2 atom"/>
          <p:cNvSpPr/>
          <p:nvPr/>
        </p:nvSpPr>
        <p:spPr>
          <a:xfrm>
            <a:off x="8826289" y="2577102"/>
            <a:ext cx="132857" cy="132857"/>
          </a:xfrm>
          <a:prstGeom prst="ellipse">
            <a:avLst/>
          </a:prstGeom>
          <a:solidFill>
            <a:srgbClr val="B4B8C5"/>
          </a:solidFill>
          <a:ln w="9525">
            <a:solidFill>
              <a:srgbClr val="FFFFFF"/>
            </a:solidFill>
            <a:prstDash val="solid"/>
          </a:ln>
        </p:spPr>
      </p:sp>
      <p:sp>
        <p:nvSpPr>
          <p:cNvPr id="17" name="Title air N2/O2 atom"/>
          <p:cNvSpPr/>
          <p:nvPr/>
        </p:nvSpPr>
        <p:spPr>
          <a:xfrm>
            <a:off x="8921946" y="2577102"/>
            <a:ext cx="132857" cy="132857"/>
          </a:xfrm>
          <a:prstGeom prst="ellipse">
            <a:avLst/>
          </a:prstGeom>
          <a:solidFill>
            <a:srgbClr val="B4B8C5"/>
          </a:solidFill>
          <a:ln w="9525">
            <a:solidFill>
              <a:srgbClr val="FFFFFF"/>
            </a:solidFill>
            <a:prstDash val="solid"/>
          </a:ln>
        </p:spPr>
      </p:sp>
      <p:sp>
        <p:nvSpPr>
          <p:cNvPr id="18" name="Title air N2/O2 atom"/>
          <p:cNvSpPr/>
          <p:nvPr/>
        </p:nvSpPr>
        <p:spPr>
          <a:xfrm>
            <a:off x="8001043" y="3002755"/>
            <a:ext cx="132857" cy="132857"/>
          </a:xfrm>
          <a:prstGeom prst="ellipse">
            <a:avLst/>
          </a:prstGeom>
          <a:solidFill>
            <a:srgbClr val="B4B8C5"/>
          </a:solidFill>
          <a:ln w="9525">
            <a:solidFill>
              <a:srgbClr val="FFFFFF"/>
            </a:solidFill>
            <a:prstDash val="solid"/>
          </a:ln>
        </p:spPr>
      </p:sp>
      <p:sp>
        <p:nvSpPr>
          <p:cNvPr id="19" name="Title air N2/O2 atom"/>
          <p:cNvSpPr/>
          <p:nvPr/>
        </p:nvSpPr>
        <p:spPr>
          <a:xfrm>
            <a:off x="8096700" y="3002755"/>
            <a:ext cx="132857" cy="132857"/>
          </a:xfrm>
          <a:prstGeom prst="ellipse">
            <a:avLst/>
          </a:prstGeom>
          <a:solidFill>
            <a:srgbClr val="B4B8C5"/>
          </a:solidFill>
          <a:ln w="9525">
            <a:solidFill>
              <a:srgbClr val="FFFFFF"/>
            </a:solidFill>
            <a:prstDash val="solid"/>
          </a:ln>
        </p:spPr>
      </p:sp>
      <p:sp>
        <p:nvSpPr>
          <p:cNvPr id="20" name="Title air CO2 O"/>
          <p:cNvSpPr/>
          <p:nvPr/>
        </p:nvSpPr>
        <p:spPr>
          <a:xfrm>
            <a:off x="8419338" y="2604106"/>
            <a:ext cx="113597" cy="113597"/>
          </a:xfrm>
          <a:prstGeom prst="ellipse">
            <a:avLst/>
          </a:prstGeom>
          <a:solidFill>
            <a:schemeClr val="accent5"/>
          </a:solidFill>
          <a:ln w="9525">
            <a:solidFill>
              <a:srgbClr val="FFFFFF"/>
            </a:solidFill>
            <a:prstDash val="solid"/>
          </a:ln>
        </p:spPr>
      </p:sp>
      <p:sp>
        <p:nvSpPr>
          <p:cNvPr id="21" name="Title air CO2 O"/>
          <p:cNvSpPr/>
          <p:nvPr/>
        </p:nvSpPr>
        <p:spPr>
          <a:xfrm>
            <a:off x="8601093" y="2604106"/>
            <a:ext cx="113597" cy="113597"/>
          </a:xfrm>
          <a:prstGeom prst="ellipse">
            <a:avLst/>
          </a:prstGeom>
          <a:solidFill>
            <a:schemeClr val="accent5"/>
          </a:solidFill>
          <a:ln w="9525">
            <a:solidFill>
              <a:srgbClr val="FFFFFF"/>
            </a:solidFill>
            <a:prstDash val="solid"/>
          </a:ln>
        </p:spPr>
      </p:sp>
      <p:sp>
        <p:nvSpPr>
          <p:cNvPr id="22" name="Title air CO2 C"/>
          <p:cNvSpPr/>
          <p:nvPr/>
        </p:nvSpPr>
        <p:spPr>
          <a:xfrm>
            <a:off x="8514759" y="2608650"/>
            <a:ext cx="104509" cy="104509"/>
          </a:xfrm>
          <a:prstGeom prst="ellipse">
            <a:avLst/>
          </a:prstGeom>
          <a:solidFill>
            <a:schemeClr val="tx2"/>
          </a:solidFill>
          <a:ln w="9525">
            <a:solidFill>
              <a:srgbClr val="FFFFFF"/>
            </a:solidFill>
            <a:prstDash val="solid"/>
          </a:ln>
        </p:spPr>
      </p:sp>
      <p:sp>
        <p:nvSpPr>
          <p:cNvPr id="23" name="Title air H2O H"/>
          <p:cNvSpPr/>
          <p:nvPr/>
        </p:nvSpPr>
        <p:spPr>
          <a:xfrm>
            <a:off x="8890163" y="3047756"/>
            <a:ext cx="71811" cy="71811"/>
          </a:xfrm>
          <a:prstGeom prst="ellipse">
            <a:avLst/>
          </a:prstGeom>
          <a:solidFill>
            <a:schemeClr val="bg1"/>
          </a:solidFill>
          <a:ln w="9525">
            <a:solidFill>
              <a:srgbClr val="8D96AA"/>
            </a:solidFill>
            <a:prstDash val="solid"/>
          </a:ln>
        </p:spPr>
      </p:sp>
      <p:sp>
        <p:nvSpPr>
          <p:cNvPr id="24" name="Title air H2O H"/>
          <p:cNvSpPr/>
          <p:nvPr/>
        </p:nvSpPr>
        <p:spPr>
          <a:xfrm>
            <a:off x="9005987" y="3047756"/>
            <a:ext cx="71811" cy="71811"/>
          </a:xfrm>
          <a:prstGeom prst="ellipse">
            <a:avLst/>
          </a:prstGeom>
          <a:solidFill>
            <a:schemeClr val="bg1"/>
          </a:solidFill>
          <a:ln w="9525">
            <a:solidFill>
              <a:srgbClr val="8D96AA"/>
            </a:solidFill>
            <a:prstDash val="solid"/>
          </a:ln>
        </p:spPr>
      </p:sp>
      <p:sp>
        <p:nvSpPr>
          <p:cNvPr id="25" name="Title air H2O O"/>
          <p:cNvSpPr/>
          <p:nvPr/>
        </p:nvSpPr>
        <p:spPr>
          <a:xfrm>
            <a:off x="8926068" y="2982316"/>
            <a:ext cx="115824" cy="115824"/>
          </a:xfrm>
          <a:prstGeom prst="ellipse">
            <a:avLst/>
          </a:prstGeom>
          <a:solidFill>
            <a:schemeClr val="accent4"/>
          </a:solidFill>
          <a:ln w="9525">
            <a:solidFill>
              <a:srgbClr val="FFFFFF"/>
            </a:solidFill>
            <a:prstDash val="solid"/>
          </a:ln>
        </p:spPr>
      </p:sp>
      <p:sp>
        <p:nvSpPr>
          <p:cNvPr id="26" name="Text 24"/>
          <p:cNvSpPr txBox="1"/>
          <p:nvPr/>
        </p:nvSpPr>
        <p:spPr>
          <a:xfrm>
            <a:off x="9372600" y="2569464"/>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Ambient Air</a:t>
            </a:r>
            <a:endParaRPr lang="en-US" sz="1400" dirty="0"/>
          </a:p>
        </p:txBody>
      </p:sp>
      <p:sp>
        <p:nvSpPr>
          <p:cNvPr id="27" name="Text 25"/>
          <p:cNvSpPr txBox="1"/>
          <p:nvPr/>
        </p:nvSpPr>
        <p:spPr>
          <a:xfrm>
            <a:off x="9372600" y="2843784"/>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Low CO₂ concentration, with water vapor</a:t>
            </a:r>
            <a:endParaRPr lang="en-US" sz="1050" dirty="0"/>
          </a:p>
        </p:txBody>
      </p:sp>
      <p:sp>
        <p:nvSpPr>
          <p:cNvPr id="28" name="Title flow arrow 1"/>
          <p:cNvSpPr/>
          <p:nvPr/>
        </p:nvSpPr>
        <p:spPr>
          <a:xfrm>
            <a:off x="8476488" y="3191256"/>
            <a:ext cx="146304" cy="137160"/>
          </a:xfrm>
          <a:prstGeom prst="downArrow">
            <a:avLst/>
          </a:prstGeom>
          <a:solidFill>
            <a:schemeClr val="accent1"/>
          </a:solidFill>
          <a:ln w="12700">
            <a:solidFill>
              <a:schemeClr val="accent1"/>
            </a:solidFill>
            <a:prstDash val="solid"/>
          </a:ln>
        </p:spPr>
      </p:sp>
      <p:sp>
        <p:nvSpPr>
          <p:cNvPr id="29" name="Title stage 2 glyph box"/>
          <p:cNvSpPr/>
          <p:nvPr/>
        </p:nvSpPr>
        <p:spPr>
          <a:xfrm>
            <a:off x="7909560" y="3337560"/>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0" name="Title CO2 O"/>
          <p:cNvSpPr/>
          <p:nvPr/>
        </p:nvSpPr>
        <p:spPr>
          <a:xfrm>
            <a:off x="8193024" y="3538728"/>
            <a:ext cx="274320" cy="274320"/>
          </a:xfrm>
          <a:prstGeom prst="ellipse">
            <a:avLst/>
          </a:prstGeom>
          <a:solidFill>
            <a:schemeClr val="accent5"/>
          </a:solidFill>
          <a:ln w="9525">
            <a:solidFill>
              <a:srgbClr val="FFFFFF"/>
            </a:solidFill>
            <a:prstDash val="solid"/>
          </a:ln>
        </p:spPr>
      </p:sp>
      <p:sp>
        <p:nvSpPr>
          <p:cNvPr id="31" name="Title CO2 O"/>
          <p:cNvSpPr/>
          <p:nvPr/>
        </p:nvSpPr>
        <p:spPr>
          <a:xfrm>
            <a:off x="8631936" y="3538728"/>
            <a:ext cx="274320" cy="274320"/>
          </a:xfrm>
          <a:prstGeom prst="ellipse">
            <a:avLst/>
          </a:prstGeom>
          <a:solidFill>
            <a:schemeClr val="accent5"/>
          </a:solidFill>
          <a:ln w="9525">
            <a:solidFill>
              <a:srgbClr val="FFFFFF"/>
            </a:solidFill>
            <a:prstDash val="solid"/>
          </a:ln>
        </p:spPr>
      </p:sp>
      <p:sp>
        <p:nvSpPr>
          <p:cNvPr id="32" name="Title CO2 C"/>
          <p:cNvSpPr/>
          <p:nvPr/>
        </p:nvSpPr>
        <p:spPr>
          <a:xfrm>
            <a:off x="8423453" y="3549701"/>
            <a:ext cx="252374" cy="252374"/>
          </a:xfrm>
          <a:prstGeom prst="ellipse">
            <a:avLst/>
          </a:prstGeom>
          <a:solidFill>
            <a:schemeClr val="tx2"/>
          </a:solidFill>
          <a:ln w="9525">
            <a:solidFill>
              <a:srgbClr val="FFFFFF"/>
            </a:solidFill>
            <a:prstDash val="solid"/>
          </a:ln>
        </p:spPr>
      </p:sp>
      <p:sp>
        <p:nvSpPr>
          <p:cNvPr id="33" name="Text 31"/>
          <p:cNvSpPr txBox="1"/>
          <p:nvPr/>
        </p:nvSpPr>
        <p:spPr>
          <a:xfrm>
            <a:off x="9372600" y="3410712"/>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a:t>
            </a:r>
            <a:endParaRPr lang="en-US" sz="1400" dirty="0"/>
          </a:p>
        </p:txBody>
      </p:sp>
      <p:sp>
        <p:nvSpPr>
          <p:cNvPr id="34" name="Text 32"/>
          <p:cNvSpPr txBox="1"/>
          <p:nvPr/>
        </p:nvSpPr>
        <p:spPr>
          <a:xfrm>
            <a:off x="9372600" y="3685032"/>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The target molecule</a:t>
            </a:r>
            <a:endParaRPr lang="en-US" sz="1050" dirty="0"/>
          </a:p>
        </p:txBody>
      </p:sp>
      <p:sp>
        <p:nvSpPr>
          <p:cNvPr id="35" name="Title flow arrow 2"/>
          <p:cNvSpPr/>
          <p:nvPr/>
        </p:nvSpPr>
        <p:spPr>
          <a:xfrm>
            <a:off x="8476488" y="4032504"/>
            <a:ext cx="146304" cy="137160"/>
          </a:xfrm>
          <a:prstGeom prst="downArrow">
            <a:avLst/>
          </a:prstGeom>
          <a:solidFill>
            <a:schemeClr val="accent1"/>
          </a:solidFill>
          <a:ln w="12700">
            <a:solidFill>
              <a:schemeClr val="accent1"/>
            </a:solidFill>
            <a:prstDash val="solid"/>
          </a:ln>
        </p:spPr>
      </p:sp>
      <p:sp>
        <p:nvSpPr>
          <p:cNvPr id="36" name="Title stage 3 glyph box"/>
          <p:cNvSpPr/>
          <p:nvPr/>
        </p:nvSpPr>
        <p:spPr>
          <a:xfrm>
            <a:off x="7909560" y="4178808"/>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37" name="Title MOF linker"/>
          <p:cNvSpPr/>
          <p:nvPr/>
        </p:nvSpPr>
        <p:spPr>
          <a:xfrm>
            <a:off x="8321040" y="4288536"/>
            <a:ext cx="457200" cy="0"/>
          </a:xfrm>
          <a:prstGeom prst="line">
            <a:avLst/>
          </a:prstGeom>
          <a:noFill/>
          <a:ln w="38100">
            <a:solidFill>
              <a:srgbClr val="BDB6F5"/>
            </a:solidFill>
            <a:prstDash val="solid"/>
          </a:ln>
        </p:spPr>
      </p:sp>
      <p:sp>
        <p:nvSpPr>
          <p:cNvPr id="38" name="Title MOF linker"/>
          <p:cNvSpPr/>
          <p:nvPr/>
        </p:nvSpPr>
        <p:spPr>
          <a:xfrm>
            <a:off x="8321040" y="4288536"/>
            <a:ext cx="0" cy="457200"/>
          </a:xfrm>
          <a:prstGeom prst="line">
            <a:avLst/>
          </a:prstGeom>
          <a:noFill/>
          <a:ln w="38100">
            <a:solidFill>
              <a:srgbClr val="BDB6F5"/>
            </a:solidFill>
            <a:prstDash val="solid"/>
          </a:ln>
        </p:spPr>
      </p:sp>
      <p:sp>
        <p:nvSpPr>
          <p:cNvPr id="39" name="Title MOF linker"/>
          <p:cNvSpPr/>
          <p:nvPr/>
        </p:nvSpPr>
        <p:spPr>
          <a:xfrm>
            <a:off x="8778240" y="4288536"/>
            <a:ext cx="0" cy="457200"/>
          </a:xfrm>
          <a:prstGeom prst="line">
            <a:avLst/>
          </a:prstGeom>
          <a:noFill/>
          <a:ln w="38100">
            <a:solidFill>
              <a:srgbClr val="BDB6F5"/>
            </a:solidFill>
            <a:prstDash val="solid"/>
          </a:ln>
        </p:spPr>
      </p:sp>
      <p:sp>
        <p:nvSpPr>
          <p:cNvPr id="40" name="Title MOF linker"/>
          <p:cNvSpPr/>
          <p:nvPr/>
        </p:nvSpPr>
        <p:spPr>
          <a:xfrm>
            <a:off x="8321040" y="4745736"/>
            <a:ext cx="457200" cy="0"/>
          </a:xfrm>
          <a:prstGeom prst="line">
            <a:avLst/>
          </a:prstGeom>
          <a:noFill/>
          <a:ln w="38100">
            <a:solidFill>
              <a:srgbClr val="BDB6F5"/>
            </a:solidFill>
            <a:prstDash val="solid"/>
          </a:ln>
        </p:spPr>
      </p:sp>
      <p:sp>
        <p:nvSpPr>
          <p:cNvPr id="41" name="Title MOF linker ring"/>
          <p:cNvSpPr/>
          <p:nvPr/>
        </p:nvSpPr>
        <p:spPr>
          <a:xfrm>
            <a:off x="8494776" y="4240530"/>
            <a:ext cx="109728" cy="96012"/>
          </a:xfrm>
          <a:prstGeom prst="hexagon">
            <a:avLst/>
          </a:prstGeom>
          <a:solidFill>
            <a:schemeClr val="tx2"/>
          </a:solidFill>
          <a:ln w="9525">
            <a:solidFill>
              <a:schemeClr val="accent1"/>
            </a:solidFill>
            <a:prstDash val="solid"/>
          </a:ln>
        </p:spPr>
      </p:sp>
      <p:sp>
        <p:nvSpPr>
          <p:cNvPr id="42" name="Title MOF linker ring"/>
          <p:cNvSpPr/>
          <p:nvPr/>
        </p:nvSpPr>
        <p:spPr>
          <a:xfrm rot="5400000">
            <a:off x="8266176" y="4469130"/>
            <a:ext cx="109728" cy="96012"/>
          </a:xfrm>
          <a:prstGeom prst="hexagon">
            <a:avLst/>
          </a:prstGeom>
          <a:solidFill>
            <a:schemeClr val="tx2"/>
          </a:solidFill>
          <a:ln w="9525">
            <a:solidFill>
              <a:schemeClr val="accent1"/>
            </a:solidFill>
            <a:prstDash val="solid"/>
          </a:ln>
        </p:spPr>
      </p:sp>
      <p:sp>
        <p:nvSpPr>
          <p:cNvPr id="43" name="Title MOF linker ring"/>
          <p:cNvSpPr/>
          <p:nvPr/>
        </p:nvSpPr>
        <p:spPr>
          <a:xfrm rot="5400000">
            <a:off x="8723376" y="4469130"/>
            <a:ext cx="109728" cy="96012"/>
          </a:xfrm>
          <a:prstGeom prst="hexagon">
            <a:avLst/>
          </a:prstGeom>
          <a:solidFill>
            <a:schemeClr val="tx2"/>
          </a:solidFill>
          <a:ln w="9525">
            <a:solidFill>
              <a:schemeClr val="accent1"/>
            </a:solidFill>
            <a:prstDash val="solid"/>
          </a:ln>
        </p:spPr>
      </p:sp>
      <p:sp>
        <p:nvSpPr>
          <p:cNvPr id="44" name="Title MOF linker ring"/>
          <p:cNvSpPr/>
          <p:nvPr/>
        </p:nvSpPr>
        <p:spPr>
          <a:xfrm>
            <a:off x="8494776" y="4697730"/>
            <a:ext cx="109728" cy="96012"/>
          </a:xfrm>
          <a:prstGeom prst="hexagon">
            <a:avLst/>
          </a:prstGeom>
          <a:solidFill>
            <a:schemeClr val="tx2"/>
          </a:solidFill>
          <a:ln w="9525">
            <a:solidFill>
              <a:schemeClr val="accent1"/>
            </a:solidFill>
            <a:prstDash val="solid"/>
          </a:ln>
        </p:spPr>
      </p:sp>
      <p:sp>
        <p:nvSpPr>
          <p:cNvPr id="45" name="Title MOF metal node"/>
          <p:cNvSpPr/>
          <p:nvPr/>
        </p:nvSpPr>
        <p:spPr>
          <a:xfrm>
            <a:off x="8243316" y="4210812"/>
            <a:ext cx="155448" cy="155448"/>
          </a:xfrm>
          <a:prstGeom prst="diamond">
            <a:avLst/>
          </a:prstGeom>
          <a:solidFill>
            <a:schemeClr val="accent1"/>
          </a:solidFill>
          <a:ln w="9525">
            <a:solidFill>
              <a:schemeClr val="bg1"/>
            </a:solidFill>
            <a:prstDash val="solid"/>
          </a:ln>
        </p:spPr>
      </p:sp>
      <p:sp>
        <p:nvSpPr>
          <p:cNvPr id="46" name="Title MOF metal node"/>
          <p:cNvSpPr/>
          <p:nvPr/>
        </p:nvSpPr>
        <p:spPr>
          <a:xfrm>
            <a:off x="8700516" y="4210812"/>
            <a:ext cx="155448" cy="155448"/>
          </a:xfrm>
          <a:prstGeom prst="diamond">
            <a:avLst/>
          </a:prstGeom>
          <a:solidFill>
            <a:schemeClr val="accent1"/>
          </a:solidFill>
          <a:ln w="9525">
            <a:solidFill>
              <a:schemeClr val="bg1"/>
            </a:solidFill>
            <a:prstDash val="solid"/>
          </a:ln>
        </p:spPr>
      </p:sp>
      <p:sp>
        <p:nvSpPr>
          <p:cNvPr id="47" name="Title MOF metal node"/>
          <p:cNvSpPr/>
          <p:nvPr/>
        </p:nvSpPr>
        <p:spPr>
          <a:xfrm>
            <a:off x="8243316" y="4668012"/>
            <a:ext cx="155448" cy="155448"/>
          </a:xfrm>
          <a:prstGeom prst="diamond">
            <a:avLst/>
          </a:prstGeom>
          <a:solidFill>
            <a:schemeClr val="accent1"/>
          </a:solidFill>
          <a:ln w="9525">
            <a:solidFill>
              <a:schemeClr val="bg1"/>
            </a:solidFill>
            <a:prstDash val="solid"/>
          </a:ln>
        </p:spPr>
      </p:sp>
      <p:sp>
        <p:nvSpPr>
          <p:cNvPr id="48" name="Title MOF metal node"/>
          <p:cNvSpPr/>
          <p:nvPr/>
        </p:nvSpPr>
        <p:spPr>
          <a:xfrm>
            <a:off x="8700516" y="4668012"/>
            <a:ext cx="155448" cy="155448"/>
          </a:xfrm>
          <a:prstGeom prst="diamond">
            <a:avLst/>
          </a:prstGeom>
          <a:solidFill>
            <a:schemeClr val="accent1"/>
          </a:solidFill>
          <a:ln w="9525">
            <a:solidFill>
              <a:schemeClr val="bg1"/>
            </a:solidFill>
            <a:prstDash val="solid"/>
          </a:ln>
        </p:spPr>
      </p:sp>
      <p:sp>
        <p:nvSpPr>
          <p:cNvPr id="49" name="Text 47"/>
          <p:cNvSpPr txBox="1"/>
          <p:nvPr/>
        </p:nvSpPr>
        <p:spPr>
          <a:xfrm>
            <a:off x="9372600" y="4251960"/>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Porous MOF</a:t>
            </a:r>
            <a:endParaRPr lang="en-US" sz="1400" dirty="0"/>
          </a:p>
        </p:txBody>
      </p:sp>
      <p:sp>
        <p:nvSpPr>
          <p:cNvPr id="50" name="Text 48"/>
          <p:cNvSpPr txBox="1"/>
          <p:nvPr/>
        </p:nvSpPr>
        <p:spPr>
          <a:xfrm>
            <a:off x="9372600" y="4526280"/>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Metal nodes joined by organic linkers</a:t>
            </a:r>
            <a:endParaRPr lang="en-US" sz="1050" dirty="0"/>
          </a:p>
        </p:txBody>
      </p:sp>
      <p:sp>
        <p:nvSpPr>
          <p:cNvPr id="51" name="Title flow arrow 3"/>
          <p:cNvSpPr/>
          <p:nvPr/>
        </p:nvSpPr>
        <p:spPr>
          <a:xfrm>
            <a:off x="8476488" y="4873752"/>
            <a:ext cx="146304" cy="137160"/>
          </a:xfrm>
          <a:prstGeom prst="downArrow">
            <a:avLst/>
          </a:prstGeom>
          <a:solidFill>
            <a:schemeClr val="accent1"/>
          </a:solidFill>
          <a:ln w="12700">
            <a:solidFill>
              <a:schemeClr val="accent1"/>
            </a:solidFill>
            <a:prstDash val="solid"/>
          </a:ln>
        </p:spPr>
      </p:sp>
      <p:sp>
        <p:nvSpPr>
          <p:cNvPr id="52" name="Title stage 4 glyph box"/>
          <p:cNvSpPr/>
          <p:nvPr/>
        </p:nvSpPr>
        <p:spPr>
          <a:xfrm>
            <a:off x="7909560" y="5020056"/>
            <a:ext cx="1280160" cy="676656"/>
          </a:xfrm>
          <a:prstGeom prst="roundRect">
            <a:avLst>
              <a:gd name="adj" fmla="val 10811"/>
            </a:avLst>
          </a:prstGeom>
          <a:solidFill>
            <a:srgbClr val="FFFFFF">
              <a:alpha val="12000"/>
            </a:srgbClr>
          </a:solidFill>
          <a:ln w="6350">
            <a:solidFill>
              <a:srgbClr val="FFFFFF">
                <a:alpha val="25000"/>
              </a:srgbClr>
            </a:solidFill>
            <a:prstDash val="solid"/>
          </a:ln>
        </p:spPr>
      </p:sp>
      <p:sp>
        <p:nvSpPr>
          <p:cNvPr id="53" name="Title MOF CO2 linker"/>
          <p:cNvSpPr/>
          <p:nvPr/>
        </p:nvSpPr>
        <p:spPr>
          <a:xfrm>
            <a:off x="8321040" y="5129784"/>
            <a:ext cx="457200" cy="0"/>
          </a:xfrm>
          <a:prstGeom prst="line">
            <a:avLst/>
          </a:prstGeom>
          <a:noFill/>
          <a:ln w="38100">
            <a:solidFill>
              <a:srgbClr val="BDB6F5"/>
            </a:solidFill>
            <a:prstDash val="solid"/>
          </a:ln>
        </p:spPr>
      </p:sp>
      <p:sp>
        <p:nvSpPr>
          <p:cNvPr id="54" name="Title MOF CO2 linker"/>
          <p:cNvSpPr/>
          <p:nvPr/>
        </p:nvSpPr>
        <p:spPr>
          <a:xfrm>
            <a:off x="8321040" y="5129784"/>
            <a:ext cx="0" cy="457200"/>
          </a:xfrm>
          <a:prstGeom prst="line">
            <a:avLst/>
          </a:prstGeom>
          <a:noFill/>
          <a:ln w="38100">
            <a:solidFill>
              <a:srgbClr val="BDB6F5"/>
            </a:solidFill>
            <a:prstDash val="solid"/>
          </a:ln>
        </p:spPr>
      </p:sp>
      <p:sp>
        <p:nvSpPr>
          <p:cNvPr id="55" name="Title MOF CO2 linker"/>
          <p:cNvSpPr/>
          <p:nvPr/>
        </p:nvSpPr>
        <p:spPr>
          <a:xfrm>
            <a:off x="8778240" y="5129784"/>
            <a:ext cx="0" cy="457200"/>
          </a:xfrm>
          <a:prstGeom prst="line">
            <a:avLst/>
          </a:prstGeom>
          <a:noFill/>
          <a:ln w="38100">
            <a:solidFill>
              <a:srgbClr val="BDB6F5"/>
            </a:solidFill>
            <a:prstDash val="solid"/>
          </a:ln>
        </p:spPr>
      </p:sp>
      <p:sp>
        <p:nvSpPr>
          <p:cNvPr id="56" name="Title MOF CO2 linker"/>
          <p:cNvSpPr/>
          <p:nvPr/>
        </p:nvSpPr>
        <p:spPr>
          <a:xfrm>
            <a:off x="8321040" y="5586984"/>
            <a:ext cx="457200" cy="0"/>
          </a:xfrm>
          <a:prstGeom prst="line">
            <a:avLst/>
          </a:prstGeom>
          <a:noFill/>
          <a:ln w="38100">
            <a:solidFill>
              <a:srgbClr val="BDB6F5"/>
            </a:solidFill>
            <a:prstDash val="solid"/>
          </a:ln>
        </p:spPr>
      </p:sp>
      <p:sp>
        <p:nvSpPr>
          <p:cNvPr id="57" name="Title MOF CO2 linker ring"/>
          <p:cNvSpPr/>
          <p:nvPr/>
        </p:nvSpPr>
        <p:spPr>
          <a:xfrm>
            <a:off x="8494776" y="5081778"/>
            <a:ext cx="109728" cy="96012"/>
          </a:xfrm>
          <a:prstGeom prst="hexagon">
            <a:avLst/>
          </a:prstGeom>
          <a:solidFill>
            <a:schemeClr val="tx2"/>
          </a:solidFill>
          <a:ln w="9525">
            <a:solidFill>
              <a:schemeClr val="accent1"/>
            </a:solidFill>
            <a:prstDash val="solid"/>
          </a:ln>
        </p:spPr>
      </p:sp>
      <p:sp>
        <p:nvSpPr>
          <p:cNvPr id="58" name="Title MOF CO2 linker ring"/>
          <p:cNvSpPr/>
          <p:nvPr/>
        </p:nvSpPr>
        <p:spPr>
          <a:xfrm rot="5400000">
            <a:off x="8266176" y="5310378"/>
            <a:ext cx="109728" cy="96012"/>
          </a:xfrm>
          <a:prstGeom prst="hexagon">
            <a:avLst/>
          </a:prstGeom>
          <a:solidFill>
            <a:schemeClr val="tx2"/>
          </a:solidFill>
          <a:ln w="9525">
            <a:solidFill>
              <a:schemeClr val="accent1"/>
            </a:solidFill>
            <a:prstDash val="solid"/>
          </a:ln>
        </p:spPr>
      </p:sp>
      <p:sp>
        <p:nvSpPr>
          <p:cNvPr id="59" name="Title MOF CO2 linker ring"/>
          <p:cNvSpPr/>
          <p:nvPr/>
        </p:nvSpPr>
        <p:spPr>
          <a:xfrm rot="5400000">
            <a:off x="8723376" y="5310378"/>
            <a:ext cx="109728" cy="96012"/>
          </a:xfrm>
          <a:prstGeom prst="hexagon">
            <a:avLst/>
          </a:prstGeom>
          <a:solidFill>
            <a:schemeClr val="tx2"/>
          </a:solidFill>
          <a:ln w="9525">
            <a:solidFill>
              <a:schemeClr val="accent1"/>
            </a:solidFill>
            <a:prstDash val="solid"/>
          </a:ln>
        </p:spPr>
      </p:sp>
      <p:sp>
        <p:nvSpPr>
          <p:cNvPr id="60" name="Title MOF CO2 linker ring"/>
          <p:cNvSpPr/>
          <p:nvPr/>
        </p:nvSpPr>
        <p:spPr>
          <a:xfrm>
            <a:off x="8494776" y="5538978"/>
            <a:ext cx="109728" cy="96012"/>
          </a:xfrm>
          <a:prstGeom prst="hexagon">
            <a:avLst/>
          </a:prstGeom>
          <a:solidFill>
            <a:schemeClr val="tx2"/>
          </a:solidFill>
          <a:ln w="9525">
            <a:solidFill>
              <a:schemeClr val="accent1"/>
            </a:solidFill>
            <a:prstDash val="solid"/>
          </a:ln>
        </p:spPr>
      </p:sp>
      <p:sp>
        <p:nvSpPr>
          <p:cNvPr id="61" name="Title MOF CO2 metal node"/>
          <p:cNvSpPr/>
          <p:nvPr/>
        </p:nvSpPr>
        <p:spPr>
          <a:xfrm>
            <a:off x="8243316" y="5052060"/>
            <a:ext cx="155448" cy="155448"/>
          </a:xfrm>
          <a:prstGeom prst="diamond">
            <a:avLst/>
          </a:prstGeom>
          <a:solidFill>
            <a:schemeClr val="accent1"/>
          </a:solidFill>
          <a:ln w="9525">
            <a:solidFill>
              <a:schemeClr val="bg1"/>
            </a:solidFill>
            <a:prstDash val="solid"/>
          </a:ln>
        </p:spPr>
      </p:sp>
      <p:sp>
        <p:nvSpPr>
          <p:cNvPr id="62" name="Title MOF CO2 metal node"/>
          <p:cNvSpPr/>
          <p:nvPr/>
        </p:nvSpPr>
        <p:spPr>
          <a:xfrm>
            <a:off x="8700516" y="5052060"/>
            <a:ext cx="155448" cy="155448"/>
          </a:xfrm>
          <a:prstGeom prst="diamond">
            <a:avLst/>
          </a:prstGeom>
          <a:solidFill>
            <a:schemeClr val="accent1"/>
          </a:solidFill>
          <a:ln w="9525">
            <a:solidFill>
              <a:schemeClr val="bg1"/>
            </a:solidFill>
            <a:prstDash val="solid"/>
          </a:ln>
        </p:spPr>
      </p:sp>
      <p:sp>
        <p:nvSpPr>
          <p:cNvPr id="63" name="Title MOF CO2 metal node"/>
          <p:cNvSpPr/>
          <p:nvPr/>
        </p:nvSpPr>
        <p:spPr>
          <a:xfrm>
            <a:off x="8243316" y="5509260"/>
            <a:ext cx="155448" cy="155448"/>
          </a:xfrm>
          <a:prstGeom prst="diamond">
            <a:avLst/>
          </a:prstGeom>
          <a:solidFill>
            <a:schemeClr val="accent1"/>
          </a:solidFill>
          <a:ln w="9525">
            <a:solidFill>
              <a:schemeClr val="bg1"/>
            </a:solidFill>
            <a:prstDash val="solid"/>
          </a:ln>
        </p:spPr>
      </p:sp>
      <p:sp>
        <p:nvSpPr>
          <p:cNvPr id="64" name="Title MOF CO2 metal node"/>
          <p:cNvSpPr/>
          <p:nvPr/>
        </p:nvSpPr>
        <p:spPr>
          <a:xfrm>
            <a:off x="8700516" y="5509260"/>
            <a:ext cx="155448" cy="155448"/>
          </a:xfrm>
          <a:prstGeom prst="diamond">
            <a:avLst/>
          </a:prstGeom>
          <a:solidFill>
            <a:schemeClr val="accent1"/>
          </a:solidFill>
          <a:ln w="9525">
            <a:solidFill>
              <a:schemeClr val="bg1"/>
            </a:solidFill>
            <a:prstDash val="solid"/>
          </a:ln>
        </p:spPr>
      </p:sp>
      <p:sp>
        <p:nvSpPr>
          <p:cNvPr id="65" name="Title MOF CO2 guest CO2 O"/>
          <p:cNvSpPr/>
          <p:nvPr/>
        </p:nvSpPr>
        <p:spPr>
          <a:xfrm>
            <a:off x="8412480" y="5305630"/>
            <a:ext cx="105508" cy="105508"/>
          </a:xfrm>
          <a:prstGeom prst="ellipse">
            <a:avLst/>
          </a:prstGeom>
          <a:solidFill>
            <a:schemeClr val="accent5"/>
          </a:solidFill>
          <a:ln w="9525">
            <a:solidFill>
              <a:srgbClr val="FFFFFF"/>
            </a:solidFill>
            <a:prstDash val="solid"/>
          </a:ln>
        </p:spPr>
      </p:sp>
      <p:sp>
        <p:nvSpPr>
          <p:cNvPr id="66" name="Title MOF CO2 guest CO2 O"/>
          <p:cNvSpPr/>
          <p:nvPr/>
        </p:nvSpPr>
        <p:spPr>
          <a:xfrm>
            <a:off x="8581292" y="5305630"/>
            <a:ext cx="105508" cy="105508"/>
          </a:xfrm>
          <a:prstGeom prst="ellipse">
            <a:avLst/>
          </a:prstGeom>
          <a:solidFill>
            <a:schemeClr val="accent5"/>
          </a:solidFill>
          <a:ln w="9525">
            <a:solidFill>
              <a:srgbClr val="FFFFFF"/>
            </a:solidFill>
            <a:prstDash val="solid"/>
          </a:ln>
        </p:spPr>
      </p:sp>
      <p:sp>
        <p:nvSpPr>
          <p:cNvPr id="67" name="Title MOF CO2 guest CO2 C"/>
          <p:cNvSpPr/>
          <p:nvPr/>
        </p:nvSpPr>
        <p:spPr>
          <a:xfrm>
            <a:off x="8501106" y="5309850"/>
            <a:ext cx="97067" cy="97067"/>
          </a:xfrm>
          <a:prstGeom prst="ellipse">
            <a:avLst/>
          </a:prstGeom>
          <a:solidFill>
            <a:schemeClr val="tx2"/>
          </a:solidFill>
          <a:ln w="9525">
            <a:solidFill>
              <a:srgbClr val="FFFFFF"/>
            </a:solidFill>
            <a:prstDash val="solid"/>
          </a:ln>
        </p:spPr>
      </p:sp>
      <p:sp>
        <p:nvSpPr>
          <p:cNvPr id="68" name="Text 66"/>
          <p:cNvSpPr txBox="1"/>
          <p:nvPr/>
        </p:nvSpPr>
        <p:spPr>
          <a:xfrm>
            <a:off x="9372600" y="5093208"/>
            <a:ext cx="2194560" cy="274320"/>
          </a:xfrm>
          <a:prstGeom prst="rect">
            <a:avLst/>
          </a:prstGeom>
          <a:noFill/>
          <a:ln/>
        </p:spPr>
        <p:txBody>
          <a:bodyPr wrap="square" lIns="0" tIns="0" rIns="0" bIns="0" rtlCol="0" anchor="ctr"/>
          <a:lstStyle/>
          <a:p>
            <a:pPr marL="0" indent="0">
              <a:buNone/>
            </a:pPr>
            <a:r>
              <a:rPr lang="en-US" sz="1400" b="1" dirty="0">
                <a:solidFill>
                  <a:schemeClr val="bg1"/>
                </a:solidFill>
                <a:latin typeface="Arial" pitchFamily="34" charset="0"/>
                <a:ea typeface="Arial" pitchFamily="34" charset="-122"/>
                <a:cs typeface="Arial" pitchFamily="34" charset="-120"/>
              </a:rPr>
              <a:t>CO₂ Capture</a:t>
            </a:r>
            <a:endParaRPr lang="en-US" sz="1400" dirty="0"/>
          </a:p>
        </p:txBody>
      </p:sp>
      <p:sp>
        <p:nvSpPr>
          <p:cNvPr id="69" name="Text 67"/>
          <p:cNvSpPr txBox="1"/>
          <p:nvPr/>
        </p:nvSpPr>
        <p:spPr>
          <a:xfrm>
            <a:off x="9372600" y="5367528"/>
            <a:ext cx="2240280" cy="292608"/>
          </a:xfrm>
          <a:prstGeom prst="rect">
            <a:avLst/>
          </a:prstGeom>
          <a:noFill/>
          <a:ln/>
        </p:spPr>
        <p:txBody>
          <a:bodyPr wrap="square" lIns="0" tIns="0" rIns="0" bIns="0" rtlCol="0" anchor="t"/>
          <a:lstStyle/>
          <a:p>
            <a:pPr marL="0" indent="0">
              <a:buNone/>
            </a:pPr>
            <a:r>
              <a:rPr lang="en-US" sz="1050" dirty="0">
                <a:solidFill>
                  <a:srgbClr val="D9D4FF"/>
                </a:solidFill>
                <a:latin typeface="Arial" pitchFamily="34" charset="0"/>
                <a:ea typeface="Arial" pitchFamily="34" charset="-122"/>
                <a:cs typeface="Arial" pitchFamily="34" charset="-120"/>
              </a:rPr>
              <a:t>CO₂ held within the pores</a:t>
            </a:r>
            <a:endParaRPr lang="en-US" sz="1050" dirty="0"/>
          </a:p>
        </p:txBody>
      </p:sp>
      <p:sp>
        <p:nvSpPr>
          <p:cNvPr id="76" name="Text 1">
            <a:extLst>
              <a:ext uri="{FF2B5EF4-FFF2-40B4-BE49-F238E27FC236}">
                <a16:creationId xmlns:a16="http://schemas.microsoft.com/office/drawing/2014/main" id="{A053D6B6-139B-8662-ECE5-041E5F50D213}"/>
              </a:ext>
            </a:extLst>
          </p:cNvPr>
          <p:cNvSpPr>
            <a:spLocks noGrp="1"/>
          </p:cNvSpPr>
          <p:nvPr/>
        </p:nvSpPr>
        <p:spPr>
          <a:xfrm>
            <a:off x="579120" y="4257283"/>
            <a:ext cx="6766560" cy="384048"/>
          </a:xfrm>
          <a:prstGeom prst="rect">
            <a:avLst/>
          </a:prstGeom>
          <a:noFill/>
          <a:ln/>
        </p:spPr>
        <p:txBody>
          <a:bodyPr wrap="square" lIns="0" tIns="0" rIns="0" bIns="0" rtlCol="0" anchor="t"/>
          <a:lstStyle>
            <a:lvl1pPr marL="0" indent="0" algn="l" defTabSz="914400" rtl="0" eaLnBrk="1" latinLnBrk="0" hangingPunct="1">
              <a:spcBef>
                <a:spcPct val="20000"/>
              </a:spcBef>
              <a:buFont typeface="Arial" pitchFamily="34" charset="0"/>
              <a:buNone/>
              <a:defRPr lang="en-US" sz="2400" b="1" kern="1200" dirty="0">
                <a:solidFill>
                  <a:schemeClr val="accent1"/>
                </a:solidFill>
                <a:latin typeface="Arial" pitchFamily="34" charset="0"/>
                <a:ea typeface="Arial" pitchFamily="34" charset="-122"/>
                <a:cs typeface="Arial" pitchFamily="34" charset="-12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SA" i="0" dirty="0">
                <a:effectLst/>
                <a:cs typeface="Arial" panose="020B0604020202020204" pitchFamily="34" charset="0"/>
              </a:rPr>
              <a:t>Fahadh Mohammad</a:t>
            </a:r>
            <a:endParaRPr lang="en-SA" dirty="0">
              <a:effectLst/>
              <a:cs typeface="Arial" panose="020B0604020202020204" pitchFamily="34" charset="0"/>
            </a:endParaRPr>
          </a:p>
          <a:p>
            <a:pPr marL="0" indent="0" algn="l">
              <a:buNone/>
            </a:pPr>
            <a:endParaRPr lang="en-US" dirty="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Bimetal-Engineered MOF for Direct Air CO₂ Capture</a:t>
            </a:r>
            <a:endParaRPr lang="en-US" sz="2600" dirty="0"/>
          </a:p>
        </p:txBody>
      </p:sp>
      <p:sp>
        <p:nvSpPr>
          <p:cNvPr id="3" name="Slide subtitle"/>
          <p:cNvSpPr txBox="1"/>
          <p:nvPr/>
        </p:nvSpPr>
        <p:spPr>
          <a:xfrm>
            <a:off x="448056" y="2212848"/>
            <a:ext cx="7315200" cy="256032"/>
          </a:xfrm>
          <a:prstGeom prst="rect">
            <a:avLst/>
          </a:prstGeom>
          <a:noFill/>
          <a:ln/>
        </p:spPr>
        <p:txBody>
          <a:bodyPr wrap="square" lIns="0" tIns="0" rIns="0" bIns="0" rtlCol="0" anchor="ctr"/>
          <a:lstStyle/>
          <a:p>
            <a:pPr marL="0" indent="0" algn="l">
              <a:buNone/>
            </a:pPr>
            <a:r>
              <a:rPr lang="en-US" sz="1300" i="1" dirty="0">
                <a:solidFill>
                  <a:schemeClr val="accent6"/>
                </a:solidFill>
              </a:rPr>
              <a:t>Research background, research gap and objective</a:t>
            </a:r>
            <a:endParaRPr lang="en-US" sz="1300" dirty="0"/>
          </a:p>
        </p:txBody>
      </p:sp>
      <p:sp>
        <p:nvSpPr>
          <p:cNvPr id="4" name="Card MOF"/>
          <p:cNvSpPr/>
          <p:nvPr/>
        </p:nvSpPr>
        <p:spPr>
          <a:xfrm>
            <a:off x="448056" y="2542032"/>
            <a:ext cx="3611880" cy="2048256"/>
          </a:xfrm>
          <a:prstGeom prst="roundRect">
            <a:avLst>
              <a:gd name="adj" fmla="val 3478"/>
            </a:avLst>
          </a:prstGeom>
          <a:solidFill>
            <a:schemeClr val="bg2"/>
          </a:solidFill>
          <a:ln w="12700">
            <a:solidFill>
              <a:schemeClr val="bg2"/>
            </a:solidFill>
            <a:prstDash val="solid"/>
          </a:ln>
        </p:spPr>
      </p:sp>
      <p:sp>
        <p:nvSpPr>
          <p:cNvPr id="5" name="Number 1"/>
          <p:cNvSpPr/>
          <p:nvPr/>
        </p:nvSpPr>
        <p:spPr>
          <a:xfrm>
            <a:off x="585216" y="2660904"/>
            <a:ext cx="292608" cy="292608"/>
          </a:xfrm>
          <a:prstGeom prst="ellipse">
            <a:avLst/>
          </a:prstGeom>
          <a:solidFill>
            <a:schemeClr val="accent3"/>
          </a:solidFill>
          <a:ln w="12700">
            <a:solidFill>
              <a:schemeClr val="accent3"/>
            </a:solidFill>
            <a:prstDash val="solid"/>
          </a:ln>
        </p:spPr>
      </p:sp>
      <p:sp>
        <p:nvSpPr>
          <p:cNvPr id="6" name="Number 1 label"/>
          <p:cNvSpPr txBox="1"/>
          <p:nvPr/>
        </p:nvSpPr>
        <p:spPr>
          <a:xfrm>
            <a:off x="58521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7" name="Card title 1"/>
          <p:cNvSpPr txBox="1"/>
          <p:nvPr/>
        </p:nvSpPr>
        <p:spPr>
          <a:xfrm>
            <a:off x="97840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What is a MOF?</a:t>
            </a:r>
            <a:endParaRPr lang="en-US" sz="1500" dirty="0"/>
          </a:p>
        </p:txBody>
      </p:sp>
      <p:sp>
        <p:nvSpPr>
          <p:cNvPr id="8" name="Linker h 00"/>
          <p:cNvSpPr/>
          <p:nvPr/>
        </p:nvSpPr>
        <p:spPr>
          <a:xfrm>
            <a:off x="950976" y="3200400"/>
            <a:ext cx="640080" cy="0"/>
          </a:xfrm>
          <a:prstGeom prst="line">
            <a:avLst/>
          </a:prstGeom>
          <a:noFill/>
          <a:ln w="38100">
            <a:solidFill>
              <a:schemeClr val="accent1"/>
            </a:solidFill>
            <a:prstDash val="solid"/>
          </a:ln>
        </p:spPr>
      </p:sp>
      <p:sp>
        <p:nvSpPr>
          <p:cNvPr id="9" name="Linker v 00"/>
          <p:cNvSpPr/>
          <p:nvPr/>
        </p:nvSpPr>
        <p:spPr>
          <a:xfrm>
            <a:off x="950976" y="3200400"/>
            <a:ext cx="0" cy="457200"/>
          </a:xfrm>
          <a:prstGeom prst="line">
            <a:avLst/>
          </a:prstGeom>
          <a:noFill/>
          <a:ln w="38100">
            <a:solidFill>
              <a:schemeClr val="accent1"/>
            </a:solidFill>
            <a:prstDash val="solid"/>
          </a:ln>
        </p:spPr>
      </p:sp>
      <p:sp>
        <p:nvSpPr>
          <p:cNvPr id="10" name="Linker h 01"/>
          <p:cNvSpPr/>
          <p:nvPr/>
        </p:nvSpPr>
        <p:spPr>
          <a:xfrm>
            <a:off x="1591056" y="3200400"/>
            <a:ext cx="640080" cy="0"/>
          </a:xfrm>
          <a:prstGeom prst="line">
            <a:avLst/>
          </a:prstGeom>
          <a:noFill/>
          <a:ln w="38100">
            <a:solidFill>
              <a:schemeClr val="accent1"/>
            </a:solidFill>
            <a:prstDash val="solid"/>
          </a:ln>
        </p:spPr>
      </p:sp>
      <p:sp>
        <p:nvSpPr>
          <p:cNvPr id="11" name="Linker v 01"/>
          <p:cNvSpPr/>
          <p:nvPr/>
        </p:nvSpPr>
        <p:spPr>
          <a:xfrm>
            <a:off x="1591056" y="3200400"/>
            <a:ext cx="0" cy="457200"/>
          </a:xfrm>
          <a:prstGeom prst="line">
            <a:avLst/>
          </a:prstGeom>
          <a:noFill/>
          <a:ln w="38100">
            <a:solidFill>
              <a:schemeClr val="accent1"/>
            </a:solidFill>
            <a:prstDash val="solid"/>
          </a:ln>
        </p:spPr>
      </p:sp>
      <p:sp>
        <p:nvSpPr>
          <p:cNvPr id="12" name="Linker v 02"/>
          <p:cNvSpPr/>
          <p:nvPr/>
        </p:nvSpPr>
        <p:spPr>
          <a:xfrm>
            <a:off x="2231136" y="3200400"/>
            <a:ext cx="0" cy="457200"/>
          </a:xfrm>
          <a:prstGeom prst="line">
            <a:avLst/>
          </a:prstGeom>
          <a:noFill/>
          <a:ln w="38100">
            <a:solidFill>
              <a:schemeClr val="accent1"/>
            </a:solidFill>
            <a:prstDash val="solid"/>
          </a:ln>
        </p:spPr>
      </p:sp>
      <p:sp>
        <p:nvSpPr>
          <p:cNvPr id="13" name="Linker h 10"/>
          <p:cNvSpPr/>
          <p:nvPr/>
        </p:nvSpPr>
        <p:spPr>
          <a:xfrm>
            <a:off x="950976" y="3657600"/>
            <a:ext cx="640080" cy="0"/>
          </a:xfrm>
          <a:prstGeom prst="line">
            <a:avLst/>
          </a:prstGeom>
          <a:noFill/>
          <a:ln w="38100">
            <a:solidFill>
              <a:schemeClr val="accent1"/>
            </a:solidFill>
            <a:prstDash val="solid"/>
          </a:ln>
        </p:spPr>
      </p:sp>
      <p:sp>
        <p:nvSpPr>
          <p:cNvPr id="14" name="Linker h 11"/>
          <p:cNvSpPr/>
          <p:nvPr/>
        </p:nvSpPr>
        <p:spPr>
          <a:xfrm>
            <a:off x="1591056" y="3657600"/>
            <a:ext cx="640080" cy="0"/>
          </a:xfrm>
          <a:prstGeom prst="line">
            <a:avLst/>
          </a:prstGeom>
          <a:noFill/>
          <a:ln w="38100">
            <a:solidFill>
              <a:schemeClr val="accent1"/>
            </a:solidFill>
            <a:prstDash val="solid"/>
          </a:ln>
        </p:spPr>
      </p:sp>
      <p:sp>
        <p:nvSpPr>
          <p:cNvPr id="15" name="Metal node 00"/>
          <p:cNvSpPr/>
          <p:nvPr/>
        </p:nvSpPr>
        <p:spPr>
          <a:xfrm>
            <a:off x="841248" y="3090672"/>
            <a:ext cx="219456" cy="219456"/>
          </a:xfrm>
          <a:prstGeom prst="ellipse">
            <a:avLst/>
          </a:prstGeom>
          <a:solidFill>
            <a:schemeClr val="accent3"/>
          </a:solidFill>
          <a:ln w="12700">
            <a:solidFill>
              <a:schemeClr val="accent3"/>
            </a:solidFill>
            <a:prstDash val="solid"/>
          </a:ln>
        </p:spPr>
      </p:sp>
      <p:sp>
        <p:nvSpPr>
          <p:cNvPr id="16" name="Metal node 01"/>
          <p:cNvSpPr/>
          <p:nvPr/>
        </p:nvSpPr>
        <p:spPr>
          <a:xfrm>
            <a:off x="1481328" y="3090672"/>
            <a:ext cx="219456" cy="219456"/>
          </a:xfrm>
          <a:prstGeom prst="ellipse">
            <a:avLst/>
          </a:prstGeom>
          <a:solidFill>
            <a:schemeClr val="accent3"/>
          </a:solidFill>
          <a:ln w="12700">
            <a:solidFill>
              <a:schemeClr val="accent3"/>
            </a:solidFill>
            <a:prstDash val="solid"/>
          </a:ln>
        </p:spPr>
      </p:sp>
      <p:sp>
        <p:nvSpPr>
          <p:cNvPr id="17" name="Metal node 02"/>
          <p:cNvSpPr/>
          <p:nvPr/>
        </p:nvSpPr>
        <p:spPr>
          <a:xfrm>
            <a:off x="2121408" y="3090672"/>
            <a:ext cx="219456" cy="219456"/>
          </a:xfrm>
          <a:prstGeom prst="ellipse">
            <a:avLst/>
          </a:prstGeom>
          <a:solidFill>
            <a:schemeClr val="accent3"/>
          </a:solidFill>
          <a:ln w="12700">
            <a:solidFill>
              <a:schemeClr val="accent3"/>
            </a:solidFill>
            <a:prstDash val="solid"/>
          </a:ln>
        </p:spPr>
      </p:sp>
      <p:sp>
        <p:nvSpPr>
          <p:cNvPr id="18" name="Metal node 10"/>
          <p:cNvSpPr/>
          <p:nvPr/>
        </p:nvSpPr>
        <p:spPr>
          <a:xfrm>
            <a:off x="841248" y="3547872"/>
            <a:ext cx="219456" cy="219456"/>
          </a:xfrm>
          <a:prstGeom prst="ellipse">
            <a:avLst/>
          </a:prstGeom>
          <a:solidFill>
            <a:schemeClr val="accent3"/>
          </a:solidFill>
          <a:ln w="12700">
            <a:solidFill>
              <a:schemeClr val="accent3"/>
            </a:solidFill>
            <a:prstDash val="solid"/>
          </a:ln>
        </p:spPr>
      </p:sp>
      <p:sp>
        <p:nvSpPr>
          <p:cNvPr id="19" name="Metal node 11"/>
          <p:cNvSpPr/>
          <p:nvPr/>
        </p:nvSpPr>
        <p:spPr>
          <a:xfrm>
            <a:off x="1481328" y="3547872"/>
            <a:ext cx="219456" cy="219456"/>
          </a:xfrm>
          <a:prstGeom prst="ellipse">
            <a:avLst/>
          </a:prstGeom>
          <a:solidFill>
            <a:schemeClr val="accent3"/>
          </a:solidFill>
          <a:ln w="12700">
            <a:solidFill>
              <a:schemeClr val="accent3"/>
            </a:solidFill>
            <a:prstDash val="solid"/>
          </a:ln>
        </p:spPr>
      </p:sp>
      <p:sp>
        <p:nvSpPr>
          <p:cNvPr id="20" name="Metal node 12"/>
          <p:cNvSpPr/>
          <p:nvPr/>
        </p:nvSpPr>
        <p:spPr>
          <a:xfrm>
            <a:off x="2121408" y="3547872"/>
            <a:ext cx="219456" cy="219456"/>
          </a:xfrm>
          <a:prstGeom prst="ellipse">
            <a:avLst/>
          </a:prstGeom>
          <a:solidFill>
            <a:schemeClr val="accent3"/>
          </a:solidFill>
          <a:ln w="12700">
            <a:solidFill>
              <a:schemeClr val="accent3"/>
            </a:solidFill>
            <a:prstDash val="solid"/>
          </a:ln>
        </p:spPr>
      </p:sp>
      <p:sp>
        <p:nvSpPr>
          <p:cNvPr id="21" name="CO2 in pore 1"/>
          <p:cNvSpPr/>
          <p:nvPr/>
        </p:nvSpPr>
        <p:spPr>
          <a:xfrm>
            <a:off x="1211580" y="3369564"/>
            <a:ext cx="118872" cy="118872"/>
          </a:xfrm>
          <a:prstGeom prst="ellipse">
            <a:avLst/>
          </a:prstGeom>
          <a:solidFill>
            <a:schemeClr val="accent2"/>
          </a:solidFill>
          <a:ln w="12700">
            <a:solidFill>
              <a:schemeClr val="accent2"/>
            </a:solidFill>
            <a:prstDash val="solid"/>
          </a:ln>
        </p:spPr>
      </p:sp>
      <p:sp>
        <p:nvSpPr>
          <p:cNvPr id="22" name="Legend node"/>
          <p:cNvSpPr txBox="1"/>
          <p:nvPr/>
        </p:nvSpPr>
        <p:spPr>
          <a:xfrm>
            <a:off x="2779776" y="3081528"/>
            <a:ext cx="1097280" cy="201168"/>
          </a:xfrm>
          <a:prstGeom prst="rect">
            <a:avLst/>
          </a:prstGeom>
          <a:noFill/>
          <a:ln/>
        </p:spPr>
        <p:txBody>
          <a:bodyPr wrap="square" lIns="0" tIns="0" rIns="0" bIns="0" rtlCol="0" anchor="ctr"/>
          <a:lstStyle/>
          <a:p>
            <a:pPr marL="0" indent="0">
              <a:buNone/>
            </a:pPr>
            <a:r>
              <a:rPr lang="en-US" sz="1100" b="1" dirty="0">
                <a:solidFill>
                  <a:schemeClr val="accent3"/>
                </a:solidFill>
              </a:rPr>
              <a:t>metal node</a:t>
            </a:r>
            <a:endParaRPr lang="en-US" sz="1100" dirty="0"/>
          </a:p>
        </p:txBody>
      </p:sp>
      <p:sp>
        <p:nvSpPr>
          <p:cNvPr id="23" name="Legend linker"/>
          <p:cNvSpPr txBox="1"/>
          <p:nvPr/>
        </p:nvSpPr>
        <p:spPr>
          <a:xfrm>
            <a:off x="2779776" y="3374136"/>
            <a:ext cx="1097280" cy="201168"/>
          </a:xfrm>
          <a:prstGeom prst="rect">
            <a:avLst/>
          </a:prstGeom>
          <a:noFill/>
          <a:ln/>
        </p:spPr>
        <p:txBody>
          <a:bodyPr wrap="square" lIns="0" tIns="0" rIns="0" bIns="0" rtlCol="0" anchor="ctr"/>
          <a:lstStyle/>
          <a:p>
            <a:pPr marL="0" indent="0">
              <a:buNone/>
            </a:pPr>
            <a:r>
              <a:rPr lang="en-US" sz="1100" b="1" dirty="0">
                <a:solidFill>
                  <a:schemeClr val="accent6"/>
                </a:solidFill>
              </a:rPr>
              <a:t>organic linker</a:t>
            </a:r>
            <a:endParaRPr lang="en-US" sz="1100" dirty="0"/>
          </a:p>
        </p:txBody>
      </p:sp>
      <p:sp>
        <p:nvSpPr>
          <p:cNvPr id="24" name="Legend CO2"/>
          <p:cNvSpPr txBox="1"/>
          <p:nvPr/>
        </p:nvSpPr>
        <p:spPr>
          <a:xfrm>
            <a:off x="2779776" y="3630168"/>
            <a:ext cx="1097280" cy="201168"/>
          </a:xfrm>
          <a:prstGeom prst="rect">
            <a:avLst/>
          </a:prstGeom>
          <a:noFill/>
          <a:ln/>
        </p:spPr>
        <p:txBody>
          <a:bodyPr wrap="square" lIns="0" tIns="0" rIns="0" bIns="0" rtlCol="0" anchor="ctr"/>
          <a:lstStyle/>
          <a:p>
            <a:pPr marL="0" indent="0">
              <a:buNone/>
            </a:pPr>
            <a:r>
              <a:rPr lang="en-US" sz="1100" b="1" dirty="0">
                <a:solidFill>
                  <a:srgbClr val="B8531A"/>
                </a:solidFill>
              </a:rPr>
              <a:t>pore with CO₂</a:t>
            </a:r>
            <a:endParaRPr lang="en-US" sz="1100" dirty="0"/>
          </a:p>
        </p:txBody>
      </p:sp>
      <p:sp>
        <p:nvSpPr>
          <p:cNvPr id="25" name="Legend marker node"/>
          <p:cNvSpPr/>
          <p:nvPr/>
        </p:nvSpPr>
        <p:spPr>
          <a:xfrm>
            <a:off x="2615184" y="3127248"/>
            <a:ext cx="109728" cy="109728"/>
          </a:xfrm>
          <a:prstGeom prst="ellipse">
            <a:avLst/>
          </a:prstGeom>
          <a:solidFill>
            <a:schemeClr val="accent3"/>
          </a:solidFill>
          <a:ln w="12700">
            <a:solidFill>
              <a:schemeClr val="accent3"/>
            </a:solidFill>
            <a:prstDash val="solid"/>
          </a:ln>
        </p:spPr>
      </p:sp>
      <p:sp>
        <p:nvSpPr>
          <p:cNvPr id="26" name="Legend marker linker"/>
          <p:cNvSpPr/>
          <p:nvPr/>
        </p:nvSpPr>
        <p:spPr>
          <a:xfrm>
            <a:off x="2596896" y="3474720"/>
            <a:ext cx="146304" cy="0"/>
          </a:xfrm>
          <a:prstGeom prst="line">
            <a:avLst/>
          </a:prstGeom>
          <a:noFill/>
          <a:ln w="38100">
            <a:solidFill>
              <a:schemeClr val="accent1"/>
            </a:solidFill>
            <a:prstDash val="solid"/>
          </a:ln>
        </p:spPr>
      </p:sp>
      <p:sp>
        <p:nvSpPr>
          <p:cNvPr id="27" name="Legend marker CO2"/>
          <p:cNvSpPr/>
          <p:nvPr/>
        </p:nvSpPr>
        <p:spPr>
          <a:xfrm>
            <a:off x="2619756" y="3680460"/>
            <a:ext cx="100584" cy="100584"/>
          </a:xfrm>
          <a:prstGeom prst="ellipse">
            <a:avLst/>
          </a:prstGeom>
          <a:solidFill>
            <a:schemeClr val="accent2"/>
          </a:solidFill>
          <a:ln w="12700">
            <a:solidFill>
              <a:schemeClr val="accent2"/>
            </a:solidFill>
            <a:prstDash val="solid"/>
          </a:ln>
        </p:spPr>
      </p:sp>
      <p:sp>
        <p:nvSpPr>
          <p:cNvPr id="28" name="Card MOF text"/>
          <p:cNvSpPr txBox="1"/>
          <p:nvPr/>
        </p:nvSpPr>
        <p:spPr>
          <a:xfrm>
            <a:off x="630936" y="3931920"/>
            <a:ext cx="3246120" cy="603504"/>
          </a:xfrm>
          <a:prstGeom prst="rect">
            <a:avLst/>
          </a:prstGeom>
          <a:noFill/>
          <a:ln/>
        </p:spPr>
        <p:txBody>
          <a:bodyPr wrap="square" lIns="0" tIns="0" rIns="0" bIns="0" rtlCol="0" anchor="t"/>
          <a:lstStyle/>
          <a:p>
            <a:pPr marL="0" indent="0" algn="l">
              <a:buNone/>
            </a:pPr>
            <a:r>
              <a:rPr lang="en-US" sz="1200" dirty="0">
                <a:solidFill>
                  <a:schemeClr val="tx2"/>
                </a:solidFill>
              </a:rPr>
              <a:t>Porous crystalline solids of metal nodes joined by organic linkers; tunable pores and chemistry make them candidates for CO₂ capture.</a:t>
            </a:r>
            <a:endParaRPr lang="en-US" sz="1200" dirty="0"/>
          </a:p>
        </p:txBody>
      </p:sp>
      <p:sp>
        <p:nvSpPr>
          <p:cNvPr id="29" name="Card DAC"/>
          <p:cNvSpPr/>
          <p:nvPr/>
        </p:nvSpPr>
        <p:spPr>
          <a:xfrm>
            <a:off x="4242816" y="2542032"/>
            <a:ext cx="3611880" cy="2048256"/>
          </a:xfrm>
          <a:prstGeom prst="roundRect">
            <a:avLst>
              <a:gd name="adj" fmla="val 3478"/>
            </a:avLst>
          </a:prstGeom>
          <a:solidFill>
            <a:schemeClr val="bg2"/>
          </a:solidFill>
          <a:ln w="12700">
            <a:solidFill>
              <a:schemeClr val="bg2"/>
            </a:solidFill>
            <a:prstDash val="solid"/>
          </a:ln>
        </p:spPr>
      </p:sp>
      <p:sp>
        <p:nvSpPr>
          <p:cNvPr id="30" name="Number 2"/>
          <p:cNvSpPr/>
          <p:nvPr/>
        </p:nvSpPr>
        <p:spPr>
          <a:xfrm>
            <a:off x="4379976" y="2660904"/>
            <a:ext cx="292608" cy="292608"/>
          </a:xfrm>
          <a:prstGeom prst="ellipse">
            <a:avLst/>
          </a:prstGeom>
          <a:solidFill>
            <a:schemeClr val="accent3"/>
          </a:solidFill>
          <a:ln w="12700">
            <a:solidFill>
              <a:schemeClr val="accent3"/>
            </a:solidFill>
            <a:prstDash val="solid"/>
          </a:ln>
        </p:spPr>
      </p:sp>
      <p:sp>
        <p:nvSpPr>
          <p:cNvPr id="31" name="Number 2 label"/>
          <p:cNvSpPr txBox="1"/>
          <p:nvPr/>
        </p:nvSpPr>
        <p:spPr>
          <a:xfrm>
            <a:off x="437997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32" name="Card title 2"/>
          <p:cNvSpPr txBox="1"/>
          <p:nvPr/>
        </p:nvSpPr>
        <p:spPr>
          <a:xfrm>
            <a:off x="477316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is direct air capture hard?</a:t>
            </a:r>
            <a:endParaRPr lang="en-US" sz="1500" dirty="0"/>
          </a:p>
        </p:txBody>
      </p:sp>
      <p:sp>
        <p:nvSpPr>
          <p:cNvPr id="33" name="Ambient air box"/>
          <p:cNvSpPr/>
          <p:nvPr/>
        </p:nvSpPr>
        <p:spPr>
          <a:xfrm>
            <a:off x="4425696" y="3072384"/>
            <a:ext cx="3246120" cy="658368"/>
          </a:xfrm>
          <a:prstGeom prst="rect">
            <a:avLst/>
          </a:prstGeom>
          <a:solidFill>
            <a:srgbClr val="FFFFFF"/>
          </a:solidFill>
          <a:ln w="12700">
            <a:solidFill>
              <a:schemeClr val="accent1"/>
            </a:solidFill>
            <a:prstDash val="solid"/>
          </a:ln>
        </p:spPr>
      </p:sp>
      <p:sp>
        <p:nvSpPr>
          <p:cNvPr id="34" name="Air gas 0"/>
          <p:cNvSpPr/>
          <p:nvPr/>
        </p:nvSpPr>
        <p:spPr>
          <a:xfrm>
            <a:off x="5989677" y="3400755"/>
            <a:ext cx="59436" cy="59436"/>
          </a:xfrm>
          <a:prstGeom prst="ellipse">
            <a:avLst/>
          </a:prstGeom>
          <a:solidFill>
            <a:srgbClr val="B9B9C2"/>
          </a:solidFill>
          <a:ln w="12700">
            <a:solidFill>
              <a:srgbClr val="B9B9C2"/>
            </a:solidFill>
            <a:prstDash val="solid"/>
          </a:ln>
        </p:spPr>
      </p:sp>
      <p:sp>
        <p:nvSpPr>
          <p:cNvPr id="35" name="Air gas 1"/>
          <p:cNvSpPr/>
          <p:nvPr/>
        </p:nvSpPr>
        <p:spPr>
          <a:xfrm>
            <a:off x="4841146" y="3250114"/>
            <a:ext cx="59436" cy="59436"/>
          </a:xfrm>
          <a:prstGeom prst="ellipse">
            <a:avLst/>
          </a:prstGeom>
          <a:solidFill>
            <a:srgbClr val="B9B9C2"/>
          </a:solidFill>
          <a:ln w="12700">
            <a:solidFill>
              <a:srgbClr val="B9B9C2"/>
            </a:solidFill>
            <a:prstDash val="solid"/>
          </a:ln>
        </p:spPr>
      </p:sp>
      <p:sp>
        <p:nvSpPr>
          <p:cNvPr id="36" name="Air gas 2"/>
          <p:cNvSpPr/>
          <p:nvPr/>
        </p:nvSpPr>
        <p:spPr>
          <a:xfrm>
            <a:off x="5845076" y="3374885"/>
            <a:ext cx="59436" cy="59436"/>
          </a:xfrm>
          <a:prstGeom prst="ellipse">
            <a:avLst/>
          </a:prstGeom>
          <a:solidFill>
            <a:srgbClr val="B9B9C2"/>
          </a:solidFill>
          <a:ln w="12700">
            <a:solidFill>
              <a:srgbClr val="B9B9C2"/>
            </a:solidFill>
            <a:prstDash val="solid"/>
          </a:ln>
        </p:spPr>
      </p:sp>
      <p:sp>
        <p:nvSpPr>
          <p:cNvPr id="37" name="Air gas 3"/>
          <p:cNvSpPr/>
          <p:nvPr/>
        </p:nvSpPr>
        <p:spPr>
          <a:xfrm>
            <a:off x="4728060" y="3551999"/>
            <a:ext cx="59436" cy="59436"/>
          </a:xfrm>
          <a:prstGeom prst="ellipse">
            <a:avLst/>
          </a:prstGeom>
          <a:solidFill>
            <a:srgbClr val="B9B9C2"/>
          </a:solidFill>
          <a:ln w="12700">
            <a:solidFill>
              <a:srgbClr val="B9B9C2"/>
            </a:solidFill>
            <a:prstDash val="solid"/>
          </a:ln>
        </p:spPr>
      </p:sp>
      <p:sp>
        <p:nvSpPr>
          <p:cNvPr id="38" name="Air gas 4"/>
          <p:cNvSpPr/>
          <p:nvPr/>
        </p:nvSpPr>
        <p:spPr>
          <a:xfrm>
            <a:off x="6292954" y="3329448"/>
            <a:ext cx="59436" cy="59436"/>
          </a:xfrm>
          <a:prstGeom prst="ellipse">
            <a:avLst/>
          </a:prstGeom>
          <a:solidFill>
            <a:srgbClr val="B9B9C2"/>
          </a:solidFill>
          <a:ln w="12700">
            <a:solidFill>
              <a:srgbClr val="B9B9C2"/>
            </a:solidFill>
            <a:prstDash val="solid"/>
          </a:ln>
        </p:spPr>
      </p:sp>
      <p:sp>
        <p:nvSpPr>
          <p:cNvPr id="39" name="Air gas 5"/>
          <p:cNvSpPr/>
          <p:nvPr/>
        </p:nvSpPr>
        <p:spPr>
          <a:xfrm>
            <a:off x="5358724" y="3505583"/>
            <a:ext cx="59436" cy="59436"/>
          </a:xfrm>
          <a:prstGeom prst="ellipse">
            <a:avLst/>
          </a:prstGeom>
          <a:solidFill>
            <a:srgbClr val="B9B9C2"/>
          </a:solidFill>
          <a:ln w="12700">
            <a:solidFill>
              <a:srgbClr val="B9B9C2"/>
            </a:solidFill>
            <a:prstDash val="solid"/>
          </a:ln>
        </p:spPr>
      </p:sp>
      <p:sp>
        <p:nvSpPr>
          <p:cNvPr id="40" name="Air gas 6"/>
          <p:cNvSpPr/>
          <p:nvPr/>
        </p:nvSpPr>
        <p:spPr>
          <a:xfrm>
            <a:off x="6501320" y="3170520"/>
            <a:ext cx="59436" cy="59436"/>
          </a:xfrm>
          <a:prstGeom prst="ellipse">
            <a:avLst/>
          </a:prstGeom>
          <a:solidFill>
            <a:srgbClr val="B9B9C2"/>
          </a:solidFill>
          <a:ln w="12700">
            <a:solidFill>
              <a:srgbClr val="B9B9C2"/>
            </a:solidFill>
            <a:prstDash val="solid"/>
          </a:ln>
        </p:spPr>
      </p:sp>
      <p:sp>
        <p:nvSpPr>
          <p:cNvPr id="41" name="Air gas 7"/>
          <p:cNvSpPr/>
          <p:nvPr/>
        </p:nvSpPr>
        <p:spPr>
          <a:xfrm>
            <a:off x="6014600" y="3245883"/>
            <a:ext cx="59436" cy="59436"/>
          </a:xfrm>
          <a:prstGeom prst="ellipse">
            <a:avLst/>
          </a:prstGeom>
          <a:solidFill>
            <a:srgbClr val="B9B9C2"/>
          </a:solidFill>
          <a:ln w="12700">
            <a:solidFill>
              <a:srgbClr val="B9B9C2"/>
            </a:solidFill>
            <a:prstDash val="solid"/>
          </a:ln>
        </p:spPr>
      </p:sp>
      <p:sp>
        <p:nvSpPr>
          <p:cNvPr id="42" name="Air gas 8"/>
          <p:cNvSpPr/>
          <p:nvPr/>
        </p:nvSpPr>
        <p:spPr>
          <a:xfrm>
            <a:off x="6545808" y="3209222"/>
            <a:ext cx="59436" cy="59436"/>
          </a:xfrm>
          <a:prstGeom prst="ellipse">
            <a:avLst/>
          </a:prstGeom>
          <a:solidFill>
            <a:srgbClr val="B9B9C2"/>
          </a:solidFill>
          <a:ln w="12700">
            <a:solidFill>
              <a:srgbClr val="B9B9C2"/>
            </a:solidFill>
            <a:prstDash val="solid"/>
          </a:ln>
        </p:spPr>
      </p:sp>
      <p:sp>
        <p:nvSpPr>
          <p:cNvPr id="43" name="Air gas 9"/>
          <p:cNvSpPr/>
          <p:nvPr/>
        </p:nvSpPr>
        <p:spPr>
          <a:xfrm>
            <a:off x="6204056" y="3365790"/>
            <a:ext cx="59436" cy="59436"/>
          </a:xfrm>
          <a:prstGeom prst="ellipse">
            <a:avLst/>
          </a:prstGeom>
          <a:solidFill>
            <a:srgbClr val="B9B9C2"/>
          </a:solidFill>
          <a:ln w="12700">
            <a:solidFill>
              <a:srgbClr val="B9B9C2"/>
            </a:solidFill>
            <a:prstDash val="solid"/>
          </a:ln>
        </p:spPr>
      </p:sp>
      <p:sp>
        <p:nvSpPr>
          <p:cNvPr id="44" name="Air gas 10"/>
          <p:cNvSpPr/>
          <p:nvPr/>
        </p:nvSpPr>
        <p:spPr>
          <a:xfrm>
            <a:off x="5027162" y="3157915"/>
            <a:ext cx="59436" cy="59436"/>
          </a:xfrm>
          <a:prstGeom prst="ellipse">
            <a:avLst/>
          </a:prstGeom>
          <a:solidFill>
            <a:srgbClr val="B9B9C2"/>
          </a:solidFill>
          <a:ln w="12700">
            <a:solidFill>
              <a:srgbClr val="B9B9C2"/>
            </a:solidFill>
            <a:prstDash val="solid"/>
          </a:ln>
        </p:spPr>
      </p:sp>
      <p:sp>
        <p:nvSpPr>
          <p:cNvPr id="45" name="Air gas 11"/>
          <p:cNvSpPr/>
          <p:nvPr/>
        </p:nvSpPr>
        <p:spPr>
          <a:xfrm>
            <a:off x="7364169" y="3595275"/>
            <a:ext cx="59436" cy="59436"/>
          </a:xfrm>
          <a:prstGeom prst="ellipse">
            <a:avLst/>
          </a:prstGeom>
          <a:solidFill>
            <a:srgbClr val="B9B9C2"/>
          </a:solidFill>
          <a:ln w="12700">
            <a:solidFill>
              <a:srgbClr val="B9B9C2"/>
            </a:solidFill>
            <a:prstDash val="solid"/>
          </a:ln>
        </p:spPr>
      </p:sp>
      <p:sp>
        <p:nvSpPr>
          <p:cNvPr id="46" name="Air gas 12"/>
          <p:cNvSpPr/>
          <p:nvPr/>
        </p:nvSpPr>
        <p:spPr>
          <a:xfrm>
            <a:off x="4857349" y="3345330"/>
            <a:ext cx="59436" cy="59436"/>
          </a:xfrm>
          <a:prstGeom prst="ellipse">
            <a:avLst/>
          </a:prstGeom>
          <a:solidFill>
            <a:srgbClr val="B9B9C2"/>
          </a:solidFill>
          <a:ln w="12700">
            <a:solidFill>
              <a:srgbClr val="B9B9C2"/>
            </a:solidFill>
            <a:prstDash val="solid"/>
          </a:ln>
        </p:spPr>
      </p:sp>
      <p:sp>
        <p:nvSpPr>
          <p:cNvPr id="47" name="Air gas 13"/>
          <p:cNvSpPr/>
          <p:nvPr/>
        </p:nvSpPr>
        <p:spPr>
          <a:xfrm>
            <a:off x="7414960" y="3224041"/>
            <a:ext cx="59436" cy="59436"/>
          </a:xfrm>
          <a:prstGeom prst="ellipse">
            <a:avLst/>
          </a:prstGeom>
          <a:solidFill>
            <a:srgbClr val="B9B9C2"/>
          </a:solidFill>
          <a:ln w="12700">
            <a:solidFill>
              <a:srgbClr val="B9B9C2"/>
            </a:solidFill>
            <a:prstDash val="solid"/>
          </a:ln>
        </p:spPr>
      </p:sp>
      <p:sp>
        <p:nvSpPr>
          <p:cNvPr id="48" name="Air gas 14"/>
          <p:cNvSpPr/>
          <p:nvPr/>
        </p:nvSpPr>
        <p:spPr>
          <a:xfrm>
            <a:off x="5771647" y="3395773"/>
            <a:ext cx="59436" cy="59436"/>
          </a:xfrm>
          <a:prstGeom prst="ellipse">
            <a:avLst/>
          </a:prstGeom>
          <a:solidFill>
            <a:srgbClr val="B9B9C2"/>
          </a:solidFill>
          <a:ln w="12700">
            <a:solidFill>
              <a:srgbClr val="B9B9C2"/>
            </a:solidFill>
            <a:prstDash val="solid"/>
          </a:ln>
        </p:spPr>
      </p:sp>
      <p:sp>
        <p:nvSpPr>
          <p:cNvPr id="49" name="Air gas 15"/>
          <p:cNvSpPr/>
          <p:nvPr/>
        </p:nvSpPr>
        <p:spPr>
          <a:xfrm>
            <a:off x="6545519" y="3267635"/>
            <a:ext cx="59436" cy="59436"/>
          </a:xfrm>
          <a:prstGeom prst="ellipse">
            <a:avLst/>
          </a:prstGeom>
          <a:solidFill>
            <a:srgbClr val="B9B9C2"/>
          </a:solidFill>
          <a:ln w="12700">
            <a:solidFill>
              <a:srgbClr val="B9B9C2"/>
            </a:solidFill>
            <a:prstDash val="solid"/>
          </a:ln>
        </p:spPr>
      </p:sp>
      <p:sp>
        <p:nvSpPr>
          <p:cNvPr id="50" name="Air gas 16"/>
          <p:cNvSpPr/>
          <p:nvPr/>
        </p:nvSpPr>
        <p:spPr>
          <a:xfrm>
            <a:off x="5009356" y="3602756"/>
            <a:ext cx="59436" cy="59436"/>
          </a:xfrm>
          <a:prstGeom prst="ellipse">
            <a:avLst/>
          </a:prstGeom>
          <a:solidFill>
            <a:srgbClr val="B9B9C2"/>
          </a:solidFill>
          <a:ln w="12700">
            <a:solidFill>
              <a:srgbClr val="B9B9C2"/>
            </a:solidFill>
            <a:prstDash val="solid"/>
          </a:ln>
        </p:spPr>
      </p:sp>
      <p:sp>
        <p:nvSpPr>
          <p:cNvPr id="51" name="Air gas 17"/>
          <p:cNvSpPr/>
          <p:nvPr/>
        </p:nvSpPr>
        <p:spPr>
          <a:xfrm>
            <a:off x="5852561" y="3244701"/>
            <a:ext cx="59436" cy="59436"/>
          </a:xfrm>
          <a:prstGeom prst="ellipse">
            <a:avLst/>
          </a:prstGeom>
          <a:solidFill>
            <a:srgbClr val="B9B9C2"/>
          </a:solidFill>
          <a:ln w="12700">
            <a:solidFill>
              <a:srgbClr val="B9B9C2"/>
            </a:solidFill>
            <a:prstDash val="solid"/>
          </a:ln>
        </p:spPr>
      </p:sp>
      <p:sp>
        <p:nvSpPr>
          <p:cNvPr id="52" name="Air gas 18"/>
          <p:cNvSpPr/>
          <p:nvPr/>
        </p:nvSpPr>
        <p:spPr>
          <a:xfrm>
            <a:off x="6163166" y="3291202"/>
            <a:ext cx="59436" cy="59436"/>
          </a:xfrm>
          <a:prstGeom prst="ellipse">
            <a:avLst/>
          </a:prstGeom>
          <a:solidFill>
            <a:srgbClr val="B9B9C2"/>
          </a:solidFill>
          <a:ln w="12700">
            <a:solidFill>
              <a:srgbClr val="B9B9C2"/>
            </a:solidFill>
            <a:prstDash val="solid"/>
          </a:ln>
        </p:spPr>
      </p:sp>
      <p:sp>
        <p:nvSpPr>
          <p:cNvPr id="53" name="Air gas 19"/>
          <p:cNvSpPr/>
          <p:nvPr/>
        </p:nvSpPr>
        <p:spPr>
          <a:xfrm>
            <a:off x="4957908" y="3501580"/>
            <a:ext cx="59436" cy="59436"/>
          </a:xfrm>
          <a:prstGeom prst="ellipse">
            <a:avLst/>
          </a:prstGeom>
          <a:solidFill>
            <a:srgbClr val="B9B9C2"/>
          </a:solidFill>
          <a:ln w="12700">
            <a:solidFill>
              <a:srgbClr val="B9B9C2"/>
            </a:solidFill>
            <a:prstDash val="solid"/>
          </a:ln>
        </p:spPr>
      </p:sp>
      <p:sp>
        <p:nvSpPr>
          <p:cNvPr id="54" name="Air gas 20"/>
          <p:cNvSpPr/>
          <p:nvPr/>
        </p:nvSpPr>
        <p:spPr>
          <a:xfrm>
            <a:off x="5564752" y="3300553"/>
            <a:ext cx="59436" cy="59436"/>
          </a:xfrm>
          <a:prstGeom prst="ellipse">
            <a:avLst/>
          </a:prstGeom>
          <a:solidFill>
            <a:srgbClr val="B9B9C2"/>
          </a:solidFill>
          <a:ln w="12700">
            <a:solidFill>
              <a:srgbClr val="B9B9C2"/>
            </a:solidFill>
            <a:prstDash val="solid"/>
          </a:ln>
        </p:spPr>
      </p:sp>
      <p:sp>
        <p:nvSpPr>
          <p:cNvPr id="55" name="Air gas 21"/>
          <p:cNvSpPr/>
          <p:nvPr/>
        </p:nvSpPr>
        <p:spPr>
          <a:xfrm>
            <a:off x="4731369" y="3574526"/>
            <a:ext cx="59436" cy="59436"/>
          </a:xfrm>
          <a:prstGeom prst="ellipse">
            <a:avLst/>
          </a:prstGeom>
          <a:solidFill>
            <a:srgbClr val="B9B9C2"/>
          </a:solidFill>
          <a:ln w="12700">
            <a:solidFill>
              <a:srgbClr val="B9B9C2"/>
            </a:solidFill>
            <a:prstDash val="solid"/>
          </a:ln>
        </p:spPr>
      </p:sp>
      <p:sp>
        <p:nvSpPr>
          <p:cNvPr id="56" name="Air gas 22"/>
          <p:cNvSpPr/>
          <p:nvPr/>
        </p:nvSpPr>
        <p:spPr>
          <a:xfrm>
            <a:off x="5218457" y="3554497"/>
            <a:ext cx="59436" cy="59436"/>
          </a:xfrm>
          <a:prstGeom prst="ellipse">
            <a:avLst/>
          </a:prstGeom>
          <a:solidFill>
            <a:srgbClr val="B9B9C2"/>
          </a:solidFill>
          <a:ln w="12700">
            <a:solidFill>
              <a:srgbClr val="B9B9C2"/>
            </a:solidFill>
            <a:prstDash val="solid"/>
          </a:ln>
        </p:spPr>
      </p:sp>
      <p:sp>
        <p:nvSpPr>
          <p:cNvPr id="57" name="Air gas 23"/>
          <p:cNvSpPr/>
          <p:nvPr/>
        </p:nvSpPr>
        <p:spPr>
          <a:xfrm>
            <a:off x="5929300" y="3246339"/>
            <a:ext cx="59436" cy="59436"/>
          </a:xfrm>
          <a:prstGeom prst="ellipse">
            <a:avLst/>
          </a:prstGeom>
          <a:solidFill>
            <a:srgbClr val="B9B9C2"/>
          </a:solidFill>
          <a:ln w="12700">
            <a:solidFill>
              <a:srgbClr val="B9B9C2"/>
            </a:solidFill>
            <a:prstDash val="solid"/>
          </a:ln>
        </p:spPr>
      </p:sp>
      <p:sp>
        <p:nvSpPr>
          <p:cNvPr id="58" name="Air gas 24"/>
          <p:cNvSpPr/>
          <p:nvPr/>
        </p:nvSpPr>
        <p:spPr>
          <a:xfrm>
            <a:off x="6334449" y="3325127"/>
            <a:ext cx="59436" cy="59436"/>
          </a:xfrm>
          <a:prstGeom prst="ellipse">
            <a:avLst/>
          </a:prstGeom>
          <a:solidFill>
            <a:srgbClr val="B9B9C2"/>
          </a:solidFill>
          <a:ln w="12700">
            <a:solidFill>
              <a:srgbClr val="B9B9C2"/>
            </a:solidFill>
            <a:prstDash val="solid"/>
          </a:ln>
        </p:spPr>
      </p:sp>
      <p:sp>
        <p:nvSpPr>
          <p:cNvPr id="59" name="Air gas 25"/>
          <p:cNvSpPr/>
          <p:nvPr/>
        </p:nvSpPr>
        <p:spPr>
          <a:xfrm>
            <a:off x="6812082" y="3444516"/>
            <a:ext cx="59436" cy="59436"/>
          </a:xfrm>
          <a:prstGeom prst="ellipse">
            <a:avLst/>
          </a:prstGeom>
          <a:solidFill>
            <a:srgbClr val="B9B9C2"/>
          </a:solidFill>
          <a:ln w="12700">
            <a:solidFill>
              <a:srgbClr val="B9B9C2"/>
            </a:solidFill>
            <a:prstDash val="solid"/>
          </a:ln>
        </p:spPr>
      </p:sp>
      <p:sp>
        <p:nvSpPr>
          <p:cNvPr id="60" name="Air gas 26"/>
          <p:cNvSpPr/>
          <p:nvPr/>
        </p:nvSpPr>
        <p:spPr>
          <a:xfrm>
            <a:off x="4904044" y="3240555"/>
            <a:ext cx="59436" cy="59436"/>
          </a:xfrm>
          <a:prstGeom prst="ellipse">
            <a:avLst/>
          </a:prstGeom>
          <a:solidFill>
            <a:srgbClr val="B9B9C2"/>
          </a:solidFill>
          <a:ln w="12700">
            <a:solidFill>
              <a:srgbClr val="B9B9C2"/>
            </a:solidFill>
            <a:prstDash val="solid"/>
          </a:ln>
        </p:spPr>
      </p:sp>
      <p:sp>
        <p:nvSpPr>
          <p:cNvPr id="61" name="Air gas 27"/>
          <p:cNvSpPr/>
          <p:nvPr/>
        </p:nvSpPr>
        <p:spPr>
          <a:xfrm>
            <a:off x="5867005" y="3176989"/>
            <a:ext cx="59436" cy="59436"/>
          </a:xfrm>
          <a:prstGeom prst="ellipse">
            <a:avLst/>
          </a:prstGeom>
          <a:solidFill>
            <a:srgbClr val="B9B9C2"/>
          </a:solidFill>
          <a:ln w="12700">
            <a:solidFill>
              <a:srgbClr val="B9B9C2"/>
            </a:solidFill>
            <a:prstDash val="solid"/>
          </a:ln>
        </p:spPr>
      </p:sp>
      <p:sp>
        <p:nvSpPr>
          <p:cNvPr id="62" name="Air gas 28"/>
          <p:cNvSpPr/>
          <p:nvPr/>
        </p:nvSpPr>
        <p:spPr>
          <a:xfrm>
            <a:off x="4633384" y="3330133"/>
            <a:ext cx="59436" cy="59436"/>
          </a:xfrm>
          <a:prstGeom prst="ellipse">
            <a:avLst/>
          </a:prstGeom>
          <a:solidFill>
            <a:srgbClr val="B9B9C2"/>
          </a:solidFill>
          <a:ln w="12700">
            <a:solidFill>
              <a:srgbClr val="B9B9C2"/>
            </a:solidFill>
            <a:prstDash val="solid"/>
          </a:ln>
        </p:spPr>
      </p:sp>
      <p:sp>
        <p:nvSpPr>
          <p:cNvPr id="63" name="Air gas 29"/>
          <p:cNvSpPr/>
          <p:nvPr/>
        </p:nvSpPr>
        <p:spPr>
          <a:xfrm>
            <a:off x="6573305" y="3441695"/>
            <a:ext cx="59436" cy="59436"/>
          </a:xfrm>
          <a:prstGeom prst="ellipse">
            <a:avLst/>
          </a:prstGeom>
          <a:solidFill>
            <a:srgbClr val="B9B9C2"/>
          </a:solidFill>
          <a:ln w="12700">
            <a:solidFill>
              <a:srgbClr val="B9B9C2"/>
            </a:solidFill>
            <a:prstDash val="solid"/>
          </a:ln>
        </p:spPr>
      </p:sp>
      <p:sp>
        <p:nvSpPr>
          <p:cNvPr id="64" name="CO2 molecule 0"/>
          <p:cNvSpPr/>
          <p:nvPr/>
        </p:nvSpPr>
        <p:spPr>
          <a:xfrm>
            <a:off x="4948325" y="3284504"/>
            <a:ext cx="118872" cy="118872"/>
          </a:xfrm>
          <a:prstGeom prst="ellipse">
            <a:avLst/>
          </a:prstGeom>
          <a:solidFill>
            <a:schemeClr val="accent2"/>
          </a:solidFill>
          <a:ln w="12700">
            <a:solidFill>
              <a:schemeClr val="accent2"/>
            </a:solidFill>
            <a:prstDash val="solid"/>
          </a:ln>
        </p:spPr>
      </p:sp>
      <p:sp>
        <p:nvSpPr>
          <p:cNvPr id="65" name="CO2 molecule 1"/>
          <p:cNvSpPr/>
          <p:nvPr/>
        </p:nvSpPr>
        <p:spPr>
          <a:xfrm>
            <a:off x="5858084" y="3340742"/>
            <a:ext cx="118872" cy="118872"/>
          </a:xfrm>
          <a:prstGeom prst="ellipse">
            <a:avLst/>
          </a:prstGeom>
          <a:solidFill>
            <a:schemeClr val="accent2"/>
          </a:solidFill>
          <a:ln w="12700">
            <a:solidFill>
              <a:schemeClr val="accent2"/>
            </a:solidFill>
            <a:prstDash val="solid"/>
          </a:ln>
        </p:spPr>
      </p:sp>
      <p:sp>
        <p:nvSpPr>
          <p:cNvPr id="66" name="CO2 molecule 2"/>
          <p:cNvSpPr/>
          <p:nvPr/>
        </p:nvSpPr>
        <p:spPr>
          <a:xfrm>
            <a:off x="6909802" y="3453538"/>
            <a:ext cx="118872" cy="118872"/>
          </a:xfrm>
          <a:prstGeom prst="ellipse">
            <a:avLst/>
          </a:prstGeom>
          <a:solidFill>
            <a:schemeClr val="accent2"/>
          </a:solidFill>
          <a:ln w="12700">
            <a:solidFill>
              <a:schemeClr val="accent2"/>
            </a:solidFill>
            <a:prstDash val="solid"/>
          </a:ln>
        </p:spPr>
      </p:sp>
      <p:sp>
        <p:nvSpPr>
          <p:cNvPr id="67" name="Water vapor 0"/>
          <p:cNvSpPr/>
          <p:nvPr/>
        </p:nvSpPr>
        <p:spPr>
          <a:xfrm>
            <a:off x="4645285" y="3329212"/>
            <a:ext cx="91440" cy="91440"/>
          </a:xfrm>
          <a:prstGeom prst="ellipse">
            <a:avLst/>
          </a:prstGeom>
          <a:solidFill>
            <a:schemeClr val="accent4"/>
          </a:solidFill>
          <a:ln w="12700">
            <a:solidFill>
              <a:schemeClr val="accent4"/>
            </a:solidFill>
            <a:prstDash val="solid"/>
          </a:ln>
        </p:spPr>
      </p:sp>
      <p:sp>
        <p:nvSpPr>
          <p:cNvPr id="68" name="Water vapor 1"/>
          <p:cNvSpPr/>
          <p:nvPr/>
        </p:nvSpPr>
        <p:spPr>
          <a:xfrm>
            <a:off x="5159787" y="3240282"/>
            <a:ext cx="91440" cy="91440"/>
          </a:xfrm>
          <a:prstGeom prst="ellipse">
            <a:avLst/>
          </a:prstGeom>
          <a:solidFill>
            <a:schemeClr val="accent4"/>
          </a:solidFill>
          <a:ln w="12700">
            <a:solidFill>
              <a:schemeClr val="accent4"/>
            </a:solidFill>
            <a:prstDash val="solid"/>
          </a:ln>
        </p:spPr>
      </p:sp>
      <p:sp>
        <p:nvSpPr>
          <p:cNvPr id="69" name="Water vapor 2"/>
          <p:cNvSpPr/>
          <p:nvPr/>
        </p:nvSpPr>
        <p:spPr>
          <a:xfrm>
            <a:off x="5796021" y="3194249"/>
            <a:ext cx="91440" cy="91440"/>
          </a:xfrm>
          <a:prstGeom prst="ellipse">
            <a:avLst/>
          </a:prstGeom>
          <a:solidFill>
            <a:schemeClr val="accent4"/>
          </a:solidFill>
          <a:ln w="12700">
            <a:solidFill>
              <a:schemeClr val="accent4"/>
            </a:solidFill>
            <a:prstDash val="solid"/>
          </a:ln>
        </p:spPr>
      </p:sp>
      <p:sp>
        <p:nvSpPr>
          <p:cNvPr id="70" name="Water vapor 3"/>
          <p:cNvSpPr/>
          <p:nvPr/>
        </p:nvSpPr>
        <p:spPr>
          <a:xfrm>
            <a:off x="6258218" y="3472886"/>
            <a:ext cx="91440" cy="91440"/>
          </a:xfrm>
          <a:prstGeom prst="ellipse">
            <a:avLst/>
          </a:prstGeom>
          <a:solidFill>
            <a:schemeClr val="accent4"/>
          </a:solidFill>
          <a:ln w="12700">
            <a:solidFill>
              <a:schemeClr val="accent4"/>
            </a:solidFill>
            <a:prstDash val="solid"/>
          </a:ln>
        </p:spPr>
      </p:sp>
      <p:sp>
        <p:nvSpPr>
          <p:cNvPr id="71" name="Water vapor 4"/>
          <p:cNvSpPr/>
          <p:nvPr/>
        </p:nvSpPr>
        <p:spPr>
          <a:xfrm>
            <a:off x="6914396" y="3561417"/>
            <a:ext cx="91440" cy="91440"/>
          </a:xfrm>
          <a:prstGeom prst="ellipse">
            <a:avLst/>
          </a:prstGeom>
          <a:solidFill>
            <a:schemeClr val="accent4"/>
          </a:solidFill>
          <a:ln w="12700">
            <a:solidFill>
              <a:schemeClr val="accent4"/>
            </a:solidFill>
            <a:prstDash val="solid"/>
          </a:ln>
        </p:spPr>
      </p:sp>
      <p:sp>
        <p:nvSpPr>
          <p:cNvPr id="72" name="Water vapor 5"/>
          <p:cNvSpPr/>
          <p:nvPr/>
        </p:nvSpPr>
        <p:spPr>
          <a:xfrm>
            <a:off x="7475559" y="3514030"/>
            <a:ext cx="91440" cy="91440"/>
          </a:xfrm>
          <a:prstGeom prst="ellipse">
            <a:avLst/>
          </a:prstGeom>
          <a:solidFill>
            <a:schemeClr val="accent4"/>
          </a:solidFill>
          <a:ln w="12700">
            <a:solidFill>
              <a:schemeClr val="accent4"/>
            </a:solidFill>
            <a:prstDash val="solid"/>
          </a:ln>
        </p:spPr>
      </p:sp>
      <p:sp>
        <p:nvSpPr>
          <p:cNvPr id="73" name="Legend CO2 dot"/>
          <p:cNvSpPr/>
          <p:nvPr/>
        </p:nvSpPr>
        <p:spPr>
          <a:xfrm>
            <a:off x="4434840" y="3867912"/>
            <a:ext cx="109728" cy="109728"/>
          </a:xfrm>
          <a:prstGeom prst="ellipse">
            <a:avLst/>
          </a:prstGeom>
          <a:solidFill>
            <a:schemeClr val="accent2"/>
          </a:solidFill>
          <a:ln w="12700">
            <a:solidFill>
              <a:schemeClr val="accent2"/>
            </a:solidFill>
            <a:prstDash val="solid"/>
          </a:ln>
        </p:spPr>
      </p:sp>
      <p:sp>
        <p:nvSpPr>
          <p:cNvPr id="74" name="Legend CO2 label"/>
          <p:cNvSpPr txBox="1"/>
          <p:nvPr/>
        </p:nvSpPr>
        <p:spPr>
          <a:xfrm>
            <a:off x="4608576" y="3822192"/>
            <a:ext cx="914400" cy="201168"/>
          </a:xfrm>
          <a:prstGeom prst="rect">
            <a:avLst/>
          </a:prstGeom>
          <a:noFill/>
          <a:ln/>
        </p:spPr>
        <p:txBody>
          <a:bodyPr wrap="square" lIns="0" tIns="0" rIns="0" bIns="0" rtlCol="0" anchor="ctr"/>
          <a:lstStyle/>
          <a:p>
            <a:pPr marL="0" indent="0">
              <a:buNone/>
            </a:pPr>
            <a:r>
              <a:rPr lang="en-US" sz="1100" b="1" dirty="0">
                <a:solidFill>
                  <a:srgbClr val="B8531A"/>
                </a:solidFill>
              </a:rPr>
              <a:t>CO₂ (dilute)</a:t>
            </a:r>
            <a:endParaRPr lang="en-US" sz="1100" dirty="0"/>
          </a:p>
        </p:txBody>
      </p:sp>
      <p:sp>
        <p:nvSpPr>
          <p:cNvPr id="75" name="Legend H2O dot"/>
          <p:cNvSpPr/>
          <p:nvPr/>
        </p:nvSpPr>
        <p:spPr>
          <a:xfrm>
            <a:off x="5614416" y="3877056"/>
            <a:ext cx="91440" cy="91440"/>
          </a:xfrm>
          <a:prstGeom prst="ellipse">
            <a:avLst/>
          </a:prstGeom>
          <a:solidFill>
            <a:schemeClr val="accent4"/>
          </a:solidFill>
          <a:ln w="12700">
            <a:solidFill>
              <a:schemeClr val="accent4"/>
            </a:solidFill>
            <a:prstDash val="solid"/>
          </a:ln>
        </p:spPr>
      </p:sp>
      <p:sp>
        <p:nvSpPr>
          <p:cNvPr id="76" name="Legend H2O label"/>
          <p:cNvSpPr txBox="1"/>
          <p:nvPr/>
        </p:nvSpPr>
        <p:spPr>
          <a:xfrm>
            <a:off x="5779008" y="3822192"/>
            <a:ext cx="822960" cy="201168"/>
          </a:xfrm>
          <a:prstGeom prst="rect">
            <a:avLst/>
          </a:prstGeom>
          <a:noFill/>
          <a:ln/>
        </p:spPr>
        <p:txBody>
          <a:bodyPr wrap="square" lIns="0" tIns="0" rIns="0" bIns="0" rtlCol="0" anchor="ctr"/>
          <a:lstStyle/>
          <a:p>
            <a:pPr marL="0" indent="0">
              <a:buNone/>
            </a:pPr>
            <a:r>
              <a:rPr lang="en-US" sz="1100" b="1" dirty="0">
                <a:solidFill>
                  <a:srgbClr val="2A6BB0"/>
                </a:solidFill>
              </a:rPr>
              <a:t>H₂O vapor</a:t>
            </a:r>
            <a:endParaRPr lang="en-US" sz="1100" dirty="0"/>
          </a:p>
        </p:txBody>
      </p:sp>
      <p:sp>
        <p:nvSpPr>
          <p:cNvPr id="77" name="Legend other dot"/>
          <p:cNvSpPr/>
          <p:nvPr/>
        </p:nvSpPr>
        <p:spPr>
          <a:xfrm>
            <a:off x="6679692" y="3890772"/>
            <a:ext cx="64008" cy="64008"/>
          </a:xfrm>
          <a:prstGeom prst="ellipse">
            <a:avLst/>
          </a:prstGeom>
          <a:solidFill>
            <a:srgbClr val="B9B9C2"/>
          </a:solidFill>
          <a:ln w="12700">
            <a:solidFill>
              <a:srgbClr val="B9B9C2"/>
            </a:solidFill>
            <a:prstDash val="solid"/>
          </a:ln>
        </p:spPr>
      </p:sp>
      <p:sp>
        <p:nvSpPr>
          <p:cNvPr id="78" name="Legend other label"/>
          <p:cNvSpPr txBox="1"/>
          <p:nvPr/>
        </p:nvSpPr>
        <p:spPr>
          <a:xfrm>
            <a:off x="6821424" y="3822192"/>
            <a:ext cx="868680" cy="201168"/>
          </a:xfrm>
          <a:prstGeom prst="rect">
            <a:avLst/>
          </a:prstGeom>
          <a:noFill/>
          <a:ln/>
        </p:spPr>
        <p:txBody>
          <a:bodyPr wrap="square" lIns="0" tIns="0" rIns="0" bIns="0" rtlCol="0" anchor="ctr"/>
          <a:lstStyle/>
          <a:p>
            <a:pPr marL="0" indent="0">
              <a:buNone/>
            </a:pPr>
            <a:r>
              <a:rPr lang="en-US" sz="1100" b="1" dirty="0">
                <a:solidFill>
                  <a:schemeClr val="accent6"/>
                </a:solidFill>
              </a:rPr>
              <a:t>other gases</a:t>
            </a:r>
            <a:endParaRPr lang="en-US" sz="1100" dirty="0"/>
          </a:p>
        </p:txBody>
      </p:sp>
      <p:sp>
        <p:nvSpPr>
          <p:cNvPr id="79" name="Card DAC text"/>
          <p:cNvSpPr txBox="1"/>
          <p:nvPr/>
        </p:nvSpPr>
        <p:spPr>
          <a:xfrm>
            <a:off x="4425696" y="4041648"/>
            <a:ext cx="3246120" cy="548640"/>
          </a:xfrm>
          <a:prstGeom prst="rect">
            <a:avLst/>
          </a:prstGeom>
          <a:noFill/>
          <a:ln/>
        </p:spPr>
        <p:txBody>
          <a:bodyPr wrap="square" lIns="0" tIns="0" rIns="0" bIns="0" rtlCol="0" anchor="t"/>
          <a:lstStyle/>
          <a:p>
            <a:pPr marL="0" indent="0" algn="l">
              <a:buNone/>
            </a:pPr>
            <a:r>
              <a:rPr lang="en-US" sz="1200" dirty="0">
                <a:solidFill>
                  <a:schemeClr val="tx2"/>
                </a:solidFill>
              </a:rPr>
              <a:t>Atmospheric CO₂ is dilute (~420 ppm), so it must be captured at very low partial pressure, alongside ever-present water vapor.</a:t>
            </a:r>
            <a:endParaRPr lang="en-US" sz="1200" dirty="0"/>
          </a:p>
        </p:txBody>
      </p:sp>
      <p:sp>
        <p:nvSpPr>
          <p:cNvPr id="80" name="Card humidity"/>
          <p:cNvSpPr/>
          <p:nvPr/>
        </p:nvSpPr>
        <p:spPr>
          <a:xfrm>
            <a:off x="8037576" y="2542032"/>
            <a:ext cx="3611880" cy="2048256"/>
          </a:xfrm>
          <a:prstGeom prst="roundRect">
            <a:avLst>
              <a:gd name="adj" fmla="val 3478"/>
            </a:avLst>
          </a:prstGeom>
          <a:solidFill>
            <a:schemeClr val="bg2"/>
          </a:solidFill>
          <a:ln w="12700">
            <a:solidFill>
              <a:schemeClr val="bg2"/>
            </a:solidFill>
            <a:prstDash val="solid"/>
          </a:ln>
        </p:spPr>
      </p:sp>
      <p:sp>
        <p:nvSpPr>
          <p:cNvPr id="81" name="Number 3"/>
          <p:cNvSpPr/>
          <p:nvPr/>
        </p:nvSpPr>
        <p:spPr>
          <a:xfrm>
            <a:off x="8174736" y="2660904"/>
            <a:ext cx="292608" cy="292608"/>
          </a:xfrm>
          <a:prstGeom prst="ellipse">
            <a:avLst/>
          </a:prstGeom>
          <a:solidFill>
            <a:schemeClr val="accent3"/>
          </a:solidFill>
          <a:ln w="12700">
            <a:solidFill>
              <a:schemeClr val="accent3"/>
            </a:solidFill>
            <a:prstDash val="solid"/>
          </a:ln>
        </p:spPr>
      </p:sp>
      <p:sp>
        <p:nvSpPr>
          <p:cNvPr id="82" name="Number 3 label"/>
          <p:cNvSpPr txBox="1"/>
          <p:nvPr/>
        </p:nvSpPr>
        <p:spPr>
          <a:xfrm>
            <a:off x="8174736" y="266090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83" name="Card title 3"/>
          <p:cNvSpPr txBox="1"/>
          <p:nvPr/>
        </p:nvSpPr>
        <p:spPr>
          <a:xfrm>
            <a:off x="8567928" y="2660904"/>
            <a:ext cx="2926080" cy="292608"/>
          </a:xfrm>
          <a:prstGeom prst="rect">
            <a:avLst/>
          </a:prstGeom>
          <a:noFill/>
          <a:ln/>
        </p:spPr>
        <p:txBody>
          <a:bodyPr wrap="square" lIns="0" tIns="0" rIns="0" bIns="0" rtlCol="0" anchor="ctr"/>
          <a:lstStyle/>
          <a:p>
            <a:pPr marL="0" indent="0">
              <a:buNone/>
            </a:pPr>
            <a:r>
              <a:rPr lang="en-US" sz="1500" b="1" dirty="0">
                <a:solidFill>
                  <a:schemeClr val="accent3"/>
                </a:solidFill>
              </a:rPr>
              <a:t>Why does humidity matter?</a:t>
            </a:r>
            <a:endParaRPr lang="en-US" sz="1500" dirty="0"/>
          </a:p>
        </p:txBody>
      </p:sp>
      <p:sp>
        <p:nvSpPr>
          <p:cNvPr id="84" name="MOF pore"/>
          <p:cNvSpPr/>
          <p:nvPr/>
        </p:nvSpPr>
        <p:spPr>
          <a:xfrm>
            <a:off x="8220456" y="3072384"/>
            <a:ext cx="3246120" cy="804672"/>
          </a:xfrm>
          <a:prstGeom prst="roundRect">
            <a:avLst>
              <a:gd name="adj" fmla="val 13636"/>
            </a:avLst>
          </a:prstGeom>
          <a:solidFill>
            <a:srgbClr val="FFFFFF"/>
          </a:solidFill>
          <a:ln w="15875">
            <a:solidFill>
              <a:schemeClr val="accent3"/>
            </a:solidFill>
            <a:prstDash val="solid"/>
          </a:ln>
        </p:spPr>
      </p:sp>
      <p:sp>
        <p:nvSpPr>
          <p:cNvPr id="85" name="Pore label"/>
          <p:cNvSpPr txBox="1"/>
          <p:nvPr/>
        </p:nvSpPr>
        <p:spPr>
          <a:xfrm>
            <a:off x="8311896" y="3108960"/>
            <a:ext cx="1005840" cy="182880"/>
          </a:xfrm>
          <a:prstGeom prst="rect">
            <a:avLst/>
          </a:prstGeom>
          <a:noFill/>
          <a:ln/>
        </p:spPr>
        <p:txBody>
          <a:bodyPr wrap="square" lIns="0" tIns="0" rIns="0" bIns="0" rtlCol="0" anchor="t"/>
          <a:lstStyle/>
          <a:p>
            <a:pPr marL="0" indent="0">
              <a:buNone/>
            </a:pPr>
            <a:r>
              <a:rPr lang="en-US" sz="1050" b="1" dirty="0">
                <a:solidFill>
                  <a:schemeClr val="accent3"/>
                </a:solidFill>
              </a:rPr>
              <a:t>MOF pore</a:t>
            </a:r>
            <a:endParaRPr lang="en-US" sz="1050" dirty="0"/>
          </a:p>
        </p:txBody>
      </p:sp>
      <p:sp>
        <p:nvSpPr>
          <p:cNvPr id="86" name="H2O circle"/>
          <p:cNvSpPr/>
          <p:nvPr/>
        </p:nvSpPr>
        <p:spPr>
          <a:xfrm>
            <a:off x="8714232" y="3410712"/>
            <a:ext cx="384048" cy="384048"/>
          </a:xfrm>
          <a:prstGeom prst="ellipse">
            <a:avLst/>
          </a:prstGeom>
          <a:solidFill>
            <a:schemeClr val="accent4"/>
          </a:solidFill>
          <a:ln w="12700">
            <a:solidFill>
              <a:schemeClr val="accent4"/>
            </a:solidFill>
            <a:prstDash val="solid"/>
          </a:ln>
        </p:spPr>
      </p:sp>
      <p:sp>
        <p:nvSpPr>
          <p:cNvPr id="87" name="H2O label"/>
          <p:cNvSpPr txBox="1"/>
          <p:nvPr/>
        </p:nvSpPr>
        <p:spPr>
          <a:xfrm>
            <a:off x="871423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H₂O</a:t>
            </a:r>
            <a:endParaRPr lang="en-US" sz="1100" dirty="0"/>
          </a:p>
        </p:txBody>
      </p:sp>
      <p:sp>
        <p:nvSpPr>
          <p:cNvPr id="88" name="CO2 circle"/>
          <p:cNvSpPr/>
          <p:nvPr/>
        </p:nvSpPr>
        <p:spPr>
          <a:xfrm>
            <a:off x="10588752" y="3410712"/>
            <a:ext cx="384048" cy="384048"/>
          </a:xfrm>
          <a:prstGeom prst="ellipse">
            <a:avLst/>
          </a:prstGeom>
          <a:solidFill>
            <a:schemeClr val="accent2"/>
          </a:solidFill>
          <a:ln w="12700">
            <a:solidFill>
              <a:schemeClr val="accent2"/>
            </a:solidFill>
            <a:prstDash val="solid"/>
          </a:ln>
        </p:spPr>
      </p:sp>
      <p:sp>
        <p:nvSpPr>
          <p:cNvPr id="89" name="CO2 label"/>
          <p:cNvSpPr txBox="1"/>
          <p:nvPr/>
        </p:nvSpPr>
        <p:spPr>
          <a:xfrm>
            <a:off x="10588752" y="3502152"/>
            <a:ext cx="384048" cy="201168"/>
          </a:xfrm>
          <a:prstGeom prst="rect">
            <a:avLst/>
          </a:prstGeom>
          <a:noFill/>
          <a:ln/>
        </p:spPr>
        <p:txBody>
          <a:bodyPr wrap="square" lIns="0" tIns="0" rIns="0" bIns="0" rtlCol="0" anchor="ctr"/>
          <a:lstStyle/>
          <a:p>
            <a:pPr marL="0" indent="0" algn="ctr">
              <a:buNone/>
            </a:pPr>
            <a:r>
              <a:rPr lang="en-US" sz="1100" b="1" dirty="0">
                <a:solidFill>
                  <a:srgbClr val="FFFFFF"/>
                </a:solidFill>
              </a:rPr>
              <a:t>CO₂</a:t>
            </a:r>
            <a:endParaRPr lang="en-US" sz="1100" dirty="0"/>
          </a:p>
        </p:txBody>
      </p:sp>
      <p:sp>
        <p:nvSpPr>
          <p:cNvPr id="90" name="Interaction arrow"/>
          <p:cNvSpPr/>
          <p:nvPr/>
        </p:nvSpPr>
        <p:spPr>
          <a:xfrm>
            <a:off x="9180576" y="3602736"/>
            <a:ext cx="1325880" cy="0"/>
          </a:xfrm>
          <a:prstGeom prst="line">
            <a:avLst/>
          </a:prstGeom>
          <a:noFill/>
          <a:ln w="22225">
            <a:solidFill>
              <a:schemeClr val="accent6"/>
            </a:solidFill>
            <a:prstDash val="dash"/>
            <a:headEnd type="triangle"/>
            <a:tailEnd type="triangle"/>
          </a:ln>
        </p:spPr>
      </p:sp>
      <p:sp>
        <p:nvSpPr>
          <p:cNvPr id="91" name="Question mark"/>
          <p:cNvSpPr txBox="1"/>
          <p:nvPr/>
        </p:nvSpPr>
        <p:spPr>
          <a:xfrm>
            <a:off x="9660636" y="3236976"/>
            <a:ext cx="365760" cy="274320"/>
          </a:xfrm>
          <a:prstGeom prst="rect">
            <a:avLst/>
          </a:prstGeom>
          <a:noFill/>
          <a:ln/>
        </p:spPr>
        <p:txBody>
          <a:bodyPr wrap="square" lIns="0" tIns="0" rIns="0" bIns="0" rtlCol="0" anchor="ctr"/>
          <a:lstStyle/>
          <a:p>
            <a:pPr marL="0" indent="0" algn="ctr">
              <a:buNone/>
            </a:pPr>
            <a:r>
              <a:rPr lang="en-US" sz="1800" b="1" dirty="0">
                <a:solidFill>
                  <a:schemeClr val="accent5"/>
                </a:solidFill>
              </a:rPr>
              <a:t>?</a:t>
            </a:r>
            <a:endParaRPr lang="en-US" sz="1800" dirty="0"/>
          </a:p>
        </p:txBody>
      </p:sp>
      <p:sp>
        <p:nvSpPr>
          <p:cNvPr id="92" name="Card humidity text"/>
          <p:cNvSpPr txBox="1"/>
          <p:nvPr/>
        </p:nvSpPr>
        <p:spPr>
          <a:xfrm>
            <a:off x="8220456" y="3931920"/>
            <a:ext cx="3246120" cy="603504"/>
          </a:xfrm>
          <a:prstGeom prst="rect">
            <a:avLst/>
          </a:prstGeom>
          <a:noFill/>
          <a:ln/>
        </p:spPr>
        <p:txBody>
          <a:bodyPr wrap="square" lIns="0" tIns="0" rIns="0" bIns="0" rtlCol="0" anchor="t"/>
          <a:lstStyle/>
          <a:p>
            <a:pPr marL="0" indent="0" algn="l">
              <a:buNone/>
            </a:pPr>
            <a:r>
              <a:rPr lang="en-US" sz="1200" dirty="0">
                <a:solidFill>
                  <a:schemeClr val="tx2"/>
                </a:solidFill>
              </a:rPr>
              <a:t>Water vapor may compete with CO₂ for adsorption sites or alter CO₂ binding.</a:t>
            </a:r>
            <a:endParaRPr lang="en-US" sz="1200" dirty="0"/>
          </a:p>
          <a:p>
            <a:pPr marL="0" indent="0" algn="l">
              <a:buNone/>
            </a:pPr>
            <a:r>
              <a:rPr lang="en-US" sz="1200" b="1" dirty="0">
                <a:solidFill>
                  <a:schemeClr val="accent3"/>
                </a:solidFill>
              </a:rPr>
              <a:t>Direction of effect is not assumed.</a:t>
            </a:r>
            <a:endParaRPr lang="en-US" sz="1200" dirty="0"/>
          </a:p>
        </p:txBody>
      </p:sp>
      <p:sp>
        <p:nvSpPr>
          <p:cNvPr id="301" name="Objective banner"/>
          <p:cNvSpPr/>
          <p:nvPr/>
        </p:nvSpPr>
        <p:spPr>
          <a:xfrm>
            <a:off x="448056" y="4700016"/>
            <a:ext cx="11292840" cy="1353312"/>
          </a:xfrm>
          <a:prstGeom prst="roundRect">
            <a:avLst>
              <a:gd name="adj" fmla="val 6667"/>
            </a:avLst>
          </a:prstGeom>
          <a:solidFill>
            <a:schemeClr val="accent3"/>
          </a:solidFill>
          <a:ln w="12700">
            <a:solidFill>
              <a:schemeClr val="accent3"/>
            </a:solidFill>
            <a:prstDash val="solid"/>
          </a:ln>
        </p:spPr>
      </p:sp>
      <p:sp>
        <p:nvSpPr>
          <p:cNvPr id="302" name="Research gap panel"/>
          <p:cNvSpPr/>
          <p:nvPr/>
        </p:nvSpPr>
        <p:spPr>
          <a:xfrm>
            <a:off x="585216" y="4809744"/>
            <a:ext cx="3456432" cy="1133856"/>
          </a:xfrm>
          <a:prstGeom prst="roundRect">
            <a:avLst>
              <a:gd name="adj" fmla="val 7500"/>
            </a:avLst>
          </a:prstGeom>
          <a:solidFill>
            <a:srgbClr val="FFFFFF">
              <a:alpha val="14000"/>
            </a:srgbClr>
          </a:solidFill>
          <a:ln>
            <a:noFill/>
          </a:ln>
        </p:spPr>
      </p:sp>
      <p:sp>
        <p:nvSpPr>
          <p:cNvPr id="303" name="Research gap label"/>
          <p:cNvSpPr txBox="1"/>
          <p:nvPr/>
        </p:nvSpPr>
        <p:spPr>
          <a:xfrm>
            <a:off x="749808" y="4892040"/>
            <a:ext cx="3108960" cy="201168"/>
          </a:xfrm>
          <a:prstGeom prst="rect">
            <a:avLst/>
          </a:prstGeom>
          <a:noFill/>
          <a:ln/>
        </p:spPr>
        <p:txBody>
          <a:bodyPr wrap="square" lIns="0" tIns="0" rIns="0" bIns="0" rtlCol="0" anchor="ctr"/>
          <a:lstStyle/>
          <a:p>
            <a:pPr marL="0" indent="0" algn="l">
              <a:buNone/>
            </a:pPr>
            <a:r>
              <a:rPr lang="en-US" sz="1100" b="1" kern="0" spc="100" dirty="0">
                <a:solidFill>
                  <a:srgbClr val="E6E3FF"/>
                </a:solidFill>
              </a:rPr>
              <a:t>RESEARCH GAP</a:t>
            </a:r>
            <a:endParaRPr lang="en-US" sz="1100" dirty="0"/>
          </a:p>
        </p:txBody>
      </p:sp>
      <p:sp>
        <p:nvSpPr>
          <p:cNvPr id="304" name="Research gap text"/>
          <p:cNvSpPr txBox="1"/>
          <p:nvPr/>
        </p:nvSpPr>
        <p:spPr>
          <a:xfrm>
            <a:off x="749808" y="5138928"/>
            <a:ext cx="3145536" cy="768096"/>
          </a:xfrm>
          <a:prstGeom prst="rect">
            <a:avLst/>
          </a:prstGeom>
          <a:noFill/>
          <a:ln/>
        </p:spPr>
        <p:txBody>
          <a:bodyPr wrap="square" lIns="0" tIns="0" rIns="0" bIns="0" rtlCol="0" anchor="t"/>
          <a:lstStyle/>
          <a:p>
            <a:pPr marL="0" indent="0" algn="l">
              <a:buNone/>
            </a:pPr>
            <a:r>
              <a:rPr lang="en-US" sz="1200" dirty="0">
                <a:solidFill>
                  <a:srgbClr val="FFFFFF"/>
                </a:solidFill>
              </a:rPr>
              <a:t>The influence of humidity on CO₂ adsorption and regeneration in the developed bimetal-engineered MOF remains to be investigated.</a:t>
            </a:r>
            <a:endParaRPr lang="en-US" sz="1200" dirty="0"/>
          </a:p>
        </p:txBody>
      </p:sp>
      <p:sp>
        <p:nvSpPr>
          <p:cNvPr id="305" name="Question label"/>
          <p:cNvSpPr txBox="1"/>
          <p:nvPr/>
        </p:nvSpPr>
        <p:spPr>
          <a:xfrm>
            <a:off x="4279392" y="4809744"/>
            <a:ext cx="7223760" cy="201168"/>
          </a:xfrm>
          <a:prstGeom prst="rect">
            <a:avLst/>
          </a:prstGeom>
          <a:noFill/>
          <a:ln/>
        </p:spPr>
        <p:txBody>
          <a:bodyPr wrap="square" lIns="0" tIns="0" rIns="0" bIns="0" rtlCol="0" anchor="ctr"/>
          <a:lstStyle/>
          <a:p>
            <a:pPr marL="0" indent="0" algn="l">
              <a:buNone/>
            </a:pPr>
            <a:r>
              <a:rPr lang="en-US" sz="1100" b="1" kern="0" spc="100" dirty="0">
                <a:solidFill>
                  <a:srgbClr val="E6E3FF"/>
                </a:solidFill>
              </a:rPr>
              <a:t>CENTRAL RESEARCH QUESTION</a:t>
            </a:r>
            <a:endParaRPr lang="en-US" sz="1100" dirty="0"/>
          </a:p>
        </p:txBody>
      </p:sp>
      <p:sp>
        <p:nvSpPr>
          <p:cNvPr id="306" name="Research question"/>
          <p:cNvSpPr txBox="1"/>
          <p:nvPr/>
        </p:nvSpPr>
        <p:spPr>
          <a:xfrm>
            <a:off x="4279392" y="5047488"/>
            <a:ext cx="7223760" cy="548640"/>
          </a:xfrm>
          <a:prstGeom prst="rect">
            <a:avLst/>
          </a:prstGeom>
          <a:noFill/>
          <a:ln/>
        </p:spPr>
        <p:txBody>
          <a:bodyPr wrap="square" lIns="0" tIns="0" rIns="0" bIns="0" rtlCol="0" anchor="t"/>
          <a:lstStyle/>
          <a:p>
            <a:pPr marL="0" indent="0" algn="l">
              <a:buNone/>
            </a:pPr>
            <a:r>
              <a:rPr lang="en-US" sz="1800" b="1" dirty="0">
                <a:solidFill>
                  <a:srgbClr val="FFFFFF"/>
                </a:solidFill>
              </a:rPr>
              <a:t>How does humidity influence CO₂ adsorption and regeneration behavior in a bimetal-engineered MOF?</a:t>
            </a:r>
            <a:endParaRPr lang="en-US" sz="1800" dirty="0"/>
          </a:p>
        </p:txBody>
      </p:sp>
      <p:sp>
        <p:nvSpPr>
          <p:cNvPr id="307" name="Objective text"/>
          <p:cNvSpPr txBox="1"/>
          <p:nvPr/>
        </p:nvSpPr>
        <p:spPr>
          <a:xfrm>
            <a:off x="4279392" y="5632704"/>
            <a:ext cx="7223760" cy="384048"/>
          </a:xfrm>
          <a:prstGeom prst="rect">
            <a:avLst/>
          </a:prstGeom>
          <a:noFill/>
          <a:ln/>
        </p:spPr>
        <p:txBody>
          <a:bodyPr wrap="square" lIns="0" tIns="0" rIns="0" bIns="0" rtlCol="0" anchor="t"/>
          <a:lstStyle/>
          <a:p>
            <a:pPr marL="0" indent="0" algn="l">
              <a:buNone/>
            </a:pPr>
            <a:r>
              <a:rPr lang="en-US" sz="1200" b="1" dirty="0">
                <a:solidFill>
                  <a:srgbClr val="FFFFFF"/>
                </a:solidFill>
              </a:rPr>
              <a:t xml:space="preserve">Objective: </a:t>
            </a:r>
            <a:r>
              <a:rPr lang="en-US" sz="1200" dirty="0">
                <a:solidFill>
                  <a:srgbClr val="FFFFFF"/>
                </a:solidFill>
              </a:rPr>
              <a:t>To characterize and compare the 12 synthesized samples, select the best-characterized candidate, and investigate how humidity may influence CO₂ adsorption and regeneration.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Material Synthesis and Experimental Progress</a:t>
            </a:r>
            <a:endParaRPr lang="en-US" sz="2600" dirty="0"/>
          </a:p>
        </p:txBody>
      </p:sp>
      <p:sp>
        <p:nvSpPr>
          <p:cNvPr id="4" name="Section A label"/>
          <p:cNvSpPr txBox="1"/>
          <p:nvPr/>
        </p:nvSpPr>
        <p:spPr>
          <a:xfrm>
            <a:off x="448056" y="2286000"/>
            <a:ext cx="726948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A · SAMPLE PREPARATION (SOLVOTHERMAL ROUTE)</a:t>
            </a:r>
            <a:endParaRPr lang="en-US" sz="1100" dirty="0"/>
          </a:p>
        </p:txBody>
      </p:sp>
      <p:sp>
        <p:nvSpPr>
          <p:cNvPr id="5" name="Section B label"/>
          <p:cNvSpPr txBox="1"/>
          <p:nvPr/>
        </p:nvSpPr>
        <p:spPr>
          <a:xfrm>
            <a:off x="8037576" y="2286000"/>
            <a:ext cx="370332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B · ALL 12 SYNTHESIZED SAMPLES</a:t>
            </a:r>
            <a:endParaRPr lang="en-US" sz="1100" dirty="0"/>
          </a:p>
        </p:txBody>
      </p:sp>
      <p:sp>
        <p:nvSpPr>
          <p:cNvPr id="6" name="Section C label"/>
          <p:cNvSpPr txBox="1"/>
          <p:nvPr/>
        </p:nvSpPr>
        <p:spPr>
          <a:xfrm>
            <a:off x="448056" y="5047488"/>
            <a:ext cx="1129284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C · CHARACTERIZATION AND RESEARCH PROGRESS</a:t>
            </a:r>
            <a:endParaRPr lang="en-US" sz="1100" dirty="0"/>
          </a:p>
        </p:txBody>
      </p:sp>
      <p:pic>
        <p:nvPicPr>
          <p:cNvPr id="7" name="Step photo 1" descr="Photograph: Weighing a solid reagent on an analytical balance"/>
          <p:cNvPicPr>
            <a:picLocks noChangeAspect="1"/>
          </p:cNvPicPr>
          <p:nvPr/>
        </p:nvPicPr>
        <p:blipFill>
          <a:blip r:embed="rId100"/>
          <a:srcRect l="0" t="2564" r="0" b="2564"/>
          <a:stretch>
            <a:fillRect/>
          </a:stretch>
        </p:blipFill>
        <p:spPr>
          <a:xfrm>
            <a:off x="448056" y="2560320"/>
            <a:ext cx="1380744" cy="918972"/>
          </a:xfrm>
          <a:prstGeom prst="rect">
            <a:avLst/>
          </a:prstGeom>
        </p:spPr>
      </p:pic>
      <p:sp>
        <p:nvSpPr>
          <p:cNvPr id="8" name="Step frame 1"/>
          <p:cNvSpPr/>
          <p:nvPr/>
        </p:nvSpPr>
        <p:spPr>
          <a:xfrm>
            <a:off x="448056" y="2560320"/>
            <a:ext cx="1380744" cy="918972"/>
          </a:xfrm>
          <a:prstGeom prst="rect">
            <a:avLst/>
          </a:prstGeom>
          <a:noFill/>
          <a:ln w="12700">
            <a:solidFill>
              <a:schemeClr val="accent1"/>
            </a:solidFill>
            <a:prstDash val="solid"/>
          </a:ln>
        </p:spPr>
      </p:sp>
      <p:sp>
        <p:nvSpPr>
          <p:cNvPr id="9" name="Step caption bg 1"/>
          <p:cNvSpPr/>
          <p:nvPr/>
        </p:nvSpPr>
        <p:spPr>
          <a:xfrm>
            <a:off x="448056" y="3511296"/>
            <a:ext cx="1380744" cy="210312"/>
          </a:xfrm>
          <a:prstGeom prst="roundRect">
            <a:avLst>
              <a:gd name="adj" fmla="val 26667"/>
            </a:avLst>
          </a:prstGeom>
          <a:solidFill>
            <a:schemeClr val="bg2"/>
          </a:solidFill>
          <a:ln w="12700">
            <a:solidFill>
              <a:schemeClr val="bg2"/>
            </a:solidFill>
            <a:prstDash val="solid"/>
          </a:ln>
        </p:spPr>
      </p:sp>
      <p:sp>
        <p:nvSpPr>
          <p:cNvPr id="10" name="Step caption 1"/>
          <p:cNvSpPr txBox="1"/>
          <p:nvPr/>
        </p:nvSpPr>
        <p:spPr>
          <a:xfrm>
            <a:off x="521208"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1  Weighing</a:t>
            </a:r>
            <a:endParaRPr lang="en-US" sz="1000" dirty="0"/>
          </a:p>
        </p:txBody>
      </p:sp>
      <p:pic>
        <p:nvPicPr>
          <p:cNvPr id="11" name="Step photo 2" descr="Photograph: Reagents in a beaker during solution preparation"/>
          <p:cNvPicPr>
            <a:picLocks noChangeAspect="1"/>
          </p:cNvPicPr>
          <p:nvPr/>
        </p:nvPicPr>
        <p:blipFill>
          <a:blip r:embed="rId101"/>
          <a:srcRect l="0" t="5447" r="0" b="0"/>
          <a:stretch>
            <a:fillRect/>
          </a:stretch>
        </p:blipFill>
        <p:spPr>
          <a:xfrm>
            <a:off x="1920240" y="2560320"/>
            <a:ext cx="1380744" cy="918972"/>
          </a:xfrm>
          <a:prstGeom prst="rect">
            <a:avLst/>
          </a:prstGeom>
        </p:spPr>
      </p:pic>
      <p:sp>
        <p:nvSpPr>
          <p:cNvPr id="12" name="Step frame 2"/>
          <p:cNvSpPr/>
          <p:nvPr/>
        </p:nvSpPr>
        <p:spPr>
          <a:xfrm>
            <a:off x="1920240" y="2560320"/>
            <a:ext cx="1380744" cy="918972"/>
          </a:xfrm>
          <a:prstGeom prst="rect">
            <a:avLst/>
          </a:prstGeom>
          <a:noFill/>
          <a:ln w="12700">
            <a:solidFill>
              <a:schemeClr val="accent1"/>
            </a:solidFill>
            <a:prstDash val="solid"/>
          </a:ln>
        </p:spPr>
      </p:sp>
      <p:sp>
        <p:nvSpPr>
          <p:cNvPr id="13" name="Step caption bg 2"/>
          <p:cNvSpPr/>
          <p:nvPr/>
        </p:nvSpPr>
        <p:spPr>
          <a:xfrm>
            <a:off x="1920240" y="3511296"/>
            <a:ext cx="1380744" cy="210312"/>
          </a:xfrm>
          <a:prstGeom prst="roundRect">
            <a:avLst>
              <a:gd name="adj" fmla="val 26667"/>
            </a:avLst>
          </a:prstGeom>
          <a:solidFill>
            <a:schemeClr val="bg2"/>
          </a:solidFill>
          <a:ln w="12700">
            <a:solidFill>
              <a:schemeClr val="bg2"/>
            </a:solidFill>
            <a:prstDash val="solid"/>
          </a:ln>
        </p:spPr>
      </p:sp>
      <p:sp>
        <p:nvSpPr>
          <p:cNvPr id="14" name="Step caption 2"/>
          <p:cNvSpPr txBox="1"/>
          <p:nvPr/>
        </p:nvSpPr>
        <p:spPr>
          <a:xfrm>
            <a:off x="1993392"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2  Preparation</a:t>
            </a:r>
            <a:endParaRPr lang="en-US" sz="1000" dirty="0"/>
          </a:p>
        </p:txBody>
      </p:sp>
      <p:pic>
        <p:nvPicPr>
          <p:cNvPr id="15" name="Step photo 3" descr="Photograph: Reaction mixture in a glass bottle on a stirrer"/>
          <p:cNvPicPr>
            <a:picLocks noChangeAspect="1"/>
          </p:cNvPicPr>
          <p:nvPr/>
        </p:nvPicPr>
        <p:blipFill>
          <a:blip r:embed="rId102"/>
          <a:srcRect l="0" t="0" r="0" b="8373"/>
          <a:stretch>
            <a:fillRect/>
          </a:stretch>
        </p:blipFill>
        <p:spPr>
          <a:xfrm>
            <a:off x="3392424" y="2560320"/>
            <a:ext cx="1380744" cy="918972"/>
          </a:xfrm>
          <a:prstGeom prst="rect">
            <a:avLst/>
          </a:prstGeom>
        </p:spPr>
      </p:pic>
      <p:sp>
        <p:nvSpPr>
          <p:cNvPr id="16" name="Step frame 3"/>
          <p:cNvSpPr/>
          <p:nvPr/>
        </p:nvSpPr>
        <p:spPr>
          <a:xfrm>
            <a:off x="3392424" y="2560320"/>
            <a:ext cx="1380744" cy="918972"/>
          </a:xfrm>
          <a:prstGeom prst="rect">
            <a:avLst/>
          </a:prstGeom>
          <a:noFill/>
          <a:ln w="12700">
            <a:solidFill>
              <a:schemeClr val="accent1"/>
            </a:solidFill>
            <a:prstDash val="solid"/>
          </a:ln>
        </p:spPr>
      </p:sp>
      <p:sp>
        <p:nvSpPr>
          <p:cNvPr id="17" name="Step caption bg 3"/>
          <p:cNvSpPr/>
          <p:nvPr/>
        </p:nvSpPr>
        <p:spPr>
          <a:xfrm>
            <a:off x="3392424" y="3511296"/>
            <a:ext cx="1380744" cy="210312"/>
          </a:xfrm>
          <a:prstGeom prst="roundRect">
            <a:avLst>
              <a:gd name="adj" fmla="val 26667"/>
            </a:avLst>
          </a:prstGeom>
          <a:solidFill>
            <a:schemeClr val="bg2"/>
          </a:solidFill>
          <a:ln w="12700">
            <a:solidFill>
              <a:schemeClr val="bg2"/>
            </a:solidFill>
            <a:prstDash val="solid"/>
          </a:ln>
        </p:spPr>
      </p:sp>
      <p:sp>
        <p:nvSpPr>
          <p:cNvPr id="18" name="Step caption 3"/>
          <p:cNvSpPr txBox="1"/>
          <p:nvPr/>
        </p:nvSpPr>
        <p:spPr>
          <a:xfrm>
            <a:off x="3465576"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3  Mixing</a:t>
            </a:r>
            <a:endParaRPr lang="en-US" sz="1000" dirty="0"/>
          </a:p>
        </p:txBody>
      </p:sp>
      <p:pic>
        <p:nvPicPr>
          <p:cNvPr id="19" name="Step photo 4" descr="Photograph: Sealed reaction bottle on the oven rack during heating"/>
          <p:cNvPicPr>
            <a:picLocks noChangeAspect="1"/>
          </p:cNvPicPr>
          <p:nvPr/>
        </p:nvPicPr>
        <p:blipFill>
          <a:blip r:embed="rId103"/>
          <a:srcRect l="0" t="3248" r="0" b="13248"/>
          <a:stretch>
            <a:fillRect/>
          </a:stretch>
        </p:blipFill>
        <p:spPr>
          <a:xfrm>
            <a:off x="4864608" y="2560320"/>
            <a:ext cx="1380744" cy="918972"/>
          </a:xfrm>
          <a:prstGeom prst="rect">
            <a:avLst/>
          </a:prstGeom>
        </p:spPr>
      </p:pic>
      <p:sp>
        <p:nvSpPr>
          <p:cNvPr id="20" name="Step frame 4"/>
          <p:cNvSpPr/>
          <p:nvPr/>
        </p:nvSpPr>
        <p:spPr>
          <a:xfrm>
            <a:off x="4864608" y="2560320"/>
            <a:ext cx="1380744" cy="918972"/>
          </a:xfrm>
          <a:prstGeom prst="rect">
            <a:avLst/>
          </a:prstGeom>
          <a:noFill/>
          <a:ln w="12700">
            <a:solidFill>
              <a:schemeClr val="accent1"/>
            </a:solidFill>
            <a:prstDash val="solid"/>
          </a:ln>
        </p:spPr>
      </p:sp>
      <p:sp>
        <p:nvSpPr>
          <p:cNvPr id="21" name="Step caption bg 4"/>
          <p:cNvSpPr/>
          <p:nvPr/>
        </p:nvSpPr>
        <p:spPr>
          <a:xfrm>
            <a:off x="4864608" y="3511296"/>
            <a:ext cx="1380744" cy="210312"/>
          </a:xfrm>
          <a:prstGeom prst="roundRect">
            <a:avLst>
              <a:gd name="adj" fmla="val 26667"/>
            </a:avLst>
          </a:prstGeom>
          <a:solidFill>
            <a:schemeClr val="bg2"/>
          </a:solidFill>
          <a:ln w="12700">
            <a:solidFill>
              <a:schemeClr val="bg2"/>
            </a:solidFill>
            <a:prstDash val="solid"/>
          </a:ln>
        </p:spPr>
      </p:sp>
      <p:sp>
        <p:nvSpPr>
          <p:cNvPr id="22" name="Step caption 4"/>
          <p:cNvSpPr txBox="1"/>
          <p:nvPr/>
        </p:nvSpPr>
        <p:spPr>
          <a:xfrm>
            <a:off x="4937760"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4  Heating</a:t>
            </a:r>
            <a:endParaRPr lang="en-US" sz="1000" dirty="0"/>
          </a:p>
        </p:txBody>
      </p:sp>
      <p:pic>
        <p:nvPicPr>
          <p:cNvPr id="23" name="Step photo 5" descr="Photograph: Reaction vessel after heating, with white solid"/>
          <p:cNvPicPr>
            <a:picLocks noChangeAspect="1"/>
          </p:cNvPicPr>
          <p:nvPr/>
        </p:nvPicPr>
        <p:blipFill>
          <a:blip r:embed="rId104"/>
          <a:srcRect l="0" t="26580" r="0" b="16580"/>
          <a:stretch>
            <a:fillRect/>
          </a:stretch>
        </p:blipFill>
        <p:spPr>
          <a:xfrm>
            <a:off x="6336792" y="2560320"/>
            <a:ext cx="1380744" cy="918972"/>
          </a:xfrm>
          <a:prstGeom prst="rect">
            <a:avLst/>
          </a:prstGeom>
        </p:spPr>
      </p:pic>
      <p:sp>
        <p:nvSpPr>
          <p:cNvPr id="24" name="Step frame 5"/>
          <p:cNvSpPr/>
          <p:nvPr/>
        </p:nvSpPr>
        <p:spPr>
          <a:xfrm>
            <a:off x="6336792" y="2560320"/>
            <a:ext cx="1380744" cy="918972"/>
          </a:xfrm>
          <a:prstGeom prst="rect">
            <a:avLst/>
          </a:prstGeom>
          <a:noFill/>
          <a:ln w="12700">
            <a:solidFill>
              <a:schemeClr val="accent1"/>
            </a:solidFill>
            <a:prstDash val="solid"/>
          </a:ln>
        </p:spPr>
      </p:sp>
      <p:sp>
        <p:nvSpPr>
          <p:cNvPr id="25" name="Step caption bg 5"/>
          <p:cNvSpPr/>
          <p:nvPr/>
        </p:nvSpPr>
        <p:spPr>
          <a:xfrm>
            <a:off x="6336792" y="3511296"/>
            <a:ext cx="1380744" cy="210312"/>
          </a:xfrm>
          <a:prstGeom prst="roundRect">
            <a:avLst>
              <a:gd name="adj" fmla="val 26667"/>
            </a:avLst>
          </a:prstGeom>
          <a:solidFill>
            <a:schemeClr val="bg2"/>
          </a:solidFill>
          <a:ln w="12700">
            <a:solidFill>
              <a:schemeClr val="bg2"/>
            </a:solidFill>
            <a:prstDash val="solid"/>
          </a:ln>
        </p:spPr>
      </p:sp>
      <p:sp>
        <p:nvSpPr>
          <p:cNvPr id="26" name="Step caption 5"/>
          <p:cNvSpPr txBox="1"/>
          <p:nvPr/>
        </p:nvSpPr>
        <p:spPr>
          <a:xfrm>
            <a:off x="6409944" y="351129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5  After heating</a:t>
            </a:r>
            <a:endParaRPr lang="en-US" sz="1000" dirty="0"/>
          </a:p>
        </p:txBody>
      </p:sp>
      <p:pic>
        <p:nvPicPr>
          <p:cNvPr id="27" name="Step photo 6" descr="Photograph: Washing the solid product in a labelled centrifuge tube"/>
          <p:cNvPicPr>
            <a:picLocks noChangeAspect="1"/>
          </p:cNvPicPr>
          <p:nvPr/>
        </p:nvPicPr>
        <p:blipFill>
          <a:blip r:embed="rId105"/>
          <a:srcRect l="265" t="0" r="265" b="0"/>
          <a:stretch>
            <a:fillRect/>
          </a:stretch>
        </p:blipFill>
        <p:spPr>
          <a:xfrm>
            <a:off x="448056" y="3794760"/>
            <a:ext cx="1380744" cy="918972"/>
          </a:xfrm>
          <a:prstGeom prst="rect">
            <a:avLst/>
          </a:prstGeom>
        </p:spPr>
      </p:pic>
      <p:sp>
        <p:nvSpPr>
          <p:cNvPr id="28" name="Step frame 6"/>
          <p:cNvSpPr/>
          <p:nvPr/>
        </p:nvSpPr>
        <p:spPr>
          <a:xfrm>
            <a:off x="448056" y="3794760"/>
            <a:ext cx="1380744" cy="918972"/>
          </a:xfrm>
          <a:prstGeom prst="rect">
            <a:avLst/>
          </a:prstGeom>
          <a:noFill/>
          <a:ln w="12700">
            <a:solidFill>
              <a:schemeClr val="accent1"/>
            </a:solidFill>
            <a:prstDash val="solid"/>
          </a:ln>
        </p:spPr>
      </p:sp>
      <p:sp>
        <p:nvSpPr>
          <p:cNvPr id="29" name="Step caption bg 6"/>
          <p:cNvSpPr/>
          <p:nvPr/>
        </p:nvSpPr>
        <p:spPr>
          <a:xfrm>
            <a:off x="448056" y="4745736"/>
            <a:ext cx="1380744" cy="210312"/>
          </a:xfrm>
          <a:prstGeom prst="roundRect">
            <a:avLst>
              <a:gd name="adj" fmla="val 26667"/>
            </a:avLst>
          </a:prstGeom>
          <a:solidFill>
            <a:schemeClr val="bg2"/>
          </a:solidFill>
          <a:ln w="12700">
            <a:solidFill>
              <a:schemeClr val="bg2"/>
            </a:solidFill>
            <a:prstDash val="solid"/>
          </a:ln>
        </p:spPr>
      </p:sp>
      <p:sp>
        <p:nvSpPr>
          <p:cNvPr id="30" name="Step caption 6"/>
          <p:cNvSpPr txBox="1"/>
          <p:nvPr/>
        </p:nvSpPr>
        <p:spPr>
          <a:xfrm>
            <a:off x="521208"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6  Washing</a:t>
            </a:r>
            <a:endParaRPr lang="en-US" sz="1000" dirty="0"/>
          </a:p>
        </p:txBody>
      </p:sp>
      <p:pic>
        <p:nvPicPr>
          <p:cNvPr id="31" name="Step photo 7" descr="Photograph: Separating the solid product by centrifugation"/>
          <p:cNvPicPr>
            <a:picLocks noChangeAspect="1"/>
          </p:cNvPicPr>
          <p:nvPr/>
        </p:nvPicPr>
        <p:blipFill>
          <a:blip r:embed="rId106"/>
          <a:srcRect l="0" t="0" r="0" b="7439"/>
          <a:stretch>
            <a:fillRect/>
          </a:stretch>
        </p:blipFill>
        <p:spPr>
          <a:xfrm>
            <a:off x="1920240" y="3794760"/>
            <a:ext cx="1380744" cy="918972"/>
          </a:xfrm>
          <a:prstGeom prst="rect">
            <a:avLst/>
          </a:prstGeom>
        </p:spPr>
      </p:pic>
      <p:sp>
        <p:nvSpPr>
          <p:cNvPr id="32" name="Step frame 7"/>
          <p:cNvSpPr/>
          <p:nvPr/>
        </p:nvSpPr>
        <p:spPr>
          <a:xfrm>
            <a:off x="1920240" y="3794760"/>
            <a:ext cx="1380744" cy="918972"/>
          </a:xfrm>
          <a:prstGeom prst="rect">
            <a:avLst/>
          </a:prstGeom>
          <a:noFill/>
          <a:ln w="12700">
            <a:solidFill>
              <a:schemeClr val="accent1"/>
            </a:solidFill>
            <a:prstDash val="solid"/>
          </a:ln>
        </p:spPr>
      </p:sp>
      <p:sp>
        <p:nvSpPr>
          <p:cNvPr id="33" name="Step caption bg 7"/>
          <p:cNvSpPr/>
          <p:nvPr/>
        </p:nvSpPr>
        <p:spPr>
          <a:xfrm>
            <a:off x="1920240" y="4745736"/>
            <a:ext cx="1380744" cy="210312"/>
          </a:xfrm>
          <a:prstGeom prst="roundRect">
            <a:avLst>
              <a:gd name="adj" fmla="val 26667"/>
            </a:avLst>
          </a:prstGeom>
          <a:solidFill>
            <a:schemeClr val="bg2"/>
          </a:solidFill>
          <a:ln w="12700">
            <a:solidFill>
              <a:schemeClr val="bg2"/>
            </a:solidFill>
            <a:prstDash val="solid"/>
          </a:ln>
        </p:spPr>
      </p:sp>
      <p:sp>
        <p:nvSpPr>
          <p:cNvPr id="34" name="Step caption 7"/>
          <p:cNvSpPr txBox="1"/>
          <p:nvPr/>
        </p:nvSpPr>
        <p:spPr>
          <a:xfrm>
            <a:off x="1993392"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7  Separation</a:t>
            </a:r>
            <a:endParaRPr lang="en-US" sz="1000" dirty="0"/>
          </a:p>
        </p:txBody>
      </p:sp>
      <p:pic>
        <p:nvPicPr>
          <p:cNvPr id="35" name="Step photo 8" descr="Photograph: Samples drying in glassware on an oven rack"/>
          <p:cNvPicPr>
            <a:picLocks noChangeAspect="1"/>
          </p:cNvPicPr>
          <p:nvPr/>
        </p:nvPicPr>
        <p:blipFill>
          <a:blip r:embed="rId107"/>
          <a:srcRect l="6487" t="0" r="6487" b="0"/>
          <a:stretch>
            <a:fillRect/>
          </a:stretch>
        </p:blipFill>
        <p:spPr>
          <a:xfrm>
            <a:off x="3392424" y="3794760"/>
            <a:ext cx="1380744" cy="918972"/>
          </a:xfrm>
          <a:prstGeom prst="rect">
            <a:avLst/>
          </a:prstGeom>
        </p:spPr>
      </p:pic>
      <p:sp>
        <p:nvSpPr>
          <p:cNvPr id="36" name="Step frame 8"/>
          <p:cNvSpPr/>
          <p:nvPr/>
        </p:nvSpPr>
        <p:spPr>
          <a:xfrm>
            <a:off x="3392424" y="3794760"/>
            <a:ext cx="1380744" cy="918972"/>
          </a:xfrm>
          <a:prstGeom prst="rect">
            <a:avLst/>
          </a:prstGeom>
          <a:noFill/>
          <a:ln w="12700">
            <a:solidFill>
              <a:schemeClr val="accent1"/>
            </a:solidFill>
            <a:prstDash val="solid"/>
          </a:ln>
        </p:spPr>
      </p:sp>
      <p:sp>
        <p:nvSpPr>
          <p:cNvPr id="37" name="Step caption bg 8"/>
          <p:cNvSpPr/>
          <p:nvPr/>
        </p:nvSpPr>
        <p:spPr>
          <a:xfrm>
            <a:off x="3392424" y="4745736"/>
            <a:ext cx="1380744" cy="210312"/>
          </a:xfrm>
          <a:prstGeom prst="roundRect">
            <a:avLst>
              <a:gd name="adj" fmla="val 26667"/>
            </a:avLst>
          </a:prstGeom>
          <a:solidFill>
            <a:schemeClr val="bg2"/>
          </a:solidFill>
          <a:ln w="12700">
            <a:solidFill>
              <a:schemeClr val="bg2"/>
            </a:solidFill>
            <a:prstDash val="solid"/>
          </a:ln>
        </p:spPr>
      </p:sp>
      <p:sp>
        <p:nvSpPr>
          <p:cNvPr id="38" name="Step caption 8"/>
          <p:cNvSpPr txBox="1"/>
          <p:nvPr/>
        </p:nvSpPr>
        <p:spPr>
          <a:xfrm>
            <a:off x="3465576"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8  Drying</a:t>
            </a:r>
            <a:endParaRPr lang="en-US" sz="1000" dirty="0"/>
          </a:p>
        </p:txBody>
      </p:sp>
      <p:pic>
        <p:nvPicPr>
          <p:cNvPr id="39" name="Step photo 9" descr="Photograph: Dried MOF powder in a glass dish"/>
          <p:cNvPicPr>
            <a:picLocks noChangeAspect="1"/>
          </p:cNvPicPr>
          <p:nvPr/>
        </p:nvPicPr>
        <p:blipFill>
          <a:blip r:embed="rId108"/>
          <a:srcRect l="0" t="29384" r="0" b="9384"/>
          <a:stretch>
            <a:fillRect/>
          </a:stretch>
        </p:blipFill>
        <p:spPr>
          <a:xfrm>
            <a:off x="4864608" y="3794760"/>
            <a:ext cx="1380744" cy="918972"/>
          </a:xfrm>
          <a:prstGeom prst="rect">
            <a:avLst/>
          </a:prstGeom>
        </p:spPr>
      </p:pic>
      <p:sp>
        <p:nvSpPr>
          <p:cNvPr id="40" name="Step frame 9"/>
          <p:cNvSpPr/>
          <p:nvPr/>
        </p:nvSpPr>
        <p:spPr>
          <a:xfrm>
            <a:off x="4864608" y="3794760"/>
            <a:ext cx="1380744" cy="918972"/>
          </a:xfrm>
          <a:prstGeom prst="rect">
            <a:avLst/>
          </a:prstGeom>
          <a:noFill/>
          <a:ln w="12700">
            <a:solidFill>
              <a:schemeClr val="accent1"/>
            </a:solidFill>
            <a:prstDash val="solid"/>
          </a:ln>
        </p:spPr>
      </p:sp>
      <p:sp>
        <p:nvSpPr>
          <p:cNvPr id="41" name="Step caption bg 9"/>
          <p:cNvSpPr/>
          <p:nvPr/>
        </p:nvSpPr>
        <p:spPr>
          <a:xfrm>
            <a:off x="4864608" y="4745736"/>
            <a:ext cx="1380744" cy="210312"/>
          </a:xfrm>
          <a:prstGeom prst="roundRect">
            <a:avLst>
              <a:gd name="adj" fmla="val 26667"/>
            </a:avLst>
          </a:prstGeom>
          <a:solidFill>
            <a:schemeClr val="bg2"/>
          </a:solidFill>
          <a:ln w="12700">
            <a:solidFill>
              <a:schemeClr val="bg2"/>
            </a:solidFill>
            <a:prstDash val="solid"/>
          </a:ln>
        </p:spPr>
      </p:sp>
      <p:sp>
        <p:nvSpPr>
          <p:cNvPr id="42" name="Step caption 9"/>
          <p:cNvSpPr txBox="1"/>
          <p:nvPr/>
        </p:nvSpPr>
        <p:spPr>
          <a:xfrm>
            <a:off x="4937760"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9  After drying</a:t>
            </a:r>
            <a:endParaRPr lang="en-US" sz="1000" dirty="0"/>
          </a:p>
        </p:txBody>
      </p:sp>
      <p:pic>
        <p:nvPicPr>
          <p:cNvPr id="43" name="Step photo 10" descr="Photograph: Labelled sample vials after activation"/>
          <p:cNvPicPr>
            <a:picLocks noChangeAspect="1"/>
          </p:cNvPicPr>
          <p:nvPr/>
        </p:nvPicPr>
        <p:blipFill>
          <a:blip r:embed="rId109"/>
          <a:srcRect l="0" t="21620" r="0" b="11620"/>
          <a:stretch>
            <a:fillRect/>
          </a:stretch>
        </p:blipFill>
        <p:spPr>
          <a:xfrm>
            <a:off x="6336792" y="3794760"/>
            <a:ext cx="1380744" cy="918972"/>
          </a:xfrm>
          <a:prstGeom prst="rect">
            <a:avLst/>
          </a:prstGeom>
        </p:spPr>
      </p:pic>
      <p:sp>
        <p:nvSpPr>
          <p:cNvPr id="44" name="Step frame 10"/>
          <p:cNvSpPr/>
          <p:nvPr/>
        </p:nvSpPr>
        <p:spPr>
          <a:xfrm>
            <a:off x="6336792" y="3794760"/>
            <a:ext cx="1380744" cy="918972"/>
          </a:xfrm>
          <a:prstGeom prst="rect">
            <a:avLst/>
          </a:prstGeom>
          <a:noFill/>
          <a:ln w="12700">
            <a:solidFill>
              <a:schemeClr val="accent1"/>
            </a:solidFill>
            <a:prstDash val="solid"/>
          </a:ln>
        </p:spPr>
      </p:sp>
      <p:sp>
        <p:nvSpPr>
          <p:cNvPr id="45" name="Step caption bg 10"/>
          <p:cNvSpPr/>
          <p:nvPr/>
        </p:nvSpPr>
        <p:spPr>
          <a:xfrm>
            <a:off x="6336792" y="4745736"/>
            <a:ext cx="1380744" cy="210312"/>
          </a:xfrm>
          <a:prstGeom prst="roundRect">
            <a:avLst>
              <a:gd name="adj" fmla="val 26667"/>
            </a:avLst>
          </a:prstGeom>
          <a:solidFill>
            <a:schemeClr val="bg2"/>
          </a:solidFill>
          <a:ln w="12700">
            <a:solidFill>
              <a:schemeClr val="bg2"/>
            </a:solidFill>
            <a:prstDash val="solid"/>
          </a:ln>
        </p:spPr>
      </p:sp>
      <p:sp>
        <p:nvSpPr>
          <p:cNvPr id="46" name="Step caption 10"/>
          <p:cNvSpPr txBox="1"/>
          <p:nvPr/>
        </p:nvSpPr>
        <p:spPr>
          <a:xfrm>
            <a:off x="6409944" y="4745736"/>
            <a:ext cx="1234440" cy="210312"/>
          </a:xfrm>
          <a:prstGeom prst="rect">
            <a:avLst/>
          </a:prstGeom>
          <a:noFill/>
          <a:ln/>
        </p:spPr>
        <p:txBody>
          <a:bodyPr wrap="square" lIns="0" tIns="0" rIns="0" bIns="0" rtlCol="0" anchor="ctr"/>
          <a:lstStyle/>
          <a:p>
            <a:pPr marL="0" indent="0" algn="l">
              <a:buNone/>
            </a:pPr>
            <a:r>
              <a:rPr lang="en-US" sz="1000" b="1" dirty="0">
                <a:solidFill>
                  <a:schemeClr val="accent3"/>
                </a:solidFill>
              </a:rPr>
              <a:t>10  After activation</a:t>
            </a:r>
            <a:endParaRPr lang="en-US" sz="1000" dirty="0"/>
          </a:p>
        </p:txBody>
      </p:sp>
      <p:sp>
        <p:nvSpPr>
          <p:cNvPr id="47" name="Matrix card"/>
          <p:cNvSpPr/>
          <p:nvPr/>
        </p:nvSpPr>
        <p:spPr>
          <a:xfrm>
            <a:off x="8037576" y="2560320"/>
            <a:ext cx="3703320" cy="2395728"/>
          </a:xfrm>
          <a:prstGeom prst="roundRect">
            <a:avLst>
              <a:gd name="adj" fmla="val 3239"/>
            </a:avLst>
          </a:prstGeom>
          <a:solidFill>
            <a:schemeClr val="bg2"/>
          </a:solidFill>
          <a:ln w="12700">
            <a:solidFill>
              <a:schemeClr val="bg2"/>
            </a:solidFill>
            <a:prstDash val="solid"/>
          </a:ln>
        </p:spPr>
      </p:sp>
      <p:sp>
        <p:nvSpPr>
          <p:cNvPr id="48" name="Matrix title"/>
          <p:cNvSpPr txBox="1"/>
          <p:nvPr/>
        </p:nvSpPr>
        <p:spPr>
          <a:xfrm>
            <a:off x="8202168" y="2651760"/>
            <a:ext cx="3374136" cy="274320"/>
          </a:xfrm>
          <a:prstGeom prst="rect">
            <a:avLst/>
          </a:prstGeom>
          <a:noFill/>
          <a:ln/>
        </p:spPr>
        <p:txBody>
          <a:bodyPr wrap="square" lIns="0" tIns="0" rIns="0" bIns="0" rtlCol="0" anchor="ctr"/>
          <a:lstStyle/>
          <a:p>
            <a:pPr marL="0" indent="0" algn="l">
              <a:buNone/>
            </a:pPr>
            <a:r>
              <a:rPr lang="en-US" sz="1500" b="1" dirty="0">
                <a:solidFill>
                  <a:schemeClr val="accent3"/>
                </a:solidFill>
              </a:rPr>
              <a:t>All 12 samples synthesized</a:t>
            </a:r>
            <a:endParaRPr lang="en-US" sz="1500" dirty="0"/>
          </a:p>
        </p:txBody>
      </p:sp>
      <p:sp>
        <p:nvSpPr>
          <p:cNvPr id="49" name="Matrix subtitle"/>
          <p:cNvSpPr txBox="1"/>
          <p:nvPr/>
        </p:nvSpPr>
        <p:spPr>
          <a:xfrm>
            <a:off x="8202168" y="2944368"/>
            <a:ext cx="3374136" cy="384048"/>
          </a:xfrm>
          <a:prstGeom prst="rect">
            <a:avLst/>
          </a:prstGeom>
          <a:noFill/>
          <a:ln/>
        </p:spPr>
        <p:txBody>
          <a:bodyPr wrap="square" lIns="0" tIns="0" rIns="0" bIns="0" rtlCol="0" anchor="t"/>
          <a:lstStyle/>
          <a:p>
            <a:pPr marL="0" indent="0" algn="l">
              <a:buNone/>
            </a:pPr>
            <a:r>
              <a:rPr lang="en-US" sz="1200" dirty="0">
                <a:solidFill>
                  <a:schemeClr val="tx2"/>
                </a:solidFill>
              </a:rPr>
              <a:t>Solvothermal route · 6 metal compositions (A–F) × 2 metal-to-linker ratios</a:t>
            </a:r>
            <a:endParaRPr lang="en-US" sz="1200" dirty="0"/>
          </a:p>
        </p:txBody>
      </p:sp>
      <p:sp>
        <p:nvSpPr>
          <p:cNvPr id="50" name="Matrix comp label"/>
          <p:cNvSpPr txBox="1"/>
          <p:nvPr/>
        </p:nvSpPr>
        <p:spPr>
          <a:xfrm>
            <a:off x="8202168" y="3383280"/>
            <a:ext cx="612648" cy="274320"/>
          </a:xfrm>
          <a:prstGeom prst="rect">
            <a:avLst/>
          </a:prstGeom>
          <a:noFill/>
          <a:ln/>
        </p:spPr>
        <p:txBody>
          <a:bodyPr wrap="square" lIns="0" tIns="0" rIns="0" bIns="0" rtlCol="0" anchor="ctr"/>
          <a:lstStyle/>
          <a:p>
            <a:pPr marL="0" indent="0" algn="l">
              <a:buNone/>
            </a:pPr>
            <a:r>
              <a:rPr lang="en-US" sz="1000" b="1" dirty="0">
                <a:solidFill>
                  <a:schemeClr val="accent6"/>
                </a:solidFill>
              </a:rPr>
              <a:t>Metal comp.</a:t>
            </a:r>
            <a:endParaRPr lang="en-US" sz="1000" dirty="0"/>
          </a:p>
        </p:txBody>
      </p:sp>
      <p:sp>
        <p:nvSpPr>
          <p:cNvPr id="51" name="Matrix col A"/>
          <p:cNvSpPr txBox="1"/>
          <p:nvPr/>
        </p:nvSpPr>
        <p:spPr>
          <a:xfrm>
            <a:off x="8769096"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A</a:t>
            </a:r>
            <a:endParaRPr lang="en-US" sz="1200" dirty="0"/>
          </a:p>
        </p:txBody>
      </p:sp>
      <p:sp>
        <p:nvSpPr>
          <p:cNvPr id="52" name="Matrix col B"/>
          <p:cNvSpPr txBox="1"/>
          <p:nvPr/>
        </p:nvSpPr>
        <p:spPr>
          <a:xfrm>
            <a:off x="9244584"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B</a:t>
            </a:r>
            <a:endParaRPr lang="en-US" sz="1200" dirty="0"/>
          </a:p>
        </p:txBody>
      </p:sp>
      <p:sp>
        <p:nvSpPr>
          <p:cNvPr id="53" name="Matrix col C"/>
          <p:cNvSpPr txBox="1"/>
          <p:nvPr/>
        </p:nvSpPr>
        <p:spPr>
          <a:xfrm>
            <a:off x="9720072"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C</a:t>
            </a:r>
            <a:endParaRPr lang="en-US" sz="1200" dirty="0"/>
          </a:p>
        </p:txBody>
      </p:sp>
      <p:sp>
        <p:nvSpPr>
          <p:cNvPr id="54" name="Matrix col D"/>
          <p:cNvSpPr txBox="1"/>
          <p:nvPr/>
        </p:nvSpPr>
        <p:spPr>
          <a:xfrm>
            <a:off x="10186416"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D</a:t>
            </a:r>
            <a:endParaRPr lang="en-US" sz="1200" dirty="0"/>
          </a:p>
        </p:txBody>
      </p:sp>
      <p:sp>
        <p:nvSpPr>
          <p:cNvPr id="55" name="Matrix col E"/>
          <p:cNvSpPr txBox="1"/>
          <p:nvPr/>
        </p:nvSpPr>
        <p:spPr>
          <a:xfrm>
            <a:off x="10661904"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E</a:t>
            </a:r>
            <a:endParaRPr lang="en-US" sz="1200" dirty="0"/>
          </a:p>
        </p:txBody>
      </p:sp>
      <p:sp>
        <p:nvSpPr>
          <p:cNvPr id="56" name="Matrix col F"/>
          <p:cNvSpPr txBox="1"/>
          <p:nvPr/>
        </p:nvSpPr>
        <p:spPr>
          <a:xfrm>
            <a:off x="11137392" y="3383280"/>
            <a:ext cx="438912" cy="274320"/>
          </a:xfrm>
          <a:prstGeom prst="rect">
            <a:avLst/>
          </a:prstGeom>
          <a:noFill/>
          <a:ln/>
        </p:spPr>
        <p:txBody>
          <a:bodyPr wrap="square" lIns="0" tIns="0" rIns="0" bIns="0" rtlCol="0" anchor="ctr"/>
          <a:lstStyle/>
          <a:p>
            <a:pPr marL="0" indent="0" algn="ctr">
              <a:buNone/>
            </a:pPr>
            <a:r>
              <a:rPr lang="en-US" sz="1200" b="1" dirty="0">
                <a:solidFill>
                  <a:schemeClr val="accent3"/>
                </a:solidFill>
              </a:rPr>
              <a:t>F</a:t>
            </a:r>
            <a:endParaRPr lang="en-US" sz="1200" dirty="0"/>
          </a:p>
        </p:txBody>
      </p:sp>
      <p:sp>
        <p:nvSpPr>
          <p:cNvPr id="57" name="Matrix row 1:1 ratio"/>
          <p:cNvSpPr txBox="1"/>
          <p:nvPr/>
        </p:nvSpPr>
        <p:spPr>
          <a:xfrm>
            <a:off x="8202168" y="3675888"/>
            <a:ext cx="612648" cy="274320"/>
          </a:xfrm>
          <a:prstGeom prst="rect">
            <a:avLst/>
          </a:prstGeom>
          <a:noFill/>
          <a:ln/>
        </p:spPr>
        <p:txBody>
          <a:bodyPr wrap="square" lIns="0" tIns="0" rIns="0" bIns="0" rtlCol="0" anchor="ctr"/>
          <a:lstStyle/>
          <a:p>
            <a:pPr marL="0" indent="0" algn="l">
              <a:buNone/>
            </a:pPr>
            <a:r>
              <a:rPr lang="en-US" sz="950" b="1" dirty="0">
                <a:solidFill>
                  <a:schemeClr val="accent6"/>
                </a:solidFill>
              </a:rPr>
              <a:t>1:1 ratio</a:t>
            </a:r>
            <a:endParaRPr lang="en-US" sz="950" dirty="0"/>
          </a:p>
        </p:txBody>
      </p:sp>
      <p:sp>
        <p:nvSpPr>
          <p:cNvPr id="58" name="Sample A1-1"/>
          <p:cNvSpPr/>
          <p:nvPr/>
        </p:nvSpPr>
        <p:spPr>
          <a:xfrm>
            <a:off x="8769096" y="3675888"/>
            <a:ext cx="438912" cy="274320"/>
          </a:xfrm>
          <a:prstGeom prst="roundRect">
            <a:avLst>
              <a:gd name="adj" fmla="val 16667"/>
            </a:avLst>
          </a:prstGeom>
          <a:solidFill>
            <a:schemeClr val="accent3"/>
          </a:solidFill>
          <a:ln w="12700">
            <a:solidFill>
              <a:schemeClr val="accent3"/>
            </a:solidFill>
            <a:prstDash val="solid"/>
          </a:ln>
        </p:spPr>
      </p:sp>
      <p:sp>
        <p:nvSpPr>
          <p:cNvPr id="59" name="Sample label A1-1"/>
          <p:cNvSpPr txBox="1"/>
          <p:nvPr/>
        </p:nvSpPr>
        <p:spPr>
          <a:xfrm>
            <a:off x="8769096"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A1-1</a:t>
            </a:r>
            <a:endParaRPr lang="en-US" sz="1000" dirty="0"/>
          </a:p>
        </p:txBody>
      </p:sp>
      <p:sp>
        <p:nvSpPr>
          <p:cNvPr id="60" name="Sample B1-1"/>
          <p:cNvSpPr/>
          <p:nvPr/>
        </p:nvSpPr>
        <p:spPr>
          <a:xfrm>
            <a:off x="9244584" y="3675888"/>
            <a:ext cx="438912" cy="274320"/>
          </a:xfrm>
          <a:prstGeom prst="roundRect">
            <a:avLst>
              <a:gd name="adj" fmla="val 16667"/>
            </a:avLst>
          </a:prstGeom>
          <a:solidFill>
            <a:schemeClr val="accent3"/>
          </a:solidFill>
          <a:ln w="12700">
            <a:solidFill>
              <a:schemeClr val="accent3"/>
            </a:solidFill>
            <a:prstDash val="solid"/>
          </a:ln>
        </p:spPr>
      </p:sp>
      <p:sp>
        <p:nvSpPr>
          <p:cNvPr id="61" name="Sample label B1-1"/>
          <p:cNvSpPr txBox="1"/>
          <p:nvPr/>
        </p:nvSpPr>
        <p:spPr>
          <a:xfrm>
            <a:off x="9244584"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B1-1</a:t>
            </a:r>
            <a:endParaRPr lang="en-US" sz="1000" dirty="0"/>
          </a:p>
        </p:txBody>
      </p:sp>
      <p:sp>
        <p:nvSpPr>
          <p:cNvPr id="62" name="Sample C1-1"/>
          <p:cNvSpPr/>
          <p:nvPr/>
        </p:nvSpPr>
        <p:spPr>
          <a:xfrm>
            <a:off x="9720072" y="3675888"/>
            <a:ext cx="438912" cy="274320"/>
          </a:xfrm>
          <a:prstGeom prst="roundRect">
            <a:avLst>
              <a:gd name="adj" fmla="val 16667"/>
            </a:avLst>
          </a:prstGeom>
          <a:solidFill>
            <a:schemeClr val="accent3"/>
          </a:solidFill>
          <a:ln w="12700">
            <a:solidFill>
              <a:schemeClr val="accent3"/>
            </a:solidFill>
            <a:prstDash val="solid"/>
          </a:ln>
        </p:spPr>
      </p:sp>
      <p:sp>
        <p:nvSpPr>
          <p:cNvPr id="63" name="Sample label C1-1"/>
          <p:cNvSpPr txBox="1"/>
          <p:nvPr/>
        </p:nvSpPr>
        <p:spPr>
          <a:xfrm>
            <a:off x="9720072"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C1-1</a:t>
            </a:r>
            <a:endParaRPr lang="en-US" sz="1000" dirty="0"/>
          </a:p>
        </p:txBody>
      </p:sp>
      <p:sp>
        <p:nvSpPr>
          <p:cNvPr id="64" name="Sample D1-1"/>
          <p:cNvSpPr/>
          <p:nvPr/>
        </p:nvSpPr>
        <p:spPr>
          <a:xfrm>
            <a:off x="10186416" y="3675888"/>
            <a:ext cx="438912" cy="274320"/>
          </a:xfrm>
          <a:prstGeom prst="roundRect">
            <a:avLst>
              <a:gd name="adj" fmla="val 16667"/>
            </a:avLst>
          </a:prstGeom>
          <a:solidFill>
            <a:schemeClr val="accent3"/>
          </a:solidFill>
          <a:ln w="12700">
            <a:solidFill>
              <a:schemeClr val="accent3"/>
            </a:solidFill>
            <a:prstDash val="solid"/>
          </a:ln>
        </p:spPr>
      </p:sp>
      <p:sp>
        <p:nvSpPr>
          <p:cNvPr id="65" name="Sample label D1-1"/>
          <p:cNvSpPr txBox="1"/>
          <p:nvPr/>
        </p:nvSpPr>
        <p:spPr>
          <a:xfrm>
            <a:off x="10186416"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D1-1</a:t>
            </a:r>
            <a:endParaRPr lang="en-US" sz="1000" dirty="0"/>
          </a:p>
        </p:txBody>
      </p:sp>
      <p:sp>
        <p:nvSpPr>
          <p:cNvPr id="66" name="Sample E1-1"/>
          <p:cNvSpPr/>
          <p:nvPr/>
        </p:nvSpPr>
        <p:spPr>
          <a:xfrm>
            <a:off x="10661904" y="3675888"/>
            <a:ext cx="438912" cy="274320"/>
          </a:xfrm>
          <a:prstGeom prst="roundRect">
            <a:avLst>
              <a:gd name="adj" fmla="val 16667"/>
            </a:avLst>
          </a:prstGeom>
          <a:solidFill>
            <a:schemeClr val="accent3"/>
          </a:solidFill>
          <a:ln w="12700">
            <a:solidFill>
              <a:schemeClr val="accent3"/>
            </a:solidFill>
            <a:prstDash val="solid"/>
          </a:ln>
        </p:spPr>
      </p:sp>
      <p:sp>
        <p:nvSpPr>
          <p:cNvPr id="67" name="Sample label E1-1"/>
          <p:cNvSpPr txBox="1"/>
          <p:nvPr/>
        </p:nvSpPr>
        <p:spPr>
          <a:xfrm>
            <a:off x="10661904"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E1-1</a:t>
            </a:r>
            <a:endParaRPr lang="en-US" sz="1000" dirty="0"/>
          </a:p>
        </p:txBody>
      </p:sp>
      <p:sp>
        <p:nvSpPr>
          <p:cNvPr id="68" name="Sample F1-1"/>
          <p:cNvSpPr/>
          <p:nvPr/>
        </p:nvSpPr>
        <p:spPr>
          <a:xfrm>
            <a:off x="11137392" y="3675888"/>
            <a:ext cx="438912" cy="274320"/>
          </a:xfrm>
          <a:prstGeom prst="roundRect">
            <a:avLst>
              <a:gd name="adj" fmla="val 16667"/>
            </a:avLst>
          </a:prstGeom>
          <a:solidFill>
            <a:schemeClr val="accent3"/>
          </a:solidFill>
          <a:ln w="12700">
            <a:solidFill>
              <a:schemeClr val="accent3"/>
            </a:solidFill>
            <a:prstDash val="solid"/>
          </a:ln>
        </p:spPr>
      </p:sp>
      <p:sp>
        <p:nvSpPr>
          <p:cNvPr id="69" name="Sample label F1-1"/>
          <p:cNvSpPr txBox="1"/>
          <p:nvPr/>
        </p:nvSpPr>
        <p:spPr>
          <a:xfrm>
            <a:off x="11137392" y="367588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F1-1</a:t>
            </a:r>
            <a:endParaRPr lang="en-US" sz="1000" dirty="0"/>
          </a:p>
        </p:txBody>
      </p:sp>
      <p:sp>
        <p:nvSpPr>
          <p:cNvPr id="70" name="Matrix row 2:1 ratio"/>
          <p:cNvSpPr txBox="1"/>
          <p:nvPr/>
        </p:nvSpPr>
        <p:spPr>
          <a:xfrm>
            <a:off x="8202168" y="3995928"/>
            <a:ext cx="612648" cy="274320"/>
          </a:xfrm>
          <a:prstGeom prst="rect">
            <a:avLst/>
          </a:prstGeom>
          <a:noFill/>
          <a:ln/>
        </p:spPr>
        <p:txBody>
          <a:bodyPr wrap="square" lIns="0" tIns="0" rIns="0" bIns="0" rtlCol="0" anchor="ctr"/>
          <a:lstStyle/>
          <a:p>
            <a:pPr marL="0" indent="0" algn="l">
              <a:buNone/>
            </a:pPr>
            <a:r>
              <a:rPr lang="en-US" sz="950" b="1" dirty="0">
                <a:solidFill>
                  <a:schemeClr val="accent6"/>
                </a:solidFill>
              </a:rPr>
              <a:t>2:1 ratio</a:t>
            </a:r>
            <a:endParaRPr lang="en-US" sz="950" dirty="0"/>
          </a:p>
        </p:txBody>
      </p:sp>
      <p:sp>
        <p:nvSpPr>
          <p:cNvPr id="71" name="Sample A2-1"/>
          <p:cNvSpPr/>
          <p:nvPr/>
        </p:nvSpPr>
        <p:spPr>
          <a:xfrm>
            <a:off x="8769096" y="3995928"/>
            <a:ext cx="438912" cy="274320"/>
          </a:xfrm>
          <a:prstGeom prst="roundRect">
            <a:avLst>
              <a:gd name="adj" fmla="val 16667"/>
            </a:avLst>
          </a:prstGeom>
          <a:solidFill>
            <a:schemeClr val="accent3"/>
          </a:solidFill>
          <a:ln w="12700">
            <a:solidFill>
              <a:schemeClr val="accent3"/>
            </a:solidFill>
            <a:prstDash val="solid"/>
          </a:ln>
        </p:spPr>
      </p:sp>
      <p:sp>
        <p:nvSpPr>
          <p:cNvPr id="72" name="Sample label A2-1"/>
          <p:cNvSpPr txBox="1"/>
          <p:nvPr/>
        </p:nvSpPr>
        <p:spPr>
          <a:xfrm>
            <a:off x="8769096"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A2-1</a:t>
            </a:r>
            <a:endParaRPr lang="en-US" sz="1000" dirty="0"/>
          </a:p>
        </p:txBody>
      </p:sp>
      <p:sp>
        <p:nvSpPr>
          <p:cNvPr id="73" name="Sample B2-1"/>
          <p:cNvSpPr/>
          <p:nvPr/>
        </p:nvSpPr>
        <p:spPr>
          <a:xfrm>
            <a:off x="9244584" y="3995928"/>
            <a:ext cx="438912" cy="274320"/>
          </a:xfrm>
          <a:prstGeom prst="roundRect">
            <a:avLst>
              <a:gd name="adj" fmla="val 16667"/>
            </a:avLst>
          </a:prstGeom>
          <a:solidFill>
            <a:schemeClr val="accent3"/>
          </a:solidFill>
          <a:ln w="12700">
            <a:solidFill>
              <a:schemeClr val="accent3"/>
            </a:solidFill>
            <a:prstDash val="solid"/>
          </a:ln>
        </p:spPr>
      </p:sp>
      <p:sp>
        <p:nvSpPr>
          <p:cNvPr id="74" name="Sample label B2-1"/>
          <p:cNvSpPr txBox="1"/>
          <p:nvPr/>
        </p:nvSpPr>
        <p:spPr>
          <a:xfrm>
            <a:off x="9244584"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B2-1</a:t>
            </a:r>
            <a:endParaRPr lang="en-US" sz="1000" dirty="0"/>
          </a:p>
        </p:txBody>
      </p:sp>
      <p:sp>
        <p:nvSpPr>
          <p:cNvPr id="75" name="Sample C2-1"/>
          <p:cNvSpPr/>
          <p:nvPr/>
        </p:nvSpPr>
        <p:spPr>
          <a:xfrm>
            <a:off x="9720072" y="3995928"/>
            <a:ext cx="438912" cy="274320"/>
          </a:xfrm>
          <a:prstGeom prst="roundRect">
            <a:avLst>
              <a:gd name="adj" fmla="val 16667"/>
            </a:avLst>
          </a:prstGeom>
          <a:solidFill>
            <a:schemeClr val="accent3"/>
          </a:solidFill>
          <a:ln w="12700">
            <a:solidFill>
              <a:schemeClr val="accent3"/>
            </a:solidFill>
            <a:prstDash val="solid"/>
          </a:ln>
        </p:spPr>
      </p:sp>
      <p:sp>
        <p:nvSpPr>
          <p:cNvPr id="76" name="Sample label C2-1"/>
          <p:cNvSpPr txBox="1"/>
          <p:nvPr/>
        </p:nvSpPr>
        <p:spPr>
          <a:xfrm>
            <a:off x="9720072"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C2-1</a:t>
            </a:r>
            <a:endParaRPr lang="en-US" sz="1000" dirty="0"/>
          </a:p>
        </p:txBody>
      </p:sp>
      <p:sp>
        <p:nvSpPr>
          <p:cNvPr id="77" name="Sample D2-1"/>
          <p:cNvSpPr/>
          <p:nvPr/>
        </p:nvSpPr>
        <p:spPr>
          <a:xfrm>
            <a:off x="10186416" y="3995928"/>
            <a:ext cx="438912" cy="274320"/>
          </a:xfrm>
          <a:prstGeom prst="roundRect">
            <a:avLst>
              <a:gd name="adj" fmla="val 16667"/>
            </a:avLst>
          </a:prstGeom>
          <a:solidFill>
            <a:schemeClr val="accent3"/>
          </a:solidFill>
          <a:ln w="12700">
            <a:solidFill>
              <a:schemeClr val="accent3"/>
            </a:solidFill>
            <a:prstDash val="solid"/>
          </a:ln>
        </p:spPr>
      </p:sp>
      <p:sp>
        <p:nvSpPr>
          <p:cNvPr id="78" name="Sample label D2-1"/>
          <p:cNvSpPr txBox="1"/>
          <p:nvPr/>
        </p:nvSpPr>
        <p:spPr>
          <a:xfrm>
            <a:off x="10186416"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D2-1</a:t>
            </a:r>
            <a:endParaRPr lang="en-US" sz="1000" dirty="0"/>
          </a:p>
        </p:txBody>
      </p:sp>
      <p:sp>
        <p:nvSpPr>
          <p:cNvPr id="79" name="Sample E2-1"/>
          <p:cNvSpPr/>
          <p:nvPr/>
        </p:nvSpPr>
        <p:spPr>
          <a:xfrm>
            <a:off x="10661904" y="3995928"/>
            <a:ext cx="438912" cy="274320"/>
          </a:xfrm>
          <a:prstGeom prst="roundRect">
            <a:avLst>
              <a:gd name="adj" fmla="val 16667"/>
            </a:avLst>
          </a:prstGeom>
          <a:solidFill>
            <a:schemeClr val="accent3"/>
          </a:solidFill>
          <a:ln w="12700">
            <a:solidFill>
              <a:schemeClr val="accent3"/>
            </a:solidFill>
            <a:prstDash val="solid"/>
          </a:ln>
        </p:spPr>
      </p:sp>
      <p:sp>
        <p:nvSpPr>
          <p:cNvPr id="80" name="Sample label E2-1"/>
          <p:cNvSpPr txBox="1"/>
          <p:nvPr/>
        </p:nvSpPr>
        <p:spPr>
          <a:xfrm>
            <a:off x="10661904"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E2-1</a:t>
            </a:r>
            <a:endParaRPr lang="en-US" sz="1000" dirty="0"/>
          </a:p>
        </p:txBody>
      </p:sp>
      <p:sp>
        <p:nvSpPr>
          <p:cNvPr id="81" name="Sample F2-1"/>
          <p:cNvSpPr/>
          <p:nvPr/>
        </p:nvSpPr>
        <p:spPr>
          <a:xfrm>
            <a:off x="11137392" y="3995928"/>
            <a:ext cx="438912" cy="274320"/>
          </a:xfrm>
          <a:prstGeom prst="roundRect">
            <a:avLst>
              <a:gd name="adj" fmla="val 16667"/>
            </a:avLst>
          </a:prstGeom>
          <a:solidFill>
            <a:schemeClr val="accent3"/>
          </a:solidFill>
          <a:ln w="12700">
            <a:solidFill>
              <a:schemeClr val="accent3"/>
            </a:solidFill>
            <a:prstDash val="solid"/>
          </a:ln>
        </p:spPr>
      </p:sp>
      <p:sp>
        <p:nvSpPr>
          <p:cNvPr id="82" name="Sample label F2-1"/>
          <p:cNvSpPr txBox="1"/>
          <p:nvPr/>
        </p:nvSpPr>
        <p:spPr>
          <a:xfrm>
            <a:off x="11137392" y="3995928"/>
            <a:ext cx="438912" cy="274320"/>
          </a:xfrm>
          <a:prstGeom prst="rect">
            <a:avLst/>
          </a:prstGeom>
          <a:noFill/>
          <a:ln/>
        </p:spPr>
        <p:txBody>
          <a:bodyPr wrap="square" lIns="0" tIns="0" rIns="0" bIns="0" rtlCol="0" anchor="ctr"/>
          <a:lstStyle/>
          <a:p>
            <a:pPr marL="0" indent="0" algn="ctr">
              <a:buNone/>
            </a:pPr>
            <a:r>
              <a:rPr lang="en-US" sz="1000" b="1" dirty="0">
                <a:solidFill>
                  <a:srgbClr val="FFFFFF"/>
                </a:solidFill>
              </a:rPr>
              <a:t>F2-1</a:t>
            </a:r>
            <a:endParaRPr lang="en-US" sz="1000" dirty="0"/>
          </a:p>
        </p:txBody>
      </p:sp>
      <p:sp>
        <p:nvSpPr>
          <p:cNvPr id="83" name="Matrix outcome"/>
          <p:cNvSpPr txBox="1"/>
          <p:nvPr/>
        </p:nvSpPr>
        <p:spPr>
          <a:xfrm>
            <a:off x="8202168" y="4370832"/>
            <a:ext cx="3374136" cy="512064"/>
          </a:xfrm>
          <a:prstGeom prst="rect">
            <a:avLst/>
          </a:prstGeom>
          <a:noFill/>
          <a:ln/>
        </p:spPr>
        <p:txBody>
          <a:bodyPr wrap="square" lIns="0" tIns="0" rIns="0" bIns="0" rtlCol="0" anchor="t"/>
          <a:lstStyle/>
          <a:p>
            <a:pPr marL="0" indent="0" algn="l">
              <a:spcAft>
                <a:spcPts val="200"/>
              </a:spcAft>
              <a:buNone/>
            </a:pPr>
            <a:r>
              <a:rPr lang="en-US" sz="1150" b="1" dirty="0">
                <a:solidFill>
                  <a:schemeClr val="accent3"/>
                </a:solidFill>
              </a:rPr>
              <a:t xml:space="preserve">Result: </a:t>
            </a:r>
            <a:r>
              <a:rPr lang="en-US" sz="1150" dirty="0">
                <a:solidFill>
                  <a:schemeClr val="tx2"/>
                </a:solidFill>
              </a:rPr>
              <a:t>white crystalline solids in all 12</a:t>
            </a:r>
            <a:endParaRPr lang="en-US" sz="1150" dirty="0"/>
          </a:p>
          <a:p>
            <a:pPr marL="0" indent="0" algn="l">
              <a:buNone/>
            </a:pPr>
            <a:r>
              <a:rPr lang="en-US" sz="1150" b="1" dirty="0">
                <a:solidFill>
                  <a:schemeClr val="accent3"/>
                </a:solidFill>
              </a:rPr>
              <a:t>→ all 12 compared by XRD and FTIR (slides 4–5)</a:t>
            </a:r>
            <a:endParaRPr lang="en-US" sz="1150" dirty="0"/>
          </a:p>
        </p:txBody>
      </p:sp>
      <p:sp>
        <p:nvSpPr>
          <p:cNvPr id="84" name="Step 1"/>
          <p:cNvSpPr/>
          <p:nvPr/>
        </p:nvSpPr>
        <p:spPr>
          <a:xfrm>
            <a:off x="448056" y="5303520"/>
            <a:ext cx="1790700" cy="731520"/>
          </a:xfrm>
          <a:prstGeom prst="roundRect">
            <a:avLst>
              <a:gd name="adj" fmla="val 8000"/>
            </a:avLst>
          </a:prstGeom>
          <a:solidFill>
            <a:schemeClr val="bg2"/>
          </a:solidFill>
          <a:ln w="15875">
            <a:solidFill>
              <a:schemeClr val="accent3"/>
            </a:solidFill>
            <a:prstDash val="solid"/>
          </a:ln>
        </p:spPr>
      </p:sp>
      <p:sp>
        <p:nvSpPr>
          <p:cNvPr id="85" name="Step text 1"/>
          <p:cNvSpPr txBox="1"/>
          <p:nvPr/>
        </p:nvSpPr>
        <p:spPr>
          <a:xfrm>
            <a:off x="557784" y="5358384"/>
            <a:ext cx="1589532" cy="365760"/>
          </a:xfrm>
          <a:prstGeom prst="rect">
            <a:avLst/>
          </a:prstGeom>
          <a:noFill/>
          <a:ln/>
        </p:spPr>
        <p:txBody>
          <a:bodyPr wrap="square" lIns="0" tIns="0" rIns="0" bIns="0" rtlCol="0" anchor="t"/>
          <a:lstStyle/>
          <a:p>
            <a:pPr marL="0" indent="0" algn="l">
              <a:buNone/>
            </a:pPr>
            <a:r>
              <a:rPr lang="en-US" sz="1200" b="1" dirty="0">
                <a:solidFill>
                  <a:schemeClr val="accent3"/>
                </a:solidFill>
              </a:rPr>
              <a:t>1 · Synthesis of 12 samples</a:t>
            </a:r>
            <a:endParaRPr lang="en-US" sz="1200" dirty="0"/>
          </a:p>
        </p:txBody>
      </p:sp>
      <p:sp>
        <p:nvSpPr>
          <p:cNvPr id="86" name="Status step 1"/>
          <p:cNvSpPr/>
          <p:nvPr/>
        </p:nvSpPr>
        <p:spPr>
          <a:xfrm>
            <a:off x="557784" y="5751576"/>
            <a:ext cx="868680" cy="210312"/>
          </a:xfrm>
          <a:prstGeom prst="roundRect">
            <a:avLst>
              <a:gd name="adj" fmla="val 50000"/>
            </a:avLst>
          </a:prstGeom>
          <a:solidFill>
            <a:schemeClr val="accent3"/>
          </a:solidFill>
          <a:ln w="12700">
            <a:solidFill>
              <a:schemeClr val="accent3"/>
            </a:solidFill>
            <a:prstDash val="solid"/>
          </a:ln>
        </p:spPr>
      </p:sp>
      <p:sp>
        <p:nvSpPr>
          <p:cNvPr id="87" name="Status step 1 label"/>
          <p:cNvSpPr txBox="1"/>
          <p:nvPr/>
        </p:nvSpPr>
        <p:spPr>
          <a:xfrm>
            <a:off x="557784" y="5751576"/>
            <a:ext cx="868680" cy="210312"/>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88" name="Step 2"/>
          <p:cNvSpPr/>
          <p:nvPr/>
        </p:nvSpPr>
        <p:spPr>
          <a:xfrm>
            <a:off x="2348484" y="5303520"/>
            <a:ext cx="1790700" cy="731520"/>
          </a:xfrm>
          <a:prstGeom prst="roundRect">
            <a:avLst>
              <a:gd name="adj" fmla="val 8000"/>
            </a:avLst>
          </a:prstGeom>
          <a:solidFill>
            <a:schemeClr val="bg2"/>
          </a:solidFill>
          <a:ln w="15875">
            <a:solidFill>
              <a:schemeClr val="accent3"/>
            </a:solidFill>
            <a:prstDash val="solid"/>
          </a:ln>
        </p:spPr>
      </p:sp>
      <p:sp>
        <p:nvSpPr>
          <p:cNvPr id="89" name="Step text 2"/>
          <p:cNvSpPr txBox="1"/>
          <p:nvPr/>
        </p:nvSpPr>
        <p:spPr>
          <a:xfrm>
            <a:off x="2458212" y="5358384"/>
            <a:ext cx="1589532" cy="365760"/>
          </a:xfrm>
          <a:prstGeom prst="rect">
            <a:avLst/>
          </a:prstGeom>
          <a:noFill/>
          <a:ln/>
        </p:spPr>
        <p:txBody>
          <a:bodyPr wrap="square" lIns="0" tIns="0" rIns="0" bIns="0" rtlCol="0" anchor="t"/>
          <a:lstStyle/>
          <a:p>
            <a:pPr marL="0" indent="0" algn="l">
              <a:buNone/>
            </a:pPr>
            <a:r>
              <a:rPr lang="en-US" sz="1200" b="1" dirty="0">
                <a:solidFill>
                  <a:schemeClr val="accent3"/>
                </a:solidFill>
              </a:rPr>
              <a:t>2 · XRD and FTIR of all 12</a:t>
            </a:r>
            <a:endParaRPr lang="en-US" sz="1200" dirty="0"/>
          </a:p>
        </p:txBody>
      </p:sp>
      <p:sp>
        <p:nvSpPr>
          <p:cNvPr id="90" name="Status step 2"/>
          <p:cNvSpPr/>
          <p:nvPr/>
        </p:nvSpPr>
        <p:spPr>
          <a:xfrm>
            <a:off x="2458212" y="5751576"/>
            <a:ext cx="868680" cy="210312"/>
          </a:xfrm>
          <a:prstGeom prst="roundRect">
            <a:avLst>
              <a:gd name="adj" fmla="val 50000"/>
            </a:avLst>
          </a:prstGeom>
          <a:solidFill>
            <a:schemeClr val="accent3"/>
          </a:solidFill>
          <a:ln w="12700">
            <a:solidFill>
              <a:schemeClr val="accent3"/>
            </a:solidFill>
            <a:prstDash val="solid"/>
          </a:ln>
        </p:spPr>
      </p:sp>
      <p:sp>
        <p:nvSpPr>
          <p:cNvPr id="91" name="Status step 2 label"/>
          <p:cNvSpPr txBox="1"/>
          <p:nvPr/>
        </p:nvSpPr>
        <p:spPr>
          <a:xfrm>
            <a:off x="2458212" y="5751576"/>
            <a:ext cx="868680" cy="210312"/>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92" name="Step 3"/>
          <p:cNvSpPr/>
          <p:nvPr/>
        </p:nvSpPr>
        <p:spPr>
          <a:xfrm>
            <a:off x="4248912" y="5303520"/>
            <a:ext cx="1790700" cy="731520"/>
          </a:xfrm>
          <a:prstGeom prst="roundRect">
            <a:avLst>
              <a:gd name="adj" fmla="val 8000"/>
            </a:avLst>
          </a:prstGeom>
          <a:solidFill>
            <a:schemeClr val="bg2"/>
          </a:solidFill>
          <a:ln w="15875">
            <a:solidFill>
              <a:schemeClr val="accent3"/>
            </a:solidFill>
            <a:prstDash val="solid"/>
          </a:ln>
        </p:spPr>
      </p:sp>
      <p:sp>
        <p:nvSpPr>
          <p:cNvPr id="93" name="Step text 3"/>
          <p:cNvSpPr txBox="1"/>
          <p:nvPr/>
        </p:nvSpPr>
        <p:spPr>
          <a:xfrm>
            <a:off x="4358640" y="5358384"/>
            <a:ext cx="1589532" cy="365760"/>
          </a:xfrm>
          <a:prstGeom prst="rect">
            <a:avLst/>
          </a:prstGeom>
          <a:noFill/>
          <a:ln/>
        </p:spPr>
        <p:txBody>
          <a:bodyPr wrap="square" lIns="0" tIns="0" rIns="0" bIns="0" rtlCol="0" anchor="t"/>
          <a:lstStyle/>
          <a:p>
            <a:pPr marL="0" indent="0" algn="l">
              <a:buNone/>
            </a:pPr>
            <a:r>
              <a:rPr lang="en-US" sz="1200" b="1" dirty="0">
                <a:solidFill>
                  <a:schemeClr val="accent3"/>
                </a:solidFill>
              </a:rPr>
              <a:t>3 · Evidence-based sample selection</a:t>
            </a:r>
            <a:endParaRPr lang="en-US" sz="1200" dirty="0"/>
          </a:p>
        </p:txBody>
      </p:sp>
      <p:sp>
        <p:nvSpPr>
          <p:cNvPr id="94" name="Status step 3"/>
          <p:cNvSpPr/>
          <p:nvPr/>
        </p:nvSpPr>
        <p:spPr>
          <a:xfrm>
            <a:off x="4358640" y="5751576"/>
            <a:ext cx="868680" cy="210312"/>
          </a:xfrm>
          <a:prstGeom prst="roundRect">
            <a:avLst>
              <a:gd name="adj" fmla="val 50000"/>
            </a:avLst>
          </a:prstGeom>
          <a:solidFill>
            <a:schemeClr val="accent3"/>
          </a:solidFill>
          <a:ln w="12700">
            <a:solidFill>
              <a:schemeClr val="accent3"/>
            </a:solidFill>
            <a:prstDash val="solid"/>
          </a:ln>
        </p:spPr>
      </p:sp>
      <p:sp>
        <p:nvSpPr>
          <p:cNvPr id="95" name="Status step 3 label"/>
          <p:cNvSpPr txBox="1"/>
          <p:nvPr/>
        </p:nvSpPr>
        <p:spPr>
          <a:xfrm>
            <a:off x="4358640" y="5751576"/>
            <a:ext cx="868680" cy="210312"/>
          </a:xfrm>
          <a:prstGeom prst="rect">
            <a:avLst/>
          </a:prstGeom>
          <a:noFill/>
          <a:ln/>
        </p:spPr>
        <p:txBody>
          <a:bodyPr wrap="square" lIns="0" tIns="0" rIns="0" bIns="0" rtlCol="0" anchor="ctr"/>
          <a:lstStyle/>
          <a:p>
            <a:pPr marL="0" indent="0" algn="ctr">
              <a:buNone/>
            </a:pPr>
            <a:r>
              <a:rPr lang="en-US" sz="1050" b="1" dirty="0">
                <a:solidFill>
                  <a:srgbClr val="FFFFFF"/>
                </a:solidFill>
              </a:rPr>
              <a:t>Completed</a:t>
            </a:r>
            <a:endParaRPr lang="en-US" sz="1050" dirty="0"/>
          </a:p>
        </p:txBody>
      </p:sp>
      <p:sp>
        <p:nvSpPr>
          <p:cNvPr id="96" name="Step 4"/>
          <p:cNvSpPr/>
          <p:nvPr/>
        </p:nvSpPr>
        <p:spPr>
          <a:xfrm>
            <a:off x="6149340" y="5303520"/>
            <a:ext cx="1790700" cy="731520"/>
          </a:xfrm>
          <a:prstGeom prst="roundRect">
            <a:avLst>
              <a:gd name="adj" fmla="val 8000"/>
            </a:avLst>
          </a:prstGeom>
          <a:solidFill>
            <a:srgbClr val="FFFFFF"/>
          </a:solidFill>
          <a:ln w="15875">
            <a:solidFill>
              <a:schemeClr val="accent1"/>
            </a:solidFill>
            <a:prstDash val="dash"/>
          </a:ln>
        </p:spPr>
      </p:sp>
      <p:sp>
        <p:nvSpPr>
          <p:cNvPr id="97" name="Step text 4"/>
          <p:cNvSpPr txBox="1"/>
          <p:nvPr/>
        </p:nvSpPr>
        <p:spPr>
          <a:xfrm>
            <a:off x="6259068"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4 · CO₂ adsorption evaluation</a:t>
            </a:r>
            <a:endParaRPr lang="en-US" sz="1200" dirty="0"/>
          </a:p>
        </p:txBody>
      </p:sp>
      <p:sp>
        <p:nvSpPr>
          <p:cNvPr id="98" name="Status step 4"/>
          <p:cNvSpPr/>
          <p:nvPr/>
        </p:nvSpPr>
        <p:spPr>
          <a:xfrm>
            <a:off x="6259068" y="5751576"/>
            <a:ext cx="731520" cy="210312"/>
          </a:xfrm>
          <a:prstGeom prst="roundRect">
            <a:avLst>
              <a:gd name="adj" fmla="val 50000"/>
            </a:avLst>
          </a:prstGeom>
          <a:solidFill>
            <a:srgbClr val="FFFFFF"/>
          </a:solidFill>
          <a:ln w="12700">
            <a:solidFill>
              <a:schemeClr val="accent6"/>
            </a:solidFill>
            <a:prstDash val="solid"/>
          </a:ln>
        </p:spPr>
      </p:sp>
      <p:sp>
        <p:nvSpPr>
          <p:cNvPr id="99" name="Status step 4 label"/>
          <p:cNvSpPr txBox="1"/>
          <p:nvPr/>
        </p:nvSpPr>
        <p:spPr>
          <a:xfrm>
            <a:off x="6259068"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0" name="Step 5"/>
          <p:cNvSpPr/>
          <p:nvPr/>
        </p:nvSpPr>
        <p:spPr>
          <a:xfrm>
            <a:off x="8049768" y="5303520"/>
            <a:ext cx="1790700" cy="731520"/>
          </a:xfrm>
          <a:prstGeom prst="roundRect">
            <a:avLst>
              <a:gd name="adj" fmla="val 8000"/>
            </a:avLst>
          </a:prstGeom>
          <a:solidFill>
            <a:srgbClr val="FFFFFF"/>
          </a:solidFill>
          <a:ln w="15875">
            <a:solidFill>
              <a:schemeClr val="accent1"/>
            </a:solidFill>
            <a:prstDash val="dash"/>
          </a:ln>
        </p:spPr>
      </p:sp>
      <p:sp>
        <p:nvSpPr>
          <p:cNvPr id="101" name="Step text 5"/>
          <p:cNvSpPr txBox="1"/>
          <p:nvPr/>
        </p:nvSpPr>
        <p:spPr>
          <a:xfrm>
            <a:off x="8159496"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5 · Dry vs humid comparison</a:t>
            </a:r>
            <a:endParaRPr lang="en-US" sz="1200" dirty="0"/>
          </a:p>
        </p:txBody>
      </p:sp>
      <p:sp>
        <p:nvSpPr>
          <p:cNvPr id="102" name="Status step 5"/>
          <p:cNvSpPr/>
          <p:nvPr/>
        </p:nvSpPr>
        <p:spPr>
          <a:xfrm>
            <a:off x="8159496" y="5751576"/>
            <a:ext cx="731520" cy="210312"/>
          </a:xfrm>
          <a:prstGeom prst="roundRect">
            <a:avLst>
              <a:gd name="adj" fmla="val 50000"/>
            </a:avLst>
          </a:prstGeom>
          <a:solidFill>
            <a:srgbClr val="FFFFFF"/>
          </a:solidFill>
          <a:ln w="12700">
            <a:solidFill>
              <a:schemeClr val="accent6"/>
            </a:solidFill>
            <a:prstDash val="solid"/>
          </a:ln>
        </p:spPr>
      </p:sp>
      <p:sp>
        <p:nvSpPr>
          <p:cNvPr id="103" name="Status step 5 label"/>
          <p:cNvSpPr txBox="1"/>
          <p:nvPr/>
        </p:nvSpPr>
        <p:spPr>
          <a:xfrm>
            <a:off x="8159496"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4" name="Step 6"/>
          <p:cNvSpPr/>
          <p:nvPr/>
        </p:nvSpPr>
        <p:spPr>
          <a:xfrm>
            <a:off x="9950196" y="5303520"/>
            <a:ext cx="1790700" cy="731520"/>
          </a:xfrm>
          <a:prstGeom prst="roundRect">
            <a:avLst>
              <a:gd name="adj" fmla="val 8000"/>
            </a:avLst>
          </a:prstGeom>
          <a:solidFill>
            <a:srgbClr val="FFFFFF"/>
          </a:solidFill>
          <a:ln w="15875">
            <a:solidFill>
              <a:schemeClr val="accent1"/>
            </a:solidFill>
            <a:prstDash val="dash"/>
          </a:ln>
        </p:spPr>
      </p:sp>
      <p:sp>
        <p:nvSpPr>
          <p:cNvPr id="105" name="Step text 6"/>
          <p:cNvSpPr txBox="1"/>
          <p:nvPr/>
        </p:nvSpPr>
        <p:spPr>
          <a:xfrm>
            <a:off x="10059924" y="5358384"/>
            <a:ext cx="1589532" cy="365760"/>
          </a:xfrm>
          <a:prstGeom prst="rect">
            <a:avLst/>
          </a:prstGeom>
          <a:noFill/>
          <a:ln/>
        </p:spPr>
        <p:txBody>
          <a:bodyPr wrap="square" lIns="0" tIns="0" rIns="0" bIns="0" rtlCol="0" anchor="t"/>
          <a:lstStyle/>
          <a:p>
            <a:pPr marL="0" indent="0" algn="l">
              <a:buNone/>
            </a:pPr>
            <a:r>
              <a:rPr lang="en-US" sz="1200" b="1" dirty="0">
                <a:solidFill>
                  <a:schemeClr val="accent6"/>
                </a:solidFill>
              </a:rPr>
              <a:t>6 · Regeneration and cycling</a:t>
            </a:r>
            <a:endParaRPr lang="en-US" sz="1200" dirty="0"/>
          </a:p>
        </p:txBody>
      </p:sp>
      <p:sp>
        <p:nvSpPr>
          <p:cNvPr id="106" name="Status step 6"/>
          <p:cNvSpPr/>
          <p:nvPr/>
        </p:nvSpPr>
        <p:spPr>
          <a:xfrm>
            <a:off x="10059924" y="5751576"/>
            <a:ext cx="731520" cy="210312"/>
          </a:xfrm>
          <a:prstGeom prst="roundRect">
            <a:avLst>
              <a:gd name="adj" fmla="val 50000"/>
            </a:avLst>
          </a:prstGeom>
          <a:solidFill>
            <a:srgbClr val="FFFFFF"/>
          </a:solidFill>
          <a:ln w="12700">
            <a:solidFill>
              <a:schemeClr val="accent6"/>
            </a:solidFill>
            <a:prstDash val="solid"/>
          </a:ln>
        </p:spPr>
      </p:sp>
      <p:sp>
        <p:nvSpPr>
          <p:cNvPr id="107" name="Status step 6 label"/>
          <p:cNvSpPr txBox="1"/>
          <p:nvPr/>
        </p:nvSpPr>
        <p:spPr>
          <a:xfrm>
            <a:off x="10059924" y="5751576"/>
            <a:ext cx="731520" cy="210312"/>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Comparative XRD Analysis of All 12 Samples</a:t>
            </a:r>
            <a:endParaRPr lang="en-US" sz="2600" dirty="0"/>
          </a:p>
        </p:txBody>
      </p:sp>
      <p:pic>
        <p:nvPicPr>
          <p:cNvPr id="4" name="XRD original figure (12 samples)" descr="Original XRD patterns of all 12 synthesized samples (A2-1 to F2-1, A1-1 to F1-1), unmodified; peak positions labelled in 2-theta degrees."/>
          <p:cNvPicPr>
            <a:picLocks noChangeAspect="1"/>
          </p:cNvPicPr>
          <p:nvPr/>
        </p:nvPicPr>
        <p:blipFill>
          <a:blip r:embed="rId100"/>
          <a:srcRect/>
          <a:stretch>
            <a:fillRect/>
          </a:stretch>
        </p:blipFill>
        <p:spPr>
          <a:xfrm>
            <a:off x="448056" y="2286000"/>
            <a:ext cx="5156492" cy="3273552"/>
          </a:xfrm>
          <a:prstGeom prst="rect">
            <a:avLst/>
          </a:prstGeom>
        </p:spPr>
      </p:pic>
      <p:sp>
        <p:nvSpPr>
          <p:cNvPr id="5" name="Shortlist frame B2-1"/>
          <p:cNvSpPr/>
          <p:nvPr/>
        </p:nvSpPr>
        <p:spPr>
          <a:xfrm>
            <a:off x="2188480" y="2290319"/>
            <a:ext cx="1667007" cy="790317"/>
          </a:xfrm>
          <a:prstGeom prst="rect">
            <a:avLst/>
          </a:prstGeom>
          <a:noFill/>
          <a:ln w="22225">
            <a:solidFill>
              <a:schemeClr val="accent2"/>
            </a:solidFill>
            <a:prstDash val="solid"/>
          </a:ln>
        </p:spPr>
      </p:sp>
      <p:sp>
        <p:nvSpPr>
          <p:cNvPr id="6" name="Shortlist frame C2-1"/>
          <p:cNvSpPr/>
          <p:nvPr/>
        </p:nvSpPr>
        <p:spPr>
          <a:xfrm>
            <a:off x="3924585" y="2290319"/>
            <a:ext cx="1671325" cy="790317"/>
          </a:xfrm>
          <a:prstGeom prst="rect">
            <a:avLst/>
          </a:prstGeom>
          <a:noFill/>
          <a:ln w="22225">
            <a:solidFill>
              <a:schemeClr val="accent2"/>
            </a:solidFill>
            <a:prstDash val="solid"/>
          </a:ln>
        </p:spPr>
      </p:sp>
      <p:sp>
        <p:nvSpPr>
          <p:cNvPr id="7" name="Shortlist frame E2-1"/>
          <p:cNvSpPr/>
          <p:nvPr/>
        </p:nvSpPr>
        <p:spPr>
          <a:xfrm>
            <a:off x="2188480" y="3128141"/>
            <a:ext cx="1667007" cy="790317"/>
          </a:xfrm>
          <a:prstGeom prst="rect">
            <a:avLst/>
          </a:prstGeom>
          <a:noFill/>
          <a:ln w="22225">
            <a:solidFill>
              <a:schemeClr val="accent2"/>
            </a:solidFill>
            <a:prstDash val="solid"/>
          </a:ln>
        </p:spPr>
      </p:sp>
      <p:sp>
        <p:nvSpPr>
          <p:cNvPr id="8" name="Shortlist frame F2-1"/>
          <p:cNvSpPr/>
          <p:nvPr/>
        </p:nvSpPr>
        <p:spPr>
          <a:xfrm>
            <a:off x="3924585" y="3128141"/>
            <a:ext cx="1671325" cy="790317"/>
          </a:xfrm>
          <a:prstGeom prst="rect">
            <a:avLst/>
          </a:prstGeom>
          <a:noFill/>
          <a:ln w="22225">
            <a:solidFill>
              <a:schemeClr val="accent2"/>
            </a:solidFill>
            <a:prstDash val="solid"/>
          </a:ln>
        </p:spPr>
      </p:sp>
      <p:sp>
        <p:nvSpPr>
          <p:cNvPr id="9" name="Shortlist frame D1-1"/>
          <p:cNvSpPr/>
          <p:nvPr/>
        </p:nvSpPr>
        <p:spPr>
          <a:xfrm>
            <a:off x="452375" y="4777873"/>
            <a:ext cx="1667007" cy="781679"/>
          </a:xfrm>
          <a:prstGeom prst="rect">
            <a:avLst/>
          </a:prstGeom>
          <a:noFill/>
          <a:ln w="22225">
            <a:solidFill>
              <a:schemeClr val="accent2"/>
            </a:solidFill>
            <a:prstDash val="solid"/>
          </a:ln>
        </p:spPr>
      </p:sp>
      <p:sp>
        <p:nvSpPr>
          <p:cNvPr id="10" name="Criteria card"/>
          <p:cNvSpPr/>
          <p:nvPr/>
        </p:nvSpPr>
        <p:spPr>
          <a:xfrm>
            <a:off x="5788152" y="2286000"/>
            <a:ext cx="5952744" cy="512064"/>
          </a:xfrm>
          <a:prstGeom prst="roundRect">
            <a:avLst>
              <a:gd name="adj" fmla="val 8000"/>
            </a:avLst>
          </a:prstGeom>
          <a:solidFill>
            <a:schemeClr val="bg2"/>
          </a:solidFill>
          <a:ln w="12700">
            <a:solidFill>
              <a:schemeClr val="bg2"/>
            </a:solidFill>
            <a:prstDash val="solid"/>
          </a:ln>
        </p:spPr>
      </p:sp>
      <p:sp>
        <p:nvSpPr>
          <p:cNvPr id="11" name="Criteria label"/>
          <p:cNvSpPr txBox="1"/>
          <p:nvPr/>
        </p:nvSpPr>
        <p:spPr>
          <a:xfrm>
            <a:off x="5943600" y="2331720"/>
            <a:ext cx="5669280" cy="201168"/>
          </a:xfrm>
          <a:prstGeom prst="rect">
            <a:avLst/>
          </a:prstGeom>
          <a:noFill/>
          <a:ln/>
        </p:spPr>
        <p:txBody>
          <a:bodyPr wrap="square" lIns="0" tIns="0" rIns="0" bIns="0" rtlCol="0" anchor="ctr"/>
          <a:lstStyle/>
          <a:p>
            <a:pPr marL="0" indent="0" algn="l">
              <a:buNone/>
            </a:pPr>
            <a:r>
              <a:rPr lang="en-US" sz="1050" b="1" kern="0" spc="100" dirty="0">
                <a:solidFill>
                  <a:schemeClr val="accent3"/>
                </a:solidFill>
              </a:rPr>
              <a:t>COMPARISON CRITERIA</a:t>
            </a:r>
            <a:endParaRPr lang="en-US" sz="1050" dirty="0"/>
          </a:p>
        </p:txBody>
      </p:sp>
      <p:sp>
        <p:nvSpPr>
          <p:cNvPr id="12" name="Criteria text"/>
          <p:cNvSpPr txBox="1"/>
          <p:nvPr/>
        </p:nvSpPr>
        <p:spPr>
          <a:xfrm>
            <a:off x="5943600" y="2532888"/>
            <a:ext cx="5669280" cy="237744"/>
          </a:xfrm>
          <a:prstGeom prst="rect">
            <a:avLst/>
          </a:prstGeom>
          <a:noFill/>
          <a:ln/>
        </p:spPr>
        <p:txBody>
          <a:bodyPr wrap="square" lIns="0" tIns="0" rIns="0" bIns="0" rtlCol="0" anchor="t"/>
          <a:lstStyle/>
          <a:p>
            <a:pPr marL="0" indent="0" algn="l">
              <a:buNone/>
            </a:pPr>
            <a:r>
              <a:rPr lang="en-US" sz="1050" b="1" dirty="0">
                <a:solidFill>
                  <a:schemeClr val="accent2"/>
                </a:solidFill>
              </a:rPr>
              <a:t xml:space="preserve">1 · </a:t>
            </a:r>
            <a:r>
              <a:rPr lang="en-US" sz="1050" dirty="0">
                <a:solidFill>
                  <a:schemeClr val="tx2"/>
                </a:solidFill>
              </a:rPr>
              <a:t xml:space="preserve">Common reflection set     </a:t>
            </a:r>
            <a:r>
              <a:rPr lang="en-US" sz="1050" b="1" dirty="0">
                <a:solidFill>
                  <a:schemeClr val="accent2"/>
                </a:solidFill>
              </a:rPr>
              <a:t xml:space="preserve">2 · </a:t>
            </a:r>
            <a:r>
              <a:rPr lang="en-US" sz="1050" dirty="0">
                <a:solidFill>
                  <a:schemeClr val="tx2"/>
                </a:solidFill>
              </a:rPr>
              <a:t xml:space="preserve">Peak definition and background     </a:t>
            </a:r>
            <a:r>
              <a:rPr lang="en-US" sz="1050" b="1" dirty="0">
                <a:solidFill>
                  <a:schemeClr val="accent2"/>
                </a:solidFill>
              </a:rPr>
              <a:t xml:space="preserve">3 · </a:t>
            </a:r>
            <a:r>
              <a:rPr lang="en-US" sz="1050" dirty="0">
                <a:solidFill>
                  <a:schemeClr val="tx2"/>
                </a:solidFill>
              </a:rPr>
              <a:t>No extra or shifted peaks</a:t>
            </a:r>
            <a:endParaRPr lang="en-US" sz="1050" dirty="0"/>
          </a:p>
        </p:txBody>
      </p:sp>
      <p:graphicFrame>
        <p:nvGraphicFramePr>
          <p:cNvPr id="13" name="XRD comparison table"/>
          <p:cNvGraphicFramePr>
            <a:graphicFrameLocks noGrp="1"/>
          </p:cNvGraphicFramePr>
          <p:nvPr/>
        </p:nvGraphicFramePr>
        <p:xfrm>
          <a:off x="5788152" y="2871216"/>
          <a:ext cx="5952744" cy="2258568"/>
        </p:xfrm>
        <a:graphic>
          <a:graphicData uri="http://schemas.openxmlformats.org/drawingml/2006/table">
            <a:tbl>
              <a:tblPr firstRow="1">
                <a:tableStyleId>{2D5ABB26-0587-4C30-8999-92F81FD0307C}</a:tableStyleId>
              </a:tblPr>
              <a:tblGrid>
                <a:gridCol w="566928"/>
                <a:gridCol w="484632"/>
                <a:gridCol w="502920"/>
                <a:gridCol w="502920"/>
                <a:gridCol w="502920"/>
                <a:gridCol w="502920"/>
                <a:gridCol w="512064"/>
                <a:gridCol w="2377440"/>
              </a:tblGrid>
              <a:tr h="173736">
                <a:tc>
                  <a:txBody>
                    <a:bodyPr/>
                    <a:lstStyle/>
                    <a:p>
                      <a:pPr marL="0" indent="0" algn="ctr">
                        <a:buNone/>
                      </a:pPr>
                      <a:r>
                        <a:rPr lang="en-US" sz="950" b="1" dirty="0">
                          <a:solidFill>
                            <a:srgbClr val="FFFFFF"/>
                          </a:solidFill>
                        </a:rPr>
                        <a:t>Sample</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~9.3°</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~12°</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~17.5°</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~24.3°</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~26.3°</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Other</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Observation</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r>
              <a:tr h="173736">
                <a:tc>
                  <a:txBody>
                    <a:bodyPr/>
                    <a:lstStyle/>
                    <a:p>
                      <a:pPr marL="0" indent="0" algn="ctr">
                        <a:buNone/>
                      </a:pPr>
                      <a:r>
                        <a:rPr lang="en-US" sz="1000" b="1" dirty="0">
                          <a:solidFill>
                            <a:schemeClr val="tx2"/>
                          </a:solidFill>
                        </a:rPr>
                        <a:t>A2-1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12.06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3 labelled peaks; sharp, low background</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accent3"/>
                          </a:solidFill>
                        </a:rPr>
                        <a:t>B2-1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9.36</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17.56</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24.34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26.08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l">
                        <a:buNone/>
                      </a:pPr>
                      <a:r>
                        <a:rPr lang="en-US" sz="950" dirty="0">
                          <a:solidFill>
                            <a:schemeClr val="tx2"/>
                          </a:solidFill>
                        </a:rPr>
                        <a:t>Complete set; sharp, low background</a:t>
                      </a:r>
                      <a:endParaRPr lang="en-US" sz="950" dirty="0"/>
                    </a:p>
                  </a:txBody>
                  <a:tcPr marL="36576" marR="36576" marT="13716" marB="13716" anchor="ctr">
                    <a:lnL w="0">
                      <a:noFill/>
                    </a:lnL>
                    <a:lnR w="0">
                      <a:noFill/>
                    </a:lnR>
                    <a:lnT w="0">
                      <a:noFill/>
                    </a:lnT>
                    <a:lnB w="6350">
                      <a:solidFill>
                        <a:srgbClr val="D9D5F0"/>
                      </a:solidFill>
                    </a:lnB>
                    <a:solidFill>
                      <a:srgbClr val="F4F2FF"/>
                    </a:solidFill>
                  </a:tcPr>
                </a:tc>
              </a:tr>
              <a:tr h="173736">
                <a:tc>
                  <a:txBody>
                    <a:bodyPr/>
                    <a:lstStyle/>
                    <a:p>
                      <a:pPr marL="0" indent="0" algn="ctr">
                        <a:buNone/>
                      </a:pPr>
                      <a:r>
                        <a:rPr lang="en-US" sz="1000" b="1" dirty="0">
                          <a:solidFill>
                            <a:schemeClr val="accent3"/>
                          </a:solidFill>
                        </a:rPr>
                        <a:t>C2-1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9.28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12.04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17.44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24.34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26.54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l">
                        <a:buNone/>
                      </a:pPr>
                      <a:r>
                        <a:rPr lang="en-US" sz="950" dirty="0">
                          <a:solidFill>
                            <a:schemeClr val="tx2"/>
                          </a:solidFill>
                        </a:rPr>
                        <a:t>Complete set; sharp, low background</a:t>
                      </a:r>
                      <a:endParaRPr lang="en-US" sz="950" dirty="0"/>
                    </a:p>
                  </a:txBody>
                  <a:tcPr marL="36576" marR="36576" marT="13716" marB="13716" anchor="ctr">
                    <a:lnL w="0">
                      <a:noFill/>
                    </a:lnL>
                    <a:lnR w="0">
                      <a:noFill/>
                    </a:lnR>
                    <a:lnT w="0">
                      <a:noFill/>
                    </a:lnT>
                    <a:lnB w="6350">
                      <a:solidFill>
                        <a:srgbClr val="D9D5F0"/>
                      </a:solidFill>
                    </a:lnB>
                    <a:solidFill>
                      <a:srgbClr val="F4F2FF"/>
                    </a:solidFill>
                  </a:tcPr>
                </a:tc>
              </a:tr>
              <a:tr h="173736">
                <a:tc>
                  <a:txBody>
                    <a:bodyPr/>
                    <a:lstStyle/>
                    <a:p>
                      <a:pPr marL="0" indent="0" algn="ctr">
                        <a:buNone/>
                      </a:pPr>
                      <a:r>
                        <a:rPr lang="en-US" sz="1000" b="1" dirty="0">
                          <a:solidFill>
                            <a:schemeClr val="tx2"/>
                          </a:solidFill>
                        </a:rPr>
                        <a:t>D2-1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9.48</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12.04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17.58</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24.16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26.32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Complete set; rougher background</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accent3"/>
                          </a:solidFill>
                        </a:rPr>
                        <a:t>E2-1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9.28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12.08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17.48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24.28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26.44</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l">
                        <a:buNone/>
                      </a:pPr>
                      <a:r>
                        <a:rPr lang="en-US" sz="950" dirty="0">
                          <a:solidFill>
                            <a:schemeClr val="tx2"/>
                          </a:solidFill>
                        </a:rPr>
                        <a:t>Complete set; sharp, low background</a:t>
                      </a:r>
                      <a:endParaRPr lang="en-US" sz="950" dirty="0"/>
                    </a:p>
                  </a:txBody>
                  <a:tcPr marL="36576" marR="36576" marT="13716" marB="13716" anchor="ctr">
                    <a:lnL w="0">
                      <a:noFill/>
                    </a:lnL>
                    <a:lnR w="0">
                      <a:noFill/>
                    </a:lnR>
                    <a:lnT w="0">
                      <a:noFill/>
                    </a:lnT>
                    <a:lnB w="6350">
                      <a:solidFill>
                        <a:srgbClr val="D9D5F0"/>
                      </a:solidFill>
                    </a:lnB>
                    <a:solidFill>
                      <a:srgbClr val="F4F2FF"/>
                    </a:solidFill>
                  </a:tcPr>
                </a:tc>
              </a:tr>
              <a:tr h="173736">
                <a:tc>
                  <a:txBody>
                    <a:bodyPr/>
                    <a:lstStyle/>
                    <a:p>
                      <a:pPr marL="0" indent="0" algn="ctr">
                        <a:buNone/>
                      </a:pPr>
                      <a:r>
                        <a:rPr lang="en-US" sz="1000" b="1" dirty="0">
                          <a:solidFill>
                            <a:schemeClr val="accent3"/>
                          </a:solidFill>
                        </a:rPr>
                        <a:t>F2-1</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9.32</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12.08</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17.42</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24.28</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26.32</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l">
                        <a:buNone/>
                      </a:pPr>
                      <a:r>
                        <a:rPr lang="en-US" sz="950" dirty="0">
                          <a:solidFill>
                            <a:schemeClr val="tx2"/>
                          </a:solidFill>
                        </a:rPr>
                        <a:t>Complete set; sharp, low background</a:t>
                      </a:r>
                      <a:endParaRPr lang="en-US" sz="950" dirty="0"/>
                    </a:p>
                  </a:txBody>
                  <a:tcPr marL="36576" marR="36576" marT="13716" marB="13716" anchor="ctr">
                    <a:lnL w="0">
                      <a:noFill/>
                    </a:lnL>
                    <a:lnR w="0">
                      <a:noFill/>
                    </a:lnR>
                    <a:lnT w="0">
                      <a:noFill/>
                    </a:lnT>
                    <a:lnB w="6350">
                      <a:solidFill>
                        <a:schemeClr val="accent1"/>
                      </a:solidFill>
                    </a:lnB>
                    <a:solidFill>
                      <a:srgbClr val="F4F2FF"/>
                    </a:solidFill>
                  </a:tcPr>
                </a:tc>
              </a:tr>
              <a:tr h="173736">
                <a:tc>
                  <a:txBody>
                    <a:bodyPr/>
                    <a:lstStyle/>
                    <a:p>
                      <a:pPr marL="0" indent="0" algn="ctr">
                        <a:buNone/>
                      </a:pPr>
                      <a:r>
                        <a:rPr lang="en-US" sz="1000" b="1" dirty="0">
                          <a:solidFill>
                            <a:schemeClr val="tx2"/>
                          </a:solidFill>
                        </a:rPr>
                        <a:t>A1-1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9.24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12.12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17.62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18.42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Extra peak; noisy, raised background</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tx2"/>
                          </a:solidFill>
                        </a:rPr>
                        <a:t>B1-1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9.26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11.76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17.24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18.42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Extra peak; ~12° peak at lower 2θ</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tx2"/>
                          </a:solidFill>
                        </a:rPr>
                        <a:t>C1-1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9.08</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11.82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17.42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18.22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Extra peak; noisy, raised background</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accent3"/>
                          </a:solidFill>
                        </a:rPr>
                        <a:t>D1-1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9.18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11.92</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17.38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24.08</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26.22</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l">
                        <a:buNone/>
                      </a:pPr>
                      <a:r>
                        <a:rPr lang="en-US" sz="950" dirty="0">
                          <a:solidFill>
                            <a:schemeClr val="tx2"/>
                          </a:solidFill>
                        </a:rPr>
                        <a:t>Complete set; sharp, low background</a:t>
                      </a:r>
                      <a:endParaRPr lang="en-US" sz="950" dirty="0"/>
                    </a:p>
                  </a:txBody>
                  <a:tcPr marL="36576" marR="36576" marT="13716" marB="13716" anchor="ctr">
                    <a:lnL w="0">
                      <a:noFill/>
                    </a:lnL>
                    <a:lnR w="0">
                      <a:noFill/>
                    </a:lnR>
                    <a:lnT w="0">
                      <a:noFill/>
                    </a:lnT>
                    <a:lnB w="6350">
                      <a:solidFill>
                        <a:srgbClr val="D9D5F0"/>
                      </a:solidFill>
                    </a:lnB>
                    <a:solidFill>
                      <a:srgbClr val="F4F2FF"/>
                    </a:solidFill>
                  </a:tcPr>
                </a:tc>
              </a:tr>
              <a:tr h="173736">
                <a:tc>
                  <a:txBody>
                    <a:bodyPr/>
                    <a:lstStyle/>
                    <a:p>
                      <a:pPr marL="0" indent="0" algn="ctr">
                        <a:buNone/>
                      </a:pPr>
                      <a:r>
                        <a:rPr lang="en-US" sz="1000" b="1" dirty="0">
                          <a:solidFill>
                            <a:schemeClr val="tx2"/>
                          </a:solidFill>
                        </a:rPr>
                        <a:t>E1-1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9.32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11.52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17.14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23.4</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25.6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Set shifted to lower 2θ</a:t>
                      </a:r>
                      <a:endParaRPr lang="en-US" sz="950" dirty="0"/>
                    </a:p>
                  </a:txBody>
                  <a:tcPr marL="36576" marR="36576" marT="13716" marB="13716" anchor="ctr">
                    <a:lnL w="0">
                      <a:noFill/>
                    </a:lnL>
                    <a:lnR w="0">
                      <a:noFill/>
                    </a:lnR>
                    <a:lnT w="0">
                      <a:noFill/>
                    </a:lnT>
                    <a:lnB w="6350">
                      <a:solidFill>
                        <a:srgbClr val="D9D5F0"/>
                      </a:solidFill>
                    </a:lnB>
                    <a:noFill/>
                  </a:tcPr>
                </a:tc>
              </a:tr>
              <a:tr h="173736">
                <a:tc>
                  <a:txBody>
                    <a:bodyPr/>
                    <a:lstStyle/>
                    <a:p>
                      <a:pPr marL="0" indent="0" algn="ctr">
                        <a:buNone/>
                      </a:pPr>
                      <a:r>
                        <a:rPr lang="en-US" sz="1000" b="1" dirty="0">
                          <a:solidFill>
                            <a:schemeClr val="tx2"/>
                          </a:solidFill>
                        </a:rPr>
                        <a:t>F1-1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9.22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12.06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17.58</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24.22</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26.5</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14.76</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l">
                        <a:buNone/>
                      </a:pPr>
                      <a:r>
                        <a:rPr lang="en-US" sz="950" dirty="0">
                          <a:solidFill>
                            <a:schemeClr val="tx2"/>
                          </a:solidFill>
                        </a:rPr>
                        <a:t>Extra peak; noisy, raised background</a:t>
                      </a:r>
                      <a:endParaRPr lang="en-US" sz="950" dirty="0"/>
                    </a:p>
                  </a:txBody>
                  <a:tcPr marL="36576" marR="36576" marT="13716" marB="13716" anchor="ctr">
                    <a:lnL w="0">
                      <a:noFill/>
                    </a:lnL>
                    <a:lnR w="0">
                      <a:noFill/>
                    </a:lnR>
                    <a:lnT w="0">
                      <a:noFill/>
                    </a:lnT>
                    <a:lnB w="6350">
                      <a:solidFill>
                        <a:srgbClr val="D9D5F0"/>
                      </a:solidFill>
                    </a:lnB>
                    <a:noFill/>
                  </a:tcPr>
                </a:tc>
              </a:tr>
            </a:tbl>
          </a:graphicData>
        </a:graphic>
      </p:graphicFrame>
      <p:sp>
        <p:nvSpPr>
          <p:cNvPr id="14" name="XRD table note"/>
          <p:cNvSpPr txBox="1"/>
          <p:nvPr/>
        </p:nvSpPr>
        <p:spPr>
          <a:xfrm>
            <a:off x="5788152" y="5202936"/>
            <a:ext cx="5952744" cy="329184"/>
          </a:xfrm>
          <a:prstGeom prst="rect">
            <a:avLst/>
          </a:prstGeom>
          <a:noFill/>
          <a:ln/>
        </p:spPr>
        <p:txBody>
          <a:bodyPr wrap="square" lIns="0" tIns="0" rIns="0" bIns="0" rtlCol="0" anchor="t"/>
          <a:lstStyle/>
          <a:p>
            <a:pPr marL="0" indent="0" algn="l">
              <a:buNone/>
            </a:pPr>
            <a:r>
              <a:rPr lang="en-US" sz="950" i="1" dirty="0">
                <a:solidFill>
                  <a:schemeClr val="accent6"/>
                </a:solidFill>
              </a:rPr>
              <a:t>Common set ≈ 9.3, 12.1, 17.5, 24.3, 26.3° 2θ. Values as labelled in the original figure (— = not labelled). Panels are scaled individually. Frames / shaded rows = XRD shortlist.</a:t>
            </a:r>
            <a:endParaRPr lang="en-US" sz="950" dirty="0"/>
          </a:p>
        </p:txBody>
      </p:sp>
      <p:sp>
        <p:nvSpPr>
          <p:cNvPr id="15" name="Conclusion banner"/>
          <p:cNvSpPr/>
          <p:nvPr/>
        </p:nvSpPr>
        <p:spPr>
          <a:xfrm>
            <a:off x="448056" y="5669280"/>
            <a:ext cx="11292840" cy="384048"/>
          </a:xfrm>
          <a:prstGeom prst="roundRect">
            <a:avLst>
              <a:gd name="adj" fmla="val 12000"/>
            </a:avLst>
          </a:prstGeom>
          <a:solidFill>
            <a:schemeClr val="accent3"/>
          </a:solidFill>
          <a:ln w="12700">
            <a:solidFill>
              <a:schemeClr val="accent3"/>
            </a:solidFill>
            <a:prstDash val="solid"/>
          </a:ln>
        </p:spPr>
      </p:sp>
      <p:sp>
        <p:nvSpPr>
          <p:cNvPr id="16" name="Conclusion text"/>
          <p:cNvSpPr txBox="1"/>
          <p:nvPr/>
        </p:nvSpPr>
        <p:spPr>
          <a:xfrm>
            <a:off x="630936" y="5669280"/>
            <a:ext cx="10927080" cy="384048"/>
          </a:xfrm>
          <a:prstGeom prst="rect">
            <a:avLst/>
          </a:prstGeom>
          <a:noFill/>
          <a:ln/>
        </p:spPr>
        <p:txBody>
          <a:bodyPr wrap="square" lIns="0" tIns="0" rIns="0" bIns="0" rtlCol="0" anchor="ctr"/>
          <a:lstStyle/>
          <a:p>
            <a:pPr marL="0" indent="0" algn="l">
              <a:buNone/>
            </a:pPr>
            <a:r>
              <a:rPr lang="en-US" sz="1150" b="1" dirty="0">
                <a:solidFill>
                  <a:srgbClr val="FFFFFF"/>
                </a:solidFill>
              </a:rPr>
              <a:t xml:space="preserve">XRD conclusion: </a:t>
            </a:r>
            <a:r>
              <a:rPr lang="en-US" sz="1150" dirty="0">
                <a:solidFill>
                  <a:srgbClr val="FFFFFF"/>
                </a:solidFill>
              </a:rPr>
              <a:t>all 12 samples are crystalline with closely related patterns. B2-1, C2-1, E2-1, F2-1 and D1-1 show the complete set with well-defined peaks and no extra or shifted reflections.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Comparative FTIR Analysis of All 12 Samples</a:t>
            </a:r>
            <a:endParaRPr lang="en-US" sz="2600" dirty="0"/>
          </a:p>
        </p:txBody>
      </p:sp>
      <p:pic>
        <p:nvPicPr>
          <p:cNvPr id="4" name="FTIR original figure (12 samples)" descr="Original FTIR spectra (absorbance vs wavenumber, cm-1) of all 12 synthesized samples with the qualitative labels printed in the source figure; unmodified."/>
          <p:cNvPicPr>
            <a:picLocks noChangeAspect="1"/>
          </p:cNvPicPr>
          <p:nvPr/>
        </p:nvPicPr>
        <p:blipFill>
          <a:blip r:embed="rId100"/>
          <a:srcRect/>
          <a:stretch>
            <a:fillRect/>
          </a:stretch>
        </p:blipFill>
        <p:spPr>
          <a:xfrm>
            <a:off x="448056" y="2286000"/>
            <a:ext cx="4937760" cy="2293597"/>
          </a:xfrm>
          <a:prstGeom prst="rect">
            <a:avLst/>
          </a:prstGeom>
        </p:spPr>
      </p:pic>
      <p:sp>
        <p:nvSpPr>
          <p:cNvPr id="5" name="Consistent frame B2-1"/>
          <p:cNvSpPr/>
          <p:nvPr/>
        </p:nvSpPr>
        <p:spPr>
          <a:xfrm>
            <a:off x="489080" y="2304647"/>
            <a:ext cx="1174769" cy="697403"/>
          </a:xfrm>
          <a:prstGeom prst="rect">
            <a:avLst/>
          </a:prstGeom>
          <a:noFill/>
          <a:ln w="22225">
            <a:solidFill>
              <a:schemeClr val="accent2"/>
            </a:solidFill>
            <a:prstDash val="solid"/>
          </a:ln>
        </p:spPr>
      </p:sp>
      <p:sp>
        <p:nvSpPr>
          <p:cNvPr id="6" name="Consistent frame C2-1"/>
          <p:cNvSpPr/>
          <p:nvPr/>
        </p:nvSpPr>
        <p:spPr>
          <a:xfrm>
            <a:off x="1716061" y="3811335"/>
            <a:ext cx="1178499" cy="701132"/>
          </a:xfrm>
          <a:prstGeom prst="rect">
            <a:avLst/>
          </a:prstGeom>
          <a:noFill/>
          <a:ln w="22225">
            <a:solidFill>
              <a:schemeClr val="accent2"/>
            </a:solidFill>
            <a:prstDash val="solid"/>
          </a:ln>
        </p:spPr>
      </p:sp>
      <p:sp>
        <p:nvSpPr>
          <p:cNvPr id="7" name="Consistent frame D2-1"/>
          <p:cNvSpPr/>
          <p:nvPr/>
        </p:nvSpPr>
        <p:spPr>
          <a:xfrm>
            <a:off x="2946771" y="3057991"/>
            <a:ext cx="1182228" cy="697403"/>
          </a:xfrm>
          <a:prstGeom prst="rect">
            <a:avLst/>
          </a:prstGeom>
          <a:noFill/>
          <a:ln w="22225">
            <a:solidFill>
              <a:schemeClr val="accent2"/>
            </a:solidFill>
            <a:prstDash val="solid"/>
          </a:ln>
        </p:spPr>
      </p:sp>
      <p:sp>
        <p:nvSpPr>
          <p:cNvPr id="8" name="Consistent frame E2-1"/>
          <p:cNvSpPr/>
          <p:nvPr/>
        </p:nvSpPr>
        <p:spPr>
          <a:xfrm>
            <a:off x="2946771" y="3811335"/>
            <a:ext cx="1182228" cy="701132"/>
          </a:xfrm>
          <a:prstGeom prst="rect">
            <a:avLst/>
          </a:prstGeom>
          <a:noFill/>
          <a:ln w="22225">
            <a:solidFill>
              <a:schemeClr val="accent2"/>
            </a:solidFill>
            <a:prstDash val="solid"/>
          </a:ln>
        </p:spPr>
      </p:sp>
      <p:sp>
        <p:nvSpPr>
          <p:cNvPr id="9" name="Consistent frame F2-1"/>
          <p:cNvSpPr/>
          <p:nvPr/>
        </p:nvSpPr>
        <p:spPr>
          <a:xfrm>
            <a:off x="4181211" y="3811335"/>
            <a:ext cx="1178499" cy="701132"/>
          </a:xfrm>
          <a:prstGeom prst="rect">
            <a:avLst/>
          </a:prstGeom>
          <a:noFill/>
          <a:ln w="22225">
            <a:solidFill>
              <a:schemeClr val="accent2"/>
            </a:solidFill>
            <a:prstDash val="solid"/>
          </a:ln>
        </p:spPr>
      </p:sp>
      <p:sp>
        <p:nvSpPr>
          <p:cNvPr id="10" name="Consistent frame D1-1"/>
          <p:cNvSpPr/>
          <p:nvPr/>
        </p:nvSpPr>
        <p:spPr>
          <a:xfrm>
            <a:off x="2943042" y="2304647"/>
            <a:ext cx="1182228" cy="697403"/>
          </a:xfrm>
          <a:prstGeom prst="rect">
            <a:avLst/>
          </a:prstGeom>
          <a:noFill/>
          <a:ln w="22225">
            <a:solidFill>
              <a:schemeClr val="accent2"/>
            </a:solidFill>
            <a:prstDash val="solid"/>
          </a:ln>
        </p:spPr>
      </p:sp>
      <p:sp>
        <p:nvSpPr>
          <p:cNvPr id="11" name="Interpretation card"/>
          <p:cNvSpPr/>
          <p:nvPr/>
        </p:nvSpPr>
        <p:spPr>
          <a:xfrm>
            <a:off x="448056" y="4652749"/>
            <a:ext cx="4937760" cy="925091"/>
          </a:xfrm>
          <a:prstGeom prst="roundRect">
            <a:avLst>
              <a:gd name="adj" fmla="val 6000"/>
            </a:avLst>
          </a:prstGeom>
          <a:solidFill>
            <a:schemeClr val="bg2"/>
          </a:solidFill>
          <a:ln w="12700">
            <a:solidFill>
              <a:schemeClr val="bg2"/>
            </a:solidFill>
            <a:prstDash val="solid"/>
          </a:ln>
        </p:spPr>
      </p:sp>
      <p:sp>
        <p:nvSpPr>
          <p:cNvPr id="12" name="Interpretation label"/>
          <p:cNvSpPr txBox="1"/>
          <p:nvPr/>
        </p:nvSpPr>
        <p:spPr>
          <a:xfrm>
            <a:off x="585216" y="4707613"/>
            <a:ext cx="4663440" cy="201168"/>
          </a:xfrm>
          <a:prstGeom prst="rect">
            <a:avLst/>
          </a:prstGeom>
          <a:noFill/>
          <a:ln/>
        </p:spPr>
        <p:txBody>
          <a:bodyPr wrap="square" lIns="0" tIns="0" rIns="0" bIns="0" rtlCol="0" anchor="ctr"/>
          <a:lstStyle/>
          <a:p>
            <a:pPr marL="0" indent="0" algn="l">
              <a:buNone/>
            </a:pPr>
            <a:r>
              <a:rPr lang="en-US" sz="1050" b="1" kern="0" spc="100" dirty="0">
                <a:solidFill>
                  <a:schemeClr val="accent3"/>
                </a:solidFill>
              </a:rPr>
              <a:t>WHAT THE BANDS INDICATE</a:t>
            </a:r>
            <a:endParaRPr lang="en-US" sz="1050" dirty="0"/>
          </a:p>
        </p:txBody>
      </p:sp>
      <p:sp>
        <p:nvSpPr>
          <p:cNvPr id="13" name="Interpretation text"/>
          <p:cNvSpPr txBox="1"/>
          <p:nvPr/>
        </p:nvSpPr>
        <p:spPr>
          <a:xfrm>
            <a:off x="585216" y="4927069"/>
            <a:ext cx="4663440" cy="614195"/>
          </a:xfrm>
          <a:prstGeom prst="rect">
            <a:avLst/>
          </a:prstGeom>
          <a:noFill/>
          <a:ln/>
        </p:spPr>
        <p:txBody>
          <a:bodyPr wrap="square" lIns="0" tIns="0" rIns="0" bIns="0" rtlCol="0" anchor="t"/>
          <a:lstStyle/>
          <a:p>
            <a:pPr marL="155448" indent="-155448" algn="l">
              <a:spcAft>
                <a:spcPts val="200"/>
              </a:spcAft>
              <a:buClr>
                <a:schemeClr val="accent3"/>
              </a:buClr>
              <a:buFont typeface="Arial"/>
              <a:buChar char="•"/>
            </a:pPr>
            <a:r>
              <a:rPr lang="en-US" sz="1050" dirty="0">
                <a:solidFill>
                  <a:schemeClr val="tx2"/>
                </a:solidFill>
              </a:rPr>
              <a:t>ν</a:t>
            </a:r>
            <a:r>
              <a:rPr lang="en-US" sz="1050" baseline="-25000" dirty="0">
                <a:solidFill>
                  <a:schemeClr val="tx2"/>
                </a:solidFill>
              </a:rPr>
              <a:t>as</a:t>
            </a:r>
            <a:r>
              <a:rPr lang="en-US" sz="1050" dirty="0">
                <a:solidFill>
                  <a:schemeClr val="tx2"/>
                </a:solidFill>
              </a:rPr>
              <a:t>(COO</a:t>
            </a:r>
            <a:r>
              <a:rPr lang="en-US" sz="1050" baseline="30000" dirty="0">
                <a:solidFill>
                  <a:schemeClr val="tx2"/>
                </a:solidFill>
              </a:rPr>
              <a:t>−</a:t>
            </a:r>
            <a:r>
              <a:rPr lang="en-US" sz="1050" dirty="0">
                <a:solidFill>
                  <a:schemeClr val="tx2"/>
                </a:solidFill>
              </a:rPr>
              <a:t>) ~1600 and ν</a:t>
            </a:r>
            <a:r>
              <a:rPr lang="en-US" sz="1050" baseline="-25000" dirty="0">
                <a:solidFill>
                  <a:schemeClr val="tx2"/>
                </a:solidFill>
              </a:rPr>
              <a:t>s</a:t>
            </a:r>
            <a:r>
              <a:rPr lang="en-US" sz="1050" dirty="0">
                <a:solidFill>
                  <a:schemeClr val="tx2"/>
                </a:solidFill>
              </a:rPr>
              <a:t>(COO</a:t>
            </a:r>
            <a:r>
              <a:rPr lang="en-US" sz="1050" baseline="30000" dirty="0">
                <a:solidFill>
                  <a:schemeClr val="tx2"/>
                </a:solidFill>
              </a:rPr>
              <a:t>−</a:t>
            </a:r>
            <a:r>
              <a:rPr lang="en-US" sz="1050" dirty="0">
                <a:solidFill>
                  <a:schemeClr val="tx2"/>
                </a:solidFill>
              </a:rPr>
              <a:t>) ~1400 cm</a:t>
            </a:r>
            <a:r>
              <a:rPr lang="en-US" sz="1050" baseline="30000" dirty="0">
                <a:solidFill>
                  <a:schemeClr val="tx2"/>
                </a:solidFill>
              </a:rPr>
              <a:t>−1</a:t>
            </a:r>
            <a:r>
              <a:rPr lang="en-US" sz="1050" dirty="0">
                <a:solidFill>
                  <a:schemeClr val="tx2"/>
                </a:solidFill>
              </a:rPr>
              <a:t xml:space="preserve"> appear in all 12: carboxylate groups present, consistent with carboxylate–metal coordination.</a:t>
            </a:r>
            <a:endParaRPr lang="en-US" sz="1050" dirty="0"/>
          </a:p>
          <a:p>
            <a:pPr marL="155448" indent="-155448" algn="l">
              <a:buClr>
                <a:schemeClr val="accent3"/>
              </a:buClr>
              <a:buFont typeface="Arial"/>
              <a:buChar char="•"/>
            </a:pPr>
            <a:r>
              <a:rPr lang="en-US" sz="1050" dirty="0">
                <a:solidFill>
                  <a:schemeClr val="tx2"/>
                </a:solidFill>
              </a:rPr>
              <a:t>Ratio deviations and the weak band &gt;1650 cm</a:t>
            </a:r>
            <a:r>
              <a:rPr lang="en-US" sz="1050" baseline="30000" dirty="0">
                <a:solidFill>
                  <a:schemeClr val="tx2"/>
                </a:solidFill>
              </a:rPr>
              <a:t>−1</a:t>
            </a:r>
            <a:r>
              <a:rPr lang="en-US" sz="1050" dirty="0">
                <a:solidFill>
                  <a:schemeClr val="tx2"/>
                </a:solidFill>
              </a:rPr>
              <a:t xml:space="preserve"> (possibly residual –COOH) suggest different environments; check against the free linker.</a:t>
            </a:r>
            <a:endParaRPr lang="en-US" sz="1050" dirty="0"/>
          </a:p>
        </p:txBody>
      </p:sp>
      <p:sp>
        <p:nvSpPr>
          <p:cNvPr id="14" name="Criteria card"/>
          <p:cNvSpPr/>
          <p:nvPr/>
        </p:nvSpPr>
        <p:spPr>
          <a:xfrm>
            <a:off x="5788152" y="2286000"/>
            <a:ext cx="5952744" cy="512064"/>
          </a:xfrm>
          <a:prstGeom prst="roundRect">
            <a:avLst>
              <a:gd name="adj" fmla="val 8000"/>
            </a:avLst>
          </a:prstGeom>
          <a:solidFill>
            <a:schemeClr val="bg2"/>
          </a:solidFill>
          <a:ln w="12700">
            <a:solidFill>
              <a:schemeClr val="bg2"/>
            </a:solidFill>
            <a:prstDash val="solid"/>
          </a:ln>
        </p:spPr>
      </p:sp>
      <p:sp>
        <p:nvSpPr>
          <p:cNvPr id="15" name="Criteria label"/>
          <p:cNvSpPr txBox="1"/>
          <p:nvPr/>
        </p:nvSpPr>
        <p:spPr>
          <a:xfrm>
            <a:off x="5943600" y="2331720"/>
            <a:ext cx="5669280" cy="201168"/>
          </a:xfrm>
          <a:prstGeom prst="rect">
            <a:avLst/>
          </a:prstGeom>
          <a:noFill/>
          <a:ln/>
        </p:spPr>
        <p:txBody>
          <a:bodyPr wrap="square" lIns="0" tIns="0" rIns="0" bIns="0" rtlCol="0" anchor="ctr"/>
          <a:lstStyle/>
          <a:p>
            <a:pPr marL="0" indent="0" algn="l">
              <a:buNone/>
            </a:pPr>
            <a:r>
              <a:rPr lang="en-US" sz="1050" b="1" kern="0" spc="100" dirty="0">
                <a:solidFill>
                  <a:schemeClr val="accent3"/>
                </a:solidFill>
              </a:rPr>
              <a:t>COMPARISON CRITERIA</a:t>
            </a:r>
            <a:endParaRPr lang="en-US" sz="1050" dirty="0"/>
          </a:p>
        </p:txBody>
      </p:sp>
      <p:sp>
        <p:nvSpPr>
          <p:cNvPr id="16" name="Criteria text"/>
          <p:cNvSpPr txBox="1"/>
          <p:nvPr/>
        </p:nvSpPr>
        <p:spPr>
          <a:xfrm>
            <a:off x="5943600" y="2532888"/>
            <a:ext cx="5669280" cy="237744"/>
          </a:xfrm>
          <a:prstGeom prst="rect">
            <a:avLst/>
          </a:prstGeom>
          <a:noFill/>
          <a:ln/>
        </p:spPr>
        <p:txBody>
          <a:bodyPr wrap="square" lIns="0" tIns="0" rIns="0" bIns="0" rtlCol="0" anchor="t"/>
          <a:lstStyle/>
          <a:p>
            <a:pPr marL="0" indent="0" algn="l">
              <a:buNone/>
            </a:pPr>
            <a:r>
              <a:rPr lang="en-US" sz="1050" b="1" dirty="0">
                <a:solidFill>
                  <a:schemeClr val="accent2"/>
                </a:solidFill>
              </a:rPr>
              <a:t xml:space="preserve">1 · </a:t>
            </a:r>
            <a:r>
              <a:rPr lang="en-US" sz="1050" dirty="0">
                <a:solidFill>
                  <a:schemeClr val="tx2"/>
                </a:solidFill>
              </a:rPr>
              <a:t>Both COO</a:t>
            </a:r>
            <a:r>
              <a:rPr lang="en-US" sz="1050" baseline="30000" dirty="0">
                <a:solidFill>
                  <a:schemeClr val="tx2"/>
                </a:solidFill>
              </a:rPr>
              <a:t>−</a:t>
            </a:r>
            <a:r>
              <a:rPr lang="en-US" sz="1050" dirty="0">
                <a:solidFill>
                  <a:schemeClr val="tx2"/>
                </a:solidFill>
              </a:rPr>
              <a:t xml:space="preserve"> bands present     </a:t>
            </a:r>
            <a:r>
              <a:rPr lang="en-US" sz="1050" b="1" dirty="0">
                <a:solidFill>
                  <a:schemeClr val="accent2"/>
                </a:solidFill>
              </a:rPr>
              <a:t xml:space="preserve">2 · </a:t>
            </a:r>
            <a:r>
              <a:rPr lang="en-US" sz="1050" dirty="0">
                <a:solidFill>
                  <a:schemeClr val="tx2"/>
                </a:solidFill>
              </a:rPr>
              <a:t xml:space="preserve">Consistent band pattern     </a:t>
            </a:r>
            <a:r>
              <a:rPr lang="en-US" sz="1050" b="1" dirty="0">
                <a:solidFill>
                  <a:schemeClr val="accent2"/>
                </a:solidFill>
              </a:rPr>
              <a:t xml:space="preserve">3 · </a:t>
            </a:r>
            <a:r>
              <a:rPr lang="en-US" sz="1050" dirty="0">
                <a:solidFill>
                  <a:schemeClr val="tx2"/>
                </a:solidFill>
              </a:rPr>
              <a:t>No extra band &gt;1650 cm</a:t>
            </a:r>
            <a:r>
              <a:rPr lang="en-US" sz="1050" baseline="30000" dirty="0">
                <a:solidFill>
                  <a:schemeClr val="tx2"/>
                </a:solidFill>
              </a:rPr>
              <a:t>−1</a:t>
            </a:r>
            <a:endParaRPr lang="en-US" sz="1050" dirty="0"/>
          </a:p>
        </p:txBody>
      </p:sp>
      <p:graphicFrame>
        <p:nvGraphicFramePr>
          <p:cNvPr id="17" name="FTIR comparison table"/>
          <p:cNvGraphicFramePr>
            <a:graphicFrameLocks noGrp="1"/>
          </p:cNvGraphicFramePr>
          <p:nvPr/>
        </p:nvGraphicFramePr>
        <p:xfrm>
          <a:off x="5788152" y="2871216"/>
          <a:ext cx="5952744" cy="2304288"/>
        </p:xfrm>
        <a:graphic>
          <a:graphicData uri="http://schemas.openxmlformats.org/drawingml/2006/table">
            <a:tbl>
              <a:tblPr firstRow="1">
                <a:tableStyleId>{2D5ABB26-0587-4C30-8999-92F81FD0307C}</a:tableStyleId>
              </a:tblPr>
              <a:tblGrid>
                <a:gridCol w="566928"/>
                <a:gridCol w="1097280"/>
                <a:gridCol w="960120"/>
                <a:gridCol w="987552"/>
                <a:gridCol w="1060704"/>
                <a:gridCol w="1280160"/>
              </a:tblGrid>
              <a:tr h="329184">
                <a:tc>
                  <a:txBody>
                    <a:bodyPr/>
                    <a:lstStyle/>
                    <a:p>
                      <a:pPr marL="0" indent="0" algn="ctr">
                        <a:buNone/>
                      </a:pPr>
                      <a:r>
                        <a:rPr lang="en-US" sz="950" b="1" dirty="0">
                          <a:solidFill>
                            <a:srgbClr val="FFFFFF"/>
                          </a:solidFill>
                        </a:rPr>
                        <a:t>Sample</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COO</a:t>
                      </a:r>
                      <a:r>
                        <a:rPr lang="en-US" sz="950" b="1" baseline="30000" dirty="0">
                          <a:solidFill>
                            <a:srgbClr val="FFFFFF"/>
                          </a:solidFill>
                        </a:rPr>
                        <a:t>−</a:t>
                      </a:r>
                      <a:r>
                        <a:rPr lang="en-US" sz="950" b="1" dirty="0">
                          <a:solidFill>
                            <a:srgbClr val="FFFFFF"/>
                          </a:solidFill>
                        </a:rPr>
                        <a:t xml:space="preserve"> bands</a:t>
                      </a:r>
                      <a:endParaRPr lang="en-US" sz="950" dirty="0"/>
                    </a:p>
                    <a:p>
                      <a:pPr marL="0" indent="0" algn="ctr">
                        <a:buNone/>
                      </a:pPr>
                      <a:r>
                        <a:rPr lang="en-US" sz="950" b="1" dirty="0">
                          <a:solidFill>
                            <a:srgbClr val="FFFFFF"/>
                          </a:solidFill>
                        </a:rPr>
                        <a:t>~1600 / ~1400</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Stronger band</a:t>
                      </a:r>
                      <a:endParaRPr lang="en-US" sz="950" dirty="0"/>
                    </a:p>
                    <a:p>
                      <a:pPr marL="0" indent="0" algn="ctr">
                        <a:buNone/>
                      </a:pPr>
                      <a:r>
                        <a:rPr lang="en-US" sz="950" b="1" dirty="0">
                          <a:solidFill>
                            <a:srgbClr val="FFFFFF"/>
                          </a:solidFill>
                        </a:rPr>
                        <a:t>in cluster</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Extra band</a:t>
                      </a:r>
                      <a:endParaRPr lang="en-US" sz="950" dirty="0"/>
                    </a:p>
                    <a:p>
                      <a:pPr marL="0" indent="0" algn="ctr">
                        <a:buNone/>
                      </a:pPr>
                      <a:r>
                        <a:rPr lang="en-US" sz="950" b="1" dirty="0">
                          <a:solidFill>
                            <a:srgbClr val="FFFFFF"/>
                          </a:solidFill>
                        </a:rPr>
                        <a:t>&gt;1650 cm</a:t>
                      </a:r>
                      <a:r>
                        <a:rPr lang="en-US" sz="950" b="1" baseline="30000" dirty="0">
                          <a:solidFill>
                            <a:srgbClr val="FFFFFF"/>
                          </a:solidFill>
                        </a:rPr>
                        <a:t>−1</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Noise</a:t>
                      </a:r>
                      <a:endParaRPr lang="en-US" sz="950" dirty="0"/>
                    </a:p>
                    <a:p>
                      <a:pPr marL="0" indent="0" algn="ctr">
                        <a:buNone/>
                      </a:pPr>
                      <a:r>
                        <a:rPr lang="en-US" sz="950" b="1" dirty="0">
                          <a:solidFill>
                            <a:srgbClr val="FFFFFF"/>
                          </a:solidFill>
                        </a:rPr>
                        <a:t>2200–1950 cm</a:t>
                      </a:r>
                      <a:r>
                        <a:rPr lang="en-US" sz="950" b="1" baseline="30000" dirty="0">
                          <a:solidFill>
                            <a:srgbClr val="FFFFFF"/>
                          </a:solidFill>
                        </a:rPr>
                        <a:t>−1</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c>
                  <a:txBody>
                    <a:bodyPr/>
                    <a:lstStyle/>
                    <a:p>
                      <a:pPr marL="0" indent="0" algn="ctr">
                        <a:buNone/>
                      </a:pPr>
                      <a:r>
                        <a:rPr lang="en-US" sz="950" b="1" dirty="0">
                          <a:solidFill>
                            <a:srgbClr val="FFFFFF"/>
                          </a:solidFill>
                        </a:rPr>
                        <a:t>Original</a:t>
                      </a:r>
                      <a:endParaRPr lang="en-US" sz="950" dirty="0"/>
                    </a:p>
                    <a:p>
                      <a:pPr marL="0" indent="0" algn="ctr">
                        <a:buNone/>
                      </a:pPr>
                      <a:r>
                        <a:rPr lang="en-US" sz="950" b="1" dirty="0">
                          <a:solidFill>
                            <a:srgbClr val="FFFFFF"/>
                          </a:solidFill>
                        </a:rPr>
                        <a:t>rating</a:t>
                      </a:r>
                      <a:endParaRPr lang="en-US" sz="950" dirty="0"/>
                    </a:p>
                  </a:txBody>
                  <a:tcPr marL="36576" marR="36576" marT="13716" marB="13716" anchor="ctr">
                    <a:lnL w="0">
                      <a:noFill/>
                    </a:lnL>
                    <a:lnR w="0">
                      <a:noFill/>
                    </a:lnR>
                    <a:lnT w="0">
                      <a:noFill/>
                    </a:lnT>
                    <a:lnB w="6350">
                      <a:solidFill>
                        <a:srgbClr val="D9D5F0"/>
                      </a:solidFill>
                    </a:lnB>
                    <a:solidFill>
                      <a:schemeClr val="accent3"/>
                    </a:solidFill>
                  </a:tcPr>
                </a:tc>
              </a:tr>
              <a:tr h="164592">
                <a:tc>
                  <a:txBody>
                    <a:bodyPr/>
                    <a:lstStyle/>
                    <a:p>
                      <a:pPr marL="0" indent="0" algn="ctr">
                        <a:buNone/>
                      </a:pPr>
                      <a:r>
                        <a:rPr lang="en-US" sz="1000" b="1" dirty="0">
                          <a:solidFill>
                            <a:schemeClr val="tx2"/>
                          </a:solidFill>
                        </a:rPr>
                        <a:t>A2-1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~1600 ≈ ~1400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Outstanding</a:t>
                      </a:r>
                      <a:endParaRPr lang="en-US" sz="1000" dirty="0"/>
                    </a:p>
                  </a:txBody>
                  <a:tcPr marL="36576" marR="36576" marT="13716" marB="13716" anchor="ctr">
                    <a:lnL w="0">
                      <a:noFill/>
                    </a:lnL>
                    <a:lnR w="0">
                      <a:noFill/>
                    </a:lnR>
                    <a:lnT w="0">
                      <a:noFill/>
                    </a:lnT>
                    <a:lnB w="6350">
                      <a:solidFill>
                        <a:srgbClr val="D9D5F0"/>
                      </a:solidFill>
                    </a:lnB>
                    <a:noFill/>
                  </a:tcPr>
                </a:tc>
              </a:tr>
              <a:tr h="164592">
                <a:tc>
                  <a:txBody>
                    <a:bodyPr/>
                    <a:lstStyle/>
                    <a:p>
                      <a:pPr marL="0" indent="0" algn="ctr">
                        <a:buNone/>
                      </a:pPr>
                      <a:r>
                        <a:rPr lang="en-US" sz="1000" b="1" dirty="0">
                          <a:solidFill>
                            <a:schemeClr val="accent3"/>
                          </a:solidFill>
                        </a:rPr>
                        <a:t>B2-1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Outstanding</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r>
              <a:tr h="164592">
                <a:tc>
                  <a:txBody>
                    <a:bodyPr/>
                    <a:lstStyle/>
                    <a:p>
                      <a:pPr marL="0" indent="0" algn="ctr">
                        <a:buNone/>
                      </a:pPr>
                      <a:r>
                        <a:rPr lang="en-US" sz="1000" b="1" dirty="0">
                          <a:solidFill>
                            <a:schemeClr val="accent3"/>
                          </a:solidFill>
                        </a:rPr>
                        <a:t>C2-1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Good</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r>
              <a:tr h="164592">
                <a:tc>
                  <a:txBody>
                    <a:bodyPr/>
                    <a:lstStyle/>
                    <a:p>
                      <a:pPr marL="0" indent="0" algn="ctr">
                        <a:buNone/>
                      </a:pPr>
                      <a:r>
                        <a:rPr lang="en-US" sz="1000" b="1" dirty="0">
                          <a:solidFill>
                            <a:schemeClr val="accent3"/>
                          </a:solidFill>
                        </a:rPr>
                        <a:t>D2-1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Good</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r>
              <a:tr h="164592">
                <a:tc>
                  <a:txBody>
                    <a:bodyPr/>
                    <a:lstStyle/>
                    <a:p>
                      <a:pPr marL="0" indent="0" algn="ctr">
                        <a:buNone/>
                      </a:pPr>
                      <a:r>
                        <a:rPr lang="en-US" sz="1000" b="1" dirty="0">
                          <a:solidFill>
                            <a:schemeClr val="accent3"/>
                          </a:solidFill>
                        </a:rPr>
                        <a:t>E2-1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Acceptable–good</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r>
              <a:tr h="164592">
                <a:tc>
                  <a:txBody>
                    <a:bodyPr/>
                    <a:lstStyle/>
                    <a:p>
                      <a:pPr marL="0" indent="0" algn="ctr">
                        <a:buNone/>
                      </a:pPr>
                      <a:r>
                        <a:rPr lang="en-US" sz="1000" b="1" dirty="0">
                          <a:solidFill>
                            <a:schemeClr val="accent3"/>
                          </a:solidFill>
                        </a:rPr>
                        <a:t>F2-1</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c>
                  <a:txBody>
                    <a:bodyPr/>
                    <a:lstStyle/>
                    <a:p>
                      <a:pPr marL="0" indent="0" algn="ctr">
                        <a:buNone/>
                      </a:pPr>
                      <a:r>
                        <a:rPr lang="en-US" sz="1000" dirty="0">
                          <a:solidFill>
                            <a:schemeClr val="tx2"/>
                          </a:solidFill>
                        </a:rPr>
                        <a:t>Acceptable</a:t>
                      </a:r>
                      <a:endParaRPr lang="en-US" sz="1000" dirty="0"/>
                    </a:p>
                  </a:txBody>
                  <a:tcPr marL="36576" marR="36576" marT="13716" marB="13716" anchor="ctr">
                    <a:lnL w="0">
                      <a:noFill/>
                    </a:lnL>
                    <a:lnR w="0">
                      <a:noFill/>
                    </a:lnR>
                    <a:lnT w="0">
                      <a:noFill/>
                    </a:lnT>
                    <a:lnB w="6350">
                      <a:solidFill>
                        <a:schemeClr val="accent1"/>
                      </a:solidFill>
                    </a:lnB>
                    <a:solidFill>
                      <a:srgbClr val="F4F2FF"/>
                    </a:solidFill>
                  </a:tcPr>
                </a:tc>
              </a:tr>
              <a:tr h="164592">
                <a:tc>
                  <a:txBody>
                    <a:bodyPr/>
                    <a:lstStyle/>
                    <a:p>
                      <a:pPr marL="0" indent="0" algn="ctr">
                        <a:buNone/>
                      </a:pPr>
                      <a:r>
                        <a:rPr lang="en-US" sz="1000" b="1" dirty="0">
                          <a:solidFill>
                            <a:schemeClr val="tx2"/>
                          </a:solidFill>
                        </a:rPr>
                        <a:t>A1-1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~1400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moderate</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Good</a:t>
                      </a:r>
                      <a:endParaRPr lang="en-US" sz="1000" dirty="0"/>
                    </a:p>
                  </a:txBody>
                  <a:tcPr marL="36576" marR="36576" marT="13716" marB="13716" anchor="ctr">
                    <a:lnL w="0">
                      <a:noFill/>
                    </a:lnL>
                    <a:lnR w="0">
                      <a:noFill/>
                    </a:lnR>
                    <a:lnT w="0">
                      <a:noFill/>
                    </a:lnT>
                    <a:lnB w="6350">
                      <a:solidFill>
                        <a:srgbClr val="D9D5F0"/>
                      </a:solidFill>
                    </a:lnB>
                    <a:noFill/>
                  </a:tcPr>
                </a:tc>
              </a:tr>
              <a:tr h="164592">
                <a:tc>
                  <a:txBody>
                    <a:bodyPr/>
                    <a:lstStyle/>
                    <a:p>
                      <a:pPr marL="0" indent="0" algn="ctr">
                        <a:buNone/>
                      </a:pPr>
                      <a:r>
                        <a:rPr lang="en-US" sz="1000" b="1" dirty="0">
                          <a:solidFill>
                            <a:schemeClr val="tx2"/>
                          </a:solidFill>
                        </a:rPr>
                        <a:t>B1-1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weak band</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Excellent</a:t>
                      </a:r>
                      <a:endParaRPr lang="en-US" sz="1000" dirty="0"/>
                    </a:p>
                  </a:txBody>
                  <a:tcPr marL="36576" marR="36576" marT="13716" marB="13716" anchor="ctr">
                    <a:lnL w="0">
                      <a:noFill/>
                    </a:lnL>
                    <a:lnR w="0">
                      <a:noFill/>
                    </a:lnR>
                    <a:lnT w="0">
                      <a:noFill/>
                    </a:lnT>
                    <a:lnB w="6350">
                      <a:solidFill>
                        <a:srgbClr val="D9D5F0"/>
                      </a:solidFill>
                    </a:lnB>
                    <a:noFill/>
                  </a:tcPr>
                </a:tc>
              </a:tr>
              <a:tr h="164592">
                <a:tc>
                  <a:txBody>
                    <a:bodyPr/>
                    <a:lstStyle/>
                    <a:p>
                      <a:pPr marL="0" indent="0" algn="ctr">
                        <a:buNone/>
                      </a:pPr>
                      <a:r>
                        <a:rPr lang="en-US" sz="1000" b="1" dirty="0">
                          <a:solidFill>
                            <a:schemeClr val="tx2"/>
                          </a:solidFill>
                        </a:rPr>
                        <a:t>C1-1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~1600 ≈ ~1400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pronounced</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Very good</a:t>
                      </a:r>
                      <a:endParaRPr lang="en-US" sz="1000" dirty="0"/>
                    </a:p>
                  </a:txBody>
                  <a:tcPr marL="36576" marR="36576" marT="13716" marB="13716" anchor="ctr">
                    <a:lnL w="0">
                      <a:noFill/>
                    </a:lnL>
                    <a:lnR w="0">
                      <a:noFill/>
                    </a:lnR>
                    <a:lnT w="0">
                      <a:noFill/>
                    </a:lnT>
                    <a:lnB w="6350">
                      <a:solidFill>
                        <a:srgbClr val="D9D5F0"/>
                      </a:solidFill>
                    </a:lnB>
                    <a:noFill/>
                  </a:tcPr>
                </a:tc>
              </a:tr>
              <a:tr h="164592">
                <a:tc>
                  <a:txBody>
                    <a:bodyPr/>
                    <a:lstStyle/>
                    <a:p>
                      <a:pPr marL="0" indent="0" algn="ctr">
                        <a:buNone/>
                      </a:pPr>
                      <a:r>
                        <a:rPr lang="en-US" sz="1000" b="1" dirty="0">
                          <a:solidFill>
                            <a:schemeClr val="accent3"/>
                          </a:solidFill>
                        </a:rPr>
                        <a:t>D1-1</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minor</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c>
                  <a:txBody>
                    <a:bodyPr/>
                    <a:lstStyle/>
                    <a:p>
                      <a:pPr marL="0" indent="0" algn="ctr">
                        <a:buNone/>
                      </a:pPr>
                      <a:r>
                        <a:rPr lang="en-US" sz="1000" dirty="0">
                          <a:solidFill>
                            <a:schemeClr val="tx2"/>
                          </a:solidFill>
                        </a:rPr>
                        <a:t>Excellent</a:t>
                      </a:r>
                      <a:endParaRPr lang="en-US" sz="1000" dirty="0"/>
                    </a:p>
                  </a:txBody>
                  <a:tcPr marL="36576" marR="36576" marT="13716" marB="13716" anchor="ctr">
                    <a:lnL w="0">
                      <a:noFill/>
                    </a:lnL>
                    <a:lnR w="0">
                      <a:noFill/>
                    </a:lnR>
                    <a:lnT w="0">
                      <a:noFill/>
                    </a:lnT>
                    <a:lnB w="6350">
                      <a:solidFill>
                        <a:srgbClr val="D9D5F0"/>
                      </a:solidFill>
                    </a:lnB>
                    <a:solidFill>
                      <a:srgbClr val="F4F2FF"/>
                    </a:solidFill>
                  </a:tcPr>
                </a:tc>
              </a:tr>
              <a:tr h="164592">
                <a:tc>
                  <a:txBody>
                    <a:bodyPr/>
                    <a:lstStyle/>
                    <a:p>
                      <a:pPr marL="0" indent="0" algn="ctr">
                        <a:buNone/>
                      </a:pPr>
                      <a:r>
                        <a:rPr lang="en-US" sz="1000" b="1" dirty="0">
                          <a:solidFill>
                            <a:schemeClr val="tx2"/>
                          </a:solidFill>
                        </a:rPr>
                        <a:t>E1-1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~1600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weak band</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moderate</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Very good</a:t>
                      </a:r>
                      <a:endParaRPr lang="en-US" sz="1000" dirty="0"/>
                    </a:p>
                  </a:txBody>
                  <a:tcPr marL="36576" marR="36576" marT="13716" marB="13716" anchor="ctr">
                    <a:lnL w="0">
                      <a:noFill/>
                    </a:lnL>
                    <a:lnR w="0">
                      <a:noFill/>
                    </a:lnR>
                    <a:lnT w="0">
                      <a:noFill/>
                    </a:lnT>
                    <a:lnB w="6350">
                      <a:solidFill>
                        <a:srgbClr val="D9D5F0"/>
                      </a:solidFill>
                    </a:lnB>
                    <a:noFill/>
                  </a:tcPr>
                </a:tc>
              </a:tr>
              <a:tr h="164592">
                <a:tc>
                  <a:txBody>
                    <a:bodyPr/>
                    <a:lstStyle/>
                    <a:p>
                      <a:pPr marL="0" indent="0" algn="ctr">
                        <a:buNone/>
                      </a:pPr>
                      <a:r>
                        <a:rPr lang="en-US" sz="1000" b="1" dirty="0">
                          <a:solidFill>
                            <a:schemeClr val="tx2"/>
                          </a:solidFill>
                        </a:rPr>
                        <a:t>F1-1</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Both present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b="1" dirty="0">
                          <a:solidFill>
                            <a:srgbClr val="B8531A"/>
                          </a:solidFill>
                        </a:rPr>
                        <a:t>~1600 ≈ ~1400</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accent6"/>
                          </a:solidFill>
                        </a:rPr>
                        <a:t>—</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pronounced</a:t>
                      </a:r>
                      <a:endParaRPr lang="en-US" sz="1000" dirty="0"/>
                    </a:p>
                  </a:txBody>
                  <a:tcPr marL="36576" marR="36576" marT="13716" marB="13716" anchor="ctr">
                    <a:lnL w="0">
                      <a:noFill/>
                    </a:lnL>
                    <a:lnR w="0">
                      <a:noFill/>
                    </a:lnR>
                    <a:lnT w="0">
                      <a:noFill/>
                    </a:lnT>
                    <a:lnB w="6350">
                      <a:solidFill>
                        <a:srgbClr val="D9D5F0"/>
                      </a:solidFill>
                    </a:lnB>
                    <a:noFill/>
                  </a:tcPr>
                </a:tc>
                <a:tc>
                  <a:txBody>
                    <a:bodyPr/>
                    <a:lstStyle/>
                    <a:p>
                      <a:pPr marL="0" indent="0" algn="ctr">
                        <a:buNone/>
                      </a:pPr>
                      <a:r>
                        <a:rPr lang="en-US" sz="1000" dirty="0">
                          <a:solidFill>
                            <a:schemeClr val="tx2"/>
                          </a:solidFill>
                        </a:rPr>
                        <a:t>Good</a:t>
                      </a:r>
                      <a:endParaRPr lang="en-US" sz="1000" dirty="0"/>
                    </a:p>
                  </a:txBody>
                  <a:tcPr marL="36576" marR="36576" marT="13716" marB="13716" anchor="ctr">
                    <a:lnL w="0">
                      <a:noFill/>
                    </a:lnL>
                    <a:lnR w="0">
                      <a:noFill/>
                    </a:lnR>
                    <a:lnT w="0">
                      <a:noFill/>
                    </a:lnT>
                    <a:lnB w="6350">
                      <a:solidFill>
                        <a:srgbClr val="D9D5F0"/>
                      </a:solidFill>
                    </a:lnB>
                    <a:noFill/>
                  </a:tcPr>
                </a:tc>
              </a:tr>
            </a:tbl>
          </a:graphicData>
        </a:graphic>
      </p:graphicFrame>
      <p:sp>
        <p:nvSpPr>
          <p:cNvPr id="18" name="FTIR table note"/>
          <p:cNvSpPr txBox="1"/>
          <p:nvPr/>
        </p:nvSpPr>
        <p:spPr>
          <a:xfrm>
            <a:off x="5788152" y="5248656"/>
            <a:ext cx="5952744" cy="329184"/>
          </a:xfrm>
          <a:prstGeom prst="rect">
            <a:avLst/>
          </a:prstGeom>
          <a:noFill/>
          <a:ln/>
        </p:spPr>
        <p:txBody>
          <a:bodyPr wrap="square" lIns="0" tIns="0" rIns="0" bIns="0" rtlCol="0" anchor="t"/>
          <a:lstStyle/>
          <a:p>
            <a:pPr marL="0" indent="0" algn="l">
              <a:buNone/>
            </a:pPr>
            <a:r>
              <a:rPr lang="en-US" sz="950" i="1" dirty="0">
                <a:solidFill>
                  <a:schemeClr val="accent6"/>
                </a:solidFill>
              </a:rPr>
              <a:t>Photographed spectra: small shifts cannot be resolved; noise is measurement-related. Original rating = label in the source figure, not CO₂ data. Frames / shaded rows = most consistent spectra.</a:t>
            </a:r>
            <a:endParaRPr lang="en-US" sz="950" dirty="0"/>
          </a:p>
        </p:txBody>
      </p:sp>
      <p:sp>
        <p:nvSpPr>
          <p:cNvPr id="19" name="Conclusion banner"/>
          <p:cNvSpPr/>
          <p:nvPr/>
        </p:nvSpPr>
        <p:spPr>
          <a:xfrm>
            <a:off x="448056" y="5669280"/>
            <a:ext cx="11292840" cy="384048"/>
          </a:xfrm>
          <a:prstGeom prst="roundRect">
            <a:avLst>
              <a:gd name="adj" fmla="val 12000"/>
            </a:avLst>
          </a:prstGeom>
          <a:solidFill>
            <a:schemeClr val="accent3"/>
          </a:solidFill>
          <a:ln w="12700">
            <a:solidFill>
              <a:schemeClr val="accent3"/>
            </a:solidFill>
            <a:prstDash val="solid"/>
          </a:ln>
        </p:spPr>
      </p:sp>
      <p:sp>
        <p:nvSpPr>
          <p:cNvPr id="20" name="Conclusion text"/>
          <p:cNvSpPr txBox="1"/>
          <p:nvPr/>
        </p:nvSpPr>
        <p:spPr>
          <a:xfrm>
            <a:off x="630936" y="5669280"/>
            <a:ext cx="10927080" cy="384048"/>
          </a:xfrm>
          <a:prstGeom prst="rect">
            <a:avLst/>
          </a:prstGeom>
          <a:noFill/>
          <a:ln/>
        </p:spPr>
        <p:txBody>
          <a:bodyPr wrap="square" lIns="0" tIns="0" rIns="0" bIns="0" rtlCol="0" anchor="ctr"/>
          <a:lstStyle/>
          <a:p>
            <a:pPr marL="0" indent="0" algn="l">
              <a:buNone/>
            </a:pPr>
            <a:r>
              <a:rPr lang="en-US" sz="1150" b="1" dirty="0">
                <a:solidFill>
                  <a:srgbClr val="FFFFFF"/>
                </a:solidFill>
              </a:rPr>
              <a:t xml:space="preserve">FTIR conclusion: </a:t>
            </a:r>
            <a:r>
              <a:rPr lang="en-US" sz="1150" dirty="0">
                <a:solidFill>
                  <a:srgbClr val="FFFFFF"/>
                </a:solidFill>
              </a:rPr>
              <a:t>carboxylate bands are present in all 12. The most consistent spectra are B2-1, C2-1, D2-1, E2-1, F2-1 and D1-1; FTIR alone does not prove the structure or CO₂ performance.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lide title"/>
          <p:cNvSpPr txBox="1"/>
          <p:nvPr/>
        </p:nvSpPr>
        <p:spPr>
          <a:xfrm>
            <a:off x="448056" y="1700784"/>
            <a:ext cx="11292840" cy="502920"/>
          </a:xfrm>
          <a:prstGeom prst="rect">
            <a:avLst/>
          </a:prstGeom>
          <a:noFill/>
          <a:ln/>
        </p:spPr>
        <p:txBody>
          <a:bodyPr wrap="square" lIns="0" tIns="0" rIns="0" bIns="0" rtlCol="0" anchor="ctr"/>
          <a:lstStyle/>
          <a:p>
            <a:pPr marL="0" indent="0" algn="l">
              <a:buNone/>
            </a:pPr>
            <a:r>
              <a:rPr lang="en-US" sz="2600" b="1" dirty="0">
                <a:solidFill>
                  <a:schemeClr val="accent3"/>
                </a:solidFill>
              </a:rPr>
              <a:t>Evidence-Based Sample Selection and Planned Experiments</a:t>
            </a:r>
            <a:endParaRPr lang="en-US" sz="2600" dirty="0"/>
          </a:p>
        </p:txBody>
      </p:sp>
      <p:sp>
        <p:nvSpPr>
          <p:cNvPr id="4" name="Selection label"/>
          <p:cNvSpPr txBox="1"/>
          <p:nvPr/>
        </p:nvSpPr>
        <p:spPr>
          <a:xfrm>
            <a:off x="448056" y="2286000"/>
            <a:ext cx="7086600" cy="201168"/>
          </a:xfrm>
          <a:prstGeom prst="rect">
            <a:avLst/>
          </a:prstGeom>
          <a:noFill/>
          <a:ln/>
        </p:spPr>
        <p:txBody>
          <a:bodyPr wrap="square" lIns="0" tIns="0" rIns="0" bIns="0" rtlCol="0" anchor="ctr"/>
          <a:lstStyle/>
          <a:p>
            <a:pPr marL="0" indent="0" algn="l">
              <a:buNone/>
            </a:pPr>
            <a:r>
              <a:rPr lang="en-US" sz="1100" b="1" kern="0" spc="100" dirty="0">
                <a:solidFill>
                  <a:schemeClr val="accent3"/>
                </a:solidFill>
              </a:rPr>
              <a:t>HOW THE CANDIDATES WERE SELECTED (COMPLETED)</a:t>
            </a:r>
            <a:endParaRPr lang="en-US" sz="1100" dirty="0"/>
          </a:p>
        </p:txBody>
      </p:sp>
      <p:sp>
        <p:nvSpPr>
          <p:cNvPr id="5" name="Stage card 1"/>
          <p:cNvSpPr/>
          <p:nvPr/>
        </p:nvSpPr>
        <p:spPr>
          <a:xfrm>
            <a:off x="448056" y="2560320"/>
            <a:ext cx="7086600" cy="731520"/>
          </a:xfrm>
          <a:prstGeom prst="roundRect">
            <a:avLst>
              <a:gd name="adj" fmla="val 7000"/>
            </a:avLst>
          </a:prstGeom>
          <a:solidFill>
            <a:schemeClr val="bg2"/>
          </a:solidFill>
          <a:ln w="12700">
            <a:solidFill>
              <a:schemeClr val="bg2"/>
            </a:solidFill>
            <a:prstDash val="solid"/>
          </a:ln>
        </p:spPr>
      </p:sp>
      <p:sp>
        <p:nvSpPr>
          <p:cNvPr id="6" name="Stage 1 number"/>
          <p:cNvSpPr/>
          <p:nvPr/>
        </p:nvSpPr>
        <p:spPr>
          <a:xfrm>
            <a:off x="557784" y="2651760"/>
            <a:ext cx="274320" cy="274320"/>
          </a:xfrm>
          <a:prstGeom prst="ellipse">
            <a:avLst/>
          </a:prstGeom>
          <a:solidFill>
            <a:schemeClr val="accent3"/>
          </a:solidFill>
          <a:ln w="12700">
            <a:solidFill>
              <a:schemeClr val="accent3"/>
            </a:solidFill>
            <a:prstDash val="solid"/>
          </a:ln>
        </p:spPr>
      </p:sp>
      <p:sp>
        <p:nvSpPr>
          <p:cNvPr id="7" name="Stage 1 number label"/>
          <p:cNvSpPr txBox="1"/>
          <p:nvPr/>
        </p:nvSpPr>
        <p:spPr>
          <a:xfrm>
            <a:off x="557784" y="265176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8" name="Stage 1 title"/>
          <p:cNvSpPr txBox="1"/>
          <p:nvPr/>
        </p:nvSpPr>
        <p:spPr>
          <a:xfrm>
            <a:off x="905256" y="2633472"/>
            <a:ext cx="1828800" cy="237744"/>
          </a:xfrm>
          <a:prstGeom prst="rect">
            <a:avLst/>
          </a:prstGeom>
          <a:noFill/>
          <a:ln/>
        </p:spPr>
        <p:txBody>
          <a:bodyPr wrap="square" lIns="0" tIns="0" rIns="0" bIns="0" rtlCol="0" anchor="ctr"/>
          <a:lstStyle/>
          <a:p>
            <a:pPr marL="0" indent="0" algn="l">
              <a:buNone/>
            </a:pPr>
            <a:r>
              <a:rPr lang="en-US" sz="1200" b="1" dirty="0">
                <a:solidFill>
                  <a:schemeClr val="accent3"/>
                </a:solidFill>
              </a:rPr>
              <a:t>12 samples</a:t>
            </a:r>
            <a:endParaRPr lang="en-US" sz="1200" dirty="0"/>
          </a:p>
        </p:txBody>
      </p:sp>
      <p:sp>
        <p:nvSpPr>
          <p:cNvPr id="9" name="Stage 1 criterion"/>
          <p:cNvSpPr txBox="1"/>
          <p:nvPr/>
        </p:nvSpPr>
        <p:spPr>
          <a:xfrm>
            <a:off x="905256" y="2862072"/>
            <a:ext cx="1874520" cy="347472"/>
          </a:xfrm>
          <a:prstGeom prst="rect">
            <a:avLst/>
          </a:prstGeom>
          <a:noFill/>
          <a:ln/>
        </p:spPr>
        <p:txBody>
          <a:bodyPr wrap="square" lIns="0" tIns="0" rIns="0" bIns="0" rtlCol="0" anchor="t"/>
          <a:lstStyle/>
          <a:p>
            <a:pPr marL="0" indent="0" algn="l">
              <a:buNone/>
            </a:pPr>
            <a:r>
              <a:rPr lang="en-US" sz="950" dirty="0">
                <a:solidFill>
                  <a:schemeClr val="accent6"/>
                </a:solidFill>
              </a:rPr>
              <a:t>synthesized; XRD and FTIR recorded for all 12</a:t>
            </a:r>
            <a:endParaRPr lang="en-US" sz="950" dirty="0"/>
          </a:p>
        </p:txBody>
      </p:sp>
      <p:sp>
        <p:nvSpPr>
          <p:cNvPr id="10" name="Stage 1 chip A1-1"/>
          <p:cNvSpPr/>
          <p:nvPr/>
        </p:nvSpPr>
        <p:spPr>
          <a:xfrm>
            <a:off x="2843784" y="2633472"/>
            <a:ext cx="365760" cy="219456"/>
          </a:xfrm>
          <a:prstGeom prst="roundRect">
            <a:avLst>
              <a:gd name="adj" fmla="val 30000"/>
            </a:avLst>
          </a:prstGeom>
          <a:solidFill>
            <a:schemeClr val="accent3"/>
          </a:solidFill>
          <a:ln w="12700">
            <a:solidFill>
              <a:schemeClr val="accent3"/>
            </a:solidFill>
            <a:prstDash val="solid"/>
          </a:ln>
        </p:spPr>
      </p:sp>
      <p:sp>
        <p:nvSpPr>
          <p:cNvPr id="11" name="Stage 1 chip A1-1 label"/>
          <p:cNvSpPr txBox="1"/>
          <p:nvPr/>
        </p:nvSpPr>
        <p:spPr>
          <a:xfrm>
            <a:off x="2843784"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A1-1</a:t>
            </a:r>
            <a:endParaRPr lang="en-US" sz="900" dirty="0"/>
          </a:p>
        </p:txBody>
      </p:sp>
      <p:sp>
        <p:nvSpPr>
          <p:cNvPr id="12" name="Stage 1 chip B1-1"/>
          <p:cNvSpPr/>
          <p:nvPr/>
        </p:nvSpPr>
        <p:spPr>
          <a:xfrm>
            <a:off x="3236976" y="2633472"/>
            <a:ext cx="365760" cy="219456"/>
          </a:xfrm>
          <a:prstGeom prst="roundRect">
            <a:avLst>
              <a:gd name="adj" fmla="val 30000"/>
            </a:avLst>
          </a:prstGeom>
          <a:solidFill>
            <a:schemeClr val="accent3"/>
          </a:solidFill>
          <a:ln w="12700">
            <a:solidFill>
              <a:schemeClr val="accent3"/>
            </a:solidFill>
            <a:prstDash val="solid"/>
          </a:ln>
        </p:spPr>
      </p:sp>
      <p:sp>
        <p:nvSpPr>
          <p:cNvPr id="13" name="Stage 1 chip B1-1 label"/>
          <p:cNvSpPr txBox="1"/>
          <p:nvPr/>
        </p:nvSpPr>
        <p:spPr>
          <a:xfrm>
            <a:off x="3236976"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B1-1</a:t>
            </a:r>
            <a:endParaRPr lang="en-US" sz="900" dirty="0"/>
          </a:p>
        </p:txBody>
      </p:sp>
      <p:sp>
        <p:nvSpPr>
          <p:cNvPr id="14" name="Stage 1 chip C1-1"/>
          <p:cNvSpPr/>
          <p:nvPr/>
        </p:nvSpPr>
        <p:spPr>
          <a:xfrm>
            <a:off x="3630168" y="2633472"/>
            <a:ext cx="365760" cy="219456"/>
          </a:xfrm>
          <a:prstGeom prst="roundRect">
            <a:avLst>
              <a:gd name="adj" fmla="val 30000"/>
            </a:avLst>
          </a:prstGeom>
          <a:solidFill>
            <a:schemeClr val="accent3"/>
          </a:solidFill>
          <a:ln w="12700">
            <a:solidFill>
              <a:schemeClr val="accent3"/>
            </a:solidFill>
            <a:prstDash val="solid"/>
          </a:ln>
        </p:spPr>
      </p:sp>
      <p:sp>
        <p:nvSpPr>
          <p:cNvPr id="15" name="Stage 1 chip C1-1 label"/>
          <p:cNvSpPr txBox="1"/>
          <p:nvPr/>
        </p:nvSpPr>
        <p:spPr>
          <a:xfrm>
            <a:off x="3630168"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C1-1</a:t>
            </a:r>
            <a:endParaRPr lang="en-US" sz="900" dirty="0"/>
          </a:p>
        </p:txBody>
      </p:sp>
      <p:sp>
        <p:nvSpPr>
          <p:cNvPr id="16" name="Stage 1 chip D1-1"/>
          <p:cNvSpPr/>
          <p:nvPr/>
        </p:nvSpPr>
        <p:spPr>
          <a:xfrm>
            <a:off x="4023360" y="2633472"/>
            <a:ext cx="365760" cy="219456"/>
          </a:xfrm>
          <a:prstGeom prst="roundRect">
            <a:avLst>
              <a:gd name="adj" fmla="val 30000"/>
            </a:avLst>
          </a:prstGeom>
          <a:solidFill>
            <a:schemeClr val="accent3"/>
          </a:solidFill>
          <a:ln w="12700">
            <a:solidFill>
              <a:schemeClr val="accent3"/>
            </a:solidFill>
            <a:prstDash val="solid"/>
          </a:ln>
        </p:spPr>
      </p:sp>
      <p:sp>
        <p:nvSpPr>
          <p:cNvPr id="17" name="Stage 1 chip D1-1 label"/>
          <p:cNvSpPr txBox="1"/>
          <p:nvPr/>
        </p:nvSpPr>
        <p:spPr>
          <a:xfrm>
            <a:off x="4023360"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D1-1</a:t>
            </a:r>
            <a:endParaRPr lang="en-US" sz="900" dirty="0"/>
          </a:p>
        </p:txBody>
      </p:sp>
      <p:sp>
        <p:nvSpPr>
          <p:cNvPr id="18" name="Stage 1 chip E1-1"/>
          <p:cNvSpPr/>
          <p:nvPr/>
        </p:nvSpPr>
        <p:spPr>
          <a:xfrm>
            <a:off x="4416552" y="2633472"/>
            <a:ext cx="365760" cy="219456"/>
          </a:xfrm>
          <a:prstGeom prst="roundRect">
            <a:avLst>
              <a:gd name="adj" fmla="val 30000"/>
            </a:avLst>
          </a:prstGeom>
          <a:solidFill>
            <a:schemeClr val="accent3"/>
          </a:solidFill>
          <a:ln w="12700">
            <a:solidFill>
              <a:schemeClr val="accent3"/>
            </a:solidFill>
            <a:prstDash val="solid"/>
          </a:ln>
        </p:spPr>
      </p:sp>
      <p:sp>
        <p:nvSpPr>
          <p:cNvPr id="19" name="Stage 1 chip E1-1 label"/>
          <p:cNvSpPr txBox="1"/>
          <p:nvPr/>
        </p:nvSpPr>
        <p:spPr>
          <a:xfrm>
            <a:off x="4416552"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E1-1</a:t>
            </a:r>
            <a:endParaRPr lang="en-US" sz="900" dirty="0"/>
          </a:p>
        </p:txBody>
      </p:sp>
      <p:sp>
        <p:nvSpPr>
          <p:cNvPr id="20" name="Stage 1 chip F1-1"/>
          <p:cNvSpPr/>
          <p:nvPr/>
        </p:nvSpPr>
        <p:spPr>
          <a:xfrm>
            <a:off x="4809744" y="2633472"/>
            <a:ext cx="365760" cy="219456"/>
          </a:xfrm>
          <a:prstGeom prst="roundRect">
            <a:avLst>
              <a:gd name="adj" fmla="val 30000"/>
            </a:avLst>
          </a:prstGeom>
          <a:solidFill>
            <a:schemeClr val="accent3"/>
          </a:solidFill>
          <a:ln w="12700">
            <a:solidFill>
              <a:schemeClr val="accent3"/>
            </a:solidFill>
            <a:prstDash val="solid"/>
          </a:ln>
        </p:spPr>
      </p:sp>
      <p:sp>
        <p:nvSpPr>
          <p:cNvPr id="21" name="Stage 1 chip F1-1 label"/>
          <p:cNvSpPr txBox="1"/>
          <p:nvPr/>
        </p:nvSpPr>
        <p:spPr>
          <a:xfrm>
            <a:off x="4809744"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F1-1</a:t>
            </a:r>
            <a:endParaRPr lang="en-US" sz="900" dirty="0"/>
          </a:p>
        </p:txBody>
      </p:sp>
      <p:sp>
        <p:nvSpPr>
          <p:cNvPr id="22" name="Stage 1 chip A2-1"/>
          <p:cNvSpPr/>
          <p:nvPr/>
        </p:nvSpPr>
        <p:spPr>
          <a:xfrm>
            <a:off x="5202936" y="2633472"/>
            <a:ext cx="365760" cy="219456"/>
          </a:xfrm>
          <a:prstGeom prst="roundRect">
            <a:avLst>
              <a:gd name="adj" fmla="val 30000"/>
            </a:avLst>
          </a:prstGeom>
          <a:solidFill>
            <a:schemeClr val="accent3"/>
          </a:solidFill>
          <a:ln w="12700">
            <a:solidFill>
              <a:schemeClr val="accent3"/>
            </a:solidFill>
            <a:prstDash val="solid"/>
          </a:ln>
        </p:spPr>
      </p:sp>
      <p:sp>
        <p:nvSpPr>
          <p:cNvPr id="23" name="Stage 1 chip A2-1 label"/>
          <p:cNvSpPr txBox="1"/>
          <p:nvPr/>
        </p:nvSpPr>
        <p:spPr>
          <a:xfrm>
            <a:off x="5202936"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A2-1</a:t>
            </a:r>
            <a:endParaRPr lang="en-US" sz="900" dirty="0"/>
          </a:p>
        </p:txBody>
      </p:sp>
      <p:sp>
        <p:nvSpPr>
          <p:cNvPr id="24" name="Stage 1 chip B2-1"/>
          <p:cNvSpPr/>
          <p:nvPr/>
        </p:nvSpPr>
        <p:spPr>
          <a:xfrm>
            <a:off x="5596128" y="2633472"/>
            <a:ext cx="365760" cy="219456"/>
          </a:xfrm>
          <a:prstGeom prst="roundRect">
            <a:avLst>
              <a:gd name="adj" fmla="val 30000"/>
            </a:avLst>
          </a:prstGeom>
          <a:solidFill>
            <a:schemeClr val="accent3"/>
          </a:solidFill>
          <a:ln w="12700">
            <a:solidFill>
              <a:schemeClr val="accent3"/>
            </a:solidFill>
            <a:prstDash val="solid"/>
          </a:ln>
        </p:spPr>
      </p:sp>
      <p:sp>
        <p:nvSpPr>
          <p:cNvPr id="25" name="Stage 1 chip B2-1 label"/>
          <p:cNvSpPr txBox="1"/>
          <p:nvPr/>
        </p:nvSpPr>
        <p:spPr>
          <a:xfrm>
            <a:off x="5596128"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B2-1</a:t>
            </a:r>
            <a:endParaRPr lang="en-US" sz="900" dirty="0"/>
          </a:p>
        </p:txBody>
      </p:sp>
      <p:sp>
        <p:nvSpPr>
          <p:cNvPr id="26" name="Stage 1 chip C2-1"/>
          <p:cNvSpPr/>
          <p:nvPr/>
        </p:nvSpPr>
        <p:spPr>
          <a:xfrm>
            <a:off x="5989320" y="2633472"/>
            <a:ext cx="365760" cy="219456"/>
          </a:xfrm>
          <a:prstGeom prst="roundRect">
            <a:avLst>
              <a:gd name="adj" fmla="val 30000"/>
            </a:avLst>
          </a:prstGeom>
          <a:solidFill>
            <a:schemeClr val="accent3"/>
          </a:solidFill>
          <a:ln w="12700">
            <a:solidFill>
              <a:schemeClr val="accent3"/>
            </a:solidFill>
            <a:prstDash val="solid"/>
          </a:ln>
        </p:spPr>
      </p:sp>
      <p:sp>
        <p:nvSpPr>
          <p:cNvPr id="27" name="Stage 1 chip C2-1 label"/>
          <p:cNvSpPr txBox="1"/>
          <p:nvPr/>
        </p:nvSpPr>
        <p:spPr>
          <a:xfrm>
            <a:off x="5989320"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C2-1</a:t>
            </a:r>
            <a:endParaRPr lang="en-US" sz="900" dirty="0"/>
          </a:p>
        </p:txBody>
      </p:sp>
      <p:sp>
        <p:nvSpPr>
          <p:cNvPr id="28" name="Stage 1 chip D2-1"/>
          <p:cNvSpPr/>
          <p:nvPr/>
        </p:nvSpPr>
        <p:spPr>
          <a:xfrm>
            <a:off x="6382512" y="2633472"/>
            <a:ext cx="365760" cy="219456"/>
          </a:xfrm>
          <a:prstGeom prst="roundRect">
            <a:avLst>
              <a:gd name="adj" fmla="val 30000"/>
            </a:avLst>
          </a:prstGeom>
          <a:solidFill>
            <a:schemeClr val="accent3"/>
          </a:solidFill>
          <a:ln w="12700">
            <a:solidFill>
              <a:schemeClr val="accent3"/>
            </a:solidFill>
            <a:prstDash val="solid"/>
          </a:ln>
        </p:spPr>
      </p:sp>
      <p:sp>
        <p:nvSpPr>
          <p:cNvPr id="29" name="Stage 1 chip D2-1 label"/>
          <p:cNvSpPr txBox="1"/>
          <p:nvPr/>
        </p:nvSpPr>
        <p:spPr>
          <a:xfrm>
            <a:off x="6382512"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D2-1</a:t>
            </a:r>
            <a:endParaRPr lang="en-US" sz="900" dirty="0"/>
          </a:p>
        </p:txBody>
      </p:sp>
      <p:sp>
        <p:nvSpPr>
          <p:cNvPr id="30" name="Stage 1 chip E2-1"/>
          <p:cNvSpPr/>
          <p:nvPr/>
        </p:nvSpPr>
        <p:spPr>
          <a:xfrm>
            <a:off x="6775704" y="2633472"/>
            <a:ext cx="365760" cy="219456"/>
          </a:xfrm>
          <a:prstGeom prst="roundRect">
            <a:avLst>
              <a:gd name="adj" fmla="val 30000"/>
            </a:avLst>
          </a:prstGeom>
          <a:solidFill>
            <a:schemeClr val="accent3"/>
          </a:solidFill>
          <a:ln w="12700">
            <a:solidFill>
              <a:schemeClr val="accent3"/>
            </a:solidFill>
            <a:prstDash val="solid"/>
          </a:ln>
        </p:spPr>
      </p:sp>
      <p:sp>
        <p:nvSpPr>
          <p:cNvPr id="31" name="Stage 1 chip E2-1 label"/>
          <p:cNvSpPr txBox="1"/>
          <p:nvPr/>
        </p:nvSpPr>
        <p:spPr>
          <a:xfrm>
            <a:off x="6775704"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E2-1</a:t>
            </a:r>
            <a:endParaRPr lang="en-US" sz="900" dirty="0"/>
          </a:p>
        </p:txBody>
      </p:sp>
      <p:sp>
        <p:nvSpPr>
          <p:cNvPr id="32" name="Stage 1 chip F2-1"/>
          <p:cNvSpPr/>
          <p:nvPr/>
        </p:nvSpPr>
        <p:spPr>
          <a:xfrm>
            <a:off x="7168896" y="2633472"/>
            <a:ext cx="365760" cy="219456"/>
          </a:xfrm>
          <a:prstGeom prst="roundRect">
            <a:avLst>
              <a:gd name="adj" fmla="val 30000"/>
            </a:avLst>
          </a:prstGeom>
          <a:solidFill>
            <a:schemeClr val="accent3"/>
          </a:solidFill>
          <a:ln w="12700">
            <a:solidFill>
              <a:schemeClr val="accent3"/>
            </a:solidFill>
            <a:prstDash val="solid"/>
          </a:ln>
        </p:spPr>
      </p:sp>
      <p:sp>
        <p:nvSpPr>
          <p:cNvPr id="33" name="Stage 1 chip F2-1 label"/>
          <p:cNvSpPr txBox="1"/>
          <p:nvPr/>
        </p:nvSpPr>
        <p:spPr>
          <a:xfrm>
            <a:off x="7168896" y="2633472"/>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F2-1</a:t>
            </a:r>
            <a:endParaRPr lang="en-US" sz="900" dirty="0"/>
          </a:p>
        </p:txBody>
      </p:sp>
      <p:sp>
        <p:nvSpPr>
          <p:cNvPr id="34" name="Stage 1 note"/>
          <p:cNvSpPr txBox="1"/>
          <p:nvPr/>
        </p:nvSpPr>
        <p:spPr>
          <a:xfrm>
            <a:off x="2843784" y="2889504"/>
            <a:ext cx="4581144" cy="329184"/>
          </a:xfrm>
          <a:prstGeom prst="rect">
            <a:avLst/>
          </a:prstGeom>
          <a:noFill/>
          <a:ln/>
        </p:spPr>
        <p:txBody>
          <a:bodyPr wrap="square" lIns="0" tIns="0" rIns="0" bIns="0" rtlCol="0" anchor="t"/>
          <a:lstStyle/>
          <a:p>
            <a:pPr marL="0" indent="0" algn="l">
              <a:buNone/>
            </a:pPr>
            <a:r>
              <a:rPr lang="en-US" sz="1000" b="1" dirty="0">
                <a:solidFill>
                  <a:schemeClr val="accent3"/>
                </a:solidFill>
              </a:rPr>
              <a:t xml:space="preserve">Starting set: </a:t>
            </a:r>
            <a:r>
              <a:rPr lang="en-US" sz="1000" dirty="0">
                <a:solidFill>
                  <a:schemeClr val="tx2"/>
                </a:solidFill>
              </a:rPr>
              <a:t>both techniques compared across all samples (slides 4–5).</a:t>
            </a:r>
            <a:endParaRPr lang="en-US" sz="1000" dirty="0"/>
          </a:p>
        </p:txBody>
      </p:sp>
      <p:sp>
        <p:nvSpPr>
          <p:cNvPr id="35" name="Stage arrow 1"/>
          <p:cNvSpPr/>
          <p:nvPr/>
        </p:nvSpPr>
        <p:spPr>
          <a:xfrm>
            <a:off x="694944" y="3291840"/>
            <a:ext cx="0" cy="73152"/>
          </a:xfrm>
          <a:prstGeom prst="line">
            <a:avLst/>
          </a:prstGeom>
          <a:noFill/>
          <a:ln w="19050">
            <a:solidFill>
              <a:schemeClr val="accent3"/>
            </a:solidFill>
            <a:prstDash val="solid"/>
            <a:tailEnd type="triangle"/>
          </a:ln>
        </p:spPr>
      </p:sp>
      <p:sp>
        <p:nvSpPr>
          <p:cNvPr id="36" name="Stage card 2"/>
          <p:cNvSpPr/>
          <p:nvPr/>
        </p:nvSpPr>
        <p:spPr>
          <a:xfrm>
            <a:off x="448056" y="3364992"/>
            <a:ext cx="7086600" cy="731520"/>
          </a:xfrm>
          <a:prstGeom prst="roundRect">
            <a:avLst>
              <a:gd name="adj" fmla="val 7000"/>
            </a:avLst>
          </a:prstGeom>
          <a:solidFill>
            <a:schemeClr val="bg2"/>
          </a:solidFill>
          <a:ln w="12700">
            <a:solidFill>
              <a:schemeClr val="bg2"/>
            </a:solidFill>
            <a:prstDash val="solid"/>
          </a:ln>
        </p:spPr>
      </p:sp>
      <p:sp>
        <p:nvSpPr>
          <p:cNvPr id="37" name="Stage 2 number"/>
          <p:cNvSpPr/>
          <p:nvPr/>
        </p:nvSpPr>
        <p:spPr>
          <a:xfrm>
            <a:off x="557784" y="3456432"/>
            <a:ext cx="274320" cy="274320"/>
          </a:xfrm>
          <a:prstGeom prst="ellipse">
            <a:avLst/>
          </a:prstGeom>
          <a:solidFill>
            <a:schemeClr val="accent3"/>
          </a:solidFill>
          <a:ln w="12700">
            <a:solidFill>
              <a:schemeClr val="accent3"/>
            </a:solidFill>
            <a:prstDash val="solid"/>
          </a:ln>
        </p:spPr>
      </p:sp>
      <p:sp>
        <p:nvSpPr>
          <p:cNvPr id="38" name="Stage 2 number label"/>
          <p:cNvSpPr txBox="1"/>
          <p:nvPr/>
        </p:nvSpPr>
        <p:spPr>
          <a:xfrm>
            <a:off x="557784" y="345643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39" name="Stage 2 title"/>
          <p:cNvSpPr txBox="1"/>
          <p:nvPr/>
        </p:nvSpPr>
        <p:spPr>
          <a:xfrm>
            <a:off x="905256" y="3438144"/>
            <a:ext cx="1828800" cy="237744"/>
          </a:xfrm>
          <a:prstGeom prst="rect">
            <a:avLst/>
          </a:prstGeom>
          <a:noFill/>
          <a:ln/>
        </p:spPr>
        <p:txBody>
          <a:bodyPr wrap="square" lIns="0" tIns="0" rIns="0" bIns="0" rtlCol="0" anchor="ctr"/>
          <a:lstStyle/>
          <a:p>
            <a:pPr marL="0" indent="0" algn="l">
              <a:buNone/>
            </a:pPr>
            <a:r>
              <a:rPr lang="en-US" sz="1200" b="1" dirty="0">
                <a:solidFill>
                  <a:schemeClr val="accent3"/>
                </a:solidFill>
              </a:rPr>
              <a:t>XRD screen</a:t>
            </a:r>
            <a:endParaRPr lang="en-US" sz="1200" dirty="0"/>
          </a:p>
        </p:txBody>
      </p:sp>
      <p:sp>
        <p:nvSpPr>
          <p:cNvPr id="40" name="Stage 2 criterion"/>
          <p:cNvSpPr txBox="1"/>
          <p:nvPr/>
        </p:nvSpPr>
        <p:spPr>
          <a:xfrm>
            <a:off x="905256" y="3666744"/>
            <a:ext cx="1874520" cy="347472"/>
          </a:xfrm>
          <a:prstGeom prst="rect">
            <a:avLst/>
          </a:prstGeom>
          <a:noFill/>
          <a:ln/>
        </p:spPr>
        <p:txBody>
          <a:bodyPr wrap="square" lIns="0" tIns="0" rIns="0" bIns="0" rtlCol="0" anchor="t"/>
          <a:lstStyle/>
          <a:p>
            <a:pPr marL="0" indent="0" algn="l">
              <a:buNone/>
            </a:pPr>
            <a:r>
              <a:rPr lang="en-US" sz="950" dirty="0">
                <a:solidFill>
                  <a:schemeClr val="accent6"/>
                </a:solidFill>
              </a:rPr>
              <a:t>complete set, well-defined peaks, no extra or shifted peaks</a:t>
            </a:r>
            <a:endParaRPr lang="en-US" sz="950" dirty="0"/>
          </a:p>
        </p:txBody>
      </p:sp>
      <p:sp>
        <p:nvSpPr>
          <p:cNvPr id="41" name="Stage 2 chip A1-1"/>
          <p:cNvSpPr/>
          <p:nvPr/>
        </p:nvSpPr>
        <p:spPr>
          <a:xfrm>
            <a:off x="2843784" y="3438144"/>
            <a:ext cx="365760" cy="219456"/>
          </a:xfrm>
          <a:prstGeom prst="roundRect">
            <a:avLst>
              <a:gd name="adj" fmla="val 30000"/>
            </a:avLst>
          </a:prstGeom>
          <a:solidFill>
            <a:srgbClr val="FFFFFF"/>
          </a:solidFill>
          <a:ln w="12700">
            <a:solidFill>
              <a:srgbClr val="C9C6D6"/>
            </a:solidFill>
            <a:prstDash val="solid"/>
          </a:ln>
        </p:spPr>
      </p:sp>
      <p:sp>
        <p:nvSpPr>
          <p:cNvPr id="42" name="Stage 2 chip A1-1 label"/>
          <p:cNvSpPr txBox="1"/>
          <p:nvPr/>
        </p:nvSpPr>
        <p:spPr>
          <a:xfrm>
            <a:off x="2843784"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A1-1</a:t>
            </a:r>
            <a:endParaRPr lang="en-US" sz="900" dirty="0"/>
          </a:p>
        </p:txBody>
      </p:sp>
      <p:sp>
        <p:nvSpPr>
          <p:cNvPr id="43" name="Stage 2 chip B1-1"/>
          <p:cNvSpPr/>
          <p:nvPr/>
        </p:nvSpPr>
        <p:spPr>
          <a:xfrm>
            <a:off x="3236976" y="3438144"/>
            <a:ext cx="365760" cy="219456"/>
          </a:xfrm>
          <a:prstGeom prst="roundRect">
            <a:avLst>
              <a:gd name="adj" fmla="val 30000"/>
            </a:avLst>
          </a:prstGeom>
          <a:solidFill>
            <a:srgbClr val="FFFFFF"/>
          </a:solidFill>
          <a:ln w="12700">
            <a:solidFill>
              <a:srgbClr val="C9C6D6"/>
            </a:solidFill>
            <a:prstDash val="solid"/>
          </a:ln>
        </p:spPr>
      </p:sp>
      <p:sp>
        <p:nvSpPr>
          <p:cNvPr id="44" name="Stage 2 chip B1-1 label"/>
          <p:cNvSpPr txBox="1"/>
          <p:nvPr/>
        </p:nvSpPr>
        <p:spPr>
          <a:xfrm>
            <a:off x="3236976"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B1-1</a:t>
            </a:r>
            <a:endParaRPr lang="en-US" sz="900" dirty="0"/>
          </a:p>
        </p:txBody>
      </p:sp>
      <p:sp>
        <p:nvSpPr>
          <p:cNvPr id="45" name="Stage 2 chip C1-1"/>
          <p:cNvSpPr/>
          <p:nvPr/>
        </p:nvSpPr>
        <p:spPr>
          <a:xfrm>
            <a:off x="3630168" y="3438144"/>
            <a:ext cx="365760" cy="219456"/>
          </a:xfrm>
          <a:prstGeom prst="roundRect">
            <a:avLst>
              <a:gd name="adj" fmla="val 30000"/>
            </a:avLst>
          </a:prstGeom>
          <a:solidFill>
            <a:srgbClr val="FFFFFF"/>
          </a:solidFill>
          <a:ln w="12700">
            <a:solidFill>
              <a:srgbClr val="C9C6D6"/>
            </a:solidFill>
            <a:prstDash val="solid"/>
          </a:ln>
        </p:spPr>
      </p:sp>
      <p:sp>
        <p:nvSpPr>
          <p:cNvPr id="46" name="Stage 2 chip C1-1 label"/>
          <p:cNvSpPr txBox="1"/>
          <p:nvPr/>
        </p:nvSpPr>
        <p:spPr>
          <a:xfrm>
            <a:off x="3630168"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C1-1</a:t>
            </a:r>
            <a:endParaRPr lang="en-US" sz="900" dirty="0"/>
          </a:p>
        </p:txBody>
      </p:sp>
      <p:sp>
        <p:nvSpPr>
          <p:cNvPr id="47" name="Stage 2 chip D1-1"/>
          <p:cNvSpPr/>
          <p:nvPr/>
        </p:nvSpPr>
        <p:spPr>
          <a:xfrm>
            <a:off x="4023360" y="3438144"/>
            <a:ext cx="365760" cy="219456"/>
          </a:xfrm>
          <a:prstGeom prst="roundRect">
            <a:avLst>
              <a:gd name="adj" fmla="val 30000"/>
            </a:avLst>
          </a:prstGeom>
          <a:solidFill>
            <a:schemeClr val="accent3"/>
          </a:solidFill>
          <a:ln w="12700">
            <a:solidFill>
              <a:schemeClr val="accent3"/>
            </a:solidFill>
            <a:prstDash val="solid"/>
          </a:ln>
        </p:spPr>
      </p:sp>
      <p:sp>
        <p:nvSpPr>
          <p:cNvPr id="48" name="Stage 2 chip D1-1 label"/>
          <p:cNvSpPr txBox="1"/>
          <p:nvPr/>
        </p:nvSpPr>
        <p:spPr>
          <a:xfrm>
            <a:off x="4023360" y="3438144"/>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D1-1</a:t>
            </a:r>
            <a:endParaRPr lang="en-US" sz="900" dirty="0"/>
          </a:p>
        </p:txBody>
      </p:sp>
      <p:sp>
        <p:nvSpPr>
          <p:cNvPr id="49" name="Stage 2 chip E1-1"/>
          <p:cNvSpPr/>
          <p:nvPr/>
        </p:nvSpPr>
        <p:spPr>
          <a:xfrm>
            <a:off x="4416552" y="3438144"/>
            <a:ext cx="365760" cy="219456"/>
          </a:xfrm>
          <a:prstGeom prst="roundRect">
            <a:avLst>
              <a:gd name="adj" fmla="val 30000"/>
            </a:avLst>
          </a:prstGeom>
          <a:solidFill>
            <a:srgbClr val="FFFFFF"/>
          </a:solidFill>
          <a:ln w="12700">
            <a:solidFill>
              <a:srgbClr val="C9C6D6"/>
            </a:solidFill>
            <a:prstDash val="solid"/>
          </a:ln>
        </p:spPr>
      </p:sp>
      <p:sp>
        <p:nvSpPr>
          <p:cNvPr id="50" name="Stage 2 chip E1-1 label"/>
          <p:cNvSpPr txBox="1"/>
          <p:nvPr/>
        </p:nvSpPr>
        <p:spPr>
          <a:xfrm>
            <a:off x="4416552"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E1-1</a:t>
            </a:r>
            <a:endParaRPr lang="en-US" sz="900" dirty="0"/>
          </a:p>
        </p:txBody>
      </p:sp>
      <p:sp>
        <p:nvSpPr>
          <p:cNvPr id="51" name="Stage 2 chip F1-1"/>
          <p:cNvSpPr/>
          <p:nvPr/>
        </p:nvSpPr>
        <p:spPr>
          <a:xfrm>
            <a:off x="4809744" y="3438144"/>
            <a:ext cx="365760" cy="219456"/>
          </a:xfrm>
          <a:prstGeom prst="roundRect">
            <a:avLst>
              <a:gd name="adj" fmla="val 30000"/>
            </a:avLst>
          </a:prstGeom>
          <a:solidFill>
            <a:srgbClr val="FFFFFF"/>
          </a:solidFill>
          <a:ln w="12700">
            <a:solidFill>
              <a:srgbClr val="C9C6D6"/>
            </a:solidFill>
            <a:prstDash val="solid"/>
          </a:ln>
        </p:spPr>
      </p:sp>
      <p:sp>
        <p:nvSpPr>
          <p:cNvPr id="52" name="Stage 2 chip F1-1 label"/>
          <p:cNvSpPr txBox="1"/>
          <p:nvPr/>
        </p:nvSpPr>
        <p:spPr>
          <a:xfrm>
            <a:off x="4809744"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F1-1</a:t>
            </a:r>
            <a:endParaRPr lang="en-US" sz="900" dirty="0"/>
          </a:p>
        </p:txBody>
      </p:sp>
      <p:sp>
        <p:nvSpPr>
          <p:cNvPr id="53" name="Stage 2 chip A2-1"/>
          <p:cNvSpPr/>
          <p:nvPr/>
        </p:nvSpPr>
        <p:spPr>
          <a:xfrm>
            <a:off x="5202936" y="3438144"/>
            <a:ext cx="365760" cy="219456"/>
          </a:xfrm>
          <a:prstGeom prst="roundRect">
            <a:avLst>
              <a:gd name="adj" fmla="val 30000"/>
            </a:avLst>
          </a:prstGeom>
          <a:solidFill>
            <a:srgbClr val="FFFFFF"/>
          </a:solidFill>
          <a:ln w="12700">
            <a:solidFill>
              <a:srgbClr val="C9C6D6"/>
            </a:solidFill>
            <a:prstDash val="solid"/>
          </a:ln>
        </p:spPr>
      </p:sp>
      <p:sp>
        <p:nvSpPr>
          <p:cNvPr id="54" name="Stage 2 chip A2-1 label"/>
          <p:cNvSpPr txBox="1"/>
          <p:nvPr/>
        </p:nvSpPr>
        <p:spPr>
          <a:xfrm>
            <a:off x="5202936"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A2-1</a:t>
            </a:r>
            <a:endParaRPr lang="en-US" sz="900" dirty="0"/>
          </a:p>
        </p:txBody>
      </p:sp>
      <p:sp>
        <p:nvSpPr>
          <p:cNvPr id="55" name="Stage 2 chip B2-1"/>
          <p:cNvSpPr/>
          <p:nvPr/>
        </p:nvSpPr>
        <p:spPr>
          <a:xfrm>
            <a:off x="5596128" y="3438144"/>
            <a:ext cx="365760" cy="219456"/>
          </a:xfrm>
          <a:prstGeom prst="roundRect">
            <a:avLst>
              <a:gd name="adj" fmla="val 30000"/>
            </a:avLst>
          </a:prstGeom>
          <a:solidFill>
            <a:schemeClr val="accent3"/>
          </a:solidFill>
          <a:ln w="12700">
            <a:solidFill>
              <a:schemeClr val="accent3"/>
            </a:solidFill>
            <a:prstDash val="solid"/>
          </a:ln>
        </p:spPr>
      </p:sp>
      <p:sp>
        <p:nvSpPr>
          <p:cNvPr id="56" name="Stage 2 chip B2-1 label"/>
          <p:cNvSpPr txBox="1"/>
          <p:nvPr/>
        </p:nvSpPr>
        <p:spPr>
          <a:xfrm>
            <a:off x="5596128" y="3438144"/>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B2-1</a:t>
            </a:r>
            <a:endParaRPr lang="en-US" sz="900" dirty="0"/>
          </a:p>
        </p:txBody>
      </p:sp>
      <p:sp>
        <p:nvSpPr>
          <p:cNvPr id="57" name="Stage 2 chip C2-1"/>
          <p:cNvSpPr/>
          <p:nvPr/>
        </p:nvSpPr>
        <p:spPr>
          <a:xfrm>
            <a:off x="5989320" y="3438144"/>
            <a:ext cx="365760" cy="219456"/>
          </a:xfrm>
          <a:prstGeom prst="roundRect">
            <a:avLst>
              <a:gd name="adj" fmla="val 30000"/>
            </a:avLst>
          </a:prstGeom>
          <a:solidFill>
            <a:schemeClr val="accent3"/>
          </a:solidFill>
          <a:ln w="12700">
            <a:solidFill>
              <a:schemeClr val="accent3"/>
            </a:solidFill>
            <a:prstDash val="solid"/>
          </a:ln>
        </p:spPr>
      </p:sp>
      <p:sp>
        <p:nvSpPr>
          <p:cNvPr id="58" name="Stage 2 chip C2-1 label"/>
          <p:cNvSpPr txBox="1"/>
          <p:nvPr/>
        </p:nvSpPr>
        <p:spPr>
          <a:xfrm>
            <a:off x="5989320" y="3438144"/>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C2-1</a:t>
            </a:r>
            <a:endParaRPr lang="en-US" sz="900" dirty="0"/>
          </a:p>
        </p:txBody>
      </p:sp>
      <p:sp>
        <p:nvSpPr>
          <p:cNvPr id="59" name="Stage 2 chip D2-1"/>
          <p:cNvSpPr/>
          <p:nvPr/>
        </p:nvSpPr>
        <p:spPr>
          <a:xfrm>
            <a:off x="6382512" y="3438144"/>
            <a:ext cx="365760" cy="219456"/>
          </a:xfrm>
          <a:prstGeom prst="roundRect">
            <a:avLst>
              <a:gd name="adj" fmla="val 30000"/>
            </a:avLst>
          </a:prstGeom>
          <a:solidFill>
            <a:srgbClr val="FFFFFF"/>
          </a:solidFill>
          <a:ln w="12700">
            <a:solidFill>
              <a:srgbClr val="C9C6D6"/>
            </a:solidFill>
            <a:prstDash val="solid"/>
          </a:ln>
        </p:spPr>
      </p:sp>
      <p:sp>
        <p:nvSpPr>
          <p:cNvPr id="60" name="Stage 2 chip D2-1 label"/>
          <p:cNvSpPr txBox="1"/>
          <p:nvPr/>
        </p:nvSpPr>
        <p:spPr>
          <a:xfrm>
            <a:off x="6382512" y="3438144"/>
            <a:ext cx="365760" cy="219456"/>
          </a:xfrm>
          <a:prstGeom prst="rect">
            <a:avLst/>
          </a:prstGeom>
          <a:noFill/>
          <a:ln/>
        </p:spPr>
        <p:txBody>
          <a:bodyPr wrap="square" lIns="0" tIns="0" rIns="0" bIns="0" rtlCol="0" anchor="ctr"/>
          <a:lstStyle/>
          <a:p>
            <a:pPr marL="0" indent="0" algn="ctr">
              <a:buNone/>
            </a:pPr>
            <a:r>
              <a:rPr lang="en-US" sz="900" b="1" dirty="0">
                <a:solidFill>
                  <a:srgbClr val="A3A0B0"/>
                </a:solidFill>
              </a:rPr>
              <a:t>D2-1</a:t>
            </a:r>
            <a:endParaRPr lang="en-US" sz="900" dirty="0"/>
          </a:p>
        </p:txBody>
      </p:sp>
      <p:sp>
        <p:nvSpPr>
          <p:cNvPr id="61" name="Stage 2 chip E2-1"/>
          <p:cNvSpPr/>
          <p:nvPr/>
        </p:nvSpPr>
        <p:spPr>
          <a:xfrm>
            <a:off x="6775704" y="3438144"/>
            <a:ext cx="365760" cy="219456"/>
          </a:xfrm>
          <a:prstGeom prst="roundRect">
            <a:avLst>
              <a:gd name="adj" fmla="val 30000"/>
            </a:avLst>
          </a:prstGeom>
          <a:solidFill>
            <a:schemeClr val="accent3"/>
          </a:solidFill>
          <a:ln w="12700">
            <a:solidFill>
              <a:schemeClr val="accent3"/>
            </a:solidFill>
            <a:prstDash val="solid"/>
          </a:ln>
        </p:spPr>
      </p:sp>
      <p:sp>
        <p:nvSpPr>
          <p:cNvPr id="62" name="Stage 2 chip E2-1 label"/>
          <p:cNvSpPr txBox="1"/>
          <p:nvPr/>
        </p:nvSpPr>
        <p:spPr>
          <a:xfrm>
            <a:off x="6775704" y="3438144"/>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E2-1</a:t>
            </a:r>
            <a:endParaRPr lang="en-US" sz="900" dirty="0"/>
          </a:p>
        </p:txBody>
      </p:sp>
      <p:sp>
        <p:nvSpPr>
          <p:cNvPr id="63" name="Stage 2 chip F2-1"/>
          <p:cNvSpPr/>
          <p:nvPr/>
        </p:nvSpPr>
        <p:spPr>
          <a:xfrm>
            <a:off x="7168896" y="3438144"/>
            <a:ext cx="365760" cy="219456"/>
          </a:xfrm>
          <a:prstGeom prst="roundRect">
            <a:avLst>
              <a:gd name="adj" fmla="val 30000"/>
            </a:avLst>
          </a:prstGeom>
          <a:solidFill>
            <a:schemeClr val="accent3"/>
          </a:solidFill>
          <a:ln w="12700">
            <a:solidFill>
              <a:schemeClr val="accent3"/>
            </a:solidFill>
            <a:prstDash val="solid"/>
          </a:ln>
        </p:spPr>
      </p:sp>
      <p:sp>
        <p:nvSpPr>
          <p:cNvPr id="64" name="Stage 2 chip F2-1 label"/>
          <p:cNvSpPr txBox="1"/>
          <p:nvPr/>
        </p:nvSpPr>
        <p:spPr>
          <a:xfrm>
            <a:off x="7168896" y="3438144"/>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F2-1</a:t>
            </a:r>
            <a:endParaRPr lang="en-US" sz="900" dirty="0"/>
          </a:p>
        </p:txBody>
      </p:sp>
      <p:sp>
        <p:nvSpPr>
          <p:cNvPr id="65" name="Stage 2 note"/>
          <p:cNvSpPr txBox="1"/>
          <p:nvPr/>
        </p:nvSpPr>
        <p:spPr>
          <a:xfrm>
            <a:off x="2843784" y="3694176"/>
            <a:ext cx="4581144" cy="329184"/>
          </a:xfrm>
          <a:prstGeom prst="rect">
            <a:avLst/>
          </a:prstGeom>
          <a:noFill/>
          <a:ln/>
        </p:spPr>
        <p:txBody>
          <a:bodyPr wrap="square" lIns="0" tIns="0" rIns="0" bIns="0" rtlCol="0" anchor="t"/>
          <a:lstStyle/>
          <a:p>
            <a:pPr marL="0" indent="0" algn="l">
              <a:buNone/>
            </a:pPr>
            <a:r>
              <a:rPr lang="en-US" sz="1000" b="1" dirty="0">
                <a:solidFill>
                  <a:srgbClr val="B8531A"/>
                </a:solidFill>
              </a:rPr>
              <a:t xml:space="preserve">Excluded: </a:t>
            </a:r>
            <a:r>
              <a:rPr lang="en-US" sz="1000" dirty="0">
                <a:solidFill>
                  <a:schemeClr val="tx2"/>
                </a:solidFill>
              </a:rPr>
              <a:t>extra reflection (A1-1, B1-1, C1-1, F1-1) · shifted set (E1-1) · rougher background (D2-1) · only three labelled peaks (A2-1)</a:t>
            </a:r>
            <a:endParaRPr lang="en-US" sz="1000" dirty="0"/>
          </a:p>
        </p:txBody>
      </p:sp>
      <p:sp>
        <p:nvSpPr>
          <p:cNvPr id="66" name="Stage arrow 2"/>
          <p:cNvSpPr/>
          <p:nvPr/>
        </p:nvSpPr>
        <p:spPr>
          <a:xfrm>
            <a:off x="694944" y="4096512"/>
            <a:ext cx="0" cy="73152"/>
          </a:xfrm>
          <a:prstGeom prst="line">
            <a:avLst/>
          </a:prstGeom>
          <a:noFill/>
          <a:ln w="19050">
            <a:solidFill>
              <a:schemeClr val="accent3"/>
            </a:solidFill>
            <a:prstDash val="solid"/>
            <a:tailEnd type="triangle"/>
          </a:ln>
        </p:spPr>
      </p:sp>
      <p:sp>
        <p:nvSpPr>
          <p:cNvPr id="67" name="Stage card 3"/>
          <p:cNvSpPr/>
          <p:nvPr/>
        </p:nvSpPr>
        <p:spPr>
          <a:xfrm>
            <a:off x="448056" y="4169664"/>
            <a:ext cx="7086600" cy="731520"/>
          </a:xfrm>
          <a:prstGeom prst="roundRect">
            <a:avLst>
              <a:gd name="adj" fmla="val 7000"/>
            </a:avLst>
          </a:prstGeom>
          <a:solidFill>
            <a:schemeClr val="bg2"/>
          </a:solidFill>
          <a:ln w="12700">
            <a:solidFill>
              <a:schemeClr val="bg2"/>
            </a:solidFill>
            <a:prstDash val="solid"/>
          </a:ln>
        </p:spPr>
      </p:sp>
      <p:sp>
        <p:nvSpPr>
          <p:cNvPr id="68" name="Stage 3 number"/>
          <p:cNvSpPr/>
          <p:nvPr/>
        </p:nvSpPr>
        <p:spPr>
          <a:xfrm>
            <a:off x="557784" y="4261104"/>
            <a:ext cx="274320" cy="274320"/>
          </a:xfrm>
          <a:prstGeom prst="ellipse">
            <a:avLst/>
          </a:prstGeom>
          <a:solidFill>
            <a:schemeClr val="accent3"/>
          </a:solidFill>
          <a:ln w="12700">
            <a:solidFill>
              <a:schemeClr val="accent3"/>
            </a:solidFill>
            <a:prstDash val="solid"/>
          </a:ln>
        </p:spPr>
      </p:sp>
      <p:sp>
        <p:nvSpPr>
          <p:cNvPr id="69" name="Stage 3 number label"/>
          <p:cNvSpPr txBox="1"/>
          <p:nvPr/>
        </p:nvSpPr>
        <p:spPr>
          <a:xfrm>
            <a:off x="557784" y="426110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70" name="Stage 3 title"/>
          <p:cNvSpPr txBox="1"/>
          <p:nvPr/>
        </p:nvSpPr>
        <p:spPr>
          <a:xfrm>
            <a:off x="905256" y="4242816"/>
            <a:ext cx="1828800" cy="237744"/>
          </a:xfrm>
          <a:prstGeom prst="rect">
            <a:avLst/>
          </a:prstGeom>
          <a:noFill/>
          <a:ln/>
        </p:spPr>
        <p:txBody>
          <a:bodyPr wrap="square" lIns="0" tIns="0" rIns="0" bIns="0" rtlCol="0" anchor="ctr"/>
          <a:lstStyle/>
          <a:p>
            <a:pPr marL="0" indent="0" algn="l">
              <a:buNone/>
            </a:pPr>
            <a:r>
              <a:rPr lang="en-US" sz="1200" b="1" dirty="0">
                <a:solidFill>
                  <a:schemeClr val="accent3"/>
                </a:solidFill>
              </a:rPr>
              <a:t>FTIR check</a:t>
            </a:r>
            <a:endParaRPr lang="en-US" sz="1200" dirty="0"/>
          </a:p>
        </p:txBody>
      </p:sp>
      <p:sp>
        <p:nvSpPr>
          <p:cNvPr id="71" name="Stage 3 criterion"/>
          <p:cNvSpPr txBox="1"/>
          <p:nvPr/>
        </p:nvSpPr>
        <p:spPr>
          <a:xfrm>
            <a:off x="905256" y="4471416"/>
            <a:ext cx="1874520" cy="347472"/>
          </a:xfrm>
          <a:prstGeom prst="rect">
            <a:avLst/>
          </a:prstGeom>
          <a:noFill/>
          <a:ln/>
        </p:spPr>
        <p:txBody>
          <a:bodyPr wrap="square" lIns="0" tIns="0" rIns="0" bIns="0" rtlCol="0" anchor="t"/>
          <a:lstStyle/>
          <a:p>
            <a:pPr marL="0" indent="0" algn="l">
              <a:buNone/>
            </a:pPr>
            <a:r>
              <a:rPr lang="en-US" sz="950" dirty="0">
                <a:solidFill>
                  <a:schemeClr val="accent6"/>
                </a:solidFill>
              </a:rPr>
              <a:t>both COO</a:t>
            </a:r>
            <a:r>
              <a:rPr lang="en-US" sz="950" baseline="30000" dirty="0">
                <a:solidFill>
                  <a:schemeClr val="accent6"/>
                </a:solidFill>
              </a:rPr>
              <a:t>−</a:t>
            </a:r>
            <a:r>
              <a:rPr lang="en-US" sz="950" dirty="0">
                <a:solidFill>
                  <a:schemeClr val="accent6"/>
                </a:solidFill>
              </a:rPr>
              <a:t xml:space="preserve"> bands, consistent pattern, no extra band</a:t>
            </a:r>
            <a:endParaRPr lang="en-US" sz="950" dirty="0"/>
          </a:p>
        </p:txBody>
      </p:sp>
      <p:sp>
        <p:nvSpPr>
          <p:cNvPr id="72" name="Stage 3 chip B2-1"/>
          <p:cNvSpPr/>
          <p:nvPr/>
        </p:nvSpPr>
        <p:spPr>
          <a:xfrm>
            <a:off x="2843784" y="4242816"/>
            <a:ext cx="365760" cy="219456"/>
          </a:xfrm>
          <a:prstGeom prst="roundRect">
            <a:avLst>
              <a:gd name="adj" fmla="val 30000"/>
            </a:avLst>
          </a:prstGeom>
          <a:solidFill>
            <a:schemeClr val="accent3"/>
          </a:solidFill>
          <a:ln w="12700">
            <a:solidFill>
              <a:schemeClr val="accent3"/>
            </a:solidFill>
            <a:prstDash val="solid"/>
          </a:ln>
        </p:spPr>
      </p:sp>
      <p:sp>
        <p:nvSpPr>
          <p:cNvPr id="73" name="Stage 3 chip B2-1 label"/>
          <p:cNvSpPr txBox="1"/>
          <p:nvPr/>
        </p:nvSpPr>
        <p:spPr>
          <a:xfrm>
            <a:off x="2843784" y="4242816"/>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B2-1</a:t>
            </a:r>
            <a:endParaRPr lang="en-US" sz="900" dirty="0"/>
          </a:p>
        </p:txBody>
      </p:sp>
      <p:sp>
        <p:nvSpPr>
          <p:cNvPr id="74" name="Stage 3 chip C2-1"/>
          <p:cNvSpPr/>
          <p:nvPr/>
        </p:nvSpPr>
        <p:spPr>
          <a:xfrm>
            <a:off x="3236976" y="4242816"/>
            <a:ext cx="365760" cy="219456"/>
          </a:xfrm>
          <a:prstGeom prst="roundRect">
            <a:avLst>
              <a:gd name="adj" fmla="val 30000"/>
            </a:avLst>
          </a:prstGeom>
          <a:solidFill>
            <a:schemeClr val="accent3"/>
          </a:solidFill>
          <a:ln w="12700">
            <a:solidFill>
              <a:schemeClr val="accent3"/>
            </a:solidFill>
            <a:prstDash val="solid"/>
          </a:ln>
        </p:spPr>
      </p:sp>
      <p:sp>
        <p:nvSpPr>
          <p:cNvPr id="75" name="Stage 3 chip C2-1 label"/>
          <p:cNvSpPr txBox="1"/>
          <p:nvPr/>
        </p:nvSpPr>
        <p:spPr>
          <a:xfrm>
            <a:off x="3236976" y="4242816"/>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C2-1</a:t>
            </a:r>
            <a:endParaRPr lang="en-US" sz="900" dirty="0"/>
          </a:p>
        </p:txBody>
      </p:sp>
      <p:sp>
        <p:nvSpPr>
          <p:cNvPr id="76" name="Stage 3 chip E2-1"/>
          <p:cNvSpPr/>
          <p:nvPr/>
        </p:nvSpPr>
        <p:spPr>
          <a:xfrm>
            <a:off x="3630168" y="4242816"/>
            <a:ext cx="365760" cy="219456"/>
          </a:xfrm>
          <a:prstGeom prst="roundRect">
            <a:avLst>
              <a:gd name="adj" fmla="val 30000"/>
            </a:avLst>
          </a:prstGeom>
          <a:solidFill>
            <a:schemeClr val="accent3"/>
          </a:solidFill>
          <a:ln w="12700">
            <a:solidFill>
              <a:schemeClr val="accent3"/>
            </a:solidFill>
            <a:prstDash val="solid"/>
          </a:ln>
        </p:spPr>
      </p:sp>
      <p:sp>
        <p:nvSpPr>
          <p:cNvPr id="77" name="Stage 3 chip E2-1 label"/>
          <p:cNvSpPr txBox="1"/>
          <p:nvPr/>
        </p:nvSpPr>
        <p:spPr>
          <a:xfrm>
            <a:off x="3630168" y="4242816"/>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E2-1</a:t>
            </a:r>
            <a:endParaRPr lang="en-US" sz="900" dirty="0"/>
          </a:p>
        </p:txBody>
      </p:sp>
      <p:sp>
        <p:nvSpPr>
          <p:cNvPr id="78" name="Stage 3 chip F2-1"/>
          <p:cNvSpPr/>
          <p:nvPr/>
        </p:nvSpPr>
        <p:spPr>
          <a:xfrm>
            <a:off x="4023360" y="4242816"/>
            <a:ext cx="365760" cy="219456"/>
          </a:xfrm>
          <a:prstGeom prst="roundRect">
            <a:avLst>
              <a:gd name="adj" fmla="val 30000"/>
            </a:avLst>
          </a:prstGeom>
          <a:solidFill>
            <a:schemeClr val="accent3"/>
          </a:solidFill>
          <a:ln w="12700">
            <a:solidFill>
              <a:schemeClr val="accent3"/>
            </a:solidFill>
            <a:prstDash val="solid"/>
          </a:ln>
        </p:spPr>
      </p:sp>
      <p:sp>
        <p:nvSpPr>
          <p:cNvPr id="79" name="Stage 3 chip F2-1 label"/>
          <p:cNvSpPr txBox="1"/>
          <p:nvPr/>
        </p:nvSpPr>
        <p:spPr>
          <a:xfrm>
            <a:off x="4023360" y="4242816"/>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F2-1</a:t>
            </a:r>
            <a:endParaRPr lang="en-US" sz="900" dirty="0"/>
          </a:p>
        </p:txBody>
      </p:sp>
      <p:sp>
        <p:nvSpPr>
          <p:cNvPr id="80" name="Stage 3 chip D1-1"/>
          <p:cNvSpPr/>
          <p:nvPr/>
        </p:nvSpPr>
        <p:spPr>
          <a:xfrm>
            <a:off x="4416552" y="4242816"/>
            <a:ext cx="365760" cy="219456"/>
          </a:xfrm>
          <a:prstGeom prst="roundRect">
            <a:avLst>
              <a:gd name="adj" fmla="val 30000"/>
            </a:avLst>
          </a:prstGeom>
          <a:solidFill>
            <a:schemeClr val="accent3"/>
          </a:solidFill>
          <a:ln w="12700">
            <a:solidFill>
              <a:schemeClr val="accent3"/>
            </a:solidFill>
            <a:prstDash val="solid"/>
          </a:ln>
        </p:spPr>
      </p:sp>
      <p:sp>
        <p:nvSpPr>
          <p:cNvPr id="81" name="Stage 3 chip D1-1 label"/>
          <p:cNvSpPr txBox="1"/>
          <p:nvPr/>
        </p:nvSpPr>
        <p:spPr>
          <a:xfrm>
            <a:off x="4416552" y="4242816"/>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D1-1</a:t>
            </a:r>
            <a:endParaRPr lang="en-US" sz="900" dirty="0"/>
          </a:p>
        </p:txBody>
      </p:sp>
      <p:sp>
        <p:nvSpPr>
          <p:cNvPr id="82" name="Stage 3 note"/>
          <p:cNvSpPr txBox="1"/>
          <p:nvPr/>
        </p:nvSpPr>
        <p:spPr>
          <a:xfrm>
            <a:off x="2843784" y="4498848"/>
            <a:ext cx="4581144" cy="329184"/>
          </a:xfrm>
          <a:prstGeom prst="rect">
            <a:avLst/>
          </a:prstGeom>
          <a:noFill/>
          <a:ln/>
        </p:spPr>
        <p:txBody>
          <a:bodyPr wrap="square" lIns="0" tIns="0" rIns="0" bIns="0" rtlCol="0" anchor="t"/>
          <a:lstStyle/>
          <a:p>
            <a:pPr marL="0" indent="0" algn="l">
              <a:buNone/>
            </a:pPr>
            <a:r>
              <a:rPr lang="en-US" sz="1000" b="1" dirty="0">
                <a:solidFill>
                  <a:schemeClr val="accent3"/>
                </a:solidFill>
              </a:rPr>
              <a:t xml:space="preserve">All five pass. </a:t>
            </a:r>
            <a:r>
              <a:rPr lang="en-US" sz="1000" dirty="0">
                <a:solidFill>
                  <a:schemeClr val="tx2"/>
                </a:solidFill>
              </a:rPr>
              <a:t>FTIR independently flags A2-1, A1-1, B1-1, C1-1, E1-1 and F1-1 — all also flagged by XRD.</a:t>
            </a:r>
            <a:endParaRPr lang="en-US" sz="1000" dirty="0"/>
          </a:p>
        </p:txBody>
      </p:sp>
      <p:sp>
        <p:nvSpPr>
          <p:cNvPr id="83" name="Stage arrow 3"/>
          <p:cNvSpPr/>
          <p:nvPr/>
        </p:nvSpPr>
        <p:spPr>
          <a:xfrm>
            <a:off x="694944" y="4901184"/>
            <a:ext cx="0" cy="73152"/>
          </a:xfrm>
          <a:prstGeom prst="line">
            <a:avLst/>
          </a:prstGeom>
          <a:noFill/>
          <a:ln w="19050">
            <a:solidFill>
              <a:schemeClr val="accent3"/>
            </a:solidFill>
            <a:prstDash val="solid"/>
            <a:tailEnd type="triangle"/>
          </a:ln>
        </p:spPr>
      </p:sp>
      <p:sp>
        <p:nvSpPr>
          <p:cNvPr id="84" name="Stage card 4"/>
          <p:cNvSpPr/>
          <p:nvPr/>
        </p:nvSpPr>
        <p:spPr>
          <a:xfrm>
            <a:off x="448056" y="4974336"/>
            <a:ext cx="7086600" cy="731520"/>
          </a:xfrm>
          <a:prstGeom prst="roundRect">
            <a:avLst>
              <a:gd name="adj" fmla="val 7000"/>
            </a:avLst>
          </a:prstGeom>
          <a:solidFill>
            <a:srgbClr val="FFF0E6"/>
          </a:solidFill>
          <a:ln w="12700">
            <a:solidFill>
              <a:schemeClr val="accent2"/>
            </a:solidFill>
            <a:prstDash val="solid"/>
          </a:ln>
        </p:spPr>
      </p:sp>
      <p:sp>
        <p:nvSpPr>
          <p:cNvPr id="85" name="Stage 4 number"/>
          <p:cNvSpPr/>
          <p:nvPr/>
        </p:nvSpPr>
        <p:spPr>
          <a:xfrm>
            <a:off x="557784" y="5065776"/>
            <a:ext cx="274320" cy="274320"/>
          </a:xfrm>
          <a:prstGeom prst="ellipse">
            <a:avLst/>
          </a:prstGeom>
          <a:solidFill>
            <a:schemeClr val="accent2"/>
          </a:solidFill>
          <a:ln w="12700">
            <a:solidFill>
              <a:schemeClr val="accent2"/>
            </a:solidFill>
            <a:prstDash val="solid"/>
          </a:ln>
        </p:spPr>
      </p:sp>
      <p:sp>
        <p:nvSpPr>
          <p:cNvPr id="86" name="Stage 4 number label"/>
          <p:cNvSpPr txBox="1"/>
          <p:nvPr/>
        </p:nvSpPr>
        <p:spPr>
          <a:xfrm>
            <a:off x="557784" y="5065776"/>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rPr>
              <a:t>4</a:t>
            </a:r>
            <a:endParaRPr lang="en-US" sz="1100" dirty="0"/>
          </a:p>
        </p:txBody>
      </p:sp>
      <p:sp>
        <p:nvSpPr>
          <p:cNvPr id="87" name="Stage 4 title"/>
          <p:cNvSpPr txBox="1"/>
          <p:nvPr/>
        </p:nvSpPr>
        <p:spPr>
          <a:xfrm>
            <a:off x="905256" y="5047488"/>
            <a:ext cx="1828800" cy="237744"/>
          </a:xfrm>
          <a:prstGeom prst="rect">
            <a:avLst/>
          </a:prstGeom>
          <a:noFill/>
          <a:ln/>
        </p:spPr>
        <p:txBody>
          <a:bodyPr wrap="square" lIns="0" tIns="0" rIns="0" bIns="0" rtlCol="0" anchor="ctr"/>
          <a:lstStyle/>
          <a:p>
            <a:pPr marL="0" indent="0" algn="l">
              <a:buNone/>
            </a:pPr>
            <a:r>
              <a:rPr lang="en-US" sz="1200" b="1" dirty="0">
                <a:solidFill>
                  <a:schemeClr val="accent3"/>
                </a:solidFill>
              </a:rPr>
              <a:t>Selection</a:t>
            </a:r>
            <a:endParaRPr lang="en-US" sz="1200" dirty="0"/>
          </a:p>
        </p:txBody>
      </p:sp>
      <p:sp>
        <p:nvSpPr>
          <p:cNvPr id="88" name="Stage 4 criterion"/>
          <p:cNvSpPr txBox="1"/>
          <p:nvPr/>
        </p:nvSpPr>
        <p:spPr>
          <a:xfrm>
            <a:off x="905256" y="5276088"/>
            <a:ext cx="1874520" cy="347472"/>
          </a:xfrm>
          <a:prstGeom prst="rect">
            <a:avLst/>
          </a:prstGeom>
          <a:noFill/>
          <a:ln/>
        </p:spPr>
        <p:txBody>
          <a:bodyPr wrap="square" lIns="0" tIns="0" rIns="0" bIns="0" rtlCol="0" anchor="t"/>
          <a:lstStyle/>
          <a:p>
            <a:pPr marL="0" indent="0" algn="l">
              <a:buNone/>
            </a:pPr>
            <a:r>
              <a:rPr lang="en-US" sz="950" dirty="0">
                <a:solidFill>
                  <a:schemeClr val="accent6"/>
                </a:solidFill>
              </a:rPr>
              <a:t>agreement of both techniques</a:t>
            </a:r>
            <a:endParaRPr lang="en-US" sz="950" dirty="0"/>
          </a:p>
        </p:txBody>
      </p:sp>
      <p:sp>
        <p:nvSpPr>
          <p:cNvPr id="89" name="Stage 4 chip B2-1"/>
          <p:cNvSpPr/>
          <p:nvPr/>
        </p:nvSpPr>
        <p:spPr>
          <a:xfrm>
            <a:off x="2843784" y="5047488"/>
            <a:ext cx="365760" cy="219456"/>
          </a:xfrm>
          <a:prstGeom prst="roundRect">
            <a:avLst>
              <a:gd name="adj" fmla="val 30000"/>
            </a:avLst>
          </a:prstGeom>
          <a:solidFill>
            <a:schemeClr val="accent2"/>
          </a:solidFill>
          <a:ln w="12700">
            <a:solidFill>
              <a:schemeClr val="accent2"/>
            </a:solidFill>
            <a:prstDash val="solid"/>
          </a:ln>
        </p:spPr>
      </p:sp>
      <p:sp>
        <p:nvSpPr>
          <p:cNvPr id="90" name="Stage 4 chip B2-1 label"/>
          <p:cNvSpPr txBox="1"/>
          <p:nvPr/>
        </p:nvSpPr>
        <p:spPr>
          <a:xfrm>
            <a:off x="2843784" y="5047488"/>
            <a:ext cx="365760" cy="219456"/>
          </a:xfrm>
          <a:prstGeom prst="rect">
            <a:avLst/>
          </a:prstGeom>
          <a:noFill/>
          <a:ln/>
        </p:spPr>
        <p:txBody>
          <a:bodyPr wrap="square" lIns="0" tIns="0" rIns="0" bIns="0" rtlCol="0" anchor="ctr"/>
          <a:lstStyle/>
          <a:p>
            <a:pPr marL="0" indent="0" algn="ctr">
              <a:buNone/>
            </a:pPr>
            <a:r>
              <a:rPr lang="en-US" sz="900" b="1" dirty="0">
                <a:solidFill>
                  <a:srgbClr val="FFFFFF"/>
                </a:solidFill>
              </a:rPr>
              <a:t>B2-1</a:t>
            </a:r>
            <a:endParaRPr lang="en-US" sz="900" dirty="0"/>
          </a:p>
        </p:txBody>
      </p:sp>
      <p:sp>
        <p:nvSpPr>
          <p:cNvPr id="91" name="Stage 4 chip C2-1"/>
          <p:cNvSpPr/>
          <p:nvPr/>
        </p:nvSpPr>
        <p:spPr>
          <a:xfrm>
            <a:off x="3236976" y="5047488"/>
            <a:ext cx="365760" cy="219456"/>
          </a:xfrm>
          <a:prstGeom prst="roundRect">
            <a:avLst>
              <a:gd name="adj" fmla="val 30000"/>
            </a:avLst>
          </a:prstGeom>
          <a:solidFill>
            <a:srgbClr val="FFFFFF"/>
          </a:solidFill>
          <a:ln w="12700">
            <a:solidFill>
              <a:schemeClr val="accent3"/>
            </a:solidFill>
            <a:prstDash val="solid"/>
          </a:ln>
        </p:spPr>
      </p:sp>
      <p:sp>
        <p:nvSpPr>
          <p:cNvPr id="92" name="Stage 4 chip C2-1 label"/>
          <p:cNvSpPr txBox="1"/>
          <p:nvPr/>
        </p:nvSpPr>
        <p:spPr>
          <a:xfrm>
            <a:off x="3236976" y="5047488"/>
            <a:ext cx="365760" cy="219456"/>
          </a:xfrm>
          <a:prstGeom prst="rect">
            <a:avLst/>
          </a:prstGeom>
          <a:noFill/>
          <a:ln/>
        </p:spPr>
        <p:txBody>
          <a:bodyPr wrap="square" lIns="0" tIns="0" rIns="0" bIns="0" rtlCol="0" anchor="ctr"/>
          <a:lstStyle/>
          <a:p>
            <a:pPr marL="0" indent="0" algn="ctr">
              <a:buNone/>
            </a:pPr>
            <a:r>
              <a:rPr lang="en-US" sz="900" b="1" dirty="0">
                <a:solidFill>
                  <a:schemeClr val="accent3"/>
                </a:solidFill>
              </a:rPr>
              <a:t>C2-1</a:t>
            </a:r>
            <a:endParaRPr lang="en-US" sz="900" dirty="0"/>
          </a:p>
        </p:txBody>
      </p:sp>
      <p:sp>
        <p:nvSpPr>
          <p:cNvPr id="93" name="Stage 4 chip E2-1"/>
          <p:cNvSpPr/>
          <p:nvPr/>
        </p:nvSpPr>
        <p:spPr>
          <a:xfrm>
            <a:off x="3630168" y="5047488"/>
            <a:ext cx="365760" cy="219456"/>
          </a:xfrm>
          <a:prstGeom prst="roundRect">
            <a:avLst>
              <a:gd name="adj" fmla="val 30000"/>
            </a:avLst>
          </a:prstGeom>
          <a:solidFill>
            <a:srgbClr val="FFFFFF"/>
          </a:solidFill>
          <a:ln w="12700">
            <a:solidFill>
              <a:schemeClr val="accent3"/>
            </a:solidFill>
            <a:prstDash val="solid"/>
          </a:ln>
        </p:spPr>
      </p:sp>
      <p:sp>
        <p:nvSpPr>
          <p:cNvPr id="94" name="Stage 4 chip E2-1 label"/>
          <p:cNvSpPr txBox="1"/>
          <p:nvPr/>
        </p:nvSpPr>
        <p:spPr>
          <a:xfrm>
            <a:off x="3630168" y="5047488"/>
            <a:ext cx="365760" cy="219456"/>
          </a:xfrm>
          <a:prstGeom prst="rect">
            <a:avLst/>
          </a:prstGeom>
          <a:noFill/>
          <a:ln/>
        </p:spPr>
        <p:txBody>
          <a:bodyPr wrap="square" lIns="0" tIns="0" rIns="0" bIns="0" rtlCol="0" anchor="ctr"/>
          <a:lstStyle/>
          <a:p>
            <a:pPr marL="0" indent="0" algn="ctr">
              <a:buNone/>
            </a:pPr>
            <a:r>
              <a:rPr lang="en-US" sz="900" b="1" dirty="0">
                <a:solidFill>
                  <a:schemeClr val="accent3"/>
                </a:solidFill>
              </a:rPr>
              <a:t>E2-1</a:t>
            </a:r>
            <a:endParaRPr lang="en-US" sz="900" dirty="0"/>
          </a:p>
        </p:txBody>
      </p:sp>
      <p:sp>
        <p:nvSpPr>
          <p:cNvPr id="95" name="Stage 4 chip F2-1"/>
          <p:cNvSpPr/>
          <p:nvPr/>
        </p:nvSpPr>
        <p:spPr>
          <a:xfrm>
            <a:off x="4023360" y="5047488"/>
            <a:ext cx="365760" cy="219456"/>
          </a:xfrm>
          <a:prstGeom prst="roundRect">
            <a:avLst>
              <a:gd name="adj" fmla="val 30000"/>
            </a:avLst>
          </a:prstGeom>
          <a:solidFill>
            <a:srgbClr val="FFFFFF"/>
          </a:solidFill>
          <a:ln w="12700">
            <a:solidFill>
              <a:schemeClr val="accent3"/>
            </a:solidFill>
            <a:prstDash val="solid"/>
          </a:ln>
        </p:spPr>
      </p:sp>
      <p:sp>
        <p:nvSpPr>
          <p:cNvPr id="96" name="Stage 4 chip F2-1 label"/>
          <p:cNvSpPr txBox="1"/>
          <p:nvPr/>
        </p:nvSpPr>
        <p:spPr>
          <a:xfrm>
            <a:off x="4023360" y="5047488"/>
            <a:ext cx="365760" cy="219456"/>
          </a:xfrm>
          <a:prstGeom prst="rect">
            <a:avLst/>
          </a:prstGeom>
          <a:noFill/>
          <a:ln/>
        </p:spPr>
        <p:txBody>
          <a:bodyPr wrap="square" lIns="0" tIns="0" rIns="0" bIns="0" rtlCol="0" anchor="ctr"/>
          <a:lstStyle/>
          <a:p>
            <a:pPr marL="0" indent="0" algn="ctr">
              <a:buNone/>
            </a:pPr>
            <a:r>
              <a:rPr lang="en-US" sz="900" b="1" dirty="0">
                <a:solidFill>
                  <a:schemeClr val="accent3"/>
                </a:solidFill>
              </a:rPr>
              <a:t>F2-1</a:t>
            </a:r>
            <a:endParaRPr lang="en-US" sz="900" dirty="0"/>
          </a:p>
        </p:txBody>
      </p:sp>
      <p:sp>
        <p:nvSpPr>
          <p:cNvPr id="97" name="Stage 4 chip D1-1"/>
          <p:cNvSpPr/>
          <p:nvPr/>
        </p:nvSpPr>
        <p:spPr>
          <a:xfrm>
            <a:off x="4416552" y="5047488"/>
            <a:ext cx="365760" cy="219456"/>
          </a:xfrm>
          <a:prstGeom prst="roundRect">
            <a:avLst>
              <a:gd name="adj" fmla="val 30000"/>
            </a:avLst>
          </a:prstGeom>
          <a:solidFill>
            <a:srgbClr val="FFFFFF"/>
          </a:solidFill>
          <a:ln w="12700">
            <a:solidFill>
              <a:schemeClr val="accent3"/>
            </a:solidFill>
            <a:prstDash val="solid"/>
          </a:ln>
        </p:spPr>
      </p:sp>
      <p:sp>
        <p:nvSpPr>
          <p:cNvPr id="98" name="Stage 4 chip D1-1 label"/>
          <p:cNvSpPr txBox="1"/>
          <p:nvPr/>
        </p:nvSpPr>
        <p:spPr>
          <a:xfrm>
            <a:off x="4416552" y="5047488"/>
            <a:ext cx="365760" cy="219456"/>
          </a:xfrm>
          <a:prstGeom prst="rect">
            <a:avLst/>
          </a:prstGeom>
          <a:noFill/>
          <a:ln/>
        </p:spPr>
        <p:txBody>
          <a:bodyPr wrap="square" lIns="0" tIns="0" rIns="0" bIns="0" rtlCol="0" anchor="ctr"/>
          <a:lstStyle/>
          <a:p>
            <a:pPr marL="0" indent="0" algn="ctr">
              <a:buNone/>
            </a:pPr>
            <a:r>
              <a:rPr lang="en-US" sz="900" b="1" dirty="0">
                <a:solidFill>
                  <a:schemeClr val="accent3"/>
                </a:solidFill>
              </a:rPr>
              <a:t>D1-1</a:t>
            </a:r>
            <a:endParaRPr lang="en-US" sz="900" dirty="0"/>
          </a:p>
        </p:txBody>
      </p:sp>
      <p:sp>
        <p:nvSpPr>
          <p:cNvPr id="99" name="Stage 4 note"/>
          <p:cNvSpPr txBox="1"/>
          <p:nvPr/>
        </p:nvSpPr>
        <p:spPr>
          <a:xfrm>
            <a:off x="2843784" y="5303520"/>
            <a:ext cx="4581144" cy="329184"/>
          </a:xfrm>
          <a:prstGeom prst="rect">
            <a:avLst/>
          </a:prstGeom>
          <a:noFill/>
          <a:ln/>
        </p:spPr>
        <p:txBody>
          <a:bodyPr wrap="square" lIns="0" tIns="0" rIns="0" bIns="0" rtlCol="0" anchor="t"/>
          <a:lstStyle/>
          <a:p>
            <a:pPr marL="0" indent="0" algn="l">
              <a:buNone/>
            </a:pPr>
            <a:r>
              <a:rPr lang="en-US" sz="1000" b="1" dirty="0">
                <a:solidFill>
                  <a:srgbClr val="B8531A"/>
                </a:solidFill>
              </a:rPr>
              <a:t xml:space="preserve">Lead: B2-1 </a:t>
            </a:r>
            <a:r>
              <a:rPr lang="en-US" sz="1000" dirty="0">
                <a:solidFill>
                  <a:schemeClr val="tx2"/>
                </a:solidFill>
              </a:rPr>
              <a:t>— meets every criterion and has the top qualitative rating in the original FTIR figure. The other four are not ranked (evidence insufficient).</a:t>
            </a:r>
            <a:endParaRPr lang="en-US" sz="1000" dirty="0"/>
          </a:p>
        </p:txBody>
      </p:sp>
      <p:sp>
        <p:nvSpPr>
          <p:cNvPr id="100" name="Selection caveat"/>
          <p:cNvSpPr txBox="1"/>
          <p:nvPr/>
        </p:nvSpPr>
        <p:spPr>
          <a:xfrm>
            <a:off x="448056" y="5760720"/>
            <a:ext cx="7086600" cy="347472"/>
          </a:xfrm>
          <a:prstGeom prst="rect">
            <a:avLst/>
          </a:prstGeom>
          <a:noFill/>
          <a:ln/>
        </p:spPr>
        <p:txBody>
          <a:bodyPr wrap="square" lIns="0" tIns="0" rIns="0" bIns="0" rtlCol="0" anchor="t"/>
          <a:lstStyle/>
          <a:p>
            <a:pPr marL="0" indent="0" algn="l">
              <a:buNone/>
            </a:pPr>
            <a:r>
              <a:rPr lang="en-US" sz="1050" b="1" dirty="0">
                <a:solidFill>
                  <a:schemeClr val="accent5"/>
                </a:solidFill>
              </a:rPr>
              <a:t xml:space="preserve">Best-characterized ≠ highest CO₂ uptake. </a:t>
            </a:r>
            <a:r>
              <a:rPr lang="en-US" sz="1050" dirty="0">
                <a:solidFill>
                  <a:schemeClr val="tx2"/>
                </a:solidFill>
              </a:rPr>
              <a:t>Adsorption, humidity response and regeneration have not yet been measured for any sample.</a:t>
            </a:r>
            <a:endParaRPr lang="en-US" sz="1050" dirty="0"/>
          </a:p>
        </p:txBody>
      </p:sp>
      <p:sp>
        <p:nvSpPr>
          <p:cNvPr id="101" name="Planned label"/>
          <p:cNvSpPr txBox="1"/>
          <p:nvPr/>
        </p:nvSpPr>
        <p:spPr>
          <a:xfrm>
            <a:off x="7717536" y="2286000"/>
            <a:ext cx="4023360" cy="201168"/>
          </a:xfrm>
          <a:prstGeom prst="rect">
            <a:avLst/>
          </a:prstGeom>
          <a:noFill/>
          <a:ln/>
        </p:spPr>
        <p:txBody>
          <a:bodyPr wrap="square" lIns="0" tIns="0" rIns="0" bIns="0" rtlCol="0" anchor="ctr"/>
          <a:lstStyle/>
          <a:p>
            <a:pPr marL="0" indent="0" algn="l">
              <a:buNone/>
            </a:pPr>
            <a:r>
              <a:rPr lang="en-US" sz="1100" b="1" kern="0" spc="100" dirty="0">
                <a:solidFill>
                  <a:schemeClr val="accent6"/>
                </a:solidFill>
              </a:rPr>
              <a:t>NEXT STEPS — PLANNED, NOT YET PERFORMED</a:t>
            </a:r>
            <a:endParaRPr lang="en-US" sz="1100" dirty="0"/>
          </a:p>
        </p:txBody>
      </p:sp>
      <p:sp>
        <p:nvSpPr>
          <p:cNvPr id="102" name="Plan card 1"/>
          <p:cNvSpPr/>
          <p:nvPr/>
        </p:nvSpPr>
        <p:spPr>
          <a:xfrm>
            <a:off x="7717536" y="2560320"/>
            <a:ext cx="4023360" cy="658368"/>
          </a:xfrm>
          <a:prstGeom prst="roundRect">
            <a:avLst>
              <a:gd name="adj" fmla="val 8000"/>
            </a:avLst>
          </a:prstGeom>
          <a:solidFill>
            <a:srgbClr val="FFFFFF"/>
          </a:solidFill>
          <a:ln w="15875">
            <a:solidFill>
              <a:schemeClr val="accent1"/>
            </a:solidFill>
            <a:prstDash val="dash"/>
          </a:ln>
        </p:spPr>
      </p:sp>
      <p:sp>
        <p:nvSpPr>
          <p:cNvPr id="103" name="Plan 1 number"/>
          <p:cNvSpPr/>
          <p:nvPr/>
        </p:nvSpPr>
        <p:spPr>
          <a:xfrm>
            <a:off x="7845552" y="2670048"/>
            <a:ext cx="274320" cy="274320"/>
          </a:xfrm>
          <a:prstGeom prst="ellipse">
            <a:avLst/>
          </a:prstGeom>
          <a:solidFill>
            <a:srgbClr val="FFFFFF"/>
          </a:solidFill>
          <a:ln w="15875">
            <a:solidFill>
              <a:schemeClr val="accent6"/>
            </a:solidFill>
            <a:prstDash val="solid"/>
          </a:ln>
        </p:spPr>
      </p:sp>
      <p:sp>
        <p:nvSpPr>
          <p:cNvPr id="104" name="Plan 1 number label"/>
          <p:cNvSpPr txBox="1"/>
          <p:nvPr/>
        </p:nvSpPr>
        <p:spPr>
          <a:xfrm>
            <a:off x="7845552" y="2670048"/>
            <a:ext cx="274320" cy="274320"/>
          </a:xfrm>
          <a:prstGeom prst="rect">
            <a:avLst/>
          </a:prstGeom>
          <a:noFill/>
          <a:ln/>
        </p:spPr>
        <p:txBody>
          <a:bodyPr wrap="square" lIns="0" tIns="0" rIns="0" bIns="0" rtlCol="0" anchor="ctr"/>
          <a:lstStyle/>
          <a:p>
            <a:pPr marL="0" indent="0" algn="ctr">
              <a:buNone/>
            </a:pPr>
            <a:r>
              <a:rPr lang="en-US" sz="1100" b="1" dirty="0">
                <a:solidFill>
                  <a:schemeClr val="accent6"/>
                </a:solidFill>
              </a:rPr>
              <a:t>1</a:t>
            </a:r>
            <a:endParaRPr lang="en-US" sz="1100" dirty="0"/>
          </a:p>
        </p:txBody>
      </p:sp>
      <p:sp>
        <p:nvSpPr>
          <p:cNvPr id="105" name="Plan 1 title"/>
          <p:cNvSpPr txBox="1"/>
          <p:nvPr/>
        </p:nvSpPr>
        <p:spPr>
          <a:xfrm>
            <a:off x="8211312" y="2651760"/>
            <a:ext cx="2606040" cy="274320"/>
          </a:xfrm>
          <a:prstGeom prst="rect">
            <a:avLst/>
          </a:prstGeom>
          <a:noFill/>
          <a:ln/>
        </p:spPr>
        <p:txBody>
          <a:bodyPr wrap="square" lIns="0" tIns="0" rIns="0" bIns="0" rtlCol="0" anchor="ctr"/>
          <a:lstStyle/>
          <a:p>
            <a:pPr marL="0" indent="0" algn="l">
              <a:buNone/>
            </a:pPr>
            <a:r>
              <a:rPr lang="en-US" sz="1200" b="1" dirty="0">
                <a:solidFill>
                  <a:schemeClr val="accent3"/>
                </a:solidFill>
              </a:rPr>
              <a:t>CO₂ adsorption evaluation</a:t>
            </a:r>
            <a:endParaRPr lang="en-US" sz="1200" dirty="0"/>
          </a:p>
        </p:txBody>
      </p:sp>
      <p:sp>
        <p:nvSpPr>
          <p:cNvPr id="106" name="Plan 1 status"/>
          <p:cNvSpPr/>
          <p:nvPr/>
        </p:nvSpPr>
        <p:spPr>
          <a:xfrm>
            <a:off x="10899648" y="2688336"/>
            <a:ext cx="731520" cy="219456"/>
          </a:xfrm>
          <a:prstGeom prst="roundRect">
            <a:avLst>
              <a:gd name="adj" fmla="val 50000"/>
            </a:avLst>
          </a:prstGeom>
          <a:solidFill>
            <a:srgbClr val="FFFFFF"/>
          </a:solidFill>
          <a:ln w="12700">
            <a:solidFill>
              <a:schemeClr val="accent6"/>
            </a:solidFill>
            <a:prstDash val="solid"/>
          </a:ln>
        </p:spPr>
      </p:sp>
      <p:sp>
        <p:nvSpPr>
          <p:cNvPr id="107" name="Plan 1 status label"/>
          <p:cNvSpPr txBox="1"/>
          <p:nvPr/>
        </p:nvSpPr>
        <p:spPr>
          <a:xfrm>
            <a:off x="10899648" y="2688336"/>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08" name="Plan 1 text"/>
          <p:cNvSpPr txBox="1"/>
          <p:nvPr/>
        </p:nvSpPr>
        <p:spPr>
          <a:xfrm>
            <a:off x="8211312" y="2944368"/>
            <a:ext cx="3401568" cy="201168"/>
          </a:xfrm>
          <a:prstGeom prst="rect">
            <a:avLst/>
          </a:prstGeom>
          <a:noFill/>
          <a:ln/>
        </p:spPr>
        <p:txBody>
          <a:bodyPr wrap="square" lIns="0" tIns="0" rIns="0" bIns="0" rtlCol="0" anchor="t"/>
          <a:lstStyle/>
          <a:p>
            <a:pPr marL="0" indent="0" algn="l">
              <a:buNone/>
            </a:pPr>
            <a:r>
              <a:rPr lang="en-US" sz="1050" dirty="0">
                <a:solidFill>
                  <a:schemeClr val="tx2"/>
                </a:solidFill>
              </a:rPr>
              <a:t>B2-1 first, then the shortlist; defined conditions</a:t>
            </a:r>
            <a:endParaRPr lang="en-US" sz="1050" dirty="0"/>
          </a:p>
        </p:txBody>
      </p:sp>
      <p:sp>
        <p:nvSpPr>
          <p:cNvPr id="109" name="Plan arrow 1"/>
          <p:cNvSpPr/>
          <p:nvPr/>
        </p:nvSpPr>
        <p:spPr>
          <a:xfrm>
            <a:off x="7982712" y="3218688"/>
            <a:ext cx="0" cy="109728"/>
          </a:xfrm>
          <a:prstGeom prst="line">
            <a:avLst/>
          </a:prstGeom>
          <a:noFill/>
          <a:ln w="19050">
            <a:solidFill>
              <a:schemeClr val="accent6"/>
            </a:solidFill>
            <a:prstDash val="solid"/>
            <a:tailEnd type="triangle"/>
          </a:ln>
        </p:spPr>
      </p:sp>
      <p:sp>
        <p:nvSpPr>
          <p:cNvPr id="110" name="Plan card 2"/>
          <p:cNvSpPr/>
          <p:nvPr/>
        </p:nvSpPr>
        <p:spPr>
          <a:xfrm>
            <a:off x="7717536" y="3328416"/>
            <a:ext cx="4023360" cy="658368"/>
          </a:xfrm>
          <a:prstGeom prst="roundRect">
            <a:avLst>
              <a:gd name="adj" fmla="val 8000"/>
            </a:avLst>
          </a:prstGeom>
          <a:solidFill>
            <a:srgbClr val="FFFFFF"/>
          </a:solidFill>
          <a:ln w="15875">
            <a:solidFill>
              <a:schemeClr val="accent1"/>
            </a:solidFill>
            <a:prstDash val="dash"/>
          </a:ln>
        </p:spPr>
      </p:sp>
      <p:sp>
        <p:nvSpPr>
          <p:cNvPr id="111" name="Plan 2 number"/>
          <p:cNvSpPr/>
          <p:nvPr/>
        </p:nvSpPr>
        <p:spPr>
          <a:xfrm>
            <a:off x="7845552" y="3438144"/>
            <a:ext cx="274320" cy="274320"/>
          </a:xfrm>
          <a:prstGeom prst="ellipse">
            <a:avLst/>
          </a:prstGeom>
          <a:solidFill>
            <a:srgbClr val="FFFFFF"/>
          </a:solidFill>
          <a:ln w="15875">
            <a:solidFill>
              <a:schemeClr val="accent6"/>
            </a:solidFill>
            <a:prstDash val="solid"/>
          </a:ln>
        </p:spPr>
      </p:sp>
      <p:sp>
        <p:nvSpPr>
          <p:cNvPr id="112" name="Plan 2 number label"/>
          <p:cNvSpPr txBox="1"/>
          <p:nvPr/>
        </p:nvSpPr>
        <p:spPr>
          <a:xfrm>
            <a:off x="7845552" y="3438144"/>
            <a:ext cx="274320" cy="274320"/>
          </a:xfrm>
          <a:prstGeom prst="rect">
            <a:avLst/>
          </a:prstGeom>
          <a:noFill/>
          <a:ln/>
        </p:spPr>
        <p:txBody>
          <a:bodyPr wrap="square" lIns="0" tIns="0" rIns="0" bIns="0" rtlCol="0" anchor="ctr"/>
          <a:lstStyle/>
          <a:p>
            <a:pPr marL="0" indent="0" algn="ctr">
              <a:buNone/>
            </a:pPr>
            <a:r>
              <a:rPr lang="en-US" sz="1100" b="1" dirty="0">
                <a:solidFill>
                  <a:schemeClr val="accent6"/>
                </a:solidFill>
              </a:rPr>
              <a:t>2</a:t>
            </a:r>
            <a:endParaRPr lang="en-US" sz="1100" dirty="0"/>
          </a:p>
        </p:txBody>
      </p:sp>
      <p:sp>
        <p:nvSpPr>
          <p:cNvPr id="113" name="Plan 2 title"/>
          <p:cNvSpPr txBox="1"/>
          <p:nvPr/>
        </p:nvSpPr>
        <p:spPr>
          <a:xfrm>
            <a:off x="8211312" y="3419856"/>
            <a:ext cx="2606040" cy="274320"/>
          </a:xfrm>
          <a:prstGeom prst="rect">
            <a:avLst/>
          </a:prstGeom>
          <a:noFill/>
          <a:ln/>
        </p:spPr>
        <p:txBody>
          <a:bodyPr wrap="square" lIns="0" tIns="0" rIns="0" bIns="0" rtlCol="0" anchor="ctr"/>
          <a:lstStyle/>
          <a:p>
            <a:pPr marL="0" indent="0" algn="l">
              <a:buNone/>
            </a:pPr>
            <a:r>
              <a:rPr lang="en-US" sz="1200" b="1" dirty="0">
                <a:solidFill>
                  <a:schemeClr val="accent3"/>
                </a:solidFill>
              </a:rPr>
              <a:t>Dry vs humid comparison</a:t>
            </a:r>
            <a:endParaRPr lang="en-US" sz="1200" dirty="0"/>
          </a:p>
        </p:txBody>
      </p:sp>
      <p:sp>
        <p:nvSpPr>
          <p:cNvPr id="114" name="Plan 2 status"/>
          <p:cNvSpPr/>
          <p:nvPr/>
        </p:nvSpPr>
        <p:spPr>
          <a:xfrm>
            <a:off x="10899648" y="3456432"/>
            <a:ext cx="731520" cy="219456"/>
          </a:xfrm>
          <a:prstGeom prst="roundRect">
            <a:avLst>
              <a:gd name="adj" fmla="val 50000"/>
            </a:avLst>
          </a:prstGeom>
          <a:solidFill>
            <a:srgbClr val="FFFFFF"/>
          </a:solidFill>
          <a:ln w="12700">
            <a:solidFill>
              <a:schemeClr val="accent6"/>
            </a:solidFill>
            <a:prstDash val="solid"/>
          </a:ln>
        </p:spPr>
      </p:sp>
      <p:sp>
        <p:nvSpPr>
          <p:cNvPr id="115" name="Plan 2 status label"/>
          <p:cNvSpPr txBox="1"/>
          <p:nvPr/>
        </p:nvSpPr>
        <p:spPr>
          <a:xfrm>
            <a:off x="10899648" y="3456432"/>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16" name="Plan 2 text"/>
          <p:cNvSpPr txBox="1"/>
          <p:nvPr/>
        </p:nvSpPr>
        <p:spPr>
          <a:xfrm>
            <a:off x="8211312" y="3712464"/>
            <a:ext cx="3401568" cy="201168"/>
          </a:xfrm>
          <a:prstGeom prst="rect">
            <a:avLst/>
          </a:prstGeom>
          <a:noFill/>
          <a:ln/>
        </p:spPr>
        <p:txBody>
          <a:bodyPr wrap="square" lIns="0" tIns="0" rIns="0" bIns="0" rtlCol="0" anchor="t"/>
          <a:lstStyle/>
          <a:p>
            <a:pPr marL="0" indent="0" algn="l">
              <a:buNone/>
            </a:pPr>
            <a:r>
              <a:rPr lang="en-US" sz="1050" dirty="0">
                <a:solidFill>
                  <a:schemeClr val="tx2"/>
                </a:solidFill>
              </a:rPr>
              <a:t>With vs without water vapor; other variables fixed</a:t>
            </a:r>
            <a:endParaRPr lang="en-US" sz="1050" dirty="0"/>
          </a:p>
        </p:txBody>
      </p:sp>
      <p:sp>
        <p:nvSpPr>
          <p:cNvPr id="117" name="Plan arrow 2"/>
          <p:cNvSpPr/>
          <p:nvPr/>
        </p:nvSpPr>
        <p:spPr>
          <a:xfrm>
            <a:off x="7982712" y="3986784"/>
            <a:ext cx="0" cy="109728"/>
          </a:xfrm>
          <a:prstGeom prst="line">
            <a:avLst/>
          </a:prstGeom>
          <a:noFill/>
          <a:ln w="19050">
            <a:solidFill>
              <a:schemeClr val="accent6"/>
            </a:solidFill>
            <a:prstDash val="solid"/>
            <a:tailEnd type="triangle"/>
          </a:ln>
        </p:spPr>
      </p:sp>
      <p:sp>
        <p:nvSpPr>
          <p:cNvPr id="118" name="Plan card 3"/>
          <p:cNvSpPr/>
          <p:nvPr/>
        </p:nvSpPr>
        <p:spPr>
          <a:xfrm>
            <a:off x="7717536" y="4096512"/>
            <a:ext cx="4023360" cy="658368"/>
          </a:xfrm>
          <a:prstGeom prst="roundRect">
            <a:avLst>
              <a:gd name="adj" fmla="val 8000"/>
            </a:avLst>
          </a:prstGeom>
          <a:solidFill>
            <a:srgbClr val="FFFFFF"/>
          </a:solidFill>
          <a:ln w="15875">
            <a:solidFill>
              <a:schemeClr val="accent1"/>
            </a:solidFill>
            <a:prstDash val="dash"/>
          </a:ln>
        </p:spPr>
      </p:sp>
      <p:sp>
        <p:nvSpPr>
          <p:cNvPr id="119" name="Plan 3 number"/>
          <p:cNvSpPr/>
          <p:nvPr/>
        </p:nvSpPr>
        <p:spPr>
          <a:xfrm>
            <a:off x="7845552" y="4206240"/>
            <a:ext cx="274320" cy="274320"/>
          </a:xfrm>
          <a:prstGeom prst="ellipse">
            <a:avLst/>
          </a:prstGeom>
          <a:solidFill>
            <a:srgbClr val="FFFFFF"/>
          </a:solidFill>
          <a:ln w="15875">
            <a:solidFill>
              <a:schemeClr val="accent6"/>
            </a:solidFill>
            <a:prstDash val="solid"/>
          </a:ln>
        </p:spPr>
      </p:sp>
      <p:sp>
        <p:nvSpPr>
          <p:cNvPr id="120" name="Plan 3 number label"/>
          <p:cNvSpPr txBox="1"/>
          <p:nvPr/>
        </p:nvSpPr>
        <p:spPr>
          <a:xfrm>
            <a:off x="7845552" y="4206240"/>
            <a:ext cx="274320" cy="274320"/>
          </a:xfrm>
          <a:prstGeom prst="rect">
            <a:avLst/>
          </a:prstGeom>
          <a:noFill/>
          <a:ln/>
        </p:spPr>
        <p:txBody>
          <a:bodyPr wrap="square" lIns="0" tIns="0" rIns="0" bIns="0" rtlCol="0" anchor="ctr"/>
          <a:lstStyle/>
          <a:p>
            <a:pPr marL="0" indent="0" algn="ctr">
              <a:buNone/>
            </a:pPr>
            <a:r>
              <a:rPr lang="en-US" sz="1100" b="1" dirty="0">
                <a:solidFill>
                  <a:schemeClr val="accent6"/>
                </a:solidFill>
              </a:rPr>
              <a:t>3</a:t>
            </a:r>
            <a:endParaRPr lang="en-US" sz="1100" dirty="0"/>
          </a:p>
        </p:txBody>
      </p:sp>
      <p:sp>
        <p:nvSpPr>
          <p:cNvPr id="121" name="Plan 3 title"/>
          <p:cNvSpPr txBox="1"/>
          <p:nvPr/>
        </p:nvSpPr>
        <p:spPr>
          <a:xfrm>
            <a:off x="8211312" y="4187952"/>
            <a:ext cx="2606040" cy="274320"/>
          </a:xfrm>
          <a:prstGeom prst="rect">
            <a:avLst/>
          </a:prstGeom>
          <a:noFill/>
          <a:ln/>
        </p:spPr>
        <p:txBody>
          <a:bodyPr wrap="square" lIns="0" tIns="0" rIns="0" bIns="0" rtlCol="0" anchor="ctr"/>
          <a:lstStyle/>
          <a:p>
            <a:pPr marL="0" indent="0" algn="l">
              <a:buNone/>
            </a:pPr>
            <a:r>
              <a:rPr lang="en-US" sz="1200" b="1" dirty="0">
                <a:solidFill>
                  <a:schemeClr val="accent3"/>
                </a:solidFill>
              </a:rPr>
              <a:t>Regeneration and CO₂ release</a:t>
            </a:r>
            <a:endParaRPr lang="en-US" sz="1200" dirty="0"/>
          </a:p>
        </p:txBody>
      </p:sp>
      <p:sp>
        <p:nvSpPr>
          <p:cNvPr id="122" name="Plan 3 status"/>
          <p:cNvSpPr/>
          <p:nvPr/>
        </p:nvSpPr>
        <p:spPr>
          <a:xfrm>
            <a:off x="10899648" y="4224528"/>
            <a:ext cx="731520" cy="219456"/>
          </a:xfrm>
          <a:prstGeom prst="roundRect">
            <a:avLst>
              <a:gd name="adj" fmla="val 50000"/>
            </a:avLst>
          </a:prstGeom>
          <a:solidFill>
            <a:srgbClr val="FFFFFF"/>
          </a:solidFill>
          <a:ln w="12700">
            <a:solidFill>
              <a:schemeClr val="accent6"/>
            </a:solidFill>
            <a:prstDash val="solid"/>
          </a:ln>
        </p:spPr>
      </p:sp>
      <p:sp>
        <p:nvSpPr>
          <p:cNvPr id="123" name="Plan 3 status label"/>
          <p:cNvSpPr txBox="1"/>
          <p:nvPr/>
        </p:nvSpPr>
        <p:spPr>
          <a:xfrm>
            <a:off x="10899648" y="4224528"/>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24" name="Plan 3 text"/>
          <p:cNvSpPr txBox="1"/>
          <p:nvPr/>
        </p:nvSpPr>
        <p:spPr>
          <a:xfrm>
            <a:off x="8211312" y="4480560"/>
            <a:ext cx="3401568" cy="201168"/>
          </a:xfrm>
          <a:prstGeom prst="rect">
            <a:avLst/>
          </a:prstGeom>
          <a:noFill/>
          <a:ln/>
        </p:spPr>
        <p:txBody>
          <a:bodyPr wrap="square" lIns="0" tIns="0" rIns="0" bIns="0" rtlCol="0" anchor="t"/>
          <a:lstStyle/>
          <a:p>
            <a:pPr marL="0" indent="0" algn="l">
              <a:buNone/>
            </a:pPr>
            <a:r>
              <a:rPr lang="en-US" sz="1050" dirty="0">
                <a:solidFill>
                  <a:schemeClr val="tx2"/>
                </a:solidFill>
              </a:rPr>
              <a:t>CO₂ release and recovery of the material</a:t>
            </a:r>
            <a:endParaRPr lang="en-US" sz="1050" dirty="0"/>
          </a:p>
        </p:txBody>
      </p:sp>
      <p:sp>
        <p:nvSpPr>
          <p:cNvPr id="125" name="Plan arrow 3"/>
          <p:cNvSpPr/>
          <p:nvPr/>
        </p:nvSpPr>
        <p:spPr>
          <a:xfrm>
            <a:off x="7982712" y="4754880"/>
            <a:ext cx="0" cy="109728"/>
          </a:xfrm>
          <a:prstGeom prst="line">
            <a:avLst/>
          </a:prstGeom>
          <a:noFill/>
          <a:ln w="19050">
            <a:solidFill>
              <a:schemeClr val="accent6"/>
            </a:solidFill>
            <a:prstDash val="solid"/>
            <a:tailEnd type="triangle"/>
          </a:ln>
        </p:spPr>
      </p:sp>
      <p:sp>
        <p:nvSpPr>
          <p:cNvPr id="126" name="Plan card 4"/>
          <p:cNvSpPr/>
          <p:nvPr/>
        </p:nvSpPr>
        <p:spPr>
          <a:xfrm>
            <a:off x="7717536" y="4864608"/>
            <a:ext cx="4023360" cy="658368"/>
          </a:xfrm>
          <a:prstGeom prst="roundRect">
            <a:avLst>
              <a:gd name="adj" fmla="val 8000"/>
            </a:avLst>
          </a:prstGeom>
          <a:solidFill>
            <a:srgbClr val="FFFFFF"/>
          </a:solidFill>
          <a:ln w="15875">
            <a:solidFill>
              <a:schemeClr val="accent1"/>
            </a:solidFill>
            <a:prstDash val="dash"/>
          </a:ln>
        </p:spPr>
      </p:sp>
      <p:sp>
        <p:nvSpPr>
          <p:cNvPr id="127" name="Plan 4 number"/>
          <p:cNvSpPr/>
          <p:nvPr/>
        </p:nvSpPr>
        <p:spPr>
          <a:xfrm>
            <a:off x="7845552" y="4974336"/>
            <a:ext cx="274320" cy="274320"/>
          </a:xfrm>
          <a:prstGeom prst="ellipse">
            <a:avLst/>
          </a:prstGeom>
          <a:solidFill>
            <a:srgbClr val="FFFFFF"/>
          </a:solidFill>
          <a:ln w="15875">
            <a:solidFill>
              <a:schemeClr val="accent6"/>
            </a:solidFill>
            <a:prstDash val="solid"/>
          </a:ln>
        </p:spPr>
      </p:sp>
      <p:sp>
        <p:nvSpPr>
          <p:cNvPr id="128" name="Plan 4 number label"/>
          <p:cNvSpPr txBox="1"/>
          <p:nvPr/>
        </p:nvSpPr>
        <p:spPr>
          <a:xfrm>
            <a:off x="7845552" y="4974336"/>
            <a:ext cx="274320" cy="274320"/>
          </a:xfrm>
          <a:prstGeom prst="rect">
            <a:avLst/>
          </a:prstGeom>
          <a:noFill/>
          <a:ln/>
        </p:spPr>
        <p:txBody>
          <a:bodyPr wrap="square" lIns="0" tIns="0" rIns="0" bIns="0" rtlCol="0" anchor="ctr"/>
          <a:lstStyle/>
          <a:p>
            <a:pPr marL="0" indent="0" algn="ctr">
              <a:buNone/>
            </a:pPr>
            <a:r>
              <a:rPr lang="en-US" sz="1100" b="1" dirty="0">
                <a:solidFill>
                  <a:schemeClr val="accent6"/>
                </a:solidFill>
              </a:rPr>
              <a:t>4</a:t>
            </a:r>
            <a:endParaRPr lang="en-US" sz="1100" dirty="0"/>
          </a:p>
        </p:txBody>
      </p:sp>
      <p:sp>
        <p:nvSpPr>
          <p:cNvPr id="129" name="Plan 4 title"/>
          <p:cNvSpPr txBox="1"/>
          <p:nvPr/>
        </p:nvSpPr>
        <p:spPr>
          <a:xfrm>
            <a:off x="8211312" y="4956048"/>
            <a:ext cx="2606040" cy="274320"/>
          </a:xfrm>
          <a:prstGeom prst="rect">
            <a:avLst/>
          </a:prstGeom>
          <a:noFill/>
          <a:ln/>
        </p:spPr>
        <p:txBody>
          <a:bodyPr wrap="square" lIns="0" tIns="0" rIns="0" bIns="0" rtlCol="0" anchor="ctr"/>
          <a:lstStyle/>
          <a:p>
            <a:pPr marL="0" indent="0" algn="l">
              <a:buNone/>
            </a:pPr>
            <a:r>
              <a:rPr lang="en-US" sz="1200" b="1" dirty="0">
                <a:solidFill>
                  <a:schemeClr val="accent3"/>
                </a:solidFill>
              </a:rPr>
              <a:t>Repeated-cycle testing</a:t>
            </a:r>
            <a:endParaRPr lang="en-US" sz="1200" dirty="0"/>
          </a:p>
        </p:txBody>
      </p:sp>
      <p:sp>
        <p:nvSpPr>
          <p:cNvPr id="130" name="Plan 4 status"/>
          <p:cNvSpPr/>
          <p:nvPr/>
        </p:nvSpPr>
        <p:spPr>
          <a:xfrm>
            <a:off x="10899648" y="4992624"/>
            <a:ext cx="731520" cy="219456"/>
          </a:xfrm>
          <a:prstGeom prst="roundRect">
            <a:avLst>
              <a:gd name="adj" fmla="val 50000"/>
            </a:avLst>
          </a:prstGeom>
          <a:solidFill>
            <a:srgbClr val="FFFFFF"/>
          </a:solidFill>
          <a:ln w="12700">
            <a:solidFill>
              <a:schemeClr val="accent6"/>
            </a:solidFill>
            <a:prstDash val="solid"/>
          </a:ln>
        </p:spPr>
      </p:sp>
      <p:sp>
        <p:nvSpPr>
          <p:cNvPr id="131" name="Plan 4 status label"/>
          <p:cNvSpPr txBox="1"/>
          <p:nvPr/>
        </p:nvSpPr>
        <p:spPr>
          <a:xfrm>
            <a:off x="10899648" y="4992624"/>
            <a:ext cx="731520" cy="219456"/>
          </a:xfrm>
          <a:prstGeom prst="rect">
            <a:avLst/>
          </a:prstGeom>
          <a:noFill/>
          <a:ln/>
        </p:spPr>
        <p:txBody>
          <a:bodyPr wrap="square" lIns="0" tIns="0" rIns="0" bIns="0" rtlCol="0" anchor="ctr"/>
          <a:lstStyle/>
          <a:p>
            <a:pPr marL="0" indent="0" algn="ctr">
              <a:buNone/>
            </a:pPr>
            <a:r>
              <a:rPr lang="en-US" sz="1050" b="1" dirty="0">
                <a:solidFill>
                  <a:schemeClr val="accent6"/>
                </a:solidFill>
              </a:rPr>
              <a:t>Planned</a:t>
            </a:r>
            <a:endParaRPr lang="en-US" sz="1050" dirty="0"/>
          </a:p>
        </p:txBody>
      </p:sp>
      <p:sp>
        <p:nvSpPr>
          <p:cNvPr id="132" name="Plan 4 text"/>
          <p:cNvSpPr txBox="1"/>
          <p:nvPr/>
        </p:nvSpPr>
        <p:spPr>
          <a:xfrm>
            <a:off x="8211312" y="5248656"/>
            <a:ext cx="3401568" cy="201168"/>
          </a:xfrm>
          <a:prstGeom prst="rect">
            <a:avLst/>
          </a:prstGeom>
          <a:noFill/>
          <a:ln/>
        </p:spPr>
        <p:txBody>
          <a:bodyPr wrap="square" lIns="0" tIns="0" rIns="0" bIns="0" rtlCol="0" anchor="t"/>
          <a:lstStyle/>
          <a:p>
            <a:pPr marL="0" indent="0" algn="l">
              <a:buNone/>
            </a:pPr>
            <a:r>
              <a:rPr lang="en-US" sz="1050" dirty="0">
                <a:solidFill>
                  <a:schemeClr val="tx2"/>
                </a:solidFill>
              </a:rPr>
              <a:t>Is performance maintained? (potential reuse)</a:t>
            </a:r>
            <a:endParaRPr lang="en-US" sz="1050" dirty="0"/>
          </a:p>
        </p:txBody>
      </p:sp>
      <p:sp>
        <p:nvSpPr>
          <p:cNvPr id="133" name="Plan note"/>
          <p:cNvSpPr txBox="1"/>
          <p:nvPr/>
        </p:nvSpPr>
        <p:spPr>
          <a:xfrm>
            <a:off x="7717536" y="5614416"/>
            <a:ext cx="4023360" cy="329184"/>
          </a:xfrm>
          <a:prstGeom prst="rect">
            <a:avLst/>
          </a:prstGeom>
          <a:noFill/>
          <a:ln/>
        </p:spPr>
        <p:txBody>
          <a:bodyPr wrap="square" lIns="0" tIns="0" rIns="0" bIns="0" rtlCol="0" anchor="t"/>
          <a:lstStyle/>
          <a:p>
            <a:pPr marL="0" indent="0" algn="l">
              <a:buNone/>
            </a:pPr>
            <a:r>
              <a:rPr lang="en-US" sz="1000" i="1" dirty="0">
                <a:solidFill>
                  <a:schemeClr val="accent6"/>
                </a:solidFill>
              </a:rPr>
              <a:t>No capacities, humidity levels, temperatures or efficiencies are reported — none has been measured yet.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8661CDFE-41D0-D3F3-D225-C63CE209D543}"/>
              </a:ext>
            </a:extLst>
          </p:cNvPr>
          <p:cNvSpPr txBox="1"/>
          <p:nvPr/>
        </p:nvSpPr>
        <p:spPr>
          <a:xfrm>
            <a:off x="656790" y="2844225"/>
            <a:ext cx="7400000" cy="584775"/>
          </a:xfrm>
          <a:prstGeom prst="rect">
            <a:avLst/>
          </a:prstGeom>
          <a:noFill/>
        </p:spPr>
        <p:txBody>
          <a:bodyPr wrap="square">
            <a:spAutoFit/>
          </a:bodyPr>
          <a:lstStyle/>
          <a:p>
            <a:r>
              <a:rPr lang="en-US" sz="2800" b="1" dirty="0">
                <a:solidFill>
                  <a:schemeClr val="bg1"/>
                </a:solidFill>
                <a:latin typeface="Arial" pitchFamily="34" charset="0"/>
                <a:ea typeface="Arial" pitchFamily="34" charset="-122"/>
                <a:cs typeface="Arial" pitchFamily="34" charset="-120"/>
              </a:rPr>
              <a:t>Capturing CO₂ Directly from Air: Bimetal-Engineered MOFs with Moisture-Responsive Regeneration</a:t>
            </a:r>
            <a:endParaRPr lang="en-SA" sz="2800" dirty="0"/>
          </a:p>
        </p:txBody>
      </p:sp>
    </p:spTree>
    <p:extLst>
      <p:ext uri="{BB962C8B-B14F-4D97-AF65-F5344CB8AC3E}">
        <p14:creationId xmlns:p14="http://schemas.microsoft.com/office/powerpoint/2010/main" val="415547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00376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2" hasCustomPrompt="1"/>
          </p:nvPr>
        </p:nvSpPr>
        <p:spPr>
          <a:xfrm>
            <a:off x="1074828" y="3187072"/>
            <a:ext cx="2564901" cy="919739"/>
          </a:xfrm>
          <a:prstGeom prst="rect">
            <a:avLst/>
          </a:prstGeom>
          <a:noFill/>
          <a:ln/>
        </p:spPr>
        <p:txBody>
          <a:bodyPr wrap="square" lIns="0" tIns="0" rIns="0" bIns="0" rtlCol="0" anchor="ctr"/>
          <a:lstStyle/>
          <a:p>
            <a:pPr marL="0" indent="0" algn="l">
              <a:buNone/>
            </a:pPr>
            <a:r>
              <a:rPr lang="en-US" sz="3200" b="1" dirty="0">
                <a:solidFill>
                  <a:schemeClr val="bg1"/>
                </a:solidFill>
                <a:latin typeface="Arial" pitchFamily="34" charset="0"/>
                <a:ea typeface="Arial" pitchFamily="34" charset="-122"/>
                <a:cs typeface="Arial" pitchFamily="34" charset="-120"/>
              </a:rPr>
              <a:t>Thank You</a:t>
            </a:r>
            <a:endParaRPr lang="en-US" sz="3200" dirty="0"/>
          </a:p>
        </p:txBody>
      </p:sp>
    </p:spTree>
  </p:cSld>
  <p:clrMapOvr>
    <a:masterClrMapping/>
  </p:clrMapOvr>
</p:sld>
</file>

<file path=ppt/theme/theme1.xml><?xml version="1.0" encoding="utf-8"?>
<a:theme xmlns:a="http://schemas.openxmlformats.org/drawingml/2006/main" name="WPC 2026 Scientific">
  <a:themeElements>
    <a:clrScheme name="WPC 2026 Scientific">
      <a:dk1>
        <a:srgbClr val="1C1C1C"/>
      </a:dk1>
      <a:lt1>
        <a:srgbClr val="FFFFFF"/>
      </a:lt1>
      <a:dk2>
        <a:srgbClr val="24212C"/>
      </a:dk2>
      <a:lt2>
        <a:srgbClr val="F4F2FF"/>
      </a:lt2>
      <a:accent1>
        <a:srgbClr val="A299FF"/>
      </a:accent1>
      <a:accent2>
        <a:srgbClr val="FC833C"/>
      </a:accent2>
      <a:accent3>
        <a:srgbClr val="5B4BC4"/>
      </a:accent3>
      <a:accent4>
        <a:srgbClr val="3D8BD9"/>
      </a:accent4>
      <a:accent5>
        <a:srgbClr val="E5533D"/>
      </a:accent5>
      <a:accent6>
        <a:srgbClr val="6B6B76"/>
      </a:accent6>
      <a:hlink>
        <a:srgbClr val="5B4BC4"/>
      </a:hlink>
      <a:folHlink>
        <a:srgbClr val="8E7CC3"/>
      </a:folHlink>
    </a:clrScheme>
    <a:fontScheme name="WPC 2026 Scientifi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Widescreen</PresentationFormat>
  <Paragraphs>0</Paragraphs>
  <Slides>9</Slides>
  <Notes>7</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WPC 2026 Scientific</vt:lpstr>
      <vt:lpstr>Capturing CO₂ Directly from Air:  Bimetal-Engineered MOFs with Moisture-Responsive Regeneration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Capturing CO₂ Directly from Air – MOF-based approaches for CO₂ capture</dc:title>
  <dc:subject>25th WPC Energy Congress 2026 – Block 4: Energy Technologies – Future Pathways</dc:subject>
  <dc:creator>Raghad AlSawilam</dc:creator>
  <cp:lastModifiedBy>Raghad Sultan Abdelrhaman ALSAWILAM</cp:lastModifiedBy>
  <cp:revision>20</cp:revision>
  <dcterms:created xsi:type="dcterms:W3CDTF">2026-10-07T18:58:42Z</dcterms:created>
  <dcterms:modified xsi:type="dcterms:W3CDTF">2026-10-11T16:40:16Z</dcterms:modified>
</cp:coreProperties>
</file>