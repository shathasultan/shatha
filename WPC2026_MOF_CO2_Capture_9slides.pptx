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0" r:id="rId5"/>
    <p:sldId id="267" r:id="rId6"/>
    <p:sldId id="261" r:id="rId7"/>
    <p:sldId id="265" r:id="rId8"/>
    <p:sldId id="266"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0779E0-D329-6F88-E47F-9C901D885E07}">
          <p14:sldIdLst>
            <p14:sldId id="256"/>
            <p14:sldId id="257"/>
            <p14:sldId id="258"/>
          </p14:sldIdLst>
        </p14:section>
        <p14:section name="Research 1 (Main)" id="{0F79CB11-F936-C6F6-6E53-C9A177FFCFB3}">
          <p14:sldIdLst>
            <p14:sldId id="260"/>
            <p14:sldId id="267"/>
            <p14:sldId id="261"/>
          </p14:sldIdLst>
        </p14:section>
        <p14:section name="Research 2 (Complementary)" id="{BEE1C086-9ED5-915E-D5BD-899AF5ECFB71}">
          <p14:sldIdLst>
            <p14:sldId id="265"/>
            <p14:sldId id="266"/>
          </p14:sldIdLst>
        </p14:section>
        <p14:section name="Closing" id="{46DF172D-13D0-7366-97A9-DF2EA8C8182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SA"/>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17B1FCFD-B869-A44D-BD5E-F9D8CFCD140A}" type="datetimeFigureOut">
              <a:rPr lang="en-SA" smtClean="0"/>
              <a:t>11/10/2026 R</a:t>
            </a:fld>
            <a:endParaRPr lang="en-SA"/>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SA"/>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SA"/>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F0C32F1F-0ECB-D040-92D6-BA57159F8670}" type="slidenum">
              <a:rPr lang="en-SA" smtClean="0"/>
              <a:t>‹#›</a:t>
            </a:fld>
            <a:endParaRPr lang="en-SA"/>
          </a:p>
        </p:txBody>
      </p:sp>
    </p:spTree>
    <p:extLst>
      <p:ext uri="{BB962C8B-B14F-4D97-AF65-F5344CB8AC3E}">
        <p14:creationId xmlns:p14="http://schemas.microsoft.com/office/powerpoint/2010/main" val="54330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morning/afternoon. I am Raghad AlSawilam from the Advanced Materials Technologies Institute at KACST, supervised by Dr. Lana Alghamdi. Today I will present our study on bimetal-engineered metal–organic frameworks for capturing CO₂ directly from air, with moisture-responsive regeneration.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(about 1.5-2 min). Research background, research gap and objective.</a:t>
            </a:r>
          </a:p>
          <a:p>
            <a:r>
              <a:rPr lang="en-US" dirty="0"/>
              <a:t>Introduce yourself and the team (KACST, Advanced Materials Technologies Institute). Metal-organic frameworks are porous crystalline solids built from metal nodes joined by organic linkers; their tunable pores and chemistry make them candidate materials for CO2 capture. Direct air capture is demanding because CO2 in ambient air is dilute (roughly 420 ppm), so a sorbent has to capture it at very low partial pressure, and ambient air always carries water vapor. Water vapor may compete with CO2 for adsorption sites or alter how CO2 binds - the direction of that effect is not assumed. Research gap: for the bimetal-engineered MOF developed here, the influence of humidity on CO2 adsorption and regeneration has not yet been investigated. State the question slowly: how does humidity influence CO2 adsorption and regeneration behavior in a bimetal-engineered MOF? Objective: to characterize the synthesized material and investigate how humidity may influence CO2 adsorption and regeneration. Transition: first, how the material was prepared.</a:t>
            </a:r>
          </a:p>
          <a:p>
            <a:r>
              <a:rPr lang="en-US" dirty="0"/>
              <a:t>(The three diagrams are schematic and not to scale. No CO2 capture performance is claimed for this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(about 2 min). Material synthesis and experimental progress.</a:t>
            </a:r>
          </a:p>
          <a:p>
            <a:r>
              <a:rPr lang="en-US" dirty="0"/>
              <a:t>Section A: the ten laboratory photographs follow the synthesis in process order - weighing, preparation, mixing, heating, the reaction vessel after heating, washing, separation by centrifugation, drying, the dried powder, and the labelled vials after activation. Section B: twelve mixed-metal MOF samples were prepared by solvothermal synthesis - six metal compositions (A-F) at two metal-to-linker ratios (1:1 and 2:1); codes such as B2-1 combine composition and ratio. White crystalline solids were obtained in all twelve samples. A2-1 and B2-1 are highlighted because they stood out in the characterization; B2-1 is shown in detail on the next two slides. Composition and synthesis details are not disclosed in this presentation. Section C: material synthesis and XRD/FTIR characterization are completed; CO2 adsorption, humidity-controlled experiments, regeneration and cycling studies are planned and have not yet been performed. Transition: first, the XRD data.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(about 2 min). XRD analysis of sample B2-1.</a:t>
            </a:r>
          </a:p>
          <a:p>
            <a:r>
              <a:rPr lang="en-US" dirty="0"/>
              <a:t>Purpose: XRD examines the crystalline structure and diffraction features of the synthesized material. The figure is an enlarged, unmodified crop of the B2-1 panel from my original 12-sample XRD figure; the peak labels are those printed in the original, and the small orange markers below the axis only point to those labelled peaks. Key observation: well-defined peaks at 2-theta = 9.36, 12.10, 17.56, 24.34 and 26.08 degrees, the most intense at 12.10 degrees. Interpretation: sharp, well-defined reflections indicate long-range periodic order, so the solid is crystalline rather than amorphous; strong reflections at low angle correspond to large interplanar spacings, which is consistent with, but does not prove, an extended framework structure. Limitations: a specific phase cannot be assigned from these peaks alone - it requires comparison with reference patterns and supporting evidence - so I do not assign a crystal structure or claim phase purity. XRD characterizes the material only; it does not show CO2 adsorption. Transition: next, the FTIR spectrum of the same sample.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(about 2 min). FTIR analysis of sample B2-1.</a:t>
            </a:r>
          </a:p>
          <a:p>
            <a:r>
              <a:rPr lang="en-US" dirty="0"/>
              <a:t>Purpose: FTIR identifies characteristic vibrational bands and probes chemical interactions in the synthesized material. The figure is an enlarged, unmodified crop of the B2-1 panel from my original 12-sample FTIR figure (absorbance versus wavenumber); the shaded bands only mark the reported regions near 1600 and 1400 cm-1. Key observation: strong absorption bands in these two regions, among the most intense features of the spectrum. Interpretation: these regions are characteristic of the asymmetric and symmetric stretching vibrations of carboxylate groups, and strong carboxylate bands support the proposed coordination between carboxylate groups and metal centers. Once the band positions are determined precisely, the separation between the asymmetric and symmetric bands can help discuss the coordination mode. Limitations: FTIR alone does not establish the complete structure or a specific metal-node arrangement; the assignments should be checked against the free-linker spectrum and other characterization; and FTIR does not measure CO2 adsorption. Transition: with the material characterized, the next step is the planned CO2, humidity and regeneration study.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(about 2 min). Planned CO2 adsorption, humidity and regeneration study.</a:t>
            </a:r>
          </a:p>
          <a:p>
            <a:r>
              <a:rPr lang="en-US" dirty="0"/>
              <a:t>This is the planned experimental workflow, not a result: none of these experiments has been performed yet, so no adsorption capacities, humidity levels, temperatures, regeneration efficiencies or cycling data are given. Stage 1, CO2 adsorption: evaluate CO2 uptake under defined experimental conditions. Stage 2, humidity effect: compare dry and humid conditions while controlling the other relevant variables, so that any difference can be attributed to water vapor. Stage 3, regeneration: assess CO2 release and recovery of the material. Stage 4, cycling: investigate whether capture performance is maintained over repeated adsorption-regeneration cycles. Why humidity matters: water vapor is always present in ambient air and may compete with CO2, change how it binds, or affect framework stability; the effect could help, hinder or be negligible, so it must be measured. Why regeneration matters: a practical DAC sorbent must release the captured CO2 and recover its capacity to be reused. Expected outcomes are aims, not results: how humidity, metal composition and metal-to-linker ratio may influence CO2 adsorption and regeneration, and whether the material can be reused. Close with the broader goal - advancing MOF-based approaches for CO2 capture under environmentally relevant conditions - thank the audience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To close: our study combines bimetal engineering with the evaluation of humidity and regeneration, as one route to advancing MOF-based direct air capture of CO₂. Thank you — I welcome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P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25th WPC Energy Congress logo"/>
          <p:cNvPicPr>
            <a:picLocks noChangeAspect="1"/>
          </p:cNvPicPr>
          <p:nvPr/>
        </p:nvPicPr>
        <p:blipFill>
          <a:blip r:embed="rId3"/>
          <a:stretch>
            <a:fillRect/>
          </a:stretch>
        </p:blipFill>
        <p:spPr>
          <a:xfrm>
            <a:off x="512064" y="493776"/>
            <a:ext cx="3273552" cy="1380744"/>
          </a:xfrm>
          <a:prstGeom prst="rect">
            <a:avLst/>
          </a:prstGeom>
        </p:spPr>
      </p:pic>
      <p:pic>
        <p:nvPicPr>
          <p:cNvPr id="3" name="Image 1" descr="WPC Energy and Ministry of Energy logos"/>
          <p:cNvPicPr>
            <a:picLocks noChangeAspect="1"/>
          </p:cNvPicPr>
          <p:nvPr/>
        </p:nvPicPr>
        <p:blipFill>
          <a:blip r:embed="rId4"/>
          <a:stretch>
            <a:fillRect/>
          </a:stretch>
        </p:blipFill>
        <p:spPr>
          <a:xfrm>
            <a:off x="8421624" y="594360"/>
            <a:ext cx="3383280" cy="676656"/>
          </a:xfrm>
          <a:prstGeom prst="rect">
            <a:avLst/>
          </a:prstGeom>
        </p:spPr>
      </p:pic>
      <p:sp>
        <p:nvSpPr>
          <p:cNvPr id="4" name="Text 0"/>
          <p:cNvSpPr/>
          <p:nvPr/>
        </p:nvSpPr>
        <p:spPr>
          <a:xfrm>
            <a:off x="393192" y="6382512"/>
            <a:ext cx="2743200" cy="274320"/>
          </a:xfrm>
          <a:prstGeom prst="rect">
            <a:avLst/>
          </a:prstGeom>
          <a:noFill/>
          <a:ln/>
        </p:spPr>
        <p:txBody>
          <a:bodyPr wrap="square" lIns="0" tIns="0" rIns="0" bIns="0" rtlCol="0" anchor="ctr"/>
          <a:lstStyle/>
          <a:p>
            <a:pPr marL="0" indent="0">
              <a:buNone/>
            </a:pPr>
            <a:r>
              <a:rPr lang="en-US" sz="1200" b="1" dirty="0">
                <a:solidFill>
                  <a:schemeClr val="bg1"/>
                </a:solidFill>
                <a:latin typeface="Arial" pitchFamily="34" charset="0"/>
                <a:ea typeface="Arial" pitchFamily="34" charset="-122"/>
                <a:cs typeface="Arial" pitchFamily="34" charset="-120"/>
              </a:rPr>
              <a:t>Poster Presenter</a:t>
            </a:r>
            <a:endParaRPr lang="en-US" sz="1200" dirty="0"/>
          </a:p>
        </p:txBody>
      </p:sp>
      <p:sp>
        <p:nvSpPr>
          <p:cNvPr id="5" name="Text 1"/>
          <p:cNvSpPr>
            <a:spLocks noGrp="1"/>
          </p:cNvSpPr>
          <p:nvPr>
            <p:ph type="title" idx="103" hasCustomPrompt="1"/>
          </p:nvPr>
        </p:nvSpPr>
        <p:spPr>
          <a:xfrm>
            <a:off x="621792" y="1993392"/>
            <a:ext cx="6766560" cy="1481328"/>
          </a:xfrm>
          <a:prstGeom prst="rect">
            <a:avLst/>
          </a:prstGeom>
          <a:noFill/>
          <a:ln/>
        </p:spPr>
        <p:txBody>
          <a:bodyPr wrap="square" rtlCol="0"/>
          <a:lstStyle>
            <a:lvl1pPr marL="0" indent="0" algn="l">
              <a:buNone/>
              <a:defRPr lang="en-US" sz="3000" b="1" dirty="0">
                <a:solidFill>
                  <a:schemeClr val="bg1"/>
                </a:solidFill>
                <a:latin typeface="Arial" pitchFamily="34" charset="0"/>
                <a:ea typeface="Arial" pitchFamily="34" charset="-122"/>
                <a:cs typeface="Arial" pitchFamily="34" charset="-120"/>
              </a:defRPr>
            </a:lvl1pPr>
          </a:lstStyle>
          <a:p>
            <a:pPr marL="0" indent="0" algn="l">
              <a:buNone/>
            </a:pPr>
            <a:endParaRPr lang="en-US" sz="3000" dirty="0"/>
          </a:p>
        </p:txBody>
      </p:sp>
      <p:sp>
        <p:nvSpPr>
          <p:cNvPr id="6" name="Text 1"/>
          <p:cNvSpPr>
            <a:spLocks noGrp="1"/>
          </p:cNvSpPr>
          <p:nvPr>
            <p:ph type="body" idx="104" hasCustomPrompt="1"/>
          </p:nvPr>
        </p:nvSpPr>
        <p:spPr>
          <a:xfrm>
            <a:off x="621792" y="3547872"/>
            <a:ext cx="6766560" cy="310896"/>
          </a:xfrm>
          <a:prstGeom prst="rect">
            <a:avLst/>
          </a:prstGeom>
          <a:noFill/>
          <a:ln/>
        </p:spPr>
        <p:txBody>
          <a:bodyPr wrap="square" rtlCol="0"/>
          <a:lstStyle>
            <a:lvl1pPr marL="0" indent="0" algn="l">
              <a:buNone/>
              <a:defRPr lang="en-US" sz="1600" dirty="0">
                <a:solidFill>
                  <a:srgbClr val="D9D4FF"/>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7" name="Text 1"/>
          <p:cNvSpPr>
            <a:spLocks noGrp="1"/>
          </p:cNvSpPr>
          <p:nvPr>
            <p:ph type="body" idx="105" hasCustomPrompt="1"/>
          </p:nvPr>
        </p:nvSpPr>
        <p:spPr>
          <a:xfrm>
            <a:off x="621792" y="4005072"/>
            <a:ext cx="6766560" cy="384048"/>
          </a:xfrm>
          <a:prstGeom prst="rect">
            <a:avLst/>
          </a:prstGeom>
          <a:noFill/>
          <a:ln/>
        </p:spPr>
        <p:txBody>
          <a:bodyPr wrap="square" rtlCol="0"/>
          <a:lstStyle>
            <a:lvl1pPr marL="0" indent="0" algn="l">
              <a:buNone/>
              <a:defRPr lang="en-US" sz="2400" b="1" dirty="0">
                <a:solidFill>
                  <a:schemeClr val="accent1"/>
                </a:solidFill>
                <a:latin typeface="Arial" pitchFamily="34" charset="0"/>
                <a:ea typeface="Arial" pitchFamily="34" charset="-122"/>
                <a:cs typeface="Arial" pitchFamily="34" charset="-120"/>
              </a:defRPr>
            </a:lvl1pPr>
          </a:lstStyle>
          <a:p>
            <a:pPr marL="0" indent="0" algn="l">
              <a:buNone/>
            </a:pPr>
            <a:endParaRPr lang="en-US" sz="2400" dirty="0"/>
          </a:p>
        </p:txBody>
      </p:sp>
      <p:sp>
        <p:nvSpPr>
          <p:cNvPr id="8" name="Text 1"/>
          <p:cNvSpPr>
            <a:spLocks noGrp="1"/>
          </p:cNvSpPr>
          <p:nvPr>
            <p:ph type="body" idx="106" hasCustomPrompt="1"/>
          </p:nvPr>
        </p:nvSpPr>
        <p:spPr>
          <a:xfrm>
            <a:off x="621792" y="4425696"/>
            <a:ext cx="6766560" cy="274320"/>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9" name="Text 1"/>
          <p:cNvSpPr>
            <a:spLocks noGrp="1"/>
          </p:cNvSpPr>
          <p:nvPr>
            <p:ph type="body" idx="107" hasCustomPrompt="1"/>
          </p:nvPr>
        </p:nvSpPr>
        <p:spPr>
          <a:xfrm>
            <a:off x="621792" y="4718304"/>
            <a:ext cx="6766560" cy="274320"/>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10" name="Text 1"/>
          <p:cNvSpPr>
            <a:spLocks noGrp="1"/>
          </p:cNvSpPr>
          <p:nvPr>
            <p:ph type="body" idx="108" hasCustomPrompt="1"/>
          </p:nvPr>
        </p:nvSpPr>
        <p:spPr>
          <a:xfrm>
            <a:off x="621792" y="5102352"/>
            <a:ext cx="6766560" cy="493776"/>
          </a:xfrm>
          <a:prstGeom prst="rect">
            <a:avLst/>
          </a:prstGeom>
          <a:noFill/>
          <a:ln/>
        </p:spPr>
        <p:txBody>
          <a:bodyPr wrap="square" rtlCol="0"/>
          <a:lstStyle>
            <a:lvl1pPr marL="0" indent="0" algn="l">
              <a:buNone/>
              <a:defRPr lang="en-US" sz="1400" b="1" dirty="0">
                <a:solidFill>
                  <a:schemeClr val="bg1"/>
                </a:solidFill>
                <a:latin typeface="Arial" pitchFamily="34" charset="0"/>
                <a:ea typeface="Arial" pitchFamily="34" charset="-122"/>
                <a:cs typeface="Arial" pitchFamily="34" charset="-120"/>
              </a:defRPr>
            </a:lvl1pPr>
          </a:lstStyle>
          <a:p>
            <a:pPr marL="0" indent="0" algn="l">
              <a:buNone/>
            </a:pPr>
            <a:endParaRPr lang="en-US" sz="1400" dirty="0"/>
          </a:p>
        </p:txBody>
      </p:sp>
      <p:sp>
        <p:nvSpPr>
          <p:cNvPr id="11" name="Text 1"/>
          <p:cNvSpPr>
            <a:spLocks noGrp="1"/>
          </p:cNvSpPr>
          <p:nvPr>
            <p:ph type="body" idx="109" hasCustomPrompt="1"/>
          </p:nvPr>
        </p:nvSpPr>
        <p:spPr>
          <a:xfrm>
            <a:off x="621792" y="5687568"/>
            <a:ext cx="6766560" cy="274320"/>
          </a:xfrm>
          <a:prstGeom prst="rect">
            <a:avLst/>
          </a:prstGeom>
          <a:noFill/>
          <a:ln/>
        </p:spPr>
        <p:txBody>
          <a:bodyPr wrap="square" rtlCol="0"/>
          <a:lstStyle>
            <a:lvl1pPr marL="0" indent="0" algn="l">
              <a:buNone/>
              <a:defRPr lang="en-US" sz="1400" b="1" dirty="0">
                <a:solidFill>
                  <a:srgbClr val="FFB98F"/>
                </a:solidFill>
                <a:latin typeface="Arial" pitchFamily="34" charset="0"/>
                <a:ea typeface="Arial" pitchFamily="34" charset="-122"/>
                <a:cs typeface="Arial" pitchFamily="34" charset="-120"/>
              </a:defRPr>
            </a:lvl1pPr>
          </a:lstStyle>
          <a:p>
            <a:pPr marL="0" indent="0" algn="l">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PC_CONTENT">
    <p:bg>
      <p:bgPr>
        <a:solidFill>
          <a:schemeClr val="bg1"/>
        </a:solidFill>
        <a:effectLst/>
      </p:bgPr>
    </p:bg>
    <p:spTree>
      <p:nvGrpSpPr>
        <p:cNvPr id="1" name=""/>
        <p:cNvGrpSpPr/>
        <p:nvPr/>
      </p:nvGrpSpPr>
      <p:grpSpPr>
        <a:xfrm>
          <a:off x="0" y="0"/>
          <a:ext cx="0" cy="0"/>
          <a:chOff x="0" y="0"/>
          <a:chExt cx="0" cy="0"/>
        </a:xfrm>
      </p:grpSpPr>
      <p:pic>
        <p:nvPicPr>
          <p:cNvPr id="2" name="Image 0" descr="WPC Block 4 header and footer artwork"/>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448056" y="768096"/>
            <a:ext cx="5486400" cy="365760"/>
          </a:xfrm>
          <a:prstGeom prst="rect">
            <a:avLst/>
          </a:prstGeom>
          <a:noFill/>
          <a:ln/>
        </p:spPr>
        <p:txBody>
          <a:bodyPr wrap="square" lIns="0" tIns="0" rIns="0" bIns="0"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Energy Technologies</a:t>
            </a:r>
            <a:endParaRPr lang="en-US" sz="2400" dirty="0"/>
          </a:p>
        </p:txBody>
      </p:sp>
      <p:sp>
        <p:nvSpPr>
          <p:cNvPr id="4" name="Text 1"/>
          <p:cNvSpPr/>
          <p:nvPr/>
        </p:nvSpPr>
        <p:spPr>
          <a:xfrm>
            <a:off x="448056" y="1133856"/>
            <a:ext cx="5486400" cy="365760"/>
          </a:xfrm>
          <a:prstGeom prst="rect">
            <a:avLst/>
          </a:prstGeom>
          <a:noFill/>
          <a:ln/>
        </p:spPr>
        <p:txBody>
          <a:bodyPr wrap="square" lIns="0" tIns="0" rIns="0" bIns="0"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-Future Pathways</a:t>
            </a:r>
            <a:endParaRPr lang="en-US" sz="2400" dirty="0"/>
          </a:p>
        </p:txBody>
      </p:sp>
      <p:sp>
        <p:nvSpPr>
          <p:cNvPr id="5" name="Text 2"/>
          <p:cNvSpPr/>
          <p:nvPr/>
        </p:nvSpPr>
        <p:spPr>
          <a:xfrm>
            <a:off x="393192" y="6382512"/>
            <a:ext cx="2743200" cy="274320"/>
          </a:xfrm>
          <a:prstGeom prst="rect">
            <a:avLst/>
          </a:prstGeom>
          <a:noFill/>
          <a:ln/>
        </p:spPr>
        <p:txBody>
          <a:bodyPr wrap="square" lIns="0" tIns="0" rIns="0" bIns="0" rtlCol="0" anchor="ctr"/>
          <a:lstStyle/>
          <a:p>
            <a:pPr marL="0" indent="0">
              <a:buNone/>
            </a:pPr>
            <a:r>
              <a:rPr lang="en-US" sz="1200" b="1" dirty="0">
                <a:solidFill>
                  <a:schemeClr val="tx1"/>
                </a:solidFill>
                <a:latin typeface="Arial" pitchFamily="34" charset="0"/>
                <a:ea typeface="Arial" pitchFamily="34" charset="-122"/>
                <a:cs typeface="Arial" pitchFamily="34" charset="-120"/>
              </a:rPr>
              <a:t>Raghad AlSawilam | KACST</a:t>
            </a:r>
            <a:endParaRPr lang="en-US" sz="1200" dirty="0"/>
          </a:p>
        </p:txBody>
      </p:sp>
      <p:sp>
        <p:nvSpPr>
          <p:cNvPr id="6" name="Text 3"/>
          <p:cNvSpPr>
            <a:spLocks noGrp="1"/>
          </p:cNvSpPr>
          <p:nvPr>
            <p:ph type="title" idx="104" hasCustomPrompt="1"/>
          </p:nvPr>
        </p:nvSpPr>
        <p:spPr>
          <a:xfrm>
            <a:off x="448056" y="1828800"/>
            <a:ext cx="11292840" cy="457200"/>
          </a:xfrm>
          <a:prstGeom prst="rect">
            <a:avLst/>
          </a:prstGeom>
          <a:noFill/>
          <a:ln/>
        </p:spPr>
        <p:txBody>
          <a:bodyPr wrap="square" rtlCol="0"/>
          <a:lstStyle>
            <a:lvl1pPr marL="0" indent="0" algn="l">
              <a:buNone/>
              <a:defRPr lang="en-US" sz="2400" b="1" dirty="0">
                <a:solidFill>
                  <a:schemeClr val="accent1"/>
                </a:solidFill>
                <a:latin typeface="Arial" pitchFamily="34" charset="0"/>
                <a:ea typeface="Arial" pitchFamily="34" charset="-122"/>
                <a:cs typeface="Arial" pitchFamily="34" charset="-120"/>
              </a:defRPr>
            </a:lvl1pPr>
          </a:lstStyle>
          <a:p>
            <a:pPr marL="0" indent="0" algn="l">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WPC_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25th WPC Energy Congress logo"/>
          <p:cNvPicPr>
            <a:picLocks noChangeAspect="1"/>
          </p:cNvPicPr>
          <p:nvPr/>
        </p:nvPicPr>
        <p:blipFill>
          <a:blip r:embed="rId3"/>
          <a:stretch>
            <a:fillRect/>
          </a:stretch>
        </p:blipFill>
        <p:spPr>
          <a:xfrm>
            <a:off x="512064" y="493776"/>
            <a:ext cx="3273552" cy="1380744"/>
          </a:xfrm>
          <a:prstGeom prst="rect">
            <a:avLst/>
          </a:prstGeom>
        </p:spPr>
      </p:pic>
      <p:pic>
        <p:nvPicPr>
          <p:cNvPr id="3" name="Image 1" descr="WPC Energy and Ministry of Energy logos"/>
          <p:cNvPicPr>
            <a:picLocks noChangeAspect="1"/>
          </p:cNvPicPr>
          <p:nvPr/>
        </p:nvPicPr>
        <p:blipFill>
          <a:blip r:embed="rId4"/>
          <a:stretch>
            <a:fillRect/>
          </a:stretch>
        </p:blipFill>
        <p:spPr>
          <a:xfrm>
            <a:off x="8421624" y="594360"/>
            <a:ext cx="3383280" cy="676656"/>
          </a:xfrm>
          <a:prstGeom prst="rect">
            <a:avLst/>
          </a:prstGeom>
        </p:spPr>
      </p:pic>
      <p:sp>
        <p:nvSpPr>
          <p:cNvPr id="4" name="Text 0"/>
          <p:cNvSpPr>
            <a:spLocks noGrp="1"/>
          </p:cNvSpPr>
          <p:nvPr>
            <p:ph type="title" idx="102" hasCustomPrompt="1"/>
          </p:nvPr>
        </p:nvSpPr>
        <p:spPr>
          <a:xfrm>
            <a:off x="612648" y="3163824"/>
            <a:ext cx="6035040" cy="566928"/>
          </a:xfrm>
          <a:prstGeom prst="rect">
            <a:avLst/>
          </a:prstGeom>
          <a:noFill/>
          <a:ln/>
        </p:spPr>
        <p:txBody>
          <a:bodyPr wrap="square" rtlCol="0"/>
          <a:lstStyle>
            <a:lvl1pPr marL="0" indent="0" algn="l">
              <a:buNone/>
              <a:defRPr lang="en-US" sz="3200" b="1" dirty="0">
                <a:solidFill>
                  <a:schemeClr val="bg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5" name="Text 0"/>
          <p:cNvSpPr>
            <a:spLocks noGrp="1"/>
          </p:cNvSpPr>
          <p:nvPr>
            <p:ph type="body" idx="103" hasCustomPrompt="1"/>
          </p:nvPr>
        </p:nvSpPr>
        <p:spPr>
          <a:xfrm>
            <a:off x="612648" y="3803904"/>
            <a:ext cx="6035040" cy="329184"/>
          </a:xfrm>
          <a:prstGeom prst="rect">
            <a:avLst/>
          </a:prstGeom>
          <a:noFill/>
          <a:ln/>
        </p:spPr>
        <p:txBody>
          <a:bodyPr wrap="square" rtlCol="0"/>
          <a:lstStyle>
            <a:lvl1pPr marL="0" indent="0" algn="l">
              <a:buNone/>
              <a:defRPr lang="en-US" sz="2000" dirty="0">
                <a:solidFill>
                  <a:srgbClr val="D9D4FF"/>
                </a:solidFill>
                <a:latin typeface="Arial" pitchFamily="34" charset="0"/>
                <a:ea typeface="Arial" pitchFamily="34" charset="-122"/>
                <a:cs typeface="Arial" pitchFamily="34" charset="-120"/>
              </a:defRPr>
            </a:lvl1pPr>
          </a:lstStyle>
          <a:p>
            <a:pPr marL="0" indent="0" algn="l">
              <a:buNone/>
            </a:pPr>
            <a:endParaRPr lang="en-US" sz="2000" dirty="0"/>
          </a:p>
        </p:txBody>
      </p:sp>
      <p:sp>
        <p:nvSpPr>
          <p:cNvPr id="6" name="Text 0"/>
          <p:cNvSpPr>
            <a:spLocks noGrp="1"/>
          </p:cNvSpPr>
          <p:nvPr>
            <p:ph type="body" idx="104" hasCustomPrompt="1"/>
          </p:nvPr>
        </p:nvSpPr>
        <p:spPr>
          <a:xfrm>
            <a:off x="612648" y="4443984"/>
            <a:ext cx="6035040" cy="329184"/>
          </a:xfrm>
          <a:prstGeom prst="rect">
            <a:avLst/>
          </a:prstGeom>
          <a:noFill/>
          <a:ln/>
        </p:spPr>
        <p:txBody>
          <a:bodyPr wrap="square" rtlCol="0"/>
          <a:lstStyle>
            <a:lvl1pPr marL="0" indent="0" algn="l">
              <a:buNone/>
              <a:defRPr lang="en-US" sz="2000" b="1" dirty="0">
                <a:solidFill>
                  <a:schemeClr val="accent1"/>
                </a:solidFill>
                <a:latin typeface="Arial" pitchFamily="34" charset="0"/>
                <a:ea typeface="Arial" pitchFamily="34" charset="-122"/>
                <a:cs typeface="Arial" pitchFamily="34" charset="-120"/>
              </a:defRPr>
            </a:lvl1pPr>
          </a:lstStyle>
          <a:p>
            <a:pPr marL="0" indent="0" algn="l">
              <a:buNone/>
            </a:pPr>
            <a:endParaRPr lang="en-US" sz="2000" dirty="0"/>
          </a:p>
        </p:txBody>
      </p:sp>
      <p:sp>
        <p:nvSpPr>
          <p:cNvPr id="7" name="Text 0"/>
          <p:cNvSpPr>
            <a:spLocks noGrp="1"/>
          </p:cNvSpPr>
          <p:nvPr>
            <p:ph type="body" idx="105" hasCustomPrompt="1"/>
          </p:nvPr>
        </p:nvSpPr>
        <p:spPr>
          <a:xfrm>
            <a:off x="612648" y="4791456"/>
            <a:ext cx="6035040" cy="292608"/>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B53BF-6A52-3A55-4E2D-0173CF4D76A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AE"/>
          </a:p>
        </p:txBody>
      </p:sp>
      <p:sp>
        <p:nvSpPr>
          <p:cNvPr id="3" name="Subtitle 2">
            <a:extLst>
              <a:ext uri="{FF2B5EF4-FFF2-40B4-BE49-F238E27FC236}">
                <a16:creationId xmlns:a16="http://schemas.microsoft.com/office/drawing/2014/main" id="{490DE4B1-D593-CC3C-F804-C5E68548321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E"/>
          </a:p>
        </p:txBody>
      </p:sp>
      <p:sp>
        <p:nvSpPr>
          <p:cNvPr id="4" name="Date Placeholder 3">
            <a:extLst>
              <a:ext uri="{FF2B5EF4-FFF2-40B4-BE49-F238E27FC236}">
                <a16:creationId xmlns:a16="http://schemas.microsoft.com/office/drawing/2014/main" id="{7CE087ED-D878-7E75-58E1-816B23E8037A}"/>
              </a:ext>
            </a:extLst>
          </p:cNvPr>
          <p:cNvSpPr>
            <a:spLocks noGrp="1"/>
          </p:cNvSpPr>
          <p:nvPr>
            <p:ph type="dt" sz="half" idx="10"/>
          </p:nvPr>
        </p:nvSpPr>
        <p:spPr>
          <a:xfrm>
            <a:off x="331304" y="6356350"/>
            <a:ext cx="2743200" cy="365125"/>
          </a:xfrm>
          <a:prstGeom prst="rect">
            <a:avLst/>
          </a:prstGeom>
        </p:spPr>
        <p:txBody>
          <a:bodyPr/>
          <a:lstStyle/>
          <a:p>
            <a:fld id="{D2196A8F-0171-AF4D-9E96-F285C400C663}" type="datetimeFigureOut">
              <a:rPr lang="en-AE" smtClean="0"/>
              <a:t>10/11/26</a:t>
            </a:fld>
            <a:endParaRPr lang="en-AE"/>
          </a:p>
        </p:txBody>
      </p:sp>
      <p:sp>
        <p:nvSpPr>
          <p:cNvPr id="5" name="Footer Placeholder 4">
            <a:extLst>
              <a:ext uri="{FF2B5EF4-FFF2-40B4-BE49-F238E27FC236}">
                <a16:creationId xmlns:a16="http://schemas.microsoft.com/office/drawing/2014/main" id="{F76FF3D5-7242-66B9-CDA4-F58A025BDA7C}"/>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1B34FD92-AAFC-CC11-DA0D-9CFEC4C4B7A0}"/>
              </a:ext>
            </a:extLst>
          </p:cNvPr>
          <p:cNvSpPr>
            <a:spLocks noGrp="1"/>
          </p:cNvSpPr>
          <p:nvPr>
            <p:ph type="sldNum" sz="quarter" idx="12"/>
          </p:nvPr>
        </p:nvSpPr>
        <p:spPr>
          <a:xfrm>
            <a:off x="331304" y="6356350"/>
            <a:ext cx="2743200" cy="365125"/>
          </a:xfrm>
          <a:prstGeom prst="rect">
            <a:avLst/>
          </a:prstGeom>
        </p:spPr>
        <p:txBody>
          <a:bodyPr/>
          <a:lstStyle/>
          <a:p>
            <a:fld id="{388DA25C-1014-654B-B0A9-357B89C41D9C}" type="slidenum">
              <a:rPr lang="en-AE" smtClean="0"/>
              <a:t>‹#›</a:t>
            </a:fld>
            <a:endParaRPr lang="en-AE"/>
          </a:p>
        </p:txBody>
      </p:sp>
    </p:spTree>
    <p:extLst>
      <p:ext uri="{BB962C8B-B14F-4D97-AF65-F5344CB8AC3E}">
        <p14:creationId xmlns:p14="http://schemas.microsoft.com/office/powerpoint/2010/main" val="39035159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 Id="rId100" Type="http://schemas.openxmlformats.org/officeDocument/2006/relationships/image" Target="../media/image15.png"/><Relationship Id="rId101" Type="http://schemas.openxmlformats.org/officeDocument/2006/relationships/image" Target="../media/image16.png"/><Relationship Id="rId102" Type="http://schemas.openxmlformats.org/officeDocument/2006/relationships/image" Target="../media/image17.png"/><Relationship Id="rId103" Type="http://schemas.openxmlformats.org/officeDocument/2006/relationships/image" Target="../media/image18.png"/><Relationship Id="rId104" Type="http://schemas.openxmlformats.org/officeDocument/2006/relationships/image" Target="../media/image9.png"/><Relationship Id="rId105" Type="http://schemas.openxmlformats.org/officeDocument/2006/relationships/image" Target="../media/image19.png"/><Relationship Id="rId106" Type="http://schemas.openxmlformats.org/officeDocument/2006/relationships/image" Target="../media/image20.png"/><Relationship Id="rId107" Type="http://schemas.openxmlformats.org/officeDocument/2006/relationships/image" Target="../media/image21.png"/><Relationship Id="rId108" Type="http://schemas.openxmlformats.org/officeDocument/2006/relationships/image" Target="../media/image13.jpg"/><Relationship Id="rId109" Type="http://schemas.openxmlformats.org/officeDocument/2006/relationships/image" Target="../media/image1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 Id="rId100" Type="http://schemas.openxmlformats.org/officeDocument/2006/relationships/image" Target="../media/image2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 Id="rId100" Type="http://schemas.openxmlformats.org/officeDocument/2006/relationships/image" Target="../media/image2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3" hasCustomPrompt="1"/>
          </p:nvPr>
        </p:nvSpPr>
        <p:spPr>
          <a:xfrm>
            <a:off x="633832" y="1900000"/>
            <a:ext cx="6900000" cy="1700000"/>
          </a:xfrm>
          <a:prstGeom prst="rect">
            <a:avLst/>
          </a:prstGeom>
          <a:noFill/>
          <a:ln/>
        </p:spPr>
        <p:txBody>
          <a:bodyPr wrap="square" lIns="0" tIns="0" rIns="0" bIns="0" rtlCol="0" anchor="b"/>
          <a:lstStyle/>
          <a:p>
            <a:pPr marL="0" indent="0" algn="l">
              <a:buNone/>
            </a:pPr>
            <a:r>
              <a:rPr lang="en-US" sz="2800" b="1" dirty="0">
                <a:solidFill>
                  <a:schemeClr val="bg1"/>
                </a:solidFill>
                <a:latin typeface="Arial" pitchFamily="34" charset="0"/>
                <a:ea typeface="Arial" pitchFamily="34" charset="-122"/>
                <a:cs typeface="Arial" pitchFamily="34" charset="-120"/>
              </a:rPr>
              <a:t>Capturing CO₂ Directly from Air: </a:t>
            </a:r>
            <a:br>
              <a:rPr lang="en-US" sz="2800" b="1" dirty="0">
                <a:solidFill>
                  <a:schemeClr val="bg1"/>
                </a:solidFill>
                <a:latin typeface="Arial" pitchFamily="34" charset="0"/>
                <a:ea typeface="Arial" pitchFamily="34" charset="-122"/>
                <a:cs typeface="Arial" pitchFamily="34" charset="-120"/>
              </a:rPr>
            </a:br>
            <a:r>
              <a:rPr lang="en-US" sz="2800" b="1" dirty="0">
                <a:solidFill>
                  <a:schemeClr val="bg1"/>
                </a:solidFill>
                <a:latin typeface="Arial" pitchFamily="34" charset="0"/>
                <a:ea typeface="Arial" pitchFamily="34" charset="-122"/>
                <a:cs typeface="Arial" pitchFamily="34" charset="-120"/>
              </a:rPr>
              <a:t>Bimetal-Engineered MOFs with Moisture-Responsive Regeneration</a:t>
            </a:r>
          </a:p>
        </p:txBody>
      </p:sp>
      <p:sp>
        <p:nvSpPr>
          <p:cNvPr id="6" name="Text 1"/>
          <p:cNvSpPr>
            <a:spLocks noGrp="1"/>
          </p:cNvSpPr>
          <p:nvPr>
            <p:ph type="body" idx="107" hasCustomPrompt="1"/>
          </p:nvPr>
        </p:nvSpPr>
        <p:spPr>
          <a:xfrm>
            <a:off x="502921" y="4897402"/>
            <a:ext cx="6766560" cy="274320"/>
          </a:xfrm>
          <a:prstGeom prst="rect">
            <a:avLst/>
          </a:prstGeom>
          <a:noFill/>
          <a:ln/>
        </p:spPr>
        <p:txBody>
          <a:bodyPr wrap="square" lIns="0" tIns="0" rIns="0" bIns="0" rtlCol="0" anchor="t"/>
          <a:lstStyle/>
          <a:p>
            <a:pPr marL="0" indent="0" algn="l">
              <a:buNone/>
            </a:pPr>
            <a:r>
              <a:rPr lang="en-US" sz="2000" dirty="0">
                <a:solidFill>
                  <a:srgbClr val="D9D4FF"/>
                </a:solidFill>
                <a:latin typeface="Arial" pitchFamily="34" charset="0"/>
                <a:ea typeface="Arial" pitchFamily="34" charset="-122"/>
                <a:cs typeface="Arial" pitchFamily="34" charset="-120"/>
              </a:rPr>
              <a:t>Supervisor: </a:t>
            </a:r>
            <a:r>
              <a:rPr lang="en-US" sz="2000" dirty="0">
                <a:solidFill>
                  <a:schemeClr val="bg1"/>
                </a:solidFill>
                <a:latin typeface="Arial" pitchFamily="34" charset="0"/>
                <a:ea typeface="Arial" pitchFamily="34" charset="-122"/>
                <a:cs typeface="Arial" pitchFamily="34" charset="-120"/>
              </a:rPr>
              <a:t>Dr. Lana Alghamdi</a:t>
            </a:r>
            <a:endParaRPr lang="en-US" sz="2000" dirty="0"/>
          </a:p>
        </p:txBody>
      </p:sp>
      <p:sp>
        <p:nvSpPr>
          <p:cNvPr id="7" name="Text 1"/>
          <p:cNvSpPr>
            <a:spLocks noGrp="1"/>
          </p:cNvSpPr>
          <p:nvPr>
            <p:ph type="body" idx="108" hasCustomPrompt="1"/>
          </p:nvPr>
        </p:nvSpPr>
        <p:spPr>
          <a:xfrm>
            <a:off x="534925" y="5427793"/>
            <a:ext cx="6766560" cy="493776"/>
          </a:xfrm>
          <a:prstGeom prst="rect">
            <a:avLst/>
          </a:prstGeom>
          <a:noFill/>
          <a:ln/>
        </p:spPr>
        <p:txBody>
          <a:bodyPr wrap="square" lIns="0" tIns="0" rIns="0" bIns="0" rtlCol="0" anchor="t"/>
          <a:lstStyle/>
          <a:p>
            <a:pPr marL="0" indent="0" algn="l">
              <a:buNone/>
            </a:pPr>
            <a:r>
              <a:rPr lang="en-US" sz="2000" b="1" dirty="0">
                <a:solidFill>
                  <a:schemeClr val="bg1"/>
                </a:solidFill>
                <a:latin typeface="Arial" pitchFamily="34" charset="0"/>
                <a:ea typeface="Arial" pitchFamily="34" charset="-122"/>
                <a:cs typeface="Arial" pitchFamily="34" charset="-120"/>
              </a:rPr>
              <a:t>Advanced Materials Technologies Institute</a:t>
            </a:r>
            <a:endParaRPr lang="en-US" sz="2000" dirty="0"/>
          </a:p>
          <a:p>
            <a:pPr marL="0" indent="0" algn="l">
              <a:buNone/>
            </a:pPr>
            <a:r>
              <a:rPr lang="en-US" sz="1800" b="1" dirty="0">
                <a:solidFill>
                  <a:schemeClr val="bg1"/>
                </a:solidFill>
                <a:latin typeface="Arial" pitchFamily="34" charset="0"/>
                <a:ea typeface="Arial" pitchFamily="34" charset="-122"/>
                <a:cs typeface="Arial" pitchFamily="34" charset="-120"/>
              </a:rPr>
              <a:t>King Abdulaziz City for Science and Technology (KACST)</a:t>
            </a:r>
            <a:endParaRPr lang="en-US" sz="1800" dirty="0"/>
          </a:p>
        </p:txBody>
      </p:sp>
      <p:sp>
        <p:nvSpPr>
          <p:cNvPr id="4" name="Text 1"/>
          <p:cNvSpPr>
            <a:spLocks noGrp="1"/>
          </p:cNvSpPr>
          <p:nvPr>
            <p:ph type="body" idx="105" hasCustomPrompt="1"/>
          </p:nvPr>
        </p:nvSpPr>
        <p:spPr>
          <a:xfrm>
            <a:off x="594360" y="3842021"/>
            <a:ext cx="6766560" cy="384048"/>
          </a:xfrm>
          <a:prstGeom prst="rect">
            <a:avLst/>
          </a:prstGeom>
          <a:noFill/>
          <a:ln/>
        </p:spPr>
        <p:txBody>
          <a:bodyPr wrap="square" lIns="0" tIns="0" rIns="0" bIns="0" rtlCol="0" anchor="t"/>
          <a:lstStyle/>
          <a:p>
            <a:pPr marL="0" indent="0" algn="l">
              <a:buNone/>
            </a:pPr>
            <a:r>
              <a:rPr lang="en-US" sz="2400" b="1" dirty="0">
                <a:solidFill>
                  <a:schemeClr val="accent1"/>
                </a:solidFill>
                <a:latin typeface="Arial" pitchFamily="34" charset="0"/>
                <a:ea typeface="Arial" pitchFamily="34" charset="-122"/>
                <a:cs typeface="Arial" pitchFamily="34" charset="-120"/>
              </a:rPr>
              <a:t>Raghad AlSawilam</a:t>
            </a:r>
            <a:endParaRPr lang="en-US" sz="2400" dirty="0"/>
          </a:p>
        </p:txBody>
      </p:sp>
      <p:sp>
        <p:nvSpPr>
          <p:cNvPr id="9" name="Title visual panel"/>
          <p:cNvSpPr/>
          <p:nvPr/>
        </p:nvSpPr>
        <p:spPr>
          <a:xfrm>
            <a:off x="7680960" y="1993392"/>
            <a:ext cx="4050792" cy="3877056"/>
          </a:xfrm>
          <a:prstGeom prst="roundRect">
            <a:avLst>
              <a:gd name="adj" fmla="val 2358"/>
            </a:avLst>
          </a:prstGeom>
          <a:solidFill>
            <a:srgbClr val="000000">
              <a:alpha val="58000"/>
            </a:srgbClr>
          </a:solidFill>
          <a:ln w="6350">
            <a:solidFill>
              <a:srgbClr val="FFFFFF">
                <a:alpha val="30000"/>
              </a:srgbClr>
            </a:solidFill>
            <a:prstDash val="solid"/>
          </a:ln>
        </p:spPr>
      </p:sp>
      <p:sp>
        <p:nvSpPr>
          <p:cNvPr id="10" name="Section label FROM AMBIENT AIR TO CO₂ CAPTURE"/>
          <p:cNvSpPr txBox="1"/>
          <p:nvPr/>
        </p:nvSpPr>
        <p:spPr>
          <a:xfrm>
            <a:off x="7909560" y="2139696"/>
            <a:ext cx="3566160" cy="219456"/>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FROM AMBIENT AIR TO CO₂ CAPTURE</a:t>
            </a:r>
            <a:endParaRPr lang="en-US" sz="1000" dirty="0"/>
          </a:p>
        </p:txBody>
      </p:sp>
      <p:sp>
        <p:nvSpPr>
          <p:cNvPr id="11" name="Title stage 1 glyph box"/>
          <p:cNvSpPr/>
          <p:nvPr/>
        </p:nvSpPr>
        <p:spPr>
          <a:xfrm>
            <a:off x="7909560" y="2496312"/>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12" name="Title air N2/O2 atom"/>
          <p:cNvSpPr/>
          <p:nvPr/>
        </p:nvSpPr>
        <p:spPr>
          <a:xfrm>
            <a:off x="8070537" y="2594476"/>
            <a:ext cx="132857" cy="132857"/>
          </a:xfrm>
          <a:prstGeom prst="ellipse">
            <a:avLst/>
          </a:prstGeom>
          <a:solidFill>
            <a:srgbClr val="B4B8C5"/>
          </a:solidFill>
          <a:ln w="9525">
            <a:solidFill>
              <a:srgbClr val="FFFFFF"/>
            </a:solidFill>
            <a:prstDash val="solid"/>
          </a:ln>
        </p:spPr>
      </p:sp>
      <p:sp>
        <p:nvSpPr>
          <p:cNvPr id="13" name="Title air N2/O2 atom"/>
          <p:cNvSpPr/>
          <p:nvPr/>
        </p:nvSpPr>
        <p:spPr>
          <a:xfrm>
            <a:off x="8166194" y="2594476"/>
            <a:ext cx="132857" cy="132857"/>
          </a:xfrm>
          <a:prstGeom prst="ellipse">
            <a:avLst/>
          </a:prstGeom>
          <a:solidFill>
            <a:srgbClr val="B4B8C5"/>
          </a:solidFill>
          <a:ln w="9525">
            <a:solidFill>
              <a:srgbClr val="FFFFFF"/>
            </a:solidFill>
            <a:prstDash val="solid"/>
          </a:ln>
        </p:spPr>
      </p:sp>
      <p:sp>
        <p:nvSpPr>
          <p:cNvPr id="14" name="Title air N2/O2 atom"/>
          <p:cNvSpPr/>
          <p:nvPr/>
        </p:nvSpPr>
        <p:spPr>
          <a:xfrm>
            <a:off x="8478817" y="2976695"/>
            <a:ext cx="132857" cy="132857"/>
          </a:xfrm>
          <a:prstGeom prst="ellipse">
            <a:avLst/>
          </a:prstGeom>
          <a:solidFill>
            <a:srgbClr val="B4B8C5"/>
          </a:solidFill>
          <a:ln w="9525">
            <a:solidFill>
              <a:srgbClr val="FFFFFF"/>
            </a:solidFill>
            <a:prstDash val="solid"/>
          </a:ln>
        </p:spPr>
      </p:sp>
      <p:sp>
        <p:nvSpPr>
          <p:cNvPr id="15" name="Title air N2/O2 atom"/>
          <p:cNvSpPr/>
          <p:nvPr/>
        </p:nvSpPr>
        <p:spPr>
          <a:xfrm>
            <a:off x="8574474" y="2976695"/>
            <a:ext cx="132857" cy="132857"/>
          </a:xfrm>
          <a:prstGeom prst="ellipse">
            <a:avLst/>
          </a:prstGeom>
          <a:solidFill>
            <a:srgbClr val="B4B8C5"/>
          </a:solidFill>
          <a:ln w="9525">
            <a:solidFill>
              <a:srgbClr val="FFFFFF"/>
            </a:solidFill>
            <a:prstDash val="solid"/>
          </a:ln>
        </p:spPr>
      </p:sp>
      <p:sp>
        <p:nvSpPr>
          <p:cNvPr id="16" name="Title air N2/O2 atom"/>
          <p:cNvSpPr/>
          <p:nvPr/>
        </p:nvSpPr>
        <p:spPr>
          <a:xfrm>
            <a:off x="8826289" y="2577102"/>
            <a:ext cx="132857" cy="132857"/>
          </a:xfrm>
          <a:prstGeom prst="ellipse">
            <a:avLst/>
          </a:prstGeom>
          <a:solidFill>
            <a:srgbClr val="B4B8C5"/>
          </a:solidFill>
          <a:ln w="9525">
            <a:solidFill>
              <a:srgbClr val="FFFFFF"/>
            </a:solidFill>
            <a:prstDash val="solid"/>
          </a:ln>
        </p:spPr>
      </p:sp>
      <p:sp>
        <p:nvSpPr>
          <p:cNvPr id="17" name="Title air N2/O2 atom"/>
          <p:cNvSpPr/>
          <p:nvPr/>
        </p:nvSpPr>
        <p:spPr>
          <a:xfrm>
            <a:off x="8921946" y="2577102"/>
            <a:ext cx="132857" cy="132857"/>
          </a:xfrm>
          <a:prstGeom prst="ellipse">
            <a:avLst/>
          </a:prstGeom>
          <a:solidFill>
            <a:srgbClr val="B4B8C5"/>
          </a:solidFill>
          <a:ln w="9525">
            <a:solidFill>
              <a:srgbClr val="FFFFFF"/>
            </a:solidFill>
            <a:prstDash val="solid"/>
          </a:ln>
        </p:spPr>
      </p:sp>
      <p:sp>
        <p:nvSpPr>
          <p:cNvPr id="18" name="Title air N2/O2 atom"/>
          <p:cNvSpPr/>
          <p:nvPr/>
        </p:nvSpPr>
        <p:spPr>
          <a:xfrm>
            <a:off x="8001043" y="3002755"/>
            <a:ext cx="132857" cy="132857"/>
          </a:xfrm>
          <a:prstGeom prst="ellipse">
            <a:avLst/>
          </a:prstGeom>
          <a:solidFill>
            <a:srgbClr val="B4B8C5"/>
          </a:solidFill>
          <a:ln w="9525">
            <a:solidFill>
              <a:srgbClr val="FFFFFF"/>
            </a:solidFill>
            <a:prstDash val="solid"/>
          </a:ln>
        </p:spPr>
      </p:sp>
      <p:sp>
        <p:nvSpPr>
          <p:cNvPr id="19" name="Title air N2/O2 atom"/>
          <p:cNvSpPr/>
          <p:nvPr/>
        </p:nvSpPr>
        <p:spPr>
          <a:xfrm>
            <a:off x="8096700" y="3002755"/>
            <a:ext cx="132857" cy="132857"/>
          </a:xfrm>
          <a:prstGeom prst="ellipse">
            <a:avLst/>
          </a:prstGeom>
          <a:solidFill>
            <a:srgbClr val="B4B8C5"/>
          </a:solidFill>
          <a:ln w="9525">
            <a:solidFill>
              <a:srgbClr val="FFFFFF"/>
            </a:solidFill>
            <a:prstDash val="solid"/>
          </a:ln>
        </p:spPr>
      </p:sp>
      <p:sp>
        <p:nvSpPr>
          <p:cNvPr id="20" name="Title air CO2 O"/>
          <p:cNvSpPr/>
          <p:nvPr/>
        </p:nvSpPr>
        <p:spPr>
          <a:xfrm>
            <a:off x="8419338" y="2604106"/>
            <a:ext cx="113597" cy="113597"/>
          </a:xfrm>
          <a:prstGeom prst="ellipse">
            <a:avLst/>
          </a:prstGeom>
          <a:solidFill>
            <a:schemeClr val="accent5"/>
          </a:solidFill>
          <a:ln w="9525">
            <a:solidFill>
              <a:srgbClr val="FFFFFF"/>
            </a:solidFill>
            <a:prstDash val="solid"/>
          </a:ln>
        </p:spPr>
      </p:sp>
      <p:sp>
        <p:nvSpPr>
          <p:cNvPr id="21" name="Title air CO2 O"/>
          <p:cNvSpPr/>
          <p:nvPr/>
        </p:nvSpPr>
        <p:spPr>
          <a:xfrm>
            <a:off x="8601093" y="2604106"/>
            <a:ext cx="113597" cy="113597"/>
          </a:xfrm>
          <a:prstGeom prst="ellipse">
            <a:avLst/>
          </a:prstGeom>
          <a:solidFill>
            <a:schemeClr val="accent5"/>
          </a:solidFill>
          <a:ln w="9525">
            <a:solidFill>
              <a:srgbClr val="FFFFFF"/>
            </a:solidFill>
            <a:prstDash val="solid"/>
          </a:ln>
        </p:spPr>
      </p:sp>
      <p:sp>
        <p:nvSpPr>
          <p:cNvPr id="22" name="Title air CO2 C"/>
          <p:cNvSpPr/>
          <p:nvPr/>
        </p:nvSpPr>
        <p:spPr>
          <a:xfrm>
            <a:off x="8514759" y="2608650"/>
            <a:ext cx="104509" cy="104509"/>
          </a:xfrm>
          <a:prstGeom prst="ellipse">
            <a:avLst/>
          </a:prstGeom>
          <a:solidFill>
            <a:schemeClr val="tx2"/>
          </a:solidFill>
          <a:ln w="9525">
            <a:solidFill>
              <a:srgbClr val="FFFFFF"/>
            </a:solidFill>
            <a:prstDash val="solid"/>
          </a:ln>
        </p:spPr>
      </p:sp>
      <p:sp>
        <p:nvSpPr>
          <p:cNvPr id="23" name="Title air H2O H"/>
          <p:cNvSpPr/>
          <p:nvPr/>
        </p:nvSpPr>
        <p:spPr>
          <a:xfrm>
            <a:off x="8890163" y="3047756"/>
            <a:ext cx="71811" cy="71811"/>
          </a:xfrm>
          <a:prstGeom prst="ellipse">
            <a:avLst/>
          </a:prstGeom>
          <a:solidFill>
            <a:schemeClr val="bg1"/>
          </a:solidFill>
          <a:ln w="9525">
            <a:solidFill>
              <a:srgbClr val="8D96AA"/>
            </a:solidFill>
            <a:prstDash val="solid"/>
          </a:ln>
        </p:spPr>
      </p:sp>
      <p:sp>
        <p:nvSpPr>
          <p:cNvPr id="24" name="Title air H2O H"/>
          <p:cNvSpPr/>
          <p:nvPr/>
        </p:nvSpPr>
        <p:spPr>
          <a:xfrm>
            <a:off x="9005987" y="3047756"/>
            <a:ext cx="71811" cy="71811"/>
          </a:xfrm>
          <a:prstGeom prst="ellipse">
            <a:avLst/>
          </a:prstGeom>
          <a:solidFill>
            <a:schemeClr val="bg1"/>
          </a:solidFill>
          <a:ln w="9525">
            <a:solidFill>
              <a:srgbClr val="8D96AA"/>
            </a:solidFill>
            <a:prstDash val="solid"/>
          </a:ln>
        </p:spPr>
      </p:sp>
      <p:sp>
        <p:nvSpPr>
          <p:cNvPr id="25" name="Title air H2O O"/>
          <p:cNvSpPr/>
          <p:nvPr/>
        </p:nvSpPr>
        <p:spPr>
          <a:xfrm>
            <a:off x="8926068" y="2982316"/>
            <a:ext cx="115824" cy="115824"/>
          </a:xfrm>
          <a:prstGeom prst="ellipse">
            <a:avLst/>
          </a:prstGeom>
          <a:solidFill>
            <a:schemeClr val="accent4"/>
          </a:solidFill>
          <a:ln w="9525">
            <a:solidFill>
              <a:srgbClr val="FFFFFF"/>
            </a:solidFill>
            <a:prstDash val="solid"/>
          </a:ln>
        </p:spPr>
      </p:sp>
      <p:sp>
        <p:nvSpPr>
          <p:cNvPr id="26" name="Text 24"/>
          <p:cNvSpPr txBox="1"/>
          <p:nvPr/>
        </p:nvSpPr>
        <p:spPr>
          <a:xfrm>
            <a:off x="9372600" y="2569464"/>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Ambient Air</a:t>
            </a:r>
            <a:endParaRPr lang="en-US" sz="1400" dirty="0"/>
          </a:p>
        </p:txBody>
      </p:sp>
      <p:sp>
        <p:nvSpPr>
          <p:cNvPr id="27" name="Text 25"/>
          <p:cNvSpPr txBox="1"/>
          <p:nvPr/>
        </p:nvSpPr>
        <p:spPr>
          <a:xfrm>
            <a:off x="9372600" y="2843784"/>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Low CO₂ concentration, with water vapor</a:t>
            </a:r>
            <a:endParaRPr lang="en-US" sz="1050" dirty="0"/>
          </a:p>
        </p:txBody>
      </p:sp>
      <p:sp>
        <p:nvSpPr>
          <p:cNvPr id="28" name="Title flow arrow 1"/>
          <p:cNvSpPr/>
          <p:nvPr/>
        </p:nvSpPr>
        <p:spPr>
          <a:xfrm>
            <a:off x="8476488" y="3191256"/>
            <a:ext cx="146304" cy="137160"/>
          </a:xfrm>
          <a:prstGeom prst="downArrow">
            <a:avLst/>
          </a:prstGeom>
          <a:solidFill>
            <a:schemeClr val="accent1"/>
          </a:solidFill>
          <a:ln w="12700">
            <a:solidFill>
              <a:schemeClr val="accent1"/>
            </a:solidFill>
            <a:prstDash val="solid"/>
          </a:ln>
        </p:spPr>
      </p:sp>
      <p:sp>
        <p:nvSpPr>
          <p:cNvPr id="29" name="Title stage 2 glyph box"/>
          <p:cNvSpPr/>
          <p:nvPr/>
        </p:nvSpPr>
        <p:spPr>
          <a:xfrm>
            <a:off x="7909560" y="3337560"/>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30" name="Title CO2 O"/>
          <p:cNvSpPr/>
          <p:nvPr/>
        </p:nvSpPr>
        <p:spPr>
          <a:xfrm>
            <a:off x="8193024" y="3538728"/>
            <a:ext cx="274320" cy="274320"/>
          </a:xfrm>
          <a:prstGeom prst="ellipse">
            <a:avLst/>
          </a:prstGeom>
          <a:solidFill>
            <a:schemeClr val="accent5"/>
          </a:solidFill>
          <a:ln w="9525">
            <a:solidFill>
              <a:srgbClr val="FFFFFF"/>
            </a:solidFill>
            <a:prstDash val="solid"/>
          </a:ln>
        </p:spPr>
      </p:sp>
      <p:sp>
        <p:nvSpPr>
          <p:cNvPr id="31" name="Title CO2 O"/>
          <p:cNvSpPr/>
          <p:nvPr/>
        </p:nvSpPr>
        <p:spPr>
          <a:xfrm>
            <a:off x="8631936" y="3538728"/>
            <a:ext cx="274320" cy="274320"/>
          </a:xfrm>
          <a:prstGeom prst="ellipse">
            <a:avLst/>
          </a:prstGeom>
          <a:solidFill>
            <a:schemeClr val="accent5"/>
          </a:solidFill>
          <a:ln w="9525">
            <a:solidFill>
              <a:srgbClr val="FFFFFF"/>
            </a:solidFill>
            <a:prstDash val="solid"/>
          </a:ln>
        </p:spPr>
      </p:sp>
      <p:sp>
        <p:nvSpPr>
          <p:cNvPr id="32" name="Title CO2 C"/>
          <p:cNvSpPr/>
          <p:nvPr/>
        </p:nvSpPr>
        <p:spPr>
          <a:xfrm>
            <a:off x="8423453" y="3549701"/>
            <a:ext cx="252374" cy="252374"/>
          </a:xfrm>
          <a:prstGeom prst="ellipse">
            <a:avLst/>
          </a:prstGeom>
          <a:solidFill>
            <a:schemeClr val="tx2"/>
          </a:solidFill>
          <a:ln w="9525">
            <a:solidFill>
              <a:srgbClr val="FFFFFF"/>
            </a:solidFill>
            <a:prstDash val="solid"/>
          </a:ln>
        </p:spPr>
      </p:sp>
      <p:sp>
        <p:nvSpPr>
          <p:cNvPr id="33" name="Text 31"/>
          <p:cNvSpPr txBox="1"/>
          <p:nvPr/>
        </p:nvSpPr>
        <p:spPr>
          <a:xfrm>
            <a:off x="9372600" y="3410712"/>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CO₂</a:t>
            </a:r>
            <a:endParaRPr lang="en-US" sz="1400" dirty="0"/>
          </a:p>
        </p:txBody>
      </p:sp>
      <p:sp>
        <p:nvSpPr>
          <p:cNvPr id="34" name="Text 32"/>
          <p:cNvSpPr txBox="1"/>
          <p:nvPr/>
        </p:nvSpPr>
        <p:spPr>
          <a:xfrm>
            <a:off x="9372600" y="3685032"/>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The target molecule</a:t>
            </a:r>
            <a:endParaRPr lang="en-US" sz="1050" dirty="0"/>
          </a:p>
        </p:txBody>
      </p:sp>
      <p:sp>
        <p:nvSpPr>
          <p:cNvPr id="35" name="Title flow arrow 2"/>
          <p:cNvSpPr/>
          <p:nvPr/>
        </p:nvSpPr>
        <p:spPr>
          <a:xfrm>
            <a:off x="8476488" y="4032504"/>
            <a:ext cx="146304" cy="137160"/>
          </a:xfrm>
          <a:prstGeom prst="downArrow">
            <a:avLst/>
          </a:prstGeom>
          <a:solidFill>
            <a:schemeClr val="accent1"/>
          </a:solidFill>
          <a:ln w="12700">
            <a:solidFill>
              <a:schemeClr val="accent1"/>
            </a:solidFill>
            <a:prstDash val="solid"/>
          </a:ln>
        </p:spPr>
      </p:sp>
      <p:sp>
        <p:nvSpPr>
          <p:cNvPr id="36" name="Title stage 3 glyph box"/>
          <p:cNvSpPr/>
          <p:nvPr/>
        </p:nvSpPr>
        <p:spPr>
          <a:xfrm>
            <a:off x="7909560" y="4178808"/>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37" name="Title MOF linker"/>
          <p:cNvSpPr/>
          <p:nvPr/>
        </p:nvSpPr>
        <p:spPr>
          <a:xfrm>
            <a:off x="8321040" y="4288536"/>
            <a:ext cx="457200" cy="0"/>
          </a:xfrm>
          <a:prstGeom prst="line">
            <a:avLst/>
          </a:prstGeom>
          <a:noFill/>
          <a:ln w="38100">
            <a:solidFill>
              <a:srgbClr val="BDB6F5"/>
            </a:solidFill>
            <a:prstDash val="solid"/>
          </a:ln>
        </p:spPr>
      </p:sp>
      <p:sp>
        <p:nvSpPr>
          <p:cNvPr id="38" name="Title MOF linker"/>
          <p:cNvSpPr/>
          <p:nvPr/>
        </p:nvSpPr>
        <p:spPr>
          <a:xfrm>
            <a:off x="8321040" y="4288536"/>
            <a:ext cx="0" cy="457200"/>
          </a:xfrm>
          <a:prstGeom prst="line">
            <a:avLst/>
          </a:prstGeom>
          <a:noFill/>
          <a:ln w="38100">
            <a:solidFill>
              <a:srgbClr val="BDB6F5"/>
            </a:solidFill>
            <a:prstDash val="solid"/>
          </a:ln>
        </p:spPr>
      </p:sp>
      <p:sp>
        <p:nvSpPr>
          <p:cNvPr id="39" name="Title MOF linker"/>
          <p:cNvSpPr/>
          <p:nvPr/>
        </p:nvSpPr>
        <p:spPr>
          <a:xfrm>
            <a:off x="8778240" y="4288536"/>
            <a:ext cx="0" cy="457200"/>
          </a:xfrm>
          <a:prstGeom prst="line">
            <a:avLst/>
          </a:prstGeom>
          <a:noFill/>
          <a:ln w="38100">
            <a:solidFill>
              <a:srgbClr val="BDB6F5"/>
            </a:solidFill>
            <a:prstDash val="solid"/>
          </a:ln>
        </p:spPr>
      </p:sp>
      <p:sp>
        <p:nvSpPr>
          <p:cNvPr id="40" name="Title MOF linker"/>
          <p:cNvSpPr/>
          <p:nvPr/>
        </p:nvSpPr>
        <p:spPr>
          <a:xfrm>
            <a:off x="8321040" y="4745736"/>
            <a:ext cx="457200" cy="0"/>
          </a:xfrm>
          <a:prstGeom prst="line">
            <a:avLst/>
          </a:prstGeom>
          <a:noFill/>
          <a:ln w="38100">
            <a:solidFill>
              <a:srgbClr val="BDB6F5"/>
            </a:solidFill>
            <a:prstDash val="solid"/>
          </a:ln>
        </p:spPr>
      </p:sp>
      <p:sp>
        <p:nvSpPr>
          <p:cNvPr id="41" name="Title MOF linker ring"/>
          <p:cNvSpPr/>
          <p:nvPr/>
        </p:nvSpPr>
        <p:spPr>
          <a:xfrm>
            <a:off x="8494776" y="4240530"/>
            <a:ext cx="109728" cy="96012"/>
          </a:xfrm>
          <a:prstGeom prst="hexagon">
            <a:avLst/>
          </a:prstGeom>
          <a:solidFill>
            <a:schemeClr val="tx2"/>
          </a:solidFill>
          <a:ln w="9525">
            <a:solidFill>
              <a:schemeClr val="accent1"/>
            </a:solidFill>
            <a:prstDash val="solid"/>
          </a:ln>
        </p:spPr>
      </p:sp>
      <p:sp>
        <p:nvSpPr>
          <p:cNvPr id="42" name="Title MOF linker ring"/>
          <p:cNvSpPr/>
          <p:nvPr/>
        </p:nvSpPr>
        <p:spPr>
          <a:xfrm rot="5400000">
            <a:off x="8266176" y="4469130"/>
            <a:ext cx="109728" cy="96012"/>
          </a:xfrm>
          <a:prstGeom prst="hexagon">
            <a:avLst/>
          </a:prstGeom>
          <a:solidFill>
            <a:schemeClr val="tx2"/>
          </a:solidFill>
          <a:ln w="9525">
            <a:solidFill>
              <a:schemeClr val="accent1"/>
            </a:solidFill>
            <a:prstDash val="solid"/>
          </a:ln>
        </p:spPr>
      </p:sp>
      <p:sp>
        <p:nvSpPr>
          <p:cNvPr id="43" name="Title MOF linker ring"/>
          <p:cNvSpPr/>
          <p:nvPr/>
        </p:nvSpPr>
        <p:spPr>
          <a:xfrm rot="5400000">
            <a:off x="8723376" y="4469130"/>
            <a:ext cx="109728" cy="96012"/>
          </a:xfrm>
          <a:prstGeom prst="hexagon">
            <a:avLst/>
          </a:prstGeom>
          <a:solidFill>
            <a:schemeClr val="tx2"/>
          </a:solidFill>
          <a:ln w="9525">
            <a:solidFill>
              <a:schemeClr val="accent1"/>
            </a:solidFill>
            <a:prstDash val="solid"/>
          </a:ln>
        </p:spPr>
      </p:sp>
      <p:sp>
        <p:nvSpPr>
          <p:cNvPr id="44" name="Title MOF linker ring"/>
          <p:cNvSpPr/>
          <p:nvPr/>
        </p:nvSpPr>
        <p:spPr>
          <a:xfrm>
            <a:off x="8494776" y="4697730"/>
            <a:ext cx="109728" cy="96012"/>
          </a:xfrm>
          <a:prstGeom prst="hexagon">
            <a:avLst/>
          </a:prstGeom>
          <a:solidFill>
            <a:schemeClr val="tx2"/>
          </a:solidFill>
          <a:ln w="9525">
            <a:solidFill>
              <a:schemeClr val="accent1"/>
            </a:solidFill>
            <a:prstDash val="solid"/>
          </a:ln>
        </p:spPr>
      </p:sp>
      <p:sp>
        <p:nvSpPr>
          <p:cNvPr id="45" name="Title MOF metal node"/>
          <p:cNvSpPr/>
          <p:nvPr/>
        </p:nvSpPr>
        <p:spPr>
          <a:xfrm>
            <a:off x="8243316" y="4210812"/>
            <a:ext cx="155448" cy="155448"/>
          </a:xfrm>
          <a:prstGeom prst="diamond">
            <a:avLst/>
          </a:prstGeom>
          <a:solidFill>
            <a:schemeClr val="accent1"/>
          </a:solidFill>
          <a:ln w="9525">
            <a:solidFill>
              <a:schemeClr val="bg1"/>
            </a:solidFill>
            <a:prstDash val="solid"/>
          </a:ln>
        </p:spPr>
      </p:sp>
      <p:sp>
        <p:nvSpPr>
          <p:cNvPr id="46" name="Title MOF metal node"/>
          <p:cNvSpPr/>
          <p:nvPr/>
        </p:nvSpPr>
        <p:spPr>
          <a:xfrm>
            <a:off x="8700516" y="4210812"/>
            <a:ext cx="155448" cy="155448"/>
          </a:xfrm>
          <a:prstGeom prst="diamond">
            <a:avLst/>
          </a:prstGeom>
          <a:solidFill>
            <a:schemeClr val="accent1"/>
          </a:solidFill>
          <a:ln w="9525">
            <a:solidFill>
              <a:schemeClr val="bg1"/>
            </a:solidFill>
            <a:prstDash val="solid"/>
          </a:ln>
        </p:spPr>
      </p:sp>
      <p:sp>
        <p:nvSpPr>
          <p:cNvPr id="47" name="Title MOF metal node"/>
          <p:cNvSpPr/>
          <p:nvPr/>
        </p:nvSpPr>
        <p:spPr>
          <a:xfrm>
            <a:off x="8243316" y="4668012"/>
            <a:ext cx="155448" cy="155448"/>
          </a:xfrm>
          <a:prstGeom prst="diamond">
            <a:avLst/>
          </a:prstGeom>
          <a:solidFill>
            <a:schemeClr val="accent1"/>
          </a:solidFill>
          <a:ln w="9525">
            <a:solidFill>
              <a:schemeClr val="bg1"/>
            </a:solidFill>
            <a:prstDash val="solid"/>
          </a:ln>
        </p:spPr>
      </p:sp>
      <p:sp>
        <p:nvSpPr>
          <p:cNvPr id="48" name="Title MOF metal node"/>
          <p:cNvSpPr/>
          <p:nvPr/>
        </p:nvSpPr>
        <p:spPr>
          <a:xfrm>
            <a:off x="8700516" y="4668012"/>
            <a:ext cx="155448" cy="155448"/>
          </a:xfrm>
          <a:prstGeom prst="diamond">
            <a:avLst/>
          </a:prstGeom>
          <a:solidFill>
            <a:schemeClr val="accent1"/>
          </a:solidFill>
          <a:ln w="9525">
            <a:solidFill>
              <a:schemeClr val="bg1"/>
            </a:solidFill>
            <a:prstDash val="solid"/>
          </a:ln>
        </p:spPr>
      </p:sp>
      <p:sp>
        <p:nvSpPr>
          <p:cNvPr id="49" name="Text 47"/>
          <p:cNvSpPr txBox="1"/>
          <p:nvPr/>
        </p:nvSpPr>
        <p:spPr>
          <a:xfrm>
            <a:off x="9372600" y="4251960"/>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Porous MOF</a:t>
            </a:r>
            <a:endParaRPr lang="en-US" sz="1400" dirty="0"/>
          </a:p>
        </p:txBody>
      </p:sp>
      <p:sp>
        <p:nvSpPr>
          <p:cNvPr id="50" name="Text 48"/>
          <p:cNvSpPr txBox="1"/>
          <p:nvPr/>
        </p:nvSpPr>
        <p:spPr>
          <a:xfrm>
            <a:off x="9372600" y="4526280"/>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Metal nodes joined by organic linkers</a:t>
            </a:r>
            <a:endParaRPr lang="en-US" sz="1050" dirty="0"/>
          </a:p>
        </p:txBody>
      </p:sp>
      <p:sp>
        <p:nvSpPr>
          <p:cNvPr id="51" name="Title flow arrow 3"/>
          <p:cNvSpPr/>
          <p:nvPr/>
        </p:nvSpPr>
        <p:spPr>
          <a:xfrm>
            <a:off x="8476488" y="4873752"/>
            <a:ext cx="146304" cy="137160"/>
          </a:xfrm>
          <a:prstGeom prst="downArrow">
            <a:avLst/>
          </a:prstGeom>
          <a:solidFill>
            <a:schemeClr val="accent1"/>
          </a:solidFill>
          <a:ln w="12700">
            <a:solidFill>
              <a:schemeClr val="accent1"/>
            </a:solidFill>
            <a:prstDash val="solid"/>
          </a:ln>
        </p:spPr>
      </p:sp>
      <p:sp>
        <p:nvSpPr>
          <p:cNvPr id="52" name="Title stage 4 glyph box"/>
          <p:cNvSpPr/>
          <p:nvPr/>
        </p:nvSpPr>
        <p:spPr>
          <a:xfrm>
            <a:off x="7909560" y="5020056"/>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53" name="Title MOF CO2 linker"/>
          <p:cNvSpPr/>
          <p:nvPr/>
        </p:nvSpPr>
        <p:spPr>
          <a:xfrm>
            <a:off x="8321040" y="5129784"/>
            <a:ext cx="457200" cy="0"/>
          </a:xfrm>
          <a:prstGeom prst="line">
            <a:avLst/>
          </a:prstGeom>
          <a:noFill/>
          <a:ln w="38100">
            <a:solidFill>
              <a:srgbClr val="BDB6F5"/>
            </a:solidFill>
            <a:prstDash val="solid"/>
          </a:ln>
        </p:spPr>
      </p:sp>
      <p:sp>
        <p:nvSpPr>
          <p:cNvPr id="54" name="Title MOF CO2 linker"/>
          <p:cNvSpPr/>
          <p:nvPr/>
        </p:nvSpPr>
        <p:spPr>
          <a:xfrm>
            <a:off x="8321040" y="5129784"/>
            <a:ext cx="0" cy="457200"/>
          </a:xfrm>
          <a:prstGeom prst="line">
            <a:avLst/>
          </a:prstGeom>
          <a:noFill/>
          <a:ln w="38100">
            <a:solidFill>
              <a:srgbClr val="BDB6F5"/>
            </a:solidFill>
            <a:prstDash val="solid"/>
          </a:ln>
        </p:spPr>
      </p:sp>
      <p:sp>
        <p:nvSpPr>
          <p:cNvPr id="55" name="Title MOF CO2 linker"/>
          <p:cNvSpPr/>
          <p:nvPr/>
        </p:nvSpPr>
        <p:spPr>
          <a:xfrm>
            <a:off x="8778240" y="5129784"/>
            <a:ext cx="0" cy="457200"/>
          </a:xfrm>
          <a:prstGeom prst="line">
            <a:avLst/>
          </a:prstGeom>
          <a:noFill/>
          <a:ln w="38100">
            <a:solidFill>
              <a:srgbClr val="BDB6F5"/>
            </a:solidFill>
            <a:prstDash val="solid"/>
          </a:ln>
        </p:spPr>
      </p:sp>
      <p:sp>
        <p:nvSpPr>
          <p:cNvPr id="56" name="Title MOF CO2 linker"/>
          <p:cNvSpPr/>
          <p:nvPr/>
        </p:nvSpPr>
        <p:spPr>
          <a:xfrm>
            <a:off x="8321040" y="5586984"/>
            <a:ext cx="457200" cy="0"/>
          </a:xfrm>
          <a:prstGeom prst="line">
            <a:avLst/>
          </a:prstGeom>
          <a:noFill/>
          <a:ln w="38100">
            <a:solidFill>
              <a:srgbClr val="BDB6F5"/>
            </a:solidFill>
            <a:prstDash val="solid"/>
          </a:ln>
        </p:spPr>
      </p:sp>
      <p:sp>
        <p:nvSpPr>
          <p:cNvPr id="57" name="Title MOF CO2 linker ring"/>
          <p:cNvSpPr/>
          <p:nvPr/>
        </p:nvSpPr>
        <p:spPr>
          <a:xfrm>
            <a:off x="8494776" y="5081778"/>
            <a:ext cx="109728" cy="96012"/>
          </a:xfrm>
          <a:prstGeom prst="hexagon">
            <a:avLst/>
          </a:prstGeom>
          <a:solidFill>
            <a:schemeClr val="tx2"/>
          </a:solidFill>
          <a:ln w="9525">
            <a:solidFill>
              <a:schemeClr val="accent1"/>
            </a:solidFill>
            <a:prstDash val="solid"/>
          </a:ln>
        </p:spPr>
      </p:sp>
      <p:sp>
        <p:nvSpPr>
          <p:cNvPr id="58" name="Title MOF CO2 linker ring"/>
          <p:cNvSpPr/>
          <p:nvPr/>
        </p:nvSpPr>
        <p:spPr>
          <a:xfrm rot="5400000">
            <a:off x="8266176" y="5310378"/>
            <a:ext cx="109728" cy="96012"/>
          </a:xfrm>
          <a:prstGeom prst="hexagon">
            <a:avLst/>
          </a:prstGeom>
          <a:solidFill>
            <a:schemeClr val="tx2"/>
          </a:solidFill>
          <a:ln w="9525">
            <a:solidFill>
              <a:schemeClr val="accent1"/>
            </a:solidFill>
            <a:prstDash val="solid"/>
          </a:ln>
        </p:spPr>
      </p:sp>
      <p:sp>
        <p:nvSpPr>
          <p:cNvPr id="59" name="Title MOF CO2 linker ring"/>
          <p:cNvSpPr/>
          <p:nvPr/>
        </p:nvSpPr>
        <p:spPr>
          <a:xfrm rot="5400000">
            <a:off x="8723376" y="5310378"/>
            <a:ext cx="109728" cy="96012"/>
          </a:xfrm>
          <a:prstGeom prst="hexagon">
            <a:avLst/>
          </a:prstGeom>
          <a:solidFill>
            <a:schemeClr val="tx2"/>
          </a:solidFill>
          <a:ln w="9525">
            <a:solidFill>
              <a:schemeClr val="accent1"/>
            </a:solidFill>
            <a:prstDash val="solid"/>
          </a:ln>
        </p:spPr>
      </p:sp>
      <p:sp>
        <p:nvSpPr>
          <p:cNvPr id="60" name="Title MOF CO2 linker ring"/>
          <p:cNvSpPr/>
          <p:nvPr/>
        </p:nvSpPr>
        <p:spPr>
          <a:xfrm>
            <a:off x="8494776" y="5538978"/>
            <a:ext cx="109728" cy="96012"/>
          </a:xfrm>
          <a:prstGeom prst="hexagon">
            <a:avLst/>
          </a:prstGeom>
          <a:solidFill>
            <a:schemeClr val="tx2"/>
          </a:solidFill>
          <a:ln w="9525">
            <a:solidFill>
              <a:schemeClr val="accent1"/>
            </a:solidFill>
            <a:prstDash val="solid"/>
          </a:ln>
        </p:spPr>
      </p:sp>
      <p:sp>
        <p:nvSpPr>
          <p:cNvPr id="61" name="Title MOF CO2 metal node"/>
          <p:cNvSpPr/>
          <p:nvPr/>
        </p:nvSpPr>
        <p:spPr>
          <a:xfrm>
            <a:off x="8243316" y="5052060"/>
            <a:ext cx="155448" cy="155448"/>
          </a:xfrm>
          <a:prstGeom prst="diamond">
            <a:avLst/>
          </a:prstGeom>
          <a:solidFill>
            <a:schemeClr val="accent1"/>
          </a:solidFill>
          <a:ln w="9525">
            <a:solidFill>
              <a:schemeClr val="bg1"/>
            </a:solidFill>
            <a:prstDash val="solid"/>
          </a:ln>
        </p:spPr>
      </p:sp>
      <p:sp>
        <p:nvSpPr>
          <p:cNvPr id="62" name="Title MOF CO2 metal node"/>
          <p:cNvSpPr/>
          <p:nvPr/>
        </p:nvSpPr>
        <p:spPr>
          <a:xfrm>
            <a:off x="8700516" y="5052060"/>
            <a:ext cx="155448" cy="155448"/>
          </a:xfrm>
          <a:prstGeom prst="diamond">
            <a:avLst/>
          </a:prstGeom>
          <a:solidFill>
            <a:schemeClr val="accent1"/>
          </a:solidFill>
          <a:ln w="9525">
            <a:solidFill>
              <a:schemeClr val="bg1"/>
            </a:solidFill>
            <a:prstDash val="solid"/>
          </a:ln>
        </p:spPr>
      </p:sp>
      <p:sp>
        <p:nvSpPr>
          <p:cNvPr id="63" name="Title MOF CO2 metal node"/>
          <p:cNvSpPr/>
          <p:nvPr/>
        </p:nvSpPr>
        <p:spPr>
          <a:xfrm>
            <a:off x="8243316" y="5509260"/>
            <a:ext cx="155448" cy="155448"/>
          </a:xfrm>
          <a:prstGeom prst="diamond">
            <a:avLst/>
          </a:prstGeom>
          <a:solidFill>
            <a:schemeClr val="accent1"/>
          </a:solidFill>
          <a:ln w="9525">
            <a:solidFill>
              <a:schemeClr val="bg1"/>
            </a:solidFill>
            <a:prstDash val="solid"/>
          </a:ln>
        </p:spPr>
      </p:sp>
      <p:sp>
        <p:nvSpPr>
          <p:cNvPr id="64" name="Title MOF CO2 metal node"/>
          <p:cNvSpPr/>
          <p:nvPr/>
        </p:nvSpPr>
        <p:spPr>
          <a:xfrm>
            <a:off x="8700516" y="5509260"/>
            <a:ext cx="155448" cy="155448"/>
          </a:xfrm>
          <a:prstGeom prst="diamond">
            <a:avLst/>
          </a:prstGeom>
          <a:solidFill>
            <a:schemeClr val="accent1"/>
          </a:solidFill>
          <a:ln w="9525">
            <a:solidFill>
              <a:schemeClr val="bg1"/>
            </a:solidFill>
            <a:prstDash val="solid"/>
          </a:ln>
        </p:spPr>
      </p:sp>
      <p:sp>
        <p:nvSpPr>
          <p:cNvPr id="65" name="Title MOF CO2 guest CO2 O"/>
          <p:cNvSpPr/>
          <p:nvPr/>
        </p:nvSpPr>
        <p:spPr>
          <a:xfrm>
            <a:off x="8412480" y="5305630"/>
            <a:ext cx="105508" cy="105508"/>
          </a:xfrm>
          <a:prstGeom prst="ellipse">
            <a:avLst/>
          </a:prstGeom>
          <a:solidFill>
            <a:schemeClr val="accent5"/>
          </a:solidFill>
          <a:ln w="9525">
            <a:solidFill>
              <a:srgbClr val="FFFFFF"/>
            </a:solidFill>
            <a:prstDash val="solid"/>
          </a:ln>
        </p:spPr>
      </p:sp>
      <p:sp>
        <p:nvSpPr>
          <p:cNvPr id="66" name="Title MOF CO2 guest CO2 O"/>
          <p:cNvSpPr/>
          <p:nvPr/>
        </p:nvSpPr>
        <p:spPr>
          <a:xfrm>
            <a:off x="8581292" y="5305630"/>
            <a:ext cx="105508" cy="105508"/>
          </a:xfrm>
          <a:prstGeom prst="ellipse">
            <a:avLst/>
          </a:prstGeom>
          <a:solidFill>
            <a:schemeClr val="accent5"/>
          </a:solidFill>
          <a:ln w="9525">
            <a:solidFill>
              <a:srgbClr val="FFFFFF"/>
            </a:solidFill>
            <a:prstDash val="solid"/>
          </a:ln>
        </p:spPr>
      </p:sp>
      <p:sp>
        <p:nvSpPr>
          <p:cNvPr id="67" name="Title MOF CO2 guest CO2 C"/>
          <p:cNvSpPr/>
          <p:nvPr/>
        </p:nvSpPr>
        <p:spPr>
          <a:xfrm>
            <a:off x="8501106" y="5309850"/>
            <a:ext cx="97067" cy="97067"/>
          </a:xfrm>
          <a:prstGeom prst="ellipse">
            <a:avLst/>
          </a:prstGeom>
          <a:solidFill>
            <a:schemeClr val="tx2"/>
          </a:solidFill>
          <a:ln w="9525">
            <a:solidFill>
              <a:srgbClr val="FFFFFF"/>
            </a:solidFill>
            <a:prstDash val="solid"/>
          </a:ln>
        </p:spPr>
      </p:sp>
      <p:sp>
        <p:nvSpPr>
          <p:cNvPr id="68" name="Text 66"/>
          <p:cNvSpPr txBox="1"/>
          <p:nvPr/>
        </p:nvSpPr>
        <p:spPr>
          <a:xfrm>
            <a:off x="9372600" y="5093208"/>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CO₂ Capture</a:t>
            </a:r>
            <a:endParaRPr lang="en-US" sz="1400" dirty="0"/>
          </a:p>
        </p:txBody>
      </p:sp>
      <p:sp>
        <p:nvSpPr>
          <p:cNvPr id="69" name="Text 67"/>
          <p:cNvSpPr txBox="1"/>
          <p:nvPr/>
        </p:nvSpPr>
        <p:spPr>
          <a:xfrm>
            <a:off x="9372600" y="5367528"/>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CO₂ held within the pores</a:t>
            </a:r>
            <a:endParaRPr lang="en-US" sz="1050" dirty="0"/>
          </a:p>
        </p:txBody>
      </p:sp>
      <p:sp>
        <p:nvSpPr>
          <p:cNvPr id="76" name="Text 1">
            <a:extLst>
              <a:ext uri="{FF2B5EF4-FFF2-40B4-BE49-F238E27FC236}">
                <a16:creationId xmlns:a16="http://schemas.microsoft.com/office/drawing/2014/main" id="{A053D6B6-139B-8662-ECE5-041E5F50D213}"/>
              </a:ext>
            </a:extLst>
          </p:cNvPr>
          <p:cNvSpPr>
            <a:spLocks noGrp="1"/>
          </p:cNvSpPr>
          <p:nvPr/>
        </p:nvSpPr>
        <p:spPr>
          <a:xfrm>
            <a:off x="579120" y="4257283"/>
            <a:ext cx="6766560" cy="384048"/>
          </a:xfrm>
          <a:prstGeom prst="rect">
            <a:avLst/>
          </a:prstGeom>
          <a:noFill/>
          <a:ln/>
        </p:spPr>
        <p:txBody>
          <a:bodyPr wrap="square" lIns="0" tIns="0" rIns="0" bIns="0" rtlCol="0" anchor="t"/>
          <a:lstStyle>
            <a:lvl1pPr marL="0" indent="0" algn="l" defTabSz="914400" rtl="0" eaLnBrk="1" latinLnBrk="0" hangingPunct="1">
              <a:spcBef>
                <a:spcPct val="20000"/>
              </a:spcBef>
              <a:buFont typeface="Arial" pitchFamily="34" charset="0"/>
              <a:buNone/>
              <a:defRPr lang="en-US" sz="2400" b="1" kern="1200" dirty="0">
                <a:solidFill>
                  <a:schemeClr val="accent1"/>
                </a:solidFill>
                <a:latin typeface="Arial" pitchFamily="34" charset="0"/>
                <a:ea typeface="Arial" pitchFamily="34" charset="-122"/>
                <a:cs typeface="Arial" pitchFamily="34" charset="-12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SA" i="0" dirty="0">
                <a:effectLst/>
                <a:cs typeface="Arial" panose="020B0604020202020204" pitchFamily="34" charset="0"/>
              </a:rPr>
              <a:t>Fahadh Mohammad</a:t>
            </a:r>
            <a:endParaRPr lang="en-SA" dirty="0">
              <a:effectLst/>
              <a:cs typeface="Arial" panose="020B0604020202020204" pitchFamily="34" charset="0"/>
            </a:endParaRPr>
          </a:p>
          <a:p>
            <a:pPr marL="0" indent="0" algn="l">
              <a:buNone/>
            </a:pPr>
            <a:endParaRPr lang="en-US" dirty="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Bimetal-Engineered MOF for Direct Air CO₂ Capture</a:t>
            </a:r>
            <a:endParaRPr lang="en-US" sz="2600" dirty="0"/>
          </a:p>
        </p:txBody>
      </p:sp>
      <p:sp>
        <p:nvSpPr>
          <p:cNvPr id="3" name="Slide subtitle"/>
          <p:cNvSpPr txBox="1"/>
          <p:nvPr/>
        </p:nvSpPr>
        <p:spPr>
          <a:xfrm>
            <a:off x="448056" y="2212848"/>
            <a:ext cx="7315200" cy="256032"/>
          </a:xfrm>
          <a:prstGeom prst="rect">
            <a:avLst/>
          </a:prstGeom>
          <a:noFill/>
          <a:ln/>
        </p:spPr>
        <p:txBody>
          <a:bodyPr wrap="square" lIns="0" tIns="0" rIns="0" bIns="0" rtlCol="0" anchor="ctr"/>
          <a:lstStyle/>
          <a:p>
            <a:pPr marL="0" indent="0" algn="l">
              <a:buNone/>
            </a:pPr>
            <a:r>
              <a:rPr lang="en-US" sz="1300" i="1" dirty="0">
                <a:solidFill>
                  <a:schemeClr val="accent6"/>
                </a:solidFill>
              </a:rPr>
              <a:t>Research background, research gap and objective</a:t>
            </a:r>
            <a:endParaRPr lang="en-US" sz="1300" dirty="0"/>
          </a:p>
        </p:txBody>
      </p:sp>
      <p:sp>
        <p:nvSpPr>
          <p:cNvPr id="4" name="Card MOF"/>
          <p:cNvSpPr/>
          <p:nvPr/>
        </p:nvSpPr>
        <p:spPr>
          <a:xfrm>
            <a:off x="448056" y="2542032"/>
            <a:ext cx="3611880" cy="2048256"/>
          </a:xfrm>
          <a:prstGeom prst="roundRect">
            <a:avLst>
              <a:gd name="adj" fmla="val 3478"/>
            </a:avLst>
          </a:prstGeom>
          <a:solidFill>
            <a:schemeClr val="bg2"/>
          </a:solidFill>
          <a:ln w="12700">
            <a:solidFill>
              <a:schemeClr val="bg2"/>
            </a:solidFill>
            <a:prstDash val="solid"/>
          </a:ln>
        </p:spPr>
      </p:sp>
      <p:sp>
        <p:nvSpPr>
          <p:cNvPr id="5" name="Number 1"/>
          <p:cNvSpPr/>
          <p:nvPr/>
        </p:nvSpPr>
        <p:spPr>
          <a:xfrm>
            <a:off x="585216" y="2660904"/>
            <a:ext cx="292608" cy="292608"/>
          </a:xfrm>
          <a:prstGeom prst="ellipse">
            <a:avLst/>
          </a:prstGeom>
          <a:solidFill>
            <a:schemeClr val="accent3"/>
          </a:solidFill>
          <a:ln w="12700">
            <a:solidFill>
              <a:schemeClr val="accent3"/>
            </a:solidFill>
            <a:prstDash val="solid"/>
          </a:ln>
        </p:spPr>
      </p:sp>
      <p:sp>
        <p:nvSpPr>
          <p:cNvPr id="6" name="Number 1 label"/>
          <p:cNvSpPr txBox="1"/>
          <p:nvPr/>
        </p:nvSpPr>
        <p:spPr>
          <a:xfrm>
            <a:off x="58521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7" name="Card title 1"/>
          <p:cNvSpPr txBox="1"/>
          <p:nvPr/>
        </p:nvSpPr>
        <p:spPr>
          <a:xfrm>
            <a:off x="97840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What is a MOF?</a:t>
            </a:r>
            <a:endParaRPr lang="en-US" sz="1500" dirty="0"/>
          </a:p>
        </p:txBody>
      </p:sp>
      <p:sp>
        <p:nvSpPr>
          <p:cNvPr id="8" name="Linker h 00"/>
          <p:cNvSpPr/>
          <p:nvPr/>
        </p:nvSpPr>
        <p:spPr>
          <a:xfrm>
            <a:off x="950976" y="3200400"/>
            <a:ext cx="640080" cy="0"/>
          </a:xfrm>
          <a:prstGeom prst="line">
            <a:avLst/>
          </a:prstGeom>
          <a:noFill/>
          <a:ln w="38100">
            <a:solidFill>
              <a:schemeClr val="accent1"/>
            </a:solidFill>
            <a:prstDash val="solid"/>
          </a:ln>
        </p:spPr>
      </p:sp>
      <p:sp>
        <p:nvSpPr>
          <p:cNvPr id="9" name="Linker v 00"/>
          <p:cNvSpPr/>
          <p:nvPr/>
        </p:nvSpPr>
        <p:spPr>
          <a:xfrm>
            <a:off x="950976" y="3200400"/>
            <a:ext cx="0" cy="457200"/>
          </a:xfrm>
          <a:prstGeom prst="line">
            <a:avLst/>
          </a:prstGeom>
          <a:noFill/>
          <a:ln w="38100">
            <a:solidFill>
              <a:schemeClr val="accent1"/>
            </a:solidFill>
            <a:prstDash val="solid"/>
          </a:ln>
        </p:spPr>
      </p:sp>
      <p:sp>
        <p:nvSpPr>
          <p:cNvPr id="10" name="Linker h 01"/>
          <p:cNvSpPr/>
          <p:nvPr/>
        </p:nvSpPr>
        <p:spPr>
          <a:xfrm>
            <a:off x="1591056" y="3200400"/>
            <a:ext cx="640080" cy="0"/>
          </a:xfrm>
          <a:prstGeom prst="line">
            <a:avLst/>
          </a:prstGeom>
          <a:noFill/>
          <a:ln w="38100">
            <a:solidFill>
              <a:schemeClr val="accent1"/>
            </a:solidFill>
            <a:prstDash val="solid"/>
          </a:ln>
        </p:spPr>
      </p:sp>
      <p:sp>
        <p:nvSpPr>
          <p:cNvPr id="11" name="Linker v 01"/>
          <p:cNvSpPr/>
          <p:nvPr/>
        </p:nvSpPr>
        <p:spPr>
          <a:xfrm>
            <a:off x="1591056" y="3200400"/>
            <a:ext cx="0" cy="457200"/>
          </a:xfrm>
          <a:prstGeom prst="line">
            <a:avLst/>
          </a:prstGeom>
          <a:noFill/>
          <a:ln w="38100">
            <a:solidFill>
              <a:schemeClr val="accent1"/>
            </a:solidFill>
            <a:prstDash val="solid"/>
          </a:ln>
        </p:spPr>
      </p:sp>
      <p:sp>
        <p:nvSpPr>
          <p:cNvPr id="12" name="Linker v 02"/>
          <p:cNvSpPr/>
          <p:nvPr/>
        </p:nvSpPr>
        <p:spPr>
          <a:xfrm>
            <a:off x="2231136" y="3200400"/>
            <a:ext cx="0" cy="457200"/>
          </a:xfrm>
          <a:prstGeom prst="line">
            <a:avLst/>
          </a:prstGeom>
          <a:noFill/>
          <a:ln w="38100">
            <a:solidFill>
              <a:schemeClr val="accent1"/>
            </a:solidFill>
            <a:prstDash val="solid"/>
          </a:ln>
        </p:spPr>
      </p:sp>
      <p:sp>
        <p:nvSpPr>
          <p:cNvPr id="13" name="Linker h 10"/>
          <p:cNvSpPr/>
          <p:nvPr/>
        </p:nvSpPr>
        <p:spPr>
          <a:xfrm>
            <a:off x="950976" y="3657600"/>
            <a:ext cx="640080" cy="0"/>
          </a:xfrm>
          <a:prstGeom prst="line">
            <a:avLst/>
          </a:prstGeom>
          <a:noFill/>
          <a:ln w="38100">
            <a:solidFill>
              <a:schemeClr val="accent1"/>
            </a:solidFill>
            <a:prstDash val="solid"/>
          </a:ln>
        </p:spPr>
      </p:sp>
      <p:sp>
        <p:nvSpPr>
          <p:cNvPr id="14" name="Linker h 11"/>
          <p:cNvSpPr/>
          <p:nvPr/>
        </p:nvSpPr>
        <p:spPr>
          <a:xfrm>
            <a:off x="1591056" y="3657600"/>
            <a:ext cx="640080" cy="0"/>
          </a:xfrm>
          <a:prstGeom prst="line">
            <a:avLst/>
          </a:prstGeom>
          <a:noFill/>
          <a:ln w="38100">
            <a:solidFill>
              <a:schemeClr val="accent1"/>
            </a:solidFill>
            <a:prstDash val="solid"/>
          </a:ln>
        </p:spPr>
      </p:sp>
      <p:sp>
        <p:nvSpPr>
          <p:cNvPr id="15" name="Metal node 00"/>
          <p:cNvSpPr/>
          <p:nvPr/>
        </p:nvSpPr>
        <p:spPr>
          <a:xfrm>
            <a:off x="841248" y="3090672"/>
            <a:ext cx="219456" cy="219456"/>
          </a:xfrm>
          <a:prstGeom prst="ellipse">
            <a:avLst/>
          </a:prstGeom>
          <a:solidFill>
            <a:schemeClr val="accent3"/>
          </a:solidFill>
          <a:ln w="12700">
            <a:solidFill>
              <a:schemeClr val="accent3"/>
            </a:solidFill>
            <a:prstDash val="solid"/>
          </a:ln>
        </p:spPr>
      </p:sp>
      <p:sp>
        <p:nvSpPr>
          <p:cNvPr id="16" name="Metal node 01"/>
          <p:cNvSpPr/>
          <p:nvPr/>
        </p:nvSpPr>
        <p:spPr>
          <a:xfrm>
            <a:off x="1481328" y="3090672"/>
            <a:ext cx="219456" cy="219456"/>
          </a:xfrm>
          <a:prstGeom prst="ellipse">
            <a:avLst/>
          </a:prstGeom>
          <a:solidFill>
            <a:schemeClr val="accent3"/>
          </a:solidFill>
          <a:ln w="12700">
            <a:solidFill>
              <a:schemeClr val="accent3"/>
            </a:solidFill>
            <a:prstDash val="solid"/>
          </a:ln>
        </p:spPr>
      </p:sp>
      <p:sp>
        <p:nvSpPr>
          <p:cNvPr id="17" name="Metal node 02"/>
          <p:cNvSpPr/>
          <p:nvPr/>
        </p:nvSpPr>
        <p:spPr>
          <a:xfrm>
            <a:off x="2121408" y="3090672"/>
            <a:ext cx="219456" cy="219456"/>
          </a:xfrm>
          <a:prstGeom prst="ellipse">
            <a:avLst/>
          </a:prstGeom>
          <a:solidFill>
            <a:schemeClr val="accent3"/>
          </a:solidFill>
          <a:ln w="12700">
            <a:solidFill>
              <a:schemeClr val="accent3"/>
            </a:solidFill>
            <a:prstDash val="solid"/>
          </a:ln>
        </p:spPr>
      </p:sp>
      <p:sp>
        <p:nvSpPr>
          <p:cNvPr id="18" name="Metal node 10"/>
          <p:cNvSpPr/>
          <p:nvPr/>
        </p:nvSpPr>
        <p:spPr>
          <a:xfrm>
            <a:off x="841248" y="3547872"/>
            <a:ext cx="219456" cy="219456"/>
          </a:xfrm>
          <a:prstGeom prst="ellipse">
            <a:avLst/>
          </a:prstGeom>
          <a:solidFill>
            <a:schemeClr val="accent3"/>
          </a:solidFill>
          <a:ln w="12700">
            <a:solidFill>
              <a:schemeClr val="accent3"/>
            </a:solidFill>
            <a:prstDash val="solid"/>
          </a:ln>
        </p:spPr>
      </p:sp>
      <p:sp>
        <p:nvSpPr>
          <p:cNvPr id="19" name="Metal node 11"/>
          <p:cNvSpPr/>
          <p:nvPr/>
        </p:nvSpPr>
        <p:spPr>
          <a:xfrm>
            <a:off x="1481328" y="3547872"/>
            <a:ext cx="219456" cy="219456"/>
          </a:xfrm>
          <a:prstGeom prst="ellipse">
            <a:avLst/>
          </a:prstGeom>
          <a:solidFill>
            <a:schemeClr val="accent3"/>
          </a:solidFill>
          <a:ln w="12700">
            <a:solidFill>
              <a:schemeClr val="accent3"/>
            </a:solidFill>
            <a:prstDash val="solid"/>
          </a:ln>
        </p:spPr>
      </p:sp>
      <p:sp>
        <p:nvSpPr>
          <p:cNvPr id="20" name="Metal node 12"/>
          <p:cNvSpPr/>
          <p:nvPr/>
        </p:nvSpPr>
        <p:spPr>
          <a:xfrm>
            <a:off x="2121408" y="3547872"/>
            <a:ext cx="219456" cy="219456"/>
          </a:xfrm>
          <a:prstGeom prst="ellipse">
            <a:avLst/>
          </a:prstGeom>
          <a:solidFill>
            <a:schemeClr val="accent3"/>
          </a:solidFill>
          <a:ln w="12700">
            <a:solidFill>
              <a:schemeClr val="accent3"/>
            </a:solidFill>
            <a:prstDash val="solid"/>
          </a:ln>
        </p:spPr>
      </p:sp>
      <p:sp>
        <p:nvSpPr>
          <p:cNvPr id="21" name="CO2 in pore 1"/>
          <p:cNvSpPr/>
          <p:nvPr/>
        </p:nvSpPr>
        <p:spPr>
          <a:xfrm>
            <a:off x="1211580" y="3369564"/>
            <a:ext cx="118872" cy="118872"/>
          </a:xfrm>
          <a:prstGeom prst="ellipse">
            <a:avLst/>
          </a:prstGeom>
          <a:solidFill>
            <a:schemeClr val="accent2"/>
          </a:solidFill>
          <a:ln w="12700">
            <a:solidFill>
              <a:schemeClr val="accent2"/>
            </a:solidFill>
            <a:prstDash val="solid"/>
          </a:ln>
        </p:spPr>
      </p:sp>
      <p:sp>
        <p:nvSpPr>
          <p:cNvPr id="22" name="Legend node"/>
          <p:cNvSpPr txBox="1"/>
          <p:nvPr/>
        </p:nvSpPr>
        <p:spPr>
          <a:xfrm>
            <a:off x="2779776" y="3081528"/>
            <a:ext cx="1097280" cy="201168"/>
          </a:xfrm>
          <a:prstGeom prst="rect">
            <a:avLst/>
          </a:prstGeom>
          <a:noFill/>
          <a:ln/>
        </p:spPr>
        <p:txBody>
          <a:bodyPr wrap="square" lIns="0" tIns="0" rIns="0" bIns="0" rtlCol="0" anchor="ctr"/>
          <a:lstStyle/>
          <a:p>
            <a:pPr marL="0" indent="0">
              <a:buNone/>
            </a:pPr>
            <a:r>
              <a:rPr lang="en-US" sz="1100" b="1" dirty="0">
                <a:solidFill>
                  <a:schemeClr val="accent3"/>
                </a:solidFill>
              </a:rPr>
              <a:t>metal node</a:t>
            </a:r>
            <a:endParaRPr lang="en-US" sz="1100" dirty="0"/>
          </a:p>
        </p:txBody>
      </p:sp>
      <p:sp>
        <p:nvSpPr>
          <p:cNvPr id="23" name="Legend linker"/>
          <p:cNvSpPr txBox="1"/>
          <p:nvPr/>
        </p:nvSpPr>
        <p:spPr>
          <a:xfrm>
            <a:off x="2779776" y="3374136"/>
            <a:ext cx="1097280" cy="201168"/>
          </a:xfrm>
          <a:prstGeom prst="rect">
            <a:avLst/>
          </a:prstGeom>
          <a:noFill/>
          <a:ln/>
        </p:spPr>
        <p:txBody>
          <a:bodyPr wrap="square" lIns="0" tIns="0" rIns="0" bIns="0" rtlCol="0" anchor="ctr"/>
          <a:lstStyle/>
          <a:p>
            <a:pPr marL="0" indent="0">
              <a:buNone/>
            </a:pPr>
            <a:r>
              <a:rPr lang="en-US" sz="1100" b="1" dirty="0">
                <a:solidFill>
                  <a:schemeClr val="accent6"/>
                </a:solidFill>
              </a:rPr>
              <a:t>organic linker</a:t>
            </a:r>
            <a:endParaRPr lang="en-US" sz="1100" dirty="0"/>
          </a:p>
        </p:txBody>
      </p:sp>
      <p:sp>
        <p:nvSpPr>
          <p:cNvPr id="24" name="Legend CO2"/>
          <p:cNvSpPr txBox="1"/>
          <p:nvPr/>
        </p:nvSpPr>
        <p:spPr>
          <a:xfrm>
            <a:off x="2779776" y="3630168"/>
            <a:ext cx="1097280" cy="201168"/>
          </a:xfrm>
          <a:prstGeom prst="rect">
            <a:avLst/>
          </a:prstGeom>
          <a:noFill/>
          <a:ln/>
        </p:spPr>
        <p:txBody>
          <a:bodyPr wrap="square" lIns="0" tIns="0" rIns="0" bIns="0" rtlCol="0" anchor="ctr"/>
          <a:lstStyle/>
          <a:p>
            <a:pPr marL="0" indent="0">
              <a:buNone/>
            </a:pPr>
            <a:r>
              <a:rPr lang="en-US" sz="1100" b="1" dirty="0">
                <a:solidFill>
                  <a:srgbClr val="B8531A"/>
                </a:solidFill>
              </a:rPr>
              <a:t>pore with CO₂</a:t>
            </a:r>
            <a:endParaRPr lang="en-US" sz="1100" dirty="0"/>
          </a:p>
        </p:txBody>
      </p:sp>
      <p:sp>
        <p:nvSpPr>
          <p:cNvPr id="25" name="Legend marker node"/>
          <p:cNvSpPr/>
          <p:nvPr/>
        </p:nvSpPr>
        <p:spPr>
          <a:xfrm>
            <a:off x="2615184" y="3127248"/>
            <a:ext cx="109728" cy="109728"/>
          </a:xfrm>
          <a:prstGeom prst="ellipse">
            <a:avLst/>
          </a:prstGeom>
          <a:solidFill>
            <a:schemeClr val="accent3"/>
          </a:solidFill>
          <a:ln w="12700">
            <a:solidFill>
              <a:schemeClr val="accent3"/>
            </a:solidFill>
            <a:prstDash val="solid"/>
          </a:ln>
        </p:spPr>
      </p:sp>
      <p:sp>
        <p:nvSpPr>
          <p:cNvPr id="26" name="Legend marker linker"/>
          <p:cNvSpPr/>
          <p:nvPr/>
        </p:nvSpPr>
        <p:spPr>
          <a:xfrm>
            <a:off x="2596896" y="3474720"/>
            <a:ext cx="146304" cy="0"/>
          </a:xfrm>
          <a:prstGeom prst="line">
            <a:avLst/>
          </a:prstGeom>
          <a:noFill/>
          <a:ln w="38100">
            <a:solidFill>
              <a:schemeClr val="accent1"/>
            </a:solidFill>
            <a:prstDash val="solid"/>
          </a:ln>
        </p:spPr>
      </p:sp>
      <p:sp>
        <p:nvSpPr>
          <p:cNvPr id="27" name="Legend marker CO2"/>
          <p:cNvSpPr/>
          <p:nvPr/>
        </p:nvSpPr>
        <p:spPr>
          <a:xfrm>
            <a:off x="2619756" y="3680460"/>
            <a:ext cx="100584" cy="100584"/>
          </a:xfrm>
          <a:prstGeom prst="ellipse">
            <a:avLst/>
          </a:prstGeom>
          <a:solidFill>
            <a:schemeClr val="accent2"/>
          </a:solidFill>
          <a:ln w="12700">
            <a:solidFill>
              <a:schemeClr val="accent2"/>
            </a:solidFill>
            <a:prstDash val="solid"/>
          </a:ln>
        </p:spPr>
      </p:sp>
      <p:sp>
        <p:nvSpPr>
          <p:cNvPr id="28" name="Card MOF text"/>
          <p:cNvSpPr txBox="1"/>
          <p:nvPr/>
        </p:nvSpPr>
        <p:spPr>
          <a:xfrm>
            <a:off x="630936" y="3931920"/>
            <a:ext cx="3246120" cy="603504"/>
          </a:xfrm>
          <a:prstGeom prst="rect">
            <a:avLst/>
          </a:prstGeom>
          <a:noFill/>
          <a:ln/>
        </p:spPr>
        <p:txBody>
          <a:bodyPr wrap="square" lIns="0" tIns="0" rIns="0" bIns="0" rtlCol="0" anchor="t"/>
          <a:lstStyle/>
          <a:p>
            <a:pPr marL="0" indent="0" algn="l">
              <a:buNone/>
            </a:pPr>
            <a:r>
              <a:rPr lang="en-US" sz="1200" dirty="0">
                <a:solidFill>
                  <a:schemeClr val="tx2"/>
                </a:solidFill>
              </a:rPr>
              <a:t>Porous crystalline solids of metal nodes joined by organic linkers; tunable pores and chemistry make them candidates for CO₂ capture.</a:t>
            </a:r>
            <a:endParaRPr lang="en-US" sz="1200" dirty="0"/>
          </a:p>
        </p:txBody>
      </p:sp>
      <p:sp>
        <p:nvSpPr>
          <p:cNvPr id="29" name="Card DAC"/>
          <p:cNvSpPr/>
          <p:nvPr/>
        </p:nvSpPr>
        <p:spPr>
          <a:xfrm>
            <a:off x="4242816" y="2542032"/>
            <a:ext cx="3611880" cy="2048256"/>
          </a:xfrm>
          <a:prstGeom prst="roundRect">
            <a:avLst>
              <a:gd name="adj" fmla="val 3478"/>
            </a:avLst>
          </a:prstGeom>
          <a:solidFill>
            <a:schemeClr val="bg2"/>
          </a:solidFill>
          <a:ln w="12700">
            <a:solidFill>
              <a:schemeClr val="bg2"/>
            </a:solidFill>
            <a:prstDash val="solid"/>
          </a:ln>
        </p:spPr>
      </p:sp>
      <p:sp>
        <p:nvSpPr>
          <p:cNvPr id="30" name="Number 2"/>
          <p:cNvSpPr/>
          <p:nvPr/>
        </p:nvSpPr>
        <p:spPr>
          <a:xfrm>
            <a:off x="4379976" y="2660904"/>
            <a:ext cx="292608" cy="292608"/>
          </a:xfrm>
          <a:prstGeom prst="ellipse">
            <a:avLst/>
          </a:prstGeom>
          <a:solidFill>
            <a:schemeClr val="accent3"/>
          </a:solidFill>
          <a:ln w="12700">
            <a:solidFill>
              <a:schemeClr val="accent3"/>
            </a:solidFill>
            <a:prstDash val="solid"/>
          </a:ln>
        </p:spPr>
      </p:sp>
      <p:sp>
        <p:nvSpPr>
          <p:cNvPr id="31" name="Number 2 label"/>
          <p:cNvSpPr txBox="1"/>
          <p:nvPr/>
        </p:nvSpPr>
        <p:spPr>
          <a:xfrm>
            <a:off x="437997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32" name="Card title 2"/>
          <p:cNvSpPr txBox="1"/>
          <p:nvPr/>
        </p:nvSpPr>
        <p:spPr>
          <a:xfrm>
            <a:off x="477316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Why is direct air capture hard?</a:t>
            </a:r>
            <a:endParaRPr lang="en-US" sz="1500" dirty="0"/>
          </a:p>
        </p:txBody>
      </p:sp>
      <p:sp>
        <p:nvSpPr>
          <p:cNvPr id="33" name="Ambient air box"/>
          <p:cNvSpPr/>
          <p:nvPr/>
        </p:nvSpPr>
        <p:spPr>
          <a:xfrm>
            <a:off x="4425696" y="3072384"/>
            <a:ext cx="3246120" cy="658368"/>
          </a:xfrm>
          <a:prstGeom prst="rect">
            <a:avLst/>
          </a:prstGeom>
          <a:solidFill>
            <a:srgbClr val="FFFFFF"/>
          </a:solidFill>
          <a:ln w="12700">
            <a:solidFill>
              <a:schemeClr val="accent1"/>
            </a:solidFill>
            <a:prstDash val="solid"/>
          </a:ln>
        </p:spPr>
      </p:sp>
      <p:sp>
        <p:nvSpPr>
          <p:cNvPr id="34" name="Air gas 0"/>
          <p:cNvSpPr/>
          <p:nvPr/>
        </p:nvSpPr>
        <p:spPr>
          <a:xfrm>
            <a:off x="5989677" y="3400755"/>
            <a:ext cx="59436" cy="59436"/>
          </a:xfrm>
          <a:prstGeom prst="ellipse">
            <a:avLst/>
          </a:prstGeom>
          <a:solidFill>
            <a:srgbClr val="B9B9C2"/>
          </a:solidFill>
          <a:ln w="12700">
            <a:solidFill>
              <a:srgbClr val="B9B9C2"/>
            </a:solidFill>
            <a:prstDash val="solid"/>
          </a:ln>
        </p:spPr>
      </p:sp>
      <p:sp>
        <p:nvSpPr>
          <p:cNvPr id="35" name="Air gas 1"/>
          <p:cNvSpPr/>
          <p:nvPr/>
        </p:nvSpPr>
        <p:spPr>
          <a:xfrm>
            <a:off x="4841146" y="3250114"/>
            <a:ext cx="59436" cy="59436"/>
          </a:xfrm>
          <a:prstGeom prst="ellipse">
            <a:avLst/>
          </a:prstGeom>
          <a:solidFill>
            <a:srgbClr val="B9B9C2"/>
          </a:solidFill>
          <a:ln w="12700">
            <a:solidFill>
              <a:srgbClr val="B9B9C2"/>
            </a:solidFill>
            <a:prstDash val="solid"/>
          </a:ln>
        </p:spPr>
      </p:sp>
      <p:sp>
        <p:nvSpPr>
          <p:cNvPr id="36" name="Air gas 2"/>
          <p:cNvSpPr/>
          <p:nvPr/>
        </p:nvSpPr>
        <p:spPr>
          <a:xfrm>
            <a:off x="5845076" y="3374885"/>
            <a:ext cx="59436" cy="59436"/>
          </a:xfrm>
          <a:prstGeom prst="ellipse">
            <a:avLst/>
          </a:prstGeom>
          <a:solidFill>
            <a:srgbClr val="B9B9C2"/>
          </a:solidFill>
          <a:ln w="12700">
            <a:solidFill>
              <a:srgbClr val="B9B9C2"/>
            </a:solidFill>
            <a:prstDash val="solid"/>
          </a:ln>
        </p:spPr>
      </p:sp>
      <p:sp>
        <p:nvSpPr>
          <p:cNvPr id="37" name="Air gas 3"/>
          <p:cNvSpPr/>
          <p:nvPr/>
        </p:nvSpPr>
        <p:spPr>
          <a:xfrm>
            <a:off x="4728060" y="3551999"/>
            <a:ext cx="59436" cy="59436"/>
          </a:xfrm>
          <a:prstGeom prst="ellipse">
            <a:avLst/>
          </a:prstGeom>
          <a:solidFill>
            <a:srgbClr val="B9B9C2"/>
          </a:solidFill>
          <a:ln w="12700">
            <a:solidFill>
              <a:srgbClr val="B9B9C2"/>
            </a:solidFill>
            <a:prstDash val="solid"/>
          </a:ln>
        </p:spPr>
      </p:sp>
      <p:sp>
        <p:nvSpPr>
          <p:cNvPr id="38" name="Air gas 4"/>
          <p:cNvSpPr/>
          <p:nvPr/>
        </p:nvSpPr>
        <p:spPr>
          <a:xfrm>
            <a:off x="6292954" y="3329448"/>
            <a:ext cx="59436" cy="59436"/>
          </a:xfrm>
          <a:prstGeom prst="ellipse">
            <a:avLst/>
          </a:prstGeom>
          <a:solidFill>
            <a:srgbClr val="B9B9C2"/>
          </a:solidFill>
          <a:ln w="12700">
            <a:solidFill>
              <a:srgbClr val="B9B9C2"/>
            </a:solidFill>
            <a:prstDash val="solid"/>
          </a:ln>
        </p:spPr>
      </p:sp>
      <p:sp>
        <p:nvSpPr>
          <p:cNvPr id="39" name="Air gas 5"/>
          <p:cNvSpPr/>
          <p:nvPr/>
        </p:nvSpPr>
        <p:spPr>
          <a:xfrm>
            <a:off x="5358724" y="3505583"/>
            <a:ext cx="59436" cy="59436"/>
          </a:xfrm>
          <a:prstGeom prst="ellipse">
            <a:avLst/>
          </a:prstGeom>
          <a:solidFill>
            <a:srgbClr val="B9B9C2"/>
          </a:solidFill>
          <a:ln w="12700">
            <a:solidFill>
              <a:srgbClr val="B9B9C2"/>
            </a:solidFill>
            <a:prstDash val="solid"/>
          </a:ln>
        </p:spPr>
      </p:sp>
      <p:sp>
        <p:nvSpPr>
          <p:cNvPr id="40" name="Air gas 6"/>
          <p:cNvSpPr/>
          <p:nvPr/>
        </p:nvSpPr>
        <p:spPr>
          <a:xfrm>
            <a:off x="6501320" y="3170520"/>
            <a:ext cx="59436" cy="59436"/>
          </a:xfrm>
          <a:prstGeom prst="ellipse">
            <a:avLst/>
          </a:prstGeom>
          <a:solidFill>
            <a:srgbClr val="B9B9C2"/>
          </a:solidFill>
          <a:ln w="12700">
            <a:solidFill>
              <a:srgbClr val="B9B9C2"/>
            </a:solidFill>
            <a:prstDash val="solid"/>
          </a:ln>
        </p:spPr>
      </p:sp>
      <p:sp>
        <p:nvSpPr>
          <p:cNvPr id="41" name="Air gas 7"/>
          <p:cNvSpPr/>
          <p:nvPr/>
        </p:nvSpPr>
        <p:spPr>
          <a:xfrm>
            <a:off x="6014600" y="3245883"/>
            <a:ext cx="59436" cy="59436"/>
          </a:xfrm>
          <a:prstGeom prst="ellipse">
            <a:avLst/>
          </a:prstGeom>
          <a:solidFill>
            <a:srgbClr val="B9B9C2"/>
          </a:solidFill>
          <a:ln w="12700">
            <a:solidFill>
              <a:srgbClr val="B9B9C2"/>
            </a:solidFill>
            <a:prstDash val="solid"/>
          </a:ln>
        </p:spPr>
      </p:sp>
      <p:sp>
        <p:nvSpPr>
          <p:cNvPr id="42" name="Air gas 8"/>
          <p:cNvSpPr/>
          <p:nvPr/>
        </p:nvSpPr>
        <p:spPr>
          <a:xfrm>
            <a:off x="6545808" y="3209222"/>
            <a:ext cx="59436" cy="59436"/>
          </a:xfrm>
          <a:prstGeom prst="ellipse">
            <a:avLst/>
          </a:prstGeom>
          <a:solidFill>
            <a:srgbClr val="B9B9C2"/>
          </a:solidFill>
          <a:ln w="12700">
            <a:solidFill>
              <a:srgbClr val="B9B9C2"/>
            </a:solidFill>
            <a:prstDash val="solid"/>
          </a:ln>
        </p:spPr>
      </p:sp>
      <p:sp>
        <p:nvSpPr>
          <p:cNvPr id="43" name="Air gas 9"/>
          <p:cNvSpPr/>
          <p:nvPr/>
        </p:nvSpPr>
        <p:spPr>
          <a:xfrm>
            <a:off x="6204056" y="3365790"/>
            <a:ext cx="59436" cy="59436"/>
          </a:xfrm>
          <a:prstGeom prst="ellipse">
            <a:avLst/>
          </a:prstGeom>
          <a:solidFill>
            <a:srgbClr val="B9B9C2"/>
          </a:solidFill>
          <a:ln w="12700">
            <a:solidFill>
              <a:srgbClr val="B9B9C2"/>
            </a:solidFill>
            <a:prstDash val="solid"/>
          </a:ln>
        </p:spPr>
      </p:sp>
      <p:sp>
        <p:nvSpPr>
          <p:cNvPr id="44" name="Air gas 10"/>
          <p:cNvSpPr/>
          <p:nvPr/>
        </p:nvSpPr>
        <p:spPr>
          <a:xfrm>
            <a:off x="5027162" y="3157915"/>
            <a:ext cx="59436" cy="59436"/>
          </a:xfrm>
          <a:prstGeom prst="ellipse">
            <a:avLst/>
          </a:prstGeom>
          <a:solidFill>
            <a:srgbClr val="B9B9C2"/>
          </a:solidFill>
          <a:ln w="12700">
            <a:solidFill>
              <a:srgbClr val="B9B9C2"/>
            </a:solidFill>
            <a:prstDash val="solid"/>
          </a:ln>
        </p:spPr>
      </p:sp>
      <p:sp>
        <p:nvSpPr>
          <p:cNvPr id="45" name="Air gas 11"/>
          <p:cNvSpPr/>
          <p:nvPr/>
        </p:nvSpPr>
        <p:spPr>
          <a:xfrm>
            <a:off x="7364169" y="3595275"/>
            <a:ext cx="59436" cy="59436"/>
          </a:xfrm>
          <a:prstGeom prst="ellipse">
            <a:avLst/>
          </a:prstGeom>
          <a:solidFill>
            <a:srgbClr val="B9B9C2"/>
          </a:solidFill>
          <a:ln w="12700">
            <a:solidFill>
              <a:srgbClr val="B9B9C2"/>
            </a:solidFill>
            <a:prstDash val="solid"/>
          </a:ln>
        </p:spPr>
      </p:sp>
      <p:sp>
        <p:nvSpPr>
          <p:cNvPr id="46" name="Air gas 12"/>
          <p:cNvSpPr/>
          <p:nvPr/>
        </p:nvSpPr>
        <p:spPr>
          <a:xfrm>
            <a:off x="4857349" y="3345330"/>
            <a:ext cx="59436" cy="59436"/>
          </a:xfrm>
          <a:prstGeom prst="ellipse">
            <a:avLst/>
          </a:prstGeom>
          <a:solidFill>
            <a:srgbClr val="B9B9C2"/>
          </a:solidFill>
          <a:ln w="12700">
            <a:solidFill>
              <a:srgbClr val="B9B9C2"/>
            </a:solidFill>
            <a:prstDash val="solid"/>
          </a:ln>
        </p:spPr>
      </p:sp>
      <p:sp>
        <p:nvSpPr>
          <p:cNvPr id="47" name="Air gas 13"/>
          <p:cNvSpPr/>
          <p:nvPr/>
        </p:nvSpPr>
        <p:spPr>
          <a:xfrm>
            <a:off x="7414960" y="3224041"/>
            <a:ext cx="59436" cy="59436"/>
          </a:xfrm>
          <a:prstGeom prst="ellipse">
            <a:avLst/>
          </a:prstGeom>
          <a:solidFill>
            <a:srgbClr val="B9B9C2"/>
          </a:solidFill>
          <a:ln w="12700">
            <a:solidFill>
              <a:srgbClr val="B9B9C2"/>
            </a:solidFill>
            <a:prstDash val="solid"/>
          </a:ln>
        </p:spPr>
      </p:sp>
      <p:sp>
        <p:nvSpPr>
          <p:cNvPr id="48" name="Air gas 14"/>
          <p:cNvSpPr/>
          <p:nvPr/>
        </p:nvSpPr>
        <p:spPr>
          <a:xfrm>
            <a:off x="5771647" y="3395773"/>
            <a:ext cx="59436" cy="59436"/>
          </a:xfrm>
          <a:prstGeom prst="ellipse">
            <a:avLst/>
          </a:prstGeom>
          <a:solidFill>
            <a:srgbClr val="B9B9C2"/>
          </a:solidFill>
          <a:ln w="12700">
            <a:solidFill>
              <a:srgbClr val="B9B9C2"/>
            </a:solidFill>
            <a:prstDash val="solid"/>
          </a:ln>
        </p:spPr>
      </p:sp>
      <p:sp>
        <p:nvSpPr>
          <p:cNvPr id="49" name="Air gas 15"/>
          <p:cNvSpPr/>
          <p:nvPr/>
        </p:nvSpPr>
        <p:spPr>
          <a:xfrm>
            <a:off x="6545519" y="3267635"/>
            <a:ext cx="59436" cy="59436"/>
          </a:xfrm>
          <a:prstGeom prst="ellipse">
            <a:avLst/>
          </a:prstGeom>
          <a:solidFill>
            <a:srgbClr val="B9B9C2"/>
          </a:solidFill>
          <a:ln w="12700">
            <a:solidFill>
              <a:srgbClr val="B9B9C2"/>
            </a:solidFill>
            <a:prstDash val="solid"/>
          </a:ln>
        </p:spPr>
      </p:sp>
      <p:sp>
        <p:nvSpPr>
          <p:cNvPr id="50" name="Air gas 16"/>
          <p:cNvSpPr/>
          <p:nvPr/>
        </p:nvSpPr>
        <p:spPr>
          <a:xfrm>
            <a:off x="5009356" y="3602756"/>
            <a:ext cx="59436" cy="59436"/>
          </a:xfrm>
          <a:prstGeom prst="ellipse">
            <a:avLst/>
          </a:prstGeom>
          <a:solidFill>
            <a:srgbClr val="B9B9C2"/>
          </a:solidFill>
          <a:ln w="12700">
            <a:solidFill>
              <a:srgbClr val="B9B9C2"/>
            </a:solidFill>
            <a:prstDash val="solid"/>
          </a:ln>
        </p:spPr>
      </p:sp>
      <p:sp>
        <p:nvSpPr>
          <p:cNvPr id="51" name="Air gas 17"/>
          <p:cNvSpPr/>
          <p:nvPr/>
        </p:nvSpPr>
        <p:spPr>
          <a:xfrm>
            <a:off x="5852561" y="3244701"/>
            <a:ext cx="59436" cy="59436"/>
          </a:xfrm>
          <a:prstGeom prst="ellipse">
            <a:avLst/>
          </a:prstGeom>
          <a:solidFill>
            <a:srgbClr val="B9B9C2"/>
          </a:solidFill>
          <a:ln w="12700">
            <a:solidFill>
              <a:srgbClr val="B9B9C2"/>
            </a:solidFill>
            <a:prstDash val="solid"/>
          </a:ln>
        </p:spPr>
      </p:sp>
      <p:sp>
        <p:nvSpPr>
          <p:cNvPr id="52" name="Air gas 18"/>
          <p:cNvSpPr/>
          <p:nvPr/>
        </p:nvSpPr>
        <p:spPr>
          <a:xfrm>
            <a:off x="6163166" y="3291202"/>
            <a:ext cx="59436" cy="59436"/>
          </a:xfrm>
          <a:prstGeom prst="ellipse">
            <a:avLst/>
          </a:prstGeom>
          <a:solidFill>
            <a:srgbClr val="B9B9C2"/>
          </a:solidFill>
          <a:ln w="12700">
            <a:solidFill>
              <a:srgbClr val="B9B9C2"/>
            </a:solidFill>
            <a:prstDash val="solid"/>
          </a:ln>
        </p:spPr>
      </p:sp>
      <p:sp>
        <p:nvSpPr>
          <p:cNvPr id="53" name="Air gas 19"/>
          <p:cNvSpPr/>
          <p:nvPr/>
        </p:nvSpPr>
        <p:spPr>
          <a:xfrm>
            <a:off x="4957908" y="3501580"/>
            <a:ext cx="59436" cy="59436"/>
          </a:xfrm>
          <a:prstGeom prst="ellipse">
            <a:avLst/>
          </a:prstGeom>
          <a:solidFill>
            <a:srgbClr val="B9B9C2"/>
          </a:solidFill>
          <a:ln w="12700">
            <a:solidFill>
              <a:srgbClr val="B9B9C2"/>
            </a:solidFill>
            <a:prstDash val="solid"/>
          </a:ln>
        </p:spPr>
      </p:sp>
      <p:sp>
        <p:nvSpPr>
          <p:cNvPr id="54" name="Air gas 20"/>
          <p:cNvSpPr/>
          <p:nvPr/>
        </p:nvSpPr>
        <p:spPr>
          <a:xfrm>
            <a:off x="5564752" y="3300553"/>
            <a:ext cx="59436" cy="59436"/>
          </a:xfrm>
          <a:prstGeom prst="ellipse">
            <a:avLst/>
          </a:prstGeom>
          <a:solidFill>
            <a:srgbClr val="B9B9C2"/>
          </a:solidFill>
          <a:ln w="12700">
            <a:solidFill>
              <a:srgbClr val="B9B9C2"/>
            </a:solidFill>
            <a:prstDash val="solid"/>
          </a:ln>
        </p:spPr>
      </p:sp>
      <p:sp>
        <p:nvSpPr>
          <p:cNvPr id="55" name="Air gas 21"/>
          <p:cNvSpPr/>
          <p:nvPr/>
        </p:nvSpPr>
        <p:spPr>
          <a:xfrm>
            <a:off x="4731369" y="3574526"/>
            <a:ext cx="59436" cy="59436"/>
          </a:xfrm>
          <a:prstGeom prst="ellipse">
            <a:avLst/>
          </a:prstGeom>
          <a:solidFill>
            <a:srgbClr val="B9B9C2"/>
          </a:solidFill>
          <a:ln w="12700">
            <a:solidFill>
              <a:srgbClr val="B9B9C2"/>
            </a:solidFill>
            <a:prstDash val="solid"/>
          </a:ln>
        </p:spPr>
      </p:sp>
      <p:sp>
        <p:nvSpPr>
          <p:cNvPr id="56" name="Air gas 22"/>
          <p:cNvSpPr/>
          <p:nvPr/>
        </p:nvSpPr>
        <p:spPr>
          <a:xfrm>
            <a:off x="5218457" y="3554497"/>
            <a:ext cx="59436" cy="59436"/>
          </a:xfrm>
          <a:prstGeom prst="ellipse">
            <a:avLst/>
          </a:prstGeom>
          <a:solidFill>
            <a:srgbClr val="B9B9C2"/>
          </a:solidFill>
          <a:ln w="12700">
            <a:solidFill>
              <a:srgbClr val="B9B9C2"/>
            </a:solidFill>
            <a:prstDash val="solid"/>
          </a:ln>
        </p:spPr>
      </p:sp>
      <p:sp>
        <p:nvSpPr>
          <p:cNvPr id="57" name="Air gas 23"/>
          <p:cNvSpPr/>
          <p:nvPr/>
        </p:nvSpPr>
        <p:spPr>
          <a:xfrm>
            <a:off x="5929300" y="3246339"/>
            <a:ext cx="59436" cy="59436"/>
          </a:xfrm>
          <a:prstGeom prst="ellipse">
            <a:avLst/>
          </a:prstGeom>
          <a:solidFill>
            <a:srgbClr val="B9B9C2"/>
          </a:solidFill>
          <a:ln w="12700">
            <a:solidFill>
              <a:srgbClr val="B9B9C2"/>
            </a:solidFill>
            <a:prstDash val="solid"/>
          </a:ln>
        </p:spPr>
      </p:sp>
      <p:sp>
        <p:nvSpPr>
          <p:cNvPr id="58" name="Air gas 24"/>
          <p:cNvSpPr/>
          <p:nvPr/>
        </p:nvSpPr>
        <p:spPr>
          <a:xfrm>
            <a:off x="6334449" y="3325127"/>
            <a:ext cx="59436" cy="59436"/>
          </a:xfrm>
          <a:prstGeom prst="ellipse">
            <a:avLst/>
          </a:prstGeom>
          <a:solidFill>
            <a:srgbClr val="B9B9C2"/>
          </a:solidFill>
          <a:ln w="12700">
            <a:solidFill>
              <a:srgbClr val="B9B9C2"/>
            </a:solidFill>
            <a:prstDash val="solid"/>
          </a:ln>
        </p:spPr>
      </p:sp>
      <p:sp>
        <p:nvSpPr>
          <p:cNvPr id="59" name="Air gas 25"/>
          <p:cNvSpPr/>
          <p:nvPr/>
        </p:nvSpPr>
        <p:spPr>
          <a:xfrm>
            <a:off x="6812082" y="3444516"/>
            <a:ext cx="59436" cy="59436"/>
          </a:xfrm>
          <a:prstGeom prst="ellipse">
            <a:avLst/>
          </a:prstGeom>
          <a:solidFill>
            <a:srgbClr val="B9B9C2"/>
          </a:solidFill>
          <a:ln w="12700">
            <a:solidFill>
              <a:srgbClr val="B9B9C2"/>
            </a:solidFill>
            <a:prstDash val="solid"/>
          </a:ln>
        </p:spPr>
      </p:sp>
      <p:sp>
        <p:nvSpPr>
          <p:cNvPr id="60" name="Air gas 26"/>
          <p:cNvSpPr/>
          <p:nvPr/>
        </p:nvSpPr>
        <p:spPr>
          <a:xfrm>
            <a:off x="4904044" y="3240555"/>
            <a:ext cx="59436" cy="59436"/>
          </a:xfrm>
          <a:prstGeom prst="ellipse">
            <a:avLst/>
          </a:prstGeom>
          <a:solidFill>
            <a:srgbClr val="B9B9C2"/>
          </a:solidFill>
          <a:ln w="12700">
            <a:solidFill>
              <a:srgbClr val="B9B9C2"/>
            </a:solidFill>
            <a:prstDash val="solid"/>
          </a:ln>
        </p:spPr>
      </p:sp>
      <p:sp>
        <p:nvSpPr>
          <p:cNvPr id="61" name="Air gas 27"/>
          <p:cNvSpPr/>
          <p:nvPr/>
        </p:nvSpPr>
        <p:spPr>
          <a:xfrm>
            <a:off x="5867005" y="3176989"/>
            <a:ext cx="59436" cy="59436"/>
          </a:xfrm>
          <a:prstGeom prst="ellipse">
            <a:avLst/>
          </a:prstGeom>
          <a:solidFill>
            <a:srgbClr val="B9B9C2"/>
          </a:solidFill>
          <a:ln w="12700">
            <a:solidFill>
              <a:srgbClr val="B9B9C2"/>
            </a:solidFill>
            <a:prstDash val="solid"/>
          </a:ln>
        </p:spPr>
      </p:sp>
      <p:sp>
        <p:nvSpPr>
          <p:cNvPr id="62" name="Air gas 28"/>
          <p:cNvSpPr/>
          <p:nvPr/>
        </p:nvSpPr>
        <p:spPr>
          <a:xfrm>
            <a:off x="4633384" y="3330133"/>
            <a:ext cx="59436" cy="59436"/>
          </a:xfrm>
          <a:prstGeom prst="ellipse">
            <a:avLst/>
          </a:prstGeom>
          <a:solidFill>
            <a:srgbClr val="B9B9C2"/>
          </a:solidFill>
          <a:ln w="12700">
            <a:solidFill>
              <a:srgbClr val="B9B9C2"/>
            </a:solidFill>
            <a:prstDash val="solid"/>
          </a:ln>
        </p:spPr>
      </p:sp>
      <p:sp>
        <p:nvSpPr>
          <p:cNvPr id="63" name="Air gas 29"/>
          <p:cNvSpPr/>
          <p:nvPr/>
        </p:nvSpPr>
        <p:spPr>
          <a:xfrm>
            <a:off x="6573305" y="3441695"/>
            <a:ext cx="59436" cy="59436"/>
          </a:xfrm>
          <a:prstGeom prst="ellipse">
            <a:avLst/>
          </a:prstGeom>
          <a:solidFill>
            <a:srgbClr val="B9B9C2"/>
          </a:solidFill>
          <a:ln w="12700">
            <a:solidFill>
              <a:srgbClr val="B9B9C2"/>
            </a:solidFill>
            <a:prstDash val="solid"/>
          </a:ln>
        </p:spPr>
      </p:sp>
      <p:sp>
        <p:nvSpPr>
          <p:cNvPr id="64" name="CO2 molecule 0"/>
          <p:cNvSpPr/>
          <p:nvPr/>
        </p:nvSpPr>
        <p:spPr>
          <a:xfrm>
            <a:off x="4948325" y="3284504"/>
            <a:ext cx="118872" cy="118872"/>
          </a:xfrm>
          <a:prstGeom prst="ellipse">
            <a:avLst/>
          </a:prstGeom>
          <a:solidFill>
            <a:schemeClr val="accent2"/>
          </a:solidFill>
          <a:ln w="12700">
            <a:solidFill>
              <a:schemeClr val="accent2"/>
            </a:solidFill>
            <a:prstDash val="solid"/>
          </a:ln>
        </p:spPr>
      </p:sp>
      <p:sp>
        <p:nvSpPr>
          <p:cNvPr id="65" name="CO2 molecule 1"/>
          <p:cNvSpPr/>
          <p:nvPr/>
        </p:nvSpPr>
        <p:spPr>
          <a:xfrm>
            <a:off x="5858084" y="3340742"/>
            <a:ext cx="118872" cy="118872"/>
          </a:xfrm>
          <a:prstGeom prst="ellipse">
            <a:avLst/>
          </a:prstGeom>
          <a:solidFill>
            <a:schemeClr val="accent2"/>
          </a:solidFill>
          <a:ln w="12700">
            <a:solidFill>
              <a:schemeClr val="accent2"/>
            </a:solidFill>
            <a:prstDash val="solid"/>
          </a:ln>
        </p:spPr>
      </p:sp>
      <p:sp>
        <p:nvSpPr>
          <p:cNvPr id="66" name="CO2 molecule 2"/>
          <p:cNvSpPr/>
          <p:nvPr/>
        </p:nvSpPr>
        <p:spPr>
          <a:xfrm>
            <a:off x="6909802" y="3453538"/>
            <a:ext cx="118872" cy="118872"/>
          </a:xfrm>
          <a:prstGeom prst="ellipse">
            <a:avLst/>
          </a:prstGeom>
          <a:solidFill>
            <a:schemeClr val="accent2"/>
          </a:solidFill>
          <a:ln w="12700">
            <a:solidFill>
              <a:schemeClr val="accent2"/>
            </a:solidFill>
            <a:prstDash val="solid"/>
          </a:ln>
        </p:spPr>
      </p:sp>
      <p:sp>
        <p:nvSpPr>
          <p:cNvPr id="67" name="Water vapor 0"/>
          <p:cNvSpPr/>
          <p:nvPr/>
        </p:nvSpPr>
        <p:spPr>
          <a:xfrm>
            <a:off x="4645285" y="3329212"/>
            <a:ext cx="91440" cy="91440"/>
          </a:xfrm>
          <a:prstGeom prst="ellipse">
            <a:avLst/>
          </a:prstGeom>
          <a:solidFill>
            <a:schemeClr val="accent4"/>
          </a:solidFill>
          <a:ln w="12700">
            <a:solidFill>
              <a:schemeClr val="accent4"/>
            </a:solidFill>
            <a:prstDash val="solid"/>
          </a:ln>
        </p:spPr>
      </p:sp>
      <p:sp>
        <p:nvSpPr>
          <p:cNvPr id="68" name="Water vapor 1"/>
          <p:cNvSpPr/>
          <p:nvPr/>
        </p:nvSpPr>
        <p:spPr>
          <a:xfrm>
            <a:off x="5159787" y="3240282"/>
            <a:ext cx="91440" cy="91440"/>
          </a:xfrm>
          <a:prstGeom prst="ellipse">
            <a:avLst/>
          </a:prstGeom>
          <a:solidFill>
            <a:schemeClr val="accent4"/>
          </a:solidFill>
          <a:ln w="12700">
            <a:solidFill>
              <a:schemeClr val="accent4"/>
            </a:solidFill>
            <a:prstDash val="solid"/>
          </a:ln>
        </p:spPr>
      </p:sp>
      <p:sp>
        <p:nvSpPr>
          <p:cNvPr id="69" name="Water vapor 2"/>
          <p:cNvSpPr/>
          <p:nvPr/>
        </p:nvSpPr>
        <p:spPr>
          <a:xfrm>
            <a:off x="5796021" y="3194249"/>
            <a:ext cx="91440" cy="91440"/>
          </a:xfrm>
          <a:prstGeom prst="ellipse">
            <a:avLst/>
          </a:prstGeom>
          <a:solidFill>
            <a:schemeClr val="accent4"/>
          </a:solidFill>
          <a:ln w="12700">
            <a:solidFill>
              <a:schemeClr val="accent4"/>
            </a:solidFill>
            <a:prstDash val="solid"/>
          </a:ln>
        </p:spPr>
      </p:sp>
      <p:sp>
        <p:nvSpPr>
          <p:cNvPr id="70" name="Water vapor 3"/>
          <p:cNvSpPr/>
          <p:nvPr/>
        </p:nvSpPr>
        <p:spPr>
          <a:xfrm>
            <a:off x="6258218" y="3472886"/>
            <a:ext cx="91440" cy="91440"/>
          </a:xfrm>
          <a:prstGeom prst="ellipse">
            <a:avLst/>
          </a:prstGeom>
          <a:solidFill>
            <a:schemeClr val="accent4"/>
          </a:solidFill>
          <a:ln w="12700">
            <a:solidFill>
              <a:schemeClr val="accent4"/>
            </a:solidFill>
            <a:prstDash val="solid"/>
          </a:ln>
        </p:spPr>
      </p:sp>
      <p:sp>
        <p:nvSpPr>
          <p:cNvPr id="71" name="Water vapor 4"/>
          <p:cNvSpPr/>
          <p:nvPr/>
        </p:nvSpPr>
        <p:spPr>
          <a:xfrm>
            <a:off x="6914396" y="3561417"/>
            <a:ext cx="91440" cy="91440"/>
          </a:xfrm>
          <a:prstGeom prst="ellipse">
            <a:avLst/>
          </a:prstGeom>
          <a:solidFill>
            <a:schemeClr val="accent4"/>
          </a:solidFill>
          <a:ln w="12700">
            <a:solidFill>
              <a:schemeClr val="accent4"/>
            </a:solidFill>
            <a:prstDash val="solid"/>
          </a:ln>
        </p:spPr>
      </p:sp>
      <p:sp>
        <p:nvSpPr>
          <p:cNvPr id="72" name="Water vapor 5"/>
          <p:cNvSpPr/>
          <p:nvPr/>
        </p:nvSpPr>
        <p:spPr>
          <a:xfrm>
            <a:off x="7475559" y="3514030"/>
            <a:ext cx="91440" cy="91440"/>
          </a:xfrm>
          <a:prstGeom prst="ellipse">
            <a:avLst/>
          </a:prstGeom>
          <a:solidFill>
            <a:schemeClr val="accent4"/>
          </a:solidFill>
          <a:ln w="12700">
            <a:solidFill>
              <a:schemeClr val="accent4"/>
            </a:solidFill>
            <a:prstDash val="solid"/>
          </a:ln>
        </p:spPr>
      </p:sp>
      <p:sp>
        <p:nvSpPr>
          <p:cNvPr id="73" name="Legend CO2 dot"/>
          <p:cNvSpPr/>
          <p:nvPr/>
        </p:nvSpPr>
        <p:spPr>
          <a:xfrm>
            <a:off x="4434840" y="3867912"/>
            <a:ext cx="109728" cy="109728"/>
          </a:xfrm>
          <a:prstGeom prst="ellipse">
            <a:avLst/>
          </a:prstGeom>
          <a:solidFill>
            <a:schemeClr val="accent2"/>
          </a:solidFill>
          <a:ln w="12700">
            <a:solidFill>
              <a:schemeClr val="accent2"/>
            </a:solidFill>
            <a:prstDash val="solid"/>
          </a:ln>
        </p:spPr>
      </p:sp>
      <p:sp>
        <p:nvSpPr>
          <p:cNvPr id="74" name="Legend CO2 label"/>
          <p:cNvSpPr txBox="1"/>
          <p:nvPr/>
        </p:nvSpPr>
        <p:spPr>
          <a:xfrm>
            <a:off x="4608576" y="3822192"/>
            <a:ext cx="914400" cy="201168"/>
          </a:xfrm>
          <a:prstGeom prst="rect">
            <a:avLst/>
          </a:prstGeom>
          <a:noFill/>
          <a:ln/>
        </p:spPr>
        <p:txBody>
          <a:bodyPr wrap="square" lIns="0" tIns="0" rIns="0" bIns="0" rtlCol="0" anchor="ctr"/>
          <a:lstStyle/>
          <a:p>
            <a:pPr marL="0" indent="0">
              <a:buNone/>
            </a:pPr>
            <a:r>
              <a:rPr lang="en-US" sz="1100" b="1" dirty="0">
                <a:solidFill>
                  <a:srgbClr val="B8531A"/>
                </a:solidFill>
              </a:rPr>
              <a:t>CO₂ (dilute)</a:t>
            </a:r>
            <a:endParaRPr lang="en-US" sz="1100" dirty="0"/>
          </a:p>
        </p:txBody>
      </p:sp>
      <p:sp>
        <p:nvSpPr>
          <p:cNvPr id="75" name="Legend H2O dot"/>
          <p:cNvSpPr/>
          <p:nvPr/>
        </p:nvSpPr>
        <p:spPr>
          <a:xfrm>
            <a:off x="5614416" y="3877056"/>
            <a:ext cx="91440" cy="91440"/>
          </a:xfrm>
          <a:prstGeom prst="ellipse">
            <a:avLst/>
          </a:prstGeom>
          <a:solidFill>
            <a:schemeClr val="accent4"/>
          </a:solidFill>
          <a:ln w="12700">
            <a:solidFill>
              <a:schemeClr val="accent4"/>
            </a:solidFill>
            <a:prstDash val="solid"/>
          </a:ln>
        </p:spPr>
      </p:sp>
      <p:sp>
        <p:nvSpPr>
          <p:cNvPr id="76" name="Legend H2O label"/>
          <p:cNvSpPr txBox="1"/>
          <p:nvPr/>
        </p:nvSpPr>
        <p:spPr>
          <a:xfrm>
            <a:off x="5779008" y="3822192"/>
            <a:ext cx="822960" cy="201168"/>
          </a:xfrm>
          <a:prstGeom prst="rect">
            <a:avLst/>
          </a:prstGeom>
          <a:noFill/>
          <a:ln/>
        </p:spPr>
        <p:txBody>
          <a:bodyPr wrap="square" lIns="0" tIns="0" rIns="0" bIns="0" rtlCol="0" anchor="ctr"/>
          <a:lstStyle/>
          <a:p>
            <a:pPr marL="0" indent="0">
              <a:buNone/>
            </a:pPr>
            <a:r>
              <a:rPr lang="en-US" sz="1100" b="1" dirty="0">
                <a:solidFill>
                  <a:srgbClr val="2A6BB0"/>
                </a:solidFill>
              </a:rPr>
              <a:t>H₂O vapor</a:t>
            </a:r>
            <a:endParaRPr lang="en-US" sz="1100" dirty="0"/>
          </a:p>
        </p:txBody>
      </p:sp>
      <p:sp>
        <p:nvSpPr>
          <p:cNvPr id="77" name="Legend other dot"/>
          <p:cNvSpPr/>
          <p:nvPr/>
        </p:nvSpPr>
        <p:spPr>
          <a:xfrm>
            <a:off x="6679692" y="3890772"/>
            <a:ext cx="64008" cy="64008"/>
          </a:xfrm>
          <a:prstGeom prst="ellipse">
            <a:avLst/>
          </a:prstGeom>
          <a:solidFill>
            <a:srgbClr val="B9B9C2"/>
          </a:solidFill>
          <a:ln w="12700">
            <a:solidFill>
              <a:srgbClr val="B9B9C2"/>
            </a:solidFill>
            <a:prstDash val="solid"/>
          </a:ln>
        </p:spPr>
      </p:sp>
      <p:sp>
        <p:nvSpPr>
          <p:cNvPr id="78" name="Legend other label"/>
          <p:cNvSpPr txBox="1"/>
          <p:nvPr/>
        </p:nvSpPr>
        <p:spPr>
          <a:xfrm>
            <a:off x="6821424" y="3822192"/>
            <a:ext cx="868680" cy="201168"/>
          </a:xfrm>
          <a:prstGeom prst="rect">
            <a:avLst/>
          </a:prstGeom>
          <a:noFill/>
          <a:ln/>
        </p:spPr>
        <p:txBody>
          <a:bodyPr wrap="square" lIns="0" tIns="0" rIns="0" bIns="0" rtlCol="0" anchor="ctr"/>
          <a:lstStyle/>
          <a:p>
            <a:pPr marL="0" indent="0">
              <a:buNone/>
            </a:pPr>
            <a:r>
              <a:rPr lang="en-US" sz="1100" b="1" dirty="0">
                <a:solidFill>
                  <a:schemeClr val="accent6"/>
                </a:solidFill>
              </a:rPr>
              <a:t>other gases</a:t>
            </a:r>
            <a:endParaRPr lang="en-US" sz="1100" dirty="0"/>
          </a:p>
        </p:txBody>
      </p:sp>
      <p:sp>
        <p:nvSpPr>
          <p:cNvPr id="79" name="Card DAC text"/>
          <p:cNvSpPr txBox="1"/>
          <p:nvPr/>
        </p:nvSpPr>
        <p:spPr>
          <a:xfrm>
            <a:off x="4425696" y="4041648"/>
            <a:ext cx="3246120" cy="548640"/>
          </a:xfrm>
          <a:prstGeom prst="rect">
            <a:avLst/>
          </a:prstGeom>
          <a:noFill/>
          <a:ln/>
        </p:spPr>
        <p:txBody>
          <a:bodyPr wrap="square" lIns="0" tIns="0" rIns="0" bIns="0" rtlCol="0" anchor="t"/>
          <a:lstStyle/>
          <a:p>
            <a:pPr marL="0" indent="0" algn="l">
              <a:buNone/>
            </a:pPr>
            <a:r>
              <a:rPr lang="en-US" sz="1200" dirty="0">
                <a:solidFill>
                  <a:schemeClr val="tx2"/>
                </a:solidFill>
              </a:rPr>
              <a:t>Atmospheric CO₂ is dilute (~420 ppm), so it must be captured at very low partial pressure, alongside ever-present water vapor.</a:t>
            </a:r>
            <a:endParaRPr lang="en-US" sz="1200" dirty="0"/>
          </a:p>
        </p:txBody>
      </p:sp>
      <p:sp>
        <p:nvSpPr>
          <p:cNvPr id="80" name="Card humidity"/>
          <p:cNvSpPr/>
          <p:nvPr/>
        </p:nvSpPr>
        <p:spPr>
          <a:xfrm>
            <a:off x="8037576" y="2542032"/>
            <a:ext cx="3611880" cy="2048256"/>
          </a:xfrm>
          <a:prstGeom prst="roundRect">
            <a:avLst>
              <a:gd name="adj" fmla="val 3478"/>
            </a:avLst>
          </a:prstGeom>
          <a:solidFill>
            <a:schemeClr val="bg2"/>
          </a:solidFill>
          <a:ln w="12700">
            <a:solidFill>
              <a:schemeClr val="bg2"/>
            </a:solidFill>
            <a:prstDash val="solid"/>
          </a:ln>
        </p:spPr>
      </p:sp>
      <p:sp>
        <p:nvSpPr>
          <p:cNvPr id="81" name="Number 3"/>
          <p:cNvSpPr/>
          <p:nvPr/>
        </p:nvSpPr>
        <p:spPr>
          <a:xfrm>
            <a:off x="8174736" y="2660904"/>
            <a:ext cx="292608" cy="292608"/>
          </a:xfrm>
          <a:prstGeom prst="ellipse">
            <a:avLst/>
          </a:prstGeom>
          <a:solidFill>
            <a:schemeClr val="accent3"/>
          </a:solidFill>
          <a:ln w="12700">
            <a:solidFill>
              <a:schemeClr val="accent3"/>
            </a:solidFill>
            <a:prstDash val="solid"/>
          </a:ln>
        </p:spPr>
      </p:sp>
      <p:sp>
        <p:nvSpPr>
          <p:cNvPr id="82" name="Number 3 label"/>
          <p:cNvSpPr txBox="1"/>
          <p:nvPr/>
        </p:nvSpPr>
        <p:spPr>
          <a:xfrm>
            <a:off x="817473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83" name="Card title 3"/>
          <p:cNvSpPr txBox="1"/>
          <p:nvPr/>
        </p:nvSpPr>
        <p:spPr>
          <a:xfrm>
            <a:off x="856792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Why does humidity matter?</a:t>
            </a:r>
            <a:endParaRPr lang="en-US" sz="1500" dirty="0"/>
          </a:p>
        </p:txBody>
      </p:sp>
      <p:sp>
        <p:nvSpPr>
          <p:cNvPr id="84" name="MOF pore"/>
          <p:cNvSpPr/>
          <p:nvPr/>
        </p:nvSpPr>
        <p:spPr>
          <a:xfrm>
            <a:off x="8220456" y="3072384"/>
            <a:ext cx="3246120" cy="804672"/>
          </a:xfrm>
          <a:prstGeom prst="roundRect">
            <a:avLst>
              <a:gd name="adj" fmla="val 13636"/>
            </a:avLst>
          </a:prstGeom>
          <a:solidFill>
            <a:srgbClr val="FFFFFF"/>
          </a:solidFill>
          <a:ln w="15875">
            <a:solidFill>
              <a:schemeClr val="accent3"/>
            </a:solidFill>
            <a:prstDash val="solid"/>
          </a:ln>
        </p:spPr>
      </p:sp>
      <p:sp>
        <p:nvSpPr>
          <p:cNvPr id="85" name="Pore label"/>
          <p:cNvSpPr txBox="1"/>
          <p:nvPr/>
        </p:nvSpPr>
        <p:spPr>
          <a:xfrm>
            <a:off x="8311896" y="3108960"/>
            <a:ext cx="1005840" cy="182880"/>
          </a:xfrm>
          <a:prstGeom prst="rect">
            <a:avLst/>
          </a:prstGeom>
          <a:noFill/>
          <a:ln/>
        </p:spPr>
        <p:txBody>
          <a:bodyPr wrap="square" lIns="0" tIns="0" rIns="0" bIns="0" rtlCol="0" anchor="t"/>
          <a:lstStyle/>
          <a:p>
            <a:pPr marL="0" indent="0">
              <a:buNone/>
            </a:pPr>
            <a:r>
              <a:rPr lang="en-US" sz="1050" b="1" dirty="0">
                <a:solidFill>
                  <a:schemeClr val="accent3"/>
                </a:solidFill>
              </a:rPr>
              <a:t>MOF pore</a:t>
            </a:r>
            <a:endParaRPr lang="en-US" sz="1050" dirty="0"/>
          </a:p>
        </p:txBody>
      </p:sp>
      <p:sp>
        <p:nvSpPr>
          <p:cNvPr id="86" name="H2O circle"/>
          <p:cNvSpPr/>
          <p:nvPr/>
        </p:nvSpPr>
        <p:spPr>
          <a:xfrm>
            <a:off x="8714232" y="3410712"/>
            <a:ext cx="384048" cy="384048"/>
          </a:xfrm>
          <a:prstGeom prst="ellipse">
            <a:avLst/>
          </a:prstGeom>
          <a:solidFill>
            <a:schemeClr val="accent4"/>
          </a:solidFill>
          <a:ln w="12700">
            <a:solidFill>
              <a:schemeClr val="accent4"/>
            </a:solidFill>
            <a:prstDash val="solid"/>
          </a:ln>
        </p:spPr>
      </p:sp>
      <p:sp>
        <p:nvSpPr>
          <p:cNvPr id="87" name="H2O label"/>
          <p:cNvSpPr txBox="1"/>
          <p:nvPr/>
        </p:nvSpPr>
        <p:spPr>
          <a:xfrm>
            <a:off x="8714232" y="3502152"/>
            <a:ext cx="384048" cy="201168"/>
          </a:xfrm>
          <a:prstGeom prst="rect">
            <a:avLst/>
          </a:prstGeom>
          <a:noFill/>
          <a:ln/>
        </p:spPr>
        <p:txBody>
          <a:bodyPr wrap="square" lIns="0" tIns="0" rIns="0" bIns="0" rtlCol="0" anchor="ctr"/>
          <a:lstStyle/>
          <a:p>
            <a:pPr marL="0" indent="0" algn="ctr">
              <a:buNone/>
            </a:pPr>
            <a:r>
              <a:rPr lang="en-US" sz="1100" b="1" dirty="0">
                <a:solidFill>
                  <a:srgbClr val="FFFFFF"/>
                </a:solidFill>
              </a:rPr>
              <a:t>H₂O</a:t>
            </a:r>
            <a:endParaRPr lang="en-US" sz="1100" dirty="0"/>
          </a:p>
        </p:txBody>
      </p:sp>
      <p:sp>
        <p:nvSpPr>
          <p:cNvPr id="88" name="CO2 circle"/>
          <p:cNvSpPr/>
          <p:nvPr/>
        </p:nvSpPr>
        <p:spPr>
          <a:xfrm>
            <a:off x="10588752" y="3410712"/>
            <a:ext cx="384048" cy="384048"/>
          </a:xfrm>
          <a:prstGeom prst="ellipse">
            <a:avLst/>
          </a:prstGeom>
          <a:solidFill>
            <a:schemeClr val="accent2"/>
          </a:solidFill>
          <a:ln w="12700">
            <a:solidFill>
              <a:schemeClr val="accent2"/>
            </a:solidFill>
            <a:prstDash val="solid"/>
          </a:ln>
        </p:spPr>
      </p:sp>
      <p:sp>
        <p:nvSpPr>
          <p:cNvPr id="89" name="CO2 label"/>
          <p:cNvSpPr txBox="1"/>
          <p:nvPr/>
        </p:nvSpPr>
        <p:spPr>
          <a:xfrm>
            <a:off x="10588752" y="3502152"/>
            <a:ext cx="384048" cy="201168"/>
          </a:xfrm>
          <a:prstGeom prst="rect">
            <a:avLst/>
          </a:prstGeom>
          <a:noFill/>
          <a:ln/>
        </p:spPr>
        <p:txBody>
          <a:bodyPr wrap="square" lIns="0" tIns="0" rIns="0" bIns="0" rtlCol="0" anchor="ctr"/>
          <a:lstStyle/>
          <a:p>
            <a:pPr marL="0" indent="0" algn="ctr">
              <a:buNone/>
            </a:pPr>
            <a:r>
              <a:rPr lang="en-US" sz="1100" b="1" dirty="0">
                <a:solidFill>
                  <a:srgbClr val="FFFFFF"/>
                </a:solidFill>
              </a:rPr>
              <a:t>CO₂</a:t>
            </a:r>
            <a:endParaRPr lang="en-US" sz="1100" dirty="0"/>
          </a:p>
        </p:txBody>
      </p:sp>
      <p:sp>
        <p:nvSpPr>
          <p:cNvPr id="90" name="Interaction arrow"/>
          <p:cNvSpPr/>
          <p:nvPr/>
        </p:nvSpPr>
        <p:spPr>
          <a:xfrm>
            <a:off x="9180576" y="3602736"/>
            <a:ext cx="1325880" cy="0"/>
          </a:xfrm>
          <a:prstGeom prst="line">
            <a:avLst/>
          </a:prstGeom>
          <a:noFill/>
          <a:ln w="22225">
            <a:solidFill>
              <a:schemeClr val="accent6"/>
            </a:solidFill>
            <a:prstDash val="dash"/>
            <a:headEnd type="triangle"/>
            <a:tailEnd type="triangle"/>
          </a:ln>
        </p:spPr>
      </p:sp>
      <p:sp>
        <p:nvSpPr>
          <p:cNvPr id="91" name="Question mark"/>
          <p:cNvSpPr txBox="1"/>
          <p:nvPr/>
        </p:nvSpPr>
        <p:spPr>
          <a:xfrm>
            <a:off x="9660636" y="3236976"/>
            <a:ext cx="365760" cy="274320"/>
          </a:xfrm>
          <a:prstGeom prst="rect">
            <a:avLst/>
          </a:prstGeom>
          <a:noFill/>
          <a:ln/>
        </p:spPr>
        <p:txBody>
          <a:bodyPr wrap="square" lIns="0" tIns="0" rIns="0" bIns="0" rtlCol="0" anchor="ctr"/>
          <a:lstStyle/>
          <a:p>
            <a:pPr marL="0" indent="0" algn="ctr">
              <a:buNone/>
            </a:pPr>
            <a:r>
              <a:rPr lang="en-US" sz="1800" b="1" dirty="0">
                <a:solidFill>
                  <a:schemeClr val="accent5"/>
                </a:solidFill>
              </a:rPr>
              <a:t>?</a:t>
            </a:r>
            <a:endParaRPr lang="en-US" sz="1800" dirty="0"/>
          </a:p>
        </p:txBody>
      </p:sp>
      <p:sp>
        <p:nvSpPr>
          <p:cNvPr id="92" name="Card humidity text"/>
          <p:cNvSpPr txBox="1"/>
          <p:nvPr/>
        </p:nvSpPr>
        <p:spPr>
          <a:xfrm>
            <a:off x="8220456" y="3931920"/>
            <a:ext cx="3246120" cy="603504"/>
          </a:xfrm>
          <a:prstGeom prst="rect">
            <a:avLst/>
          </a:prstGeom>
          <a:noFill/>
          <a:ln/>
        </p:spPr>
        <p:txBody>
          <a:bodyPr wrap="square" lIns="0" tIns="0" rIns="0" bIns="0" rtlCol="0" anchor="t"/>
          <a:lstStyle/>
          <a:p>
            <a:pPr marL="0" indent="0" algn="l">
              <a:buNone/>
            </a:pPr>
            <a:r>
              <a:rPr lang="en-US" sz="1200" dirty="0">
                <a:solidFill>
                  <a:schemeClr val="tx2"/>
                </a:solidFill>
              </a:rPr>
              <a:t>Water vapor may compete with CO₂ for adsorption sites or alter CO₂ binding.</a:t>
            </a:r>
            <a:endParaRPr lang="en-US" sz="1200" dirty="0"/>
          </a:p>
          <a:p>
            <a:pPr marL="0" indent="0" algn="l">
              <a:buNone/>
            </a:pPr>
            <a:r>
              <a:rPr lang="en-US" sz="1200" b="1" dirty="0">
                <a:solidFill>
                  <a:schemeClr val="accent3"/>
                </a:solidFill>
              </a:rPr>
              <a:t>Direction of effect is not assumed.</a:t>
            </a:r>
            <a:endParaRPr lang="en-US" sz="1200" dirty="0"/>
          </a:p>
        </p:txBody>
      </p:sp>
      <p:sp>
        <p:nvSpPr>
          <p:cNvPr id="301" name="Objective banner"/>
          <p:cNvSpPr/>
          <p:nvPr/>
        </p:nvSpPr>
        <p:spPr>
          <a:xfrm>
            <a:off x="448056" y="4700016"/>
            <a:ext cx="11292840" cy="1353312"/>
          </a:xfrm>
          <a:prstGeom prst="roundRect">
            <a:avLst>
              <a:gd name="adj" fmla="val 6667"/>
            </a:avLst>
          </a:prstGeom>
          <a:solidFill>
            <a:schemeClr val="accent3"/>
          </a:solidFill>
          <a:ln w="12700">
            <a:solidFill>
              <a:schemeClr val="accent3"/>
            </a:solidFill>
            <a:prstDash val="solid"/>
          </a:ln>
        </p:spPr>
      </p:sp>
      <p:sp>
        <p:nvSpPr>
          <p:cNvPr id="302" name="Research gap panel"/>
          <p:cNvSpPr/>
          <p:nvPr/>
        </p:nvSpPr>
        <p:spPr>
          <a:xfrm>
            <a:off x="585216" y="4809744"/>
            <a:ext cx="3456432" cy="1133856"/>
          </a:xfrm>
          <a:prstGeom prst="roundRect">
            <a:avLst>
              <a:gd name="adj" fmla="val 7500"/>
            </a:avLst>
          </a:prstGeom>
          <a:solidFill>
            <a:srgbClr val="FFFFFF">
              <a:alpha val="14000"/>
            </a:srgbClr>
          </a:solidFill>
          <a:ln>
            <a:noFill/>
          </a:ln>
        </p:spPr>
      </p:sp>
      <p:sp>
        <p:nvSpPr>
          <p:cNvPr id="303" name="Research gap label"/>
          <p:cNvSpPr txBox="1"/>
          <p:nvPr/>
        </p:nvSpPr>
        <p:spPr>
          <a:xfrm>
            <a:off x="749808" y="4892040"/>
            <a:ext cx="3108960" cy="201168"/>
          </a:xfrm>
          <a:prstGeom prst="rect">
            <a:avLst/>
          </a:prstGeom>
          <a:noFill/>
          <a:ln/>
        </p:spPr>
        <p:txBody>
          <a:bodyPr wrap="square" lIns="0" tIns="0" rIns="0" bIns="0" rtlCol="0" anchor="ctr"/>
          <a:lstStyle/>
          <a:p>
            <a:pPr marL="0" indent="0" algn="l">
              <a:buNone/>
            </a:pPr>
            <a:r>
              <a:rPr lang="en-US" sz="1100" b="1" kern="0" spc="100" dirty="0">
                <a:solidFill>
                  <a:srgbClr val="E6E3FF"/>
                </a:solidFill>
              </a:rPr>
              <a:t>RESEARCH GAP</a:t>
            </a:r>
            <a:endParaRPr lang="en-US" sz="1100" dirty="0"/>
          </a:p>
        </p:txBody>
      </p:sp>
      <p:sp>
        <p:nvSpPr>
          <p:cNvPr id="304" name="Research gap text"/>
          <p:cNvSpPr txBox="1"/>
          <p:nvPr/>
        </p:nvSpPr>
        <p:spPr>
          <a:xfrm>
            <a:off x="749808" y="5138928"/>
            <a:ext cx="3145536" cy="768096"/>
          </a:xfrm>
          <a:prstGeom prst="rect">
            <a:avLst/>
          </a:prstGeom>
          <a:noFill/>
          <a:ln/>
        </p:spPr>
        <p:txBody>
          <a:bodyPr wrap="square" lIns="0" tIns="0" rIns="0" bIns="0" rtlCol="0" anchor="t"/>
          <a:lstStyle/>
          <a:p>
            <a:pPr marL="0" indent="0" algn="l">
              <a:buNone/>
            </a:pPr>
            <a:r>
              <a:rPr lang="en-US" sz="1200" dirty="0">
                <a:solidFill>
                  <a:srgbClr val="FFFFFF"/>
                </a:solidFill>
              </a:rPr>
              <a:t>The influence of humidity on CO₂ adsorption and regeneration in the developed bimetal-engineered MOF remains to be investigated.</a:t>
            </a:r>
            <a:endParaRPr lang="en-US" sz="1200" dirty="0"/>
          </a:p>
        </p:txBody>
      </p:sp>
      <p:sp>
        <p:nvSpPr>
          <p:cNvPr id="305" name="Question label"/>
          <p:cNvSpPr txBox="1"/>
          <p:nvPr/>
        </p:nvSpPr>
        <p:spPr>
          <a:xfrm>
            <a:off x="4279392" y="4809744"/>
            <a:ext cx="7223760" cy="201168"/>
          </a:xfrm>
          <a:prstGeom prst="rect">
            <a:avLst/>
          </a:prstGeom>
          <a:noFill/>
          <a:ln/>
        </p:spPr>
        <p:txBody>
          <a:bodyPr wrap="square" lIns="0" tIns="0" rIns="0" bIns="0" rtlCol="0" anchor="ctr"/>
          <a:lstStyle/>
          <a:p>
            <a:pPr marL="0" indent="0" algn="l">
              <a:buNone/>
            </a:pPr>
            <a:r>
              <a:rPr lang="en-US" sz="1100" b="1" kern="0" spc="100" dirty="0">
                <a:solidFill>
                  <a:srgbClr val="E6E3FF"/>
                </a:solidFill>
              </a:rPr>
              <a:t>CENTRAL RESEARCH QUESTION</a:t>
            </a:r>
            <a:endParaRPr lang="en-US" sz="1100" dirty="0"/>
          </a:p>
        </p:txBody>
      </p:sp>
      <p:sp>
        <p:nvSpPr>
          <p:cNvPr id="306" name="Research question"/>
          <p:cNvSpPr txBox="1"/>
          <p:nvPr/>
        </p:nvSpPr>
        <p:spPr>
          <a:xfrm>
            <a:off x="4279392" y="5047488"/>
            <a:ext cx="7223760" cy="548640"/>
          </a:xfrm>
          <a:prstGeom prst="rect">
            <a:avLst/>
          </a:prstGeom>
          <a:noFill/>
          <a:ln/>
        </p:spPr>
        <p:txBody>
          <a:bodyPr wrap="square" lIns="0" tIns="0" rIns="0" bIns="0" rtlCol="0" anchor="t"/>
          <a:lstStyle/>
          <a:p>
            <a:pPr marL="0" indent="0" algn="l">
              <a:buNone/>
            </a:pPr>
            <a:r>
              <a:rPr lang="en-US" sz="1800" b="1" dirty="0">
                <a:solidFill>
                  <a:srgbClr val="FFFFFF"/>
                </a:solidFill>
              </a:rPr>
              <a:t>How does humidity influence CO₂ adsorption and regeneration behavior in a bimetal-engineered MOF?</a:t>
            </a:r>
            <a:endParaRPr lang="en-US" sz="1800" dirty="0"/>
          </a:p>
        </p:txBody>
      </p:sp>
      <p:sp>
        <p:nvSpPr>
          <p:cNvPr id="307" name="Objective text"/>
          <p:cNvSpPr txBox="1"/>
          <p:nvPr/>
        </p:nvSpPr>
        <p:spPr>
          <a:xfrm>
            <a:off x="4279392" y="5632704"/>
            <a:ext cx="7223760" cy="384048"/>
          </a:xfrm>
          <a:prstGeom prst="rect">
            <a:avLst/>
          </a:prstGeom>
          <a:noFill/>
          <a:ln/>
        </p:spPr>
        <p:txBody>
          <a:bodyPr wrap="square" lIns="0" tIns="0" rIns="0" bIns="0" rtlCol="0" anchor="t"/>
          <a:lstStyle/>
          <a:p>
            <a:pPr marL="0" indent="0" algn="l">
              <a:buNone/>
            </a:pPr>
            <a:r>
              <a:rPr lang="en-US" sz="1200" b="1" dirty="0">
                <a:solidFill>
                  <a:srgbClr val="FFFFFF"/>
                </a:solidFill>
              </a:rPr>
              <a:t xml:space="preserve">Objective: </a:t>
            </a:r>
            <a:r>
              <a:rPr lang="en-US" sz="1200" dirty="0">
                <a:solidFill>
                  <a:srgbClr val="FFFFFF"/>
                </a:solidFill>
              </a:rPr>
              <a:t>To characterize the synthesized material and investigate how humidity may influence CO₂ adsorption and regeneration.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Material Synthesis and Experimental Progress</a:t>
            </a:r>
            <a:endParaRPr lang="en-US" sz="2600" dirty="0"/>
          </a:p>
        </p:txBody>
      </p:sp>
      <p:sp>
        <p:nvSpPr>
          <p:cNvPr id="4" name="Section A label"/>
          <p:cNvSpPr txBox="1"/>
          <p:nvPr/>
        </p:nvSpPr>
        <p:spPr>
          <a:xfrm>
            <a:off x="448056" y="2286000"/>
            <a:ext cx="726948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A · SAMPLE PREPARATION (SOLVOTHERMAL ROUTE)</a:t>
            </a:r>
            <a:endParaRPr lang="en-US" sz="1100" dirty="0"/>
          </a:p>
        </p:txBody>
      </p:sp>
      <p:sp>
        <p:nvSpPr>
          <p:cNvPr id="5" name="Section B label"/>
          <p:cNvSpPr txBox="1"/>
          <p:nvPr/>
        </p:nvSpPr>
        <p:spPr>
          <a:xfrm>
            <a:off x="8037576" y="2286000"/>
            <a:ext cx="370332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B · SYNTHESIZED SAMPLES</a:t>
            </a:r>
            <a:endParaRPr lang="en-US" sz="1100" dirty="0"/>
          </a:p>
        </p:txBody>
      </p:sp>
      <p:sp>
        <p:nvSpPr>
          <p:cNvPr id="6" name="Section C label"/>
          <p:cNvSpPr txBox="1"/>
          <p:nvPr/>
        </p:nvSpPr>
        <p:spPr>
          <a:xfrm>
            <a:off x="448056" y="5047488"/>
            <a:ext cx="1129284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C · CHARACTERIZATION AND RESEARCH PROGRESS</a:t>
            </a:r>
            <a:endParaRPr lang="en-US" sz="1100" dirty="0"/>
          </a:p>
        </p:txBody>
      </p:sp>
      <p:pic>
        <p:nvPicPr>
          <p:cNvPr id="7" name="Step photo 1" descr="Photograph: Weighing a solid reagent on an analytical balance"/>
          <p:cNvPicPr>
            <a:picLocks noChangeAspect="1"/>
          </p:cNvPicPr>
          <p:nvPr/>
        </p:nvPicPr>
        <p:blipFill>
          <a:blip r:embed="rId100"/>
          <a:srcRect l="0" t="2564" r="0" b="2564"/>
          <a:stretch>
            <a:fillRect/>
          </a:stretch>
        </p:blipFill>
        <p:spPr>
          <a:xfrm>
            <a:off x="448056" y="2560320"/>
            <a:ext cx="1380744" cy="918972"/>
          </a:xfrm>
          <a:prstGeom prst="rect">
            <a:avLst/>
          </a:prstGeom>
        </p:spPr>
      </p:pic>
      <p:sp>
        <p:nvSpPr>
          <p:cNvPr id="8" name="Step frame 1"/>
          <p:cNvSpPr/>
          <p:nvPr/>
        </p:nvSpPr>
        <p:spPr>
          <a:xfrm>
            <a:off x="448056" y="2560320"/>
            <a:ext cx="1380744" cy="918972"/>
          </a:xfrm>
          <a:prstGeom prst="rect">
            <a:avLst/>
          </a:prstGeom>
          <a:noFill/>
          <a:ln w="12700">
            <a:solidFill>
              <a:schemeClr val="accent1"/>
            </a:solidFill>
            <a:prstDash val="solid"/>
          </a:ln>
        </p:spPr>
      </p:sp>
      <p:sp>
        <p:nvSpPr>
          <p:cNvPr id="9" name="Step caption bg 1"/>
          <p:cNvSpPr/>
          <p:nvPr/>
        </p:nvSpPr>
        <p:spPr>
          <a:xfrm>
            <a:off x="448056" y="3511296"/>
            <a:ext cx="1380744" cy="210312"/>
          </a:xfrm>
          <a:prstGeom prst="roundRect">
            <a:avLst>
              <a:gd name="adj" fmla="val 26667"/>
            </a:avLst>
          </a:prstGeom>
          <a:solidFill>
            <a:schemeClr val="bg2"/>
          </a:solidFill>
          <a:ln w="12700">
            <a:solidFill>
              <a:schemeClr val="bg2"/>
            </a:solidFill>
            <a:prstDash val="solid"/>
          </a:ln>
        </p:spPr>
      </p:sp>
      <p:sp>
        <p:nvSpPr>
          <p:cNvPr id="10" name="Step caption 1"/>
          <p:cNvSpPr txBox="1"/>
          <p:nvPr/>
        </p:nvSpPr>
        <p:spPr>
          <a:xfrm>
            <a:off x="521208"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1  Weighing</a:t>
            </a:r>
            <a:endParaRPr lang="en-US" sz="1000" dirty="0"/>
          </a:p>
        </p:txBody>
      </p:sp>
      <p:pic>
        <p:nvPicPr>
          <p:cNvPr id="11" name="Step photo 2" descr="Photograph: Reagents in a beaker during solution preparation"/>
          <p:cNvPicPr>
            <a:picLocks noChangeAspect="1"/>
          </p:cNvPicPr>
          <p:nvPr/>
        </p:nvPicPr>
        <p:blipFill>
          <a:blip r:embed="rId101"/>
          <a:srcRect l="0" t="5447" r="0" b="0"/>
          <a:stretch>
            <a:fillRect/>
          </a:stretch>
        </p:blipFill>
        <p:spPr>
          <a:xfrm>
            <a:off x="1920240" y="2560320"/>
            <a:ext cx="1380744" cy="918972"/>
          </a:xfrm>
          <a:prstGeom prst="rect">
            <a:avLst/>
          </a:prstGeom>
        </p:spPr>
      </p:pic>
      <p:sp>
        <p:nvSpPr>
          <p:cNvPr id="12" name="Step frame 2"/>
          <p:cNvSpPr/>
          <p:nvPr/>
        </p:nvSpPr>
        <p:spPr>
          <a:xfrm>
            <a:off x="1920240" y="2560320"/>
            <a:ext cx="1380744" cy="918972"/>
          </a:xfrm>
          <a:prstGeom prst="rect">
            <a:avLst/>
          </a:prstGeom>
          <a:noFill/>
          <a:ln w="12700">
            <a:solidFill>
              <a:schemeClr val="accent1"/>
            </a:solidFill>
            <a:prstDash val="solid"/>
          </a:ln>
        </p:spPr>
      </p:sp>
      <p:sp>
        <p:nvSpPr>
          <p:cNvPr id="13" name="Step caption bg 2"/>
          <p:cNvSpPr/>
          <p:nvPr/>
        </p:nvSpPr>
        <p:spPr>
          <a:xfrm>
            <a:off x="1920240" y="3511296"/>
            <a:ext cx="1380744" cy="210312"/>
          </a:xfrm>
          <a:prstGeom prst="roundRect">
            <a:avLst>
              <a:gd name="adj" fmla="val 26667"/>
            </a:avLst>
          </a:prstGeom>
          <a:solidFill>
            <a:schemeClr val="bg2"/>
          </a:solidFill>
          <a:ln w="12700">
            <a:solidFill>
              <a:schemeClr val="bg2"/>
            </a:solidFill>
            <a:prstDash val="solid"/>
          </a:ln>
        </p:spPr>
      </p:sp>
      <p:sp>
        <p:nvSpPr>
          <p:cNvPr id="14" name="Step caption 2"/>
          <p:cNvSpPr txBox="1"/>
          <p:nvPr/>
        </p:nvSpPr>
        <p:spPr>
          <a:xfrm>
            <a:off x="1993392"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2  Preparation</a:t>
            </a:r>
            <a:endParaRPr lang="en-US" sz="1000" dirty="0"/>
          </a:p>
        </p:txBody>
      </p:sp>
      <p:pic>
        <p:nvPicPr>
          <p:cNvPr id="15" name="Step photo 3" descr="Photograph: Reaction mixture in a glass bottle on a stirrer"/>
          <p:cNvPicPr>
            <a:picLocks noChangeAspect="1"/>
          </p:cNvPicPr>
          <p:nvPr/>
        </p:nvPicPr>
        <p:blipFill>
          <a:blip r:embed="rId102"/>
          <a:srcRect l="0" t="0" r="0" b="8373"/>
          <a:stretch>
            <a:fillRect/>
          </a:stretch>
        </p:blipFill>
        <p:spPr>
          <a:xfrm>
            <a:off x="3392424" y="2560320"/>
            <a:ext cx="1380744" cy="918972"/>
          </a:xfrm>
          <a:prstGeom prst="rect">
            <a:avLst/>
          </a:prstGeom>
        </p:spPr>
      </p:pic>
      <p:sp>
        <p:nvSpPr>
          <p:cNvPr id="16" name="Step frame 3"/>
          <p:cNvSpPr/>
          <p:nvPr/>
        </p:nvSpPr>
        <p:spPr>
          <a:xfrm>
            <a:off x="3392424" y="2560320"/>
            <a:ext cx="1380744" cy="918972"/>
          </a:xfrm>
          <a:prstGeom prst="rect">
            <a:avLst/>
          </a:prstGeom>
          <a:noFill/>
          <a:ln w="12700">
            <a:solidFill>
              <a:schemeClr val="accent1"/>
            </a:solidFill>
            <a:prstDash val="solid"/>
          </a:ln>
        </p:spPr>
      </p:sp>
      <p:sp>
        <p:nvSpPr>
          <p:cNvPr id="17" name="Step caption bg 3"/>
          <p:cNvSpPr/>
          <p:nvPr/>
        </p:nvSpPr>
        <p:spPr>
          <a:xfrm>
            <a:off x="3392424" y="3511296"/>
            <a:ext cx="1380744" cy="210312"/>
          </a:xfrm>
          <a:prstGeom prst="roundRect">
            <a:avLst>
              <a:gd name="adj" fmla="val 26667"/>
            </a:avLst>
          </a:prstGeom>
          <a:solidFill>
            <a:schemeClr val="bg2"/>
          </a:solidFill>
          <a:ln w="12700">
            <a:solidFill>
              <a:schemeClr val="bg2"/>
            </a:solidFill>
            <a:prstDash val="solid"/>
          </a:ln>
        </p:spPr>
      </p:sp>
      <p:sp>
        <p:nvSpPr>
          <p:cNvPr id="18" name="Step caption 3"/>
          <p:cNvSpPr txBox="1"/>
          <p:nvPr/>
        </p:nvSpPr>
        <p:spPr>
          <a:xfrm>
            <a:off x="3465576"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3  Mixing</a:t>
            </a:r>
            <a:endParaRPr lang="en-US" sz="1000" dirty="0"/>
          </a:p>
        </p:txBody>
      </p:sp>
      <p:pic>
        <p:nvPicPr>
          <p:cNvPr id="19" name="Step photo 4" descr="Photograph: Sealed reaction bottle on the oven rack during heating"/>
          <p:cNvPicPr>
            <a:picLocks noChangeAspect="1"/>
          </p:cNvPicPr>
          <p:nvPr/>
        </p:nvPicPr>
        <p:blipFill>
          <a:blip r:embed="rId103"/>
          <a:srcRect l="0" t="3248" r="0" b="13248"/>
          <a:stretch>
            <a:fillRect/>
          </a:stretch>
        </p:blipFill>
        <p:spPr>
          <a:xfrm>
            <a:off x="4864608" y="2560320"/>
            <a:ext cx="1380744" cy="918972"/>
          </a:xfrm>
          <a:prstGeom prst="rect">
            <a:avLst/>
          </a:prstGeom>
        </p:spPr>
      </p:pic>
      <p:sp>
        <p:nvSpPr>
          <p:cNvPr id="20" name="Step frame 4"/>
          <p:cNvSpPr/>
          <p:nvPr/>
        </p:nvSpPr>
        <p:spPr>
          <a:xfrm>
            <a:off x="4864608" y="2560320"/>
            <a:ext cx="1380744" cy="918972"/>
          </a:xfrm>
          <a:prstGeom prst="rect">
            <a:avLst/>
          </a:prstGeom>
          <a:noFill/>
          <a:ln w="12700">
            <a:solidFill>
              <a:schemeClr val="accent1"/>
            </a:solidFill>
            <a:prstDash val="solid"/>
          </a:ln>
        </p:spPr>
      </p:sp>
      <p:sp>
        <p:nvSpPr>
          <p:cNvPr id="21" name="Step caption bg 4"/>
          <p:cNvSpPr/>
          <p:nvPr/>
        </p:nvSpPr>
        <p:spPr>
          <a:xfrm>
            <a:off x="4864608" y="3511296"/>
            <a:ext cx="1380744" cy="210312"/>
          </a:xfrm>
          <a:prstGeom prst="roundRect">
            <a:avLst>
              <a:gd name="adj" fmla="val 26667"/>
            </a:avLst>
          </a:prstGeom>
          <a:solidFill>
            <a:schemeClr val="bg2"/>
          </a:solidFill>
          <a:ln w="12700">
            <a:solidFill>
              <a:schemeClr val="bg2"/>
            </a:solidFill>
            <a:prstDash val="solid"/>
          </a:ln>
        </p:spPr>
      </p:sp>
      <p:sp>
        <p:nvSpPr>
          <p:cNvPr id="22" name="Step caption 4"/>
          <p:cNvSpPr txBox="1"/>
          <p:nvPr/>
        </p:nvSpPr>
        <p:spPr>
          <a:xfrm>
            <a:off x="4937760"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4  Heating</a:t>
            </a:r>
            <a:endParaRPr lang="en-US" sz="1000" dirty="0"/>
          </a:p>
        </p:txBody>
      </p:sp>
      <p:pic>
        <p:nvPicPr>
          <p:cNvPr id="23" name="Step photo 5" descr="Photograph: Reaction vessel after heating, with white solid"/>
          <p:cNvPicPr>
            <a:picLocks noChangeAspect="1"/>
          </p:cNvPicPr>
          <p:nvPr/>
        </p:nvPicPr>
        <p:blipFill>
          <a:blip r:embed="rId104"/>
          <a:srcRect l="0" t="26580" r="0" b="16580"/>
          <a:stretch>
            <a:fillRect/>
          </a:stretch>
        </p:blipFill>
        <p:spPr>
          <a:xfrm>
            <a:off x="6336792" y="2560320"/>
            <a:ext cx="1380744" cy="918972"/>
          </a:xfrm>
          <a:prstGeom prst="rect">
            <a:avLst/>
          </a:prstGeom>
        </p:spPr>
      </p:pic>
      <p:sp>
        <p:nvSpPr>
          <p:cNvPr id="24" name="Step frame 5"/>
          <p:cNvSpPr/>
          <p:nvPr/>
        </p:nvSpPr>
        <p:spPr>
          <a:xfrm>
            <a:off x="6336792" y="2560320"/>
            <a:ext cx="1380744" cy="918972"/>
          </a:xfrm>
          <a:prstGeom prst="rect">
            <a:avLst/>
          </a:prstGeom>
          <a:noFill/>
          <a:ln w="12700">
            <a:solidFill>
              <a:schemeClr val="accent1"/>
            </a:solidFill>
            <a:prstDash val="solid"/>
          </a:ln>
        </p:spPr>
      </p:sp>
      <p:sp>
        <p:nvSpPr>
          <p:cNvPr id="25" name="Step caption bg 5"/>
          <p:cNvSpPr/>
          <p:nvPr/>
        </p:nvSpPr>
        <p:spPr>
          <a:xfrm>
            <a:off x="6336792" y="3511296"/>
            <a:ext cx="1380744" cy="210312"/>
          </a:xfrm>
          <a:prstGeom prst="roundRect">
            <a:avLst>
              <a:gd name="adj" fmla="val 26667"/>
            </a:avLst>
          </a:prstGeom>
          <a:solidFill>
            <a:schemeClr val="bg2"/>
          </a:solidFill>
          <a:ln w="12700">
            <a:solidFill>
              <a:schemeClr val="bg2"/>
            </a:solidFill>
            <a:prstDash val="solid"/>
          </a:ln>
        </p:spPr>
      </p:sp>
      <p:sp>
        <p:nvSpPr>
          <p:cNvPr id="26" name="Step caption 5"/>
          <p:cNvSpPr txBox="1"/>
          <p:nvPr/>
        </p:nvSpPr>
        <p:spPr>
          <a:xfrm>
            <a:off x="6409944"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5  After heating</a:t>
            </a:r>
            <a:endParaRPr lang="en-US" sz="1000" dirty="0"/>
          </a:p>
        </p:txBody>
      </p:sp>
      <p:pic>
        <p:nvPicPr>
          <p:cNvPr id="27" name="Step photo 6" descr="Photograph: Washing the solid product in a labelled centrifuge tube"/>
          <p:cNvPicPr>
            <a:picLocks noChangeAspect="1"/>
          </p:cNvPicPr>
          <p:nvPr/>
        </p:nvPicPr>
        <p:blipFill>
          <a:blip r:embed="rId105"/>
          <a:srcRect l="265" t="0" r="265" b="0"/>
          <a:stretch>
            <a:fillRect/>
          </a:stretch>
        </p:blipFill>
        <p:spPr>
          <a:xfrm>
            <a:off x="448056" y="3794760"/>
            <a:ext cx="1380744" cy="918972"/>
          </a:xfrm>
          <a:prstGeom prst="rect">
            <a:avLst/>
          </a:prstGeom>
        </p:spPr>
      </p:pic>
      <p:sp>
        <p:nvSpPr>
          <p:cNvPr id="28" name="Step frame 6"/>
          <p:cNvSpPr/>
          <p:nvPr/>
        </p:nvSpPr>
        <p:spPr>
          <a:xfrm>
            <a:off x="448056" y="3794760"/>
            <a:ext cx="1380744" cy="918972"/>
          </a:xfrm>
          <a:prstGeom prst="rect">
            <a:avLst/>
          </a:prstGeom>
          <a:noFill/>
          <a:ln w="12700">
            <a:solidFill>
              <a:schemeClr val="accent1"/>
            </a:solidFill>
            <a:prstDash val="solid"/>
          </a:ln>
        </p:spPr>
      </p:sp>
      <p:sp>
        <p:nvSpPr>
          <p:cNvPr id="29" name="Step caption bg 6"/>
          <p:cNvSpPr/>
          <p:nvPr/>
        </p:nvSpPr>
        <p:spPr>
          <a:xfrm>
            <a:off x="448056" y="4745736"/>
            <a:ext cx="1380744" cy="210312"/>
          </a:xfrm>
          <a:prstGeom prst="roundRect">
            <a:avLst>
              <a:gd name="adj" fmla="val 26667"/>
            </a:avLst>
          </a:prstGeom>
          <a:solidFill>
            <a:schemeClr val="bg2"/>
          </a:solidFill>
          <a:ln w="12700">
            <a:solidFill>
              <a:schemeClr val="bg2"/>
            </a:solidFill>
            <a:prstDash val="solid"/>
          </a:ln>
        </p:spPr>
      </p:sp>
      <p:sp>
        <p:nvSpPr>
          <p:cNvPr id="30" name="Step caption 6"/>
          <p:cNvSpPr txBox="1"/>
          <p:nvPr/>
        </p:nvSpPr>
        <p:spPr>
          <a:xfrm>
            <a:off x="521208"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6  Washing</a:t>
            </a:r>
            <a:endParaRPr lang="en-US" sz="1000" dirty="0"/>
          </a:p>
        </p:txBody>
      </p:sp>
      <p:pic>
        <p:nvPicPr>
          <p:cNvPr id="31" name="Step photo 7" descr="Photograph: Separating the solid product by centrifugation"/>
          <p:cNvPicPr>
            <a:picLocks noChangeAspect="1"/>
          </p:cNvPicPr>
          <p:nvPr/>
        </p:nvPicPr>
        <p:blipFill>
          <a:blip r:embed="rId106"/>
          <a:srcRect l="0" t="0" r="0" b="7439"/>
          <a:stretch>
            <a:fillRect/>
          </a:stretch>
        </p:blipFill>
        <p:spPr>
          <a:xfrm>
            <a:off x="1920240" y="3794760"/>
            <a:ext cx="1380744" cy="918972"/>
          </a:xfrm>
          <a:prstGeom prst="rect">
            <a:avLst/>
          </a:prstGeom>
        </p:spPr>
      </p:pic>
      <p:sp>
        <p:nvSpPr>
          <p:cNvPr id="32" name="Step frame 7"/>
          <p:cNvSpPr/>
          <p:nvPr/>
        </p:nvSpPr>
        <p:spPr>
          <a:xfrm>
            <a:off x="1920240" y="3794760"/>
            <a:ext cx="1380744" cy="918972"/>
          </a:xfrm>
          <a:prstGeom prst="rect">
            <a:avLst/>
          </a:prstGeom>
          <a:noFill/>
          <a:ln w="12700">
            <a:solidFill>
              <a:schemeClr val="accent1"/>
            </a:solidFill>
            <a:prstDash val="solid"/>
          </a:ln>
        </p:spPr>
      </p:sp>
      <p:sp>
        <p:nvSpPr>
          <p:cNvPr id="33" name="Step caption bg 7"/>
          <p:cNvSpPr/>
          <p:nvPr/>
        </p:nvSpPr>
        <p:spPr>
          <a:xfrm>
            <a:off x="1920240" y="4745736"/>
            <a:ext cx="1380744" cy="210312"/>
          </a:xfrm>
          <a:prstGeom prst="roundRect">
            <a:avLst>
              <a:gd name="adj" fmla="val 26667"/>
            </a:avLst>
          </a:prstGeom>
          <a:solidFill>
            <a:schemeClr val="bg2"/>
          </a:solidFill>
          <a:ln w="12700">
            <a:solidFill>
              <a:schemeClr val="bg2"/>
            </a:solidFill>
            <a:prstDash val="solid"/>
          </a:ln>
        </p:spPr>
      </p:sp>
      <p:sp>
        <p:nvSpPr>
          <p:cNvPr id="34" name="Step caption 7"/>
          <p:cNvSpPr txBox="1"/>
          <p:nvPr/>
        </p:nvSpPr>
        <p:spPr>
          <a:xfrm>
            <a:off x="1993392"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7  Separation</a:t>
            </a:r>
            <a:endParaRPr lang="en-US" sz="1000" dirty="0"/>
          </a:p>
        </p:txBody>
      </p:sp>
      <p:pic>
        <p:nvPicPr>
          <p:cNvPr id="35" name="Step photo 8" descr="Photograph: Samples drying in glassware on an oven rack"/>
          <p:cNvPicPr>
            <a:picLocks noChangeAspect="1"/>
          </p:cNvPicPr>
          <p:nvPr/>
        </p:nvPicPr>
        <p:blipFill>
          <a:blip r:embed="rId107"/>
          <a:srcRect l="6487" t="0" r="6487" b="0"/>
          <a:stretch>
            <a:fillRect/>
          </a:stretch>
        </p:blipFill>
        <p:spPr>
          <a:xfrm>
            <a:off x="3392424" y="3794760"/>
            <a:ext cx="1380744" cy="918972"/>
          </a:xfrm>
          <a:prstGeom prst="rect">
            <a:avLst/>
          </a:prstGeom>
        </p:spPr>
      </p:pic>
      <p:sp>
        <p:nvSpPr>
          <p:cNvPr id="36" name="Step frame 8"/>
          <p:cNvSpPr/>
          <p:nvPr/>
        </p:nvSpPr>
        <p:spPr>
          <a:xfrm>
            <a:off x="3392424" y="3794760"/>
            <a:ext cx="1380744" cy="918972"/>
          </a:xfrm>
          <a:prstGeom prst="rect">
            <a:avLst/>
          </a:prstGeom>
          <a:noFill/>
          <a:ln w="12700">
            <a:solidFill>
              <a:schemeClr val="accent1"/>
            </a:solidFill>
            <a:prstDash val="solid"/>
          </a:ln>
        </p:spPr>
      </p:sp>
      <p:sp>
        <p:nvSpPr>
          <p:cNvPr id="37" name="Step caption bg 8"/>
          <p:cNvSpPr/>
          <p:nvPr/>
        </p:nvSpPr>
        <p:spPr>
          <a:xfrm>
            <a:off x="3392424" y="4745736"/>
            <a:ext cx="1380744" cy="210312"/>
          </a:xfrm>
          <a:prstGeom prst="roundRect">
            <a:avLst>
              <a:gd name="adj" fmla="val 26667"/>
            </a:avLst>
          </a:prstGeom>
          <a:solidFill>
            <a:schemeClr val="bg2"/>
          </a:solidFill>
          <a:ln w="12700">
            <a:solidFill>
              <a:schemeClr val="bg2"/>
            </a:solidFill>
            <a:prstDash val="solid"/>
          </a:ln>
        </p:spPr>
      </p:sp>
      <p:sp>
        <p:nvSpPr>
          <p:cNvPr id="38" name="Step caption 8"/>
          <p:cNvSpPr txBox="1"/>
          <p:nvPr/>
        </p:nvSpPr>
        <p:spPr>
          <a:xfrm>
            <a:off x="3465576"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8  Drying</a:t>
            </a:r>
            <a:endParaRPr lang="en-US" sz="1000" dirty="0"/>
          </a:p>
        </p:txBody>
      </p:sp>
      <p:pic>
        <p:nvPicPr>
          <p:cNvPr id="39" name="Step photo 9" descr="Photograph: Dried MOF powder in a glass dish"/>
          <p:cNvPicPr>
            <a:picLocks noChangeAspect="1"/>
          </p:cNvPicPr>
          <p:nvPr/>
        </p:nvPicPr>
        <p:blipFill>
          <a:blip r:embed="rId108"/>
          <a:srcRect l="0" t="29384" r="0" b="9384"/>
          <a:stretch>
            <a:fillRect/>
          </a:stretch>
        </p:blipFill>
        <p:spPr>
          <a:xfrm>
            <a:off x="4864608" y="3794760"/>
            <a:ext cx="1380744" cy="918972"/>
          </a:xfrm>
          <a:prstGeom prst="rect">
            <a:avLst/>
          </a:prstGeom>
        </p:spPr>
      </p:pic>
      <p:sp>
        <p:nvSpPr>
          <p:cNvPr id="40" name="Step frame 9"/>
          <p:cNvSpPr/>
          <p:nvPr/>
        </p:nvSpPr>
        <p:spPr>
          <a:xfrm>
            <a:off x="4864608" y="3794760"/>
            <a:ext cx="1380744" cy="918972"/>
          </a:xfrm>
          <a:prstGeom prst="rect">
            <a:avLst/>
          </a:prstGeom>
          <a:noFill/>
          <a:ln w="12700">
            <a:solidFill>
              <a:schemeClr val="accent1"/>
            </a:solidFill>
            <a:prstDash val="solid"/>
          </a:ln>
        </p:spPr>
      </p:sp>
      <p:sp>
        <p:nvSpPr>
          <p:cNvPr id="41" name="Step caption bg 9"/>
          <p:cNvSpPr/>
          <p:nvPr/>
        </p:nvSpPr>
        <p:spPr>
          <a:xfrm>
            <a:off x="4864608" y="4745736"/>
            <a:ext cx="1380744" cy="210312"/>
          </a:xfrm>
          <a:prstGeom prst="roundRect">
            <a:avLst>
              <a:gd name="adj" fmla="val 26667"/>
            </a:avLst>
          </a:prstGeom>
          <a:solidFill>
            <a:schemeClr val="bg2"/>
          </a:solidFill>
          <a:ln w="12700">
            <a:solidFill>
              <a:schemeClr val="bg2"/>
            </a:solidFill>
            <a:prstDash val="solid"/>
          </a:ln>
        </p:spPr>
      </p:sp>
      <p:sp>
        <p:nvSpPr>
          <p:cNvPr id="42" name="Step caption 9"/>
          <p:cNvSpPr txBox="1"/>
          <p:nvPr/>
        </p:nvSpPr>
        <p:spPr>
          <a:xfrm>
            <a:off x="4937760"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9  After drying</a:t>
            </a:r>
            <a:endParaRPr lang="en-US" sz="1000" dirty="0"/>
          </a:p>
        </p:txBody>
      </p:sp>
      <p:pic>
        <p:nvPicPr>
          <p:cNvPr id="43" name="Step photo 10" descr="Photograph: Labelled sample vials after activation"/>
          <p:cNvPicPr>
            <a:picLocks noChangeAspect="1"/>
          </p:cNvPicPr>
          <p:nvPr/>
        </p:nvPicPr>
        <p:blipFill>
          <a:blip r:embed="rId109"/>
          <a:srcRect l="0" t="21620" r="0" b="11620"/>
          <a:stretch>
            <a:fillRect/>
          </a:stretch>
        </p:blipFill>
        <p:spPr>
          <a:xfrm>
            <a:off x="6336792" y="3794760"/>
            <a:ext cx="1380744" cy="918972"/>
          </a:xfrm>
          <a:prstGeom prst="rect">
            <a:avLst/>
          </a:prstGeom>
        </p:spPr>
      </p:pic>
      <p:sp>
        <p:nvSpPr>
          <p:cNvPr id="44" name="Step frame 10"/>
          <p:cNvSpPr/>
          <p:nvPr/>
        </p:nvSpPr>
        <p:spPr>
          <a:xfrm>
            <a:off x="6336792" y="3794760"/>
            <a:ext cx="1380744" cy="918972"/>
          </a:xfrm>
          <a:prstGeom prst="rect">
            <a:avLst/>
          </a:prstGeom>
          <a:noFill/>
          <a:ln w="12700">
            <a:solidFill>
              <a:schemeClr val="accent1"/>
            </a:solidFill>
            <a:prstDash val="solid"/>
          </a:ln>
        </p:spPr>
      </p:sp>
      <p:sp>
        <p:nvSpPr>
          <p:cNvPr id="45" name="Step caption bg 10"/>
          <p:cNvSpPr/>
          <p:nvPr/>
        </p:nvSpPr>
        <p:spPr>
          <a:xfrm>
            <a:off x="6336792" y="4745736"/>
            <a:ext cx="1380744" cy="210312"/>
          </a:xfrm>
          <a:prstGeom prst="roundRect">
            <a:avLst>
              <a:gd name="adj" fmla="val 26667"/>
            </a:avLst>
          </a:prstGeom>
          <a:solidFill>
            <a:schemeClr val="bg2"/>
          </a:solidFill>
          <a:ln w="12700">
            <a:solidFill>
              <a:schemeClr val="bg2"/>
            </a:solidFill>
            <a:prstDash val="solid"/>
          </a:ln>
        </p:spPr>
      </p:sp>
      <p:sp>
        <p:nvSpPr>
          <p:cNvPr id="46" name="Step caption 10"/>
          <p:cNvSpPr txBox="1"/>
          <p:nvPr/>
        </p:nvSpPr>
        <p:spPr>
          <a:xfrm>
            <a:off x="6409944"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10  After activation</a:t>
            </a:r>
            <a:endParaRPr lang="en-US" sz="1000" dirty="0"/>
          </a:p>
        </p:txBody>
      </p:sp>
      <p:sp>
        <p:nvSpPr>
          <p:cNvPr id="47" name="Matrix card"/>
          <p:cNvSpPr/>
          <p:nvPr/>
        </p:nvSpPr>
        <p:spPr>
          <a:xfrm>
            <a:off x="8037576" y="2560320"/>
            <a:ext cx="3703320" cy="2395728"/>
          </a:xfrm>
          <a:prstGeom prst="roundRect">
            <a:avLst>
              <a:gd name="adj" fmla="val 3239"/>
            </a:avLst>
          </a:prstGeom>
          <a:solidFill>
            <a:schemeClr val="bg2"/>
          </a:solidFill>
          <a:ln w="12700">
            <a:solidFill>
              <a:schemeClr val="bg2"/>
            </a:solidFill>
            <a:prstDash val="solid"/>
          </a:ln>
        </p:spPr>
      </p:sp>
      <p:sp>
        <p:nvSpPr>
          <p:cNvPr id="48" name="Matrix title"/>
          <p:cNvSpPr txBox="1"/>
          <p:nvPr/>
        </p:nvSpPr>
        <p:spPr>
          <a:xfrm>
            <a:off x="8202168" y="2651760"/>
            <a:ext cx="3374136" cy="274320"/>
          </a:xfrm>
          <a:prstGeom prst="rect">
            <a:avLst/>
          </a:prstGeom>
          <a:noFill/>
          <a:ln/>
        </p:spPr>
        <p:txBody>
          <a:bodyPr wrap="square" lIns="0" tIns="0" rIns="0" bIns="0" rtlCol="0" anchor="ctr"/>
          <a:lstStyle/>
          <a:p>
            <a:pPr marL="0" indent="0" algn="l">
              <a:buNone/>
            </a:pPr>
            <a:r>
              <a:rPr lang="en-US" sz="1500" b="1" dirty="0">
                <a:solidFill>
                  <a:schemeClr val="accent3"/>
                </a:solidFill>
              </a:rPr>
              <a:t>12 samples · solvothermal synthesis</a:t>
            </a:r>
            <a:endParaRPr lang="en-US" sz="1500" dirty="0"/>
          </a:p>
        </p:txBody>
      </p:sp>
      <p:sp>
        <p:nvSpPr>
          <p:cNvPr id="49" name="Matrix subtitle"/>
          <p:cNvSpPr txBox="1"/>
          <p:nvPr/>
        </p:nvSpPr>
        <p:spPr>
          <a:xfrm>
            <a:off x="8202168" y="2962656"/>
            <a:ext cx="3374136" cy="384048"/>
          </a:xfrm>
          <a:prstGeom prst="rect">
            <a:avLst/>
          </a:prstGeom>
          <a:noFill/>
          <a:ln/>
        </p:spPr>
        <p:txBody>
          <a:bodyPr wrap="square" lIns="0" tIns="0" rIns="0" bIns="0" rtlCol="0" anchor="t"/>
          <a:lstStyle/>
          <a:p>
            <a:pPr marL="0" indent="0" algn="l">
              <a:buNone/>
            </a:pPr>
            <a:r>
              <a:rPr lang="en-US" sz="1200" dirty="0">
                <a:solidFill>
                  <a:schemeClr val="tx2"/>
                </a:solidFill>
              </a:rPr>
              <a:t>6 metal compositions (A–F) × 2 metal-to-linker ratios (1:1 and 2:1)</a:t>
            </a:r>
            <a:endParaRPr lang="en-US" sz="1200" dirty="0"/>
          </a:p>
        </p:txBody>
      </p:sp>
      <p:sp>
        <p:nvSpPr>
          <p:cNvPr id="50" name="Matrix comp label"/>
          <p:cNvSpPr txBox="1"/>
          <p:nvPr/>
        </p:nvSpPr>
        <p:spPr>
          <a:xfrm>
            <a:off x="8202168" y="3401568"/>
            <a:ext cx="612648" cy="274320"/>
          </a:xfrm>
          <a:prstGeom prst="rect">
            <a:avLst/>
          </a:prstGeom>
          <a:noFill/>
          <a:ln/>
        </p:spPr>
        <p:txBody>
          <a:bodyPr wrap="square" lIns="0" tIns="0" rIns="0" bIns="0" rtlCol="0" anchor="ctr"/>
          <a:lstStyle/>
          <a:p>
            <a:pPr marL="0" indent="0" algn="l">
              <a:buNone/>
            </a:pPr>
            <a:r>
              <a:rPr lang="en-US" sz="1000" b="1" dirty="0">
                <a:solidFill>
                  <a:schemeClr val="accent6"/>
                </a:solidFill>
              </a:rPr>
              <a:t>Metal comp.</a:t>
            </a:r>
            <a:endParaRPr lang="en-US" sz="1000" dirty="0"/>
          </a:p>
        </p:txBody>
      </p:sp>
      <p:sp>
        <p:nvSpPr>
          <p:cNvPr id="51" name="Matrix col A"/>
          <p:cNvSpPr txBox="1"/>
          <p:nvPr/>
        </p:nvSpPr>
        <p:spPr>
          <a:xfrm>
            <a:off x="8769096" y="3401568"/>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A</a:t>
            </a:r>
            <a:endParaRPr lang="en-US" sz="1200" dirty="0"/>
          </a:p>
        </p:txBody>
      </p:sp>
      <p:sp>
        <p:nvSpPr>
          <p:cNvPr id="52" name="Matrix col B"/>
          <p:cNvSpPr txBox="1"/>
          <p:nvPr/>
        </p:nvSpPr>
        <p:spPr>
          <a:xfrm>
            <a:off x="9244584" y="3401568"/>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B</a:t>
            </a:r>
            <a:endParaRPr lang="en-US" sz="1200" dirty="0"/>
          </a:p>
        </p:txBody>
      </p:sp>
      <p:sp>
        <p:nvSpPr>
          <p:cNvPr id="53" name="Matrix col C"/>
          <p:cNvSpPr txBox="1"/>
          <p:nvPr/>
        </p:nvSpPr>
        <p:spPr>
          <a:xfrm>
            <a:off x="9720072" y="3401568"/>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C</a:t>
            </a:r>
            <a:endParaRPr lang="en-US" sz="1200" dirty="0"/>
          </a:p>
        </p:txBody>
      </p:sp>
      <p:sp>
        <p:nvSpPr>
          <p:cNvPr id="54" name="Matrix col D"/>
          <p:cNvSpPr txBox="1"/>
          <p:nvPr/>
        </p:nvSpPr>
        <p:spPr>
          <a:xfrm>
            <a:off x="10186416" y="3401568"/>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D</a:t>
            </a:r>
            <a:endParaRPr lang="en-US" sz="1200" dirty="0"/>
          </a:p>
        </p:txBody>
      </p:sp>
      <p:sp>
        <p:nvSpPr>
          <p:cNvPr id="55" name="Matrix col E"/>
          <p:cNvSpPr txBox="1"/>
          <p:nvPr/>
        </p:nvSpPr>
        <p:spPr>
          <a:xfrm>
            <a:off x="10661904" y="3401568"/>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E</a:t>
            </a:r>
            <a:endParaRPr lang="en-US" sz="1200" dirty="0"/>
          </a:p>
        </p:txBody>
      </p:sp>
      <p:sp>
        <p:nvSpPr>
          <p:cNvPr id="56" name="Matrix col F"/>
          <p:cNvSpPr txBox="1"/>
          <p:nvPr/>
        </p:nvSpPr>
        <p:spPr>
          <a:xfrm>
            <a:off x="11137392" y="3401568"/>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F</a:t>
            </a:r>
            <a:endParaRPr lang="en-US" sz="1200" dirty="0"/>
          </a:p>
        </p:txBody>
      </p:sp>
      <p:sp>
        <p:nvSpPr>
          <p:cNvPr id="57" name="Matrix row 1:1 ratio"/>
          <p:cNvSpPr txBox="1"/>
          <p:nvPr/>
        </p:nvSpPr>
        <p:spPr>
          <a:xfrm>
            <a:off x="8202168" y="3694176"/>
            <a:ext cx="612648" cy="274320"/>
          </a:xfrm>
          <a:prstGeom prst="rect">
            <a:avLst/>
          </a:prstGeom>
          <a:noFill/>
          <a:ln/>
        </p:spPr>
        <p:txBody>
          <a:bodyPr wrap="square" lIns="0" tIns="0" rIns="0" bIns="0" rtlCol="0" anchor="ctr"/>
          <a:lstStyle/>
          <a:p>
            <a:pPr marL="0" indent="0" algn="l">
              <a:buNone/>
            </a:pPr>
            <a:r>
              <a:rPr lang="en-US" sz="950" b="1" dirty="0">
                <a:solidFill>
                  <a:schemeClr val="accent6"/>
                </a:solidFill>
              </a:rPr>
              <a:t>1:1 ratio</a:t>
            </a:r>
            <a:endParaRPr lang="en-US" sz="950" dirty="0"/>
          </a:p>
        </p:txBody>
      </p:sp>
      <p:sp>
        <p:nvSpPr>
          <p:cNvPr id="58" name="Sample A1-1"/>
          <p:cNvSpPr/>
          <p:nvPr/>
        </p:nvSpPr>
        <p:spPr>
          <a:xfrm>
            <a:off x="8769096" y="3694176"/>
            <a:ext cx="438912" cy="274320"/>
          </a:xfrm>
          <a:prstGeom prst="roundRect">
            <a:avLst>
              <a:gd name="adj" fmla="val 16667"/>
            </a:avLst>
          </a:prstGeom>
          <a:solidFill>
            <a:schemeClr val="accent3"/>
          </a:solidFill>
          <a:ln w="12700">
            <a:solidFill>
              <a:schemeClr val="accent3"/>
            </a:solidFill>
            <a:prstDash val="solid"/>
          </a:ln>
        </p:spPr>
      </p:sp>
      <p:sp>
        <p:nvSpPr>
          <p:cNvPr id="59" name="Sample label A1-1"/>
          <p:cNvSpPr txBox="1"/>
          <p:nvPr/>
        </p:nvSpPr>
        <p:spPr>
          <a:xfrm>
            <a:off x="8769096" y="369417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A1-1</a:t>
            </a:r>
            <a:endParaRPr lang="en-US" sz="1000" dirty="0"/>
          </a:p>
        </p:txBody>
      </p:sp>
      <p:sp>
        <p:nvSpPr>
          <p:cNvPr id="60" name="Sample B1-1"/>
          <p:cNvSpPr/>
          <p:nvPr/>
        </p:nvSpPr>
        <p:spPr>
          <a:xfrm>
            <a:off x="9244584" y="3694176"/>
            <a:ext cx="438912" cy="274320"/>
          </a:xfrm>
          <a:prstGeom prst="roundRect">
            <a:avLst>
              <a:gd name="adj" fmla="val 16667"/>
            </a:avLst>
          </a:prstGeom>
          <a:solidFill>
            <a:schemeClr val="accent3"/>
          </a:solidFill>
          <a:ln w="12700">
            <a:solidFill>
              <a:schemeClr val="accent3"/>
            </a:solidFill>
            <a:prstDash val="solid"/>
          </a:ln>
        </p:spPr>
      </p:sp>
      <p:sp>
        <p:nvSpPr>
          <p:cNvPr id="61" name="Sample label B1-1"/>
          <p:cNvSpPr txBox="1"/>
          <p:nvPr/>
        </p:nvSpPr>
        <p:spPr>
          <a:xfrm>
            <a:off x="9244584" y="369417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B1-1</a:t>
            </a:r>
            <a:endParaRPr lang="en-US" sz="1000" dirty="0"/>
          </a:p>
        </p:txBody>
      </p:sp>
      <p:sp>
        <p:nvSpPr>
          <p:cNvPr id="62" name="Sample C1-1"/>
          <p:cNvSpPr/>
          <p:nvPr/>
        </p:nvSpPr>
        <p:spPr>
          <a:xfrm>
            <a:off x="9720072" y="3694176"/>
            <a:ext cx="438912" cy="274320"/>
          </a:xfrm>
          <a:prstGeom prst="roundRect">
            <a:avLst>
              <a:gd name="adj" fmla="val 16667"/>
            </a:avLst>
          </a:prstGeom>
          <a:solidFill>
            <a:schemeClr val="accent3"/>
          </a:solidFill>
          <a:ln w="12700">
            <a:solidFill>
              <a:schemeClr val="accent3"/>
            </a:solidFill>
            <a:prstDash val="solid"/>
          </a:ln>
        </p:spPr>
      </p:sp>
      <p:sp>
        <p:nvSpPr>
          <p:cNvPr id="63" name="Sample label C1-1"/>
          <p:cNvSpPr txBox="1"/>
          <p:nvPr/>
        </p:nvSpPr>
        <p:spPr>
          <a:xfrm>
            <a:off x="9720072" y="369417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C1-1</a:t>
            </a:r>
            <a:endParaRPr lang="en-US" sz="1000" dirty="0"/>
          </a:p>
        </p:txBody>
      </p:sp>
      <p:sp>
        <p:nvSpPr>
          <p:cNvPr id="64" name="Sample D1-1"/>
          <p:cNvSpPr/>
          <p:nvPr/>
        </p:nvSpPr>
        <p:spPr>
          <a:xfrm>
            <a:off x="10186416" y="3694176"/>
            <a:ext cx="438912" cy="274320"/>
          </a:xfrm>
          <a:prstGeom prst="roundRect">
            <a:avLst>
              <a:gd name="adj" fmla="val 16667"/>
            </a:avLst>
          </a:prstGeom>
          <a:solidFill>
            <a:schemeClr val="accent3"/>
          </a:solidFill>
          <a:ln w="12700">
            <a:solidFill>
              <a:schemeClr val="accent3"/>
            </a:solidFill>
            <a:prstDash val="solid"/>
          </a:ln>
        </p:spPr>
      </p:sp>
      <p:sp>
        <p:nvSpPr>
          <p:cNvPr id="65" name="Sample label D1-1"/>
          <p:cNvSpPr txBox="1"/>
          <p:nvPr/>
        </p:nvSpPr>
        <p:spPr>
          <a:xfrm>
            <a:off x="10186416" y="369417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D1-1</a:t>
            </a:r>
            <a:endParaRPr lang="en-US" sz="1000" dirty="0"/>
          </a:p>
        </p:txBody>
      </p:sp>
      <p:sp>
        <p:nvSpPr>
          <p:cNvPr id="66" name="Sample E1-1"/>
          <p:cNvSpPr/>
          <p:nvPr/>
        </p:nvSpPr>
        <p:spPr>
          <a:xfrm>
            <a:off x="10661904" y="3694176"/>
            <a:ext cx="438912" cy="274320"/>
          </a:xfrm>
          <a:prstGeom prst="roundRect">
            <a:avLst>
              <a:gd name="adj" fmla="val 16667"/>
            </a:avLst>
          </a:prstGeom>
          <a:solidFill>
            <a:schemeClr val="accent3"/>
          </a:solidFill>
          <a:ln w="12700">
            <a:solidFill>
              <a:schemeClr val="accent3"/>
            </a:solidFill>
            <a:prstDash val="solid"/>
          </a:ln>
        </p:spPr>
      </p:sp>
      <p:sp>
        <p:nvSpPr>
          <p:cNvPr id="67" name="Sample label E1-1"/>
          <p:cNvSpPr txBox="1"/>
          <p:nvPr/>
        </p:nvSpPr>
        <p:spPr>
          <a:xfrm>
            <a:off x="10661904" y="369417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E1-1</a:t>
            </a:r>
            <a:endParaRPr lang="en-US" sz="1000" dirty="0"/>
          </a:p>
        </p:txBody>
      </p:sp>
      <p:sp>
        <p:nvSpPr>
          <p:cNvPr id="68" name="Sample F1-1"/>
          <p:cNvSpPr/>
          <p:nvPr/>
        </p:nvSpPr>
        <p:spPr>
          <a:xfrm>
            <a:off x="11137392" y="3694176"/>
            <a:ext cx="438912" cy="274320"/>
          </a:xfrm>
          <a:prstGeom prst="roundRect">
            <a:avLst>
              <a:gd name="adj" fmla="val 16667"/>
            </a:avLst>
          </a:prstGeom>
          <a:solidFill>
            <a:schemeClr val="accent3"/>
          </a:solidFill>
          <a:ln w="12700">
            <a:solidFill>
              <a:schemeClr val="accent3"/>
            </a:solidFill>
            <a:prstDash val="solid"/>
          </a:ln>
        </p:spPr>
      </p:sp>
      <p:sp>
        <p:nvSpPr>
          <p:cNvPr id="69" name="Sample label F1-1"/>
          <p:cNvSpPr txBox="1"/>
          <p:nvPr/>
        </p:nvSpPr>
        <p:spPr>
          <a:xfrm>
            <a:off x="11137392" y="369417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F1-1</a:t>
            </a:r>
            <a:endParaRPr lang="en-US" sz="1000" dirty="0"/>
          </a:p>
        </p:txBody>
      </p:sp>
      <p:sp>
        <p:nvSpPr>
          <p:cNvPr id="70" name="Matrix row 2:1 ratio"/>
          <p:cNvSpPr txBox="1"/>
          <p:nvPr/>
        </p:nvSpPr>
        <p:spPr>
          <a:xfrm>
            <a:off x="8202168" y="4014216"/>
            <a:ext cx="612648" cy="274320"/>
          </a:xfrm>
          <a:prstGeom prst="rect">
            <a:avLst/>
          </a:prstGeom>
          <a:noFill/>
          <a:ln/>
        </p:spPr>
        <p:txBody>
          <a:bodyPr wrap="square" lIns="0" tIns="0" rIns="0" bIns="0" rtlCol="0" anchor="ctr"/>
          <a:lstStyle/>
          <a:p>
            <a:pPr marL="0" indent="0" algn="l">
              <a:buNone/>
            </a:pPr>
            <a:r>
              <a:rPr lang="en-US" sz="950" b="1" dirty="0">
                <a:solidFill>
                  <a:schemeClr val="accent6"/>
                </a:solidFill>
              </a:rPr>
              <a:t>2:1 ratio</a:t>
            </a:r>
            <a:endParaRPr lang="en-US" sz="950" dirty="0"/>
          </a:p>
        </p:txBody>
      </p:sp>
      <p:sp>
        <p:nvSpPr>
          <p:cNvPr id="71" name="Sample A2-1"/>
          <p:cNvSpPr/>
          <p:nvPr/>
        </p:nvSpPr>
        <p:spPr>
          <a:xfrm>
            <a:off x="8769096" y="4014216"/>
            <a:ext cx="438912" cy="274320"/>
          </a:xfrm>
          <a:prstGeom prst="roundRect">
            <a:avLst>
              <a:gd name="adj" fmla="val 16667"/>
            </a:avLst>
          </a:prstGeom>
          <a:solidFill>
            <a:schemeClr val="accent2"/>
          </a:solidFill>
          <a:ln w="12700">
            <a:solidFill>
              <a:schemeClr val="accent2"/>
            </a:solidFill>
            <a:prstDash val="solid"/>
          </a:ln>
        </p:spPr>
      </p:sp>
      <p:sp>
        <p:nvSpPr>
          <p:cNvPr id="72" name="Sample label A2-1"/>
          <p:cNvSpPr txBox="1"/>
          <p:nvPr/>
        </p:nvSpPr>
        <p:spPr>
          <a:xfrm>
            <a:off x="8769096" y="401421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A2-1</a:t>
            </a:r>
            <a:endParaRPr lang="en-US" sz="1000" dirty="0"/>
          </a:p>
        </p:txBody>
      </p:sp>
      <p:sp>
        <p:nvSpPr>
          <p:cNvPr id="73" name="Sample B2-1"/>
          <p:cNvSpPr/>
          <p:nvPr/>
        </p:nvSpPr>
        <p:spPr>
          <a:xfrm>
            <a:off x="9244584" y="4014216"/>
            <a:ext cx="438912" cy="274320"/>
          </a:xfrm>
          <a:prstGeom prst="roundRect">
            <a:avLst>
              <a:gd name="adj" fmla="val 16667"/>
            </a:avLst>
          </a:prstGeom>
          <a:solidFill>
            <a:schemeClr val="accent2"/>
          </a:solidFill>
          <a:ln w="12700">
            <a:solidFill>
              <a:schemeClr val="accent2"/>
            </a:solidFill>
            <a:prstDash val="solid"/>
          </a:ln>
        </p:spPr>
      </p:sp>
      <p:sp>
        <p:nvSpPr>
          <p:cNvPr id="74" name="Sample label B2-1"/>
          <p:cNvSpPr txBox="1"/>
          <p:nvPr/>
        </p:nvSpPr>
        <p:spPr>
          <a:xfrm>
            <a:off x="9244584" y="401421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B2-1</a:t>
            </a:r>
            <a:endParaRPr lang="en-US" sz="1000" dirty="0"/>
          </a:p>
        </p:txBody>
      </p:sp>
      <p:sp>
        <p:nvSpPr>
          <p:cNvPr id="75" name="Sample C2-1"/>
          <p:cNvSpPr/>
          <p:nvPr/>
        </p:nvSpPr>
        <p:spPr>
          <a:xfrm>
            <a:off x="9720072" y="4014216"/>
            <a:ext cx="438912" cy="274320"/>
          </a:xfrm>
          <a:prstGeom prst="roundRect">
            <a:avLst>
              <a:gd name="adj" fmla="val 16667"/>
            </a:avLst>
          </a:prstGeom>
          <a:solidFill>
            <a:schemeClr val="accent3"/>
          </a:solidFill>
          <a:ln w="12700">
            <a:solidFill>
              <a:schemeClr val="accent3"/>
            </a:solidFill>
            <a:prstDash val="solid"/>
          </a:ln>
        </p:spPr>
      </p:sp>
      <p:sp>
        <p:nvSpPr>
          <p:cNvPr id="76" name="Sample label C2-1"/>
          <p:cNvSpPr txBox="1"/>
          <p:nvPr/>
        </p:nvSpPr>
        <p:spPr>
          <a:xfrm>
            <a:off x="9720072" y="401421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C2-1</a:t>
            </a:r>
            <a:endParaRPr lang="en-US" sz="1000" dirty="0"/>
          </a:p>
        </p:txBody>
      </p:sp>
      <p:sp>
        <p:nvSpPr>
          <p:cNvPr id="77" name="Sample D2-1"/>
          <p:cNvSpPr/>
          <p:nvPr/>
        </p:nvSpPr>
        <p:spPr>
          <a:xfrm>
            <a:off x="10186416" y="4014216"/>
            <a:ext cx="438912" cy="274320"/>
          </a:xfrm>
          <a:prstGeom prst="roundRect">
            <a:avLst>
              <a:gd name="adj" fmla="val 16667"/>
            </a:avLst>
          </a:prstGeom>
          <a:solidFill>
            <a:schemeClr val="accent3"/>
          </a:solidFill>
          <a:ln w="12700">
            <a:solidFill>
              <a:schemeClr val="accent3"/>
            </a:solidFill>
            <a:prstDash val="solid"/>
          </a:ln>
        </p:spPr>
      </p:sp>
      <p:sp>
        <p:nvSpPr>
          <p:cNvPr id="78" name="Sample label D2-1"/>
          <p:cNvSpPr txBox="1"/>
          <p:nvPr/>
        </p:nvSpPr>
        <p:spPr>
          <a:xfrm>
            <a:off x="10186416" y="401421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D2-1</a:t>
            </a:r>
            <a:endParaRPr lang="en-US" sz="1000" dirty="0"/>
          </a:p>
        </p:txBody>
      </p:sp>
      <p:sp>
        <p:nvSpPr>
          <p:cNvPr id="79" name="Sample E2-1"/>
          <p:cNvSpPr/>
          <p:nvPr/>
        </p:nvSpPr>
        <p:spPr>
          <a:xfrm>
            <a:off x="10661904" y="4014216"/>
            <a:ext cx="438912" cy="274320"/>
          </a:xfrm>
          <a:prstGeom prst="roundRect">
            <a:avLst>
              <a:gd name="adj" fmla="val 16667"/>
            </a:avLst>
          </a:prstGeom>
          <a:solidFill>
            <a:schemeClr val="accent3"/>
          </a:solidFill>
          <a:ln w="12700">
            <a:solidFill>
              <a:schemeClr val="accent3"/>
            </a:solidFill>
            <a:prstDash val="solid"/>
          </a:ln>
        </p:spPr>
      </p:sp>
      <p:sp>
        <p:nvSpPr>
          <p:cNvPr id="80" name="Sample label E2-1"/>
          <p:cNvSpPr txBox="1"/>
          <p:nvPr/>
        </p:nvSpPr>
        <p:spPr>
          <a:xfrm>
            <a:off x="10661904" y="401421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E2-1</a:t>
            </a:r>
            <a:endParaRPr lang="en-US" sz="1000" dirty="0"/>
          </a:p>
        </p:txBody>
      </p:sp>
      <p:sp>
        <p:nvSpPr>
          <p:cNvPr id="81" name="Sample F2-1"/>
          <p:cNvSpPr/>
          <p:nvPr/>
        </p:nvSpPr>
        <p:spPr>
          <a:xfrm>
            <a:off x="11137392" y="4014216"/>
            <a:ext cx="438912" cy="274320"/>
          </a:xfrm>
          <a:prstGeom prst="roundRect">
            <a:avLst>
              <a:gd name="adj" fmla="val 16667"/>
            </a:avLst>
          </a:prstGeom>
          <a:solidFill>
            <a:schemeClr val="accent3"/>
          </a:solidFill>
          <a:ln w="12700">
            <a:solidFill>
              <a:schemeClr val="accent3"/>
            </a:solidFill>
            <a:prstDash val="solid"/>
          </a:ln>
        </p:spPr>
      </p:sp>
      <p:sp>
        <p:nvSpPr>
          <p:cNvPr id="82" name="Sample label F2-1"/>
          <p:cNvSpPr txBox="1"/>
          <p:nvPr/>
        </p:nvSpPr>
        <p:spPr>
          <a:xfrm>
            <a:off x="11137392" y="4014216"/>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F2-1</a:t>
            </a:r>
            <a:endParaRPr lang="en-US" sz="1000" dirty="0"/>
          </a:p>
        </p:txBody>
      </p:sp>
      <p:sp>
        <p:nvSpPr>
          <p:cNvPr id="83" name="Legend synthesized"/>
          <p:cNvSpPr/>
          <p:nvPr/>
        </p:nvSpPr>
        <p:spPr>
          <a:xfrm>
            <a:off x="8202168" y="4407408"/>
            <a:ext cx="182880" cy="128016"/>
          </a:xfrm>
          <a:prstGeom prst="roundRect">
            <a:avLst>
              <a:gd name="adj" fmla="val 21429"/>
            </a:avLst>
          </a:prstGeom>
          <a:solidFill>
            <a:schemeClr val="accent3"/>
          </a:solidFill>
          <a:ln w="12700">
            <a:solidFill>
              <a:schemeClr val="accent3"/>
            </a:solidFill>
            <a:prstDash val="solid"/>
          </a:ln>
        </p:spPr>
      </p:sp>
      <p:sp>
        <p:nvSpPr>
          <p:cNvPr id="84" name="Legend synthesized label"/>
          <p:cNvSpPr txBox="1"/>
          <p:nvPr/>
        </p:nvSpPr>
        <p:spPr>
          <a:xfrm>
            <a:off x="8449056" y="4370832"/>
            <a:ext cx="914400" cy="201168"/>
          </a:xfrm>
          <a:prstGeom prst="rect">
            <a:avLst/>
          </a:prstGeom>
          <a:noFill/>
          <a:ln/>
        </p:spPr>
        <p:txBody>
          <a:bodyPr wrap="square" lIns="0" tIns="0" rIns="0" bIns="0" rtlCol="0" anchor="ctr"/>
          <a:lstStyle/>
          <a:p>
            <a:pPr marL="0" indent="0" algn="l">
              <a:buNone/>
            </a:pPr>
            <a:r>
              <a:rPr lang="en-US" sz="1100" dirty="0">
                <a:solidFill>
                  <a:schemeClr val="tx2"/>
                </a:solidFill>
              </a:rPr>
              <a:t>synthesized</a:t>
            </a:r>
            <a:endParaRPr lang="en-US" sz="1100" dirty="0"/>
          </a:p>
        </p:txBody>
      </p:sp>
      <p:sp>
        <p:nvSpPr>
          <p:cNvPr id="85" name="Legend highlighted"/>
          <p:cNvSpPr/>
          <p:nvPr/>
        </p:nvSpPr>
        <p:spPr>
          <a:xfrm>
            <a:off x="9390888" y="4407408"/>
            <a:ext cx="182880" cy="128016"/>
          </a:xfrm>
          <a:prstGeom prst="roundRect">
            <a:avLst>
              <a:gd name="adj" fmla="val 21429"/>
            </a:avLst>
          </a:prstGeom>
          <a:solidFill>
            <a:schemeClr val="accent2"/>
          </a:solidFill>
          <a:ln w="12700">
            <a:solidFill>
              <a:schemeClr val="accent2"/>
            </a:solidFill>
            <a:prstDash val="solid"/>
          </a:ln>
        </p:spPr>
      </p:sp>
      <p:sp>
        <p:nvSpPr>
          <p:cNvPr id="86" name="Legend highlighted label"/>
          <p:cNvSpPr txBox="1"/>
          <p:nvPr/>
        </p:nvSpPr>
        <p:spPr>
          <a:xfrm>
            <a:off x="9637776" y="4370832"/>
            <a:ext cx="2011680" cy="201168"/>
          </a:xfrm>
          <a:prstGeom prst="rect">
            <a:avLst/>
          </a:prstGeom>
          <a:noFill/>
          <a:ln/>
        </p:spPr>
        <p:txBody>
          <a:bodyPr wrap="square" lIns="0" tIns="0" rIns="0" bIns="0" rtlCol="0" anchor="ctr"/>
          <a:lstStyle/>
          <a:p>
            <a:pPr marL="0" indent="0" algn="l">
              <a:buNone/>
            </a:pPr>
            <a:r>
              <a:rPr lang="en-US" sz="1100" dirty="0">
                <a:solidFill>
                  <a:schemeClr val="tx2"/>
                </a:solidFill>
              </a:rPr>
              <a:t>highlighted in characterization</a:t>
            </a:r>
            <a:endParaRPr lang="en-US" sz="1100" dirty="0"/>
          </a:p>
        </p:txBody>
      </p:sp>
      <p:sp>
        <p:nvSpPr>
          <p:cNvPr id="87" name="Matrix outcome"/>
          <p:cNvSpPr txBox="1"/>
          <p:nvPr/>
        </p:nvSpPr>
        <p:spPr>
          <a:xfrm>
            <a:off x="8202168" y="4645152"/>
            <a:ext cx="3374136" cy="219456"/>
          </a:xfrm>
          <a:prstGeom prst="rect">
            <a:avLst/>
          </a:prstGeom>
          <a:noFill/>
          <a:ln/>
        </p:spPr>
        <p:txBody>
          <a:bodyPr wrap="square" lIns="0" tIns="0" rIns="0" bIns="0" rtlCol="0" anchor="ctr"/>
          <a:lstStyle/>
          <a:p>
            <a:pPr marL="0" indent="0" algn="l">
              <a:buNone/>
            </a:pPr>
            <a:r>
              <a:rPr lang="en-US" sz="1200" b="1" dirty="0">
                <a:solidFill>
                  <a:schemeClr val="accent3"/>
                </a:solidFill>
              </a:rPr>
              <a:t xml:space="preserve">Result: </a:t>
            </a:r>
            <a:r>
              <a:rPr lang="en-US" sz="1200" dirty="0">
                <a:solidFill>
                  <a:schemeClr val="tx2"/>
                </a:solidFill>
              </a:rPr>
              <a:t>white crystalline solids in all 12</a:t>
            </a:r>
            <a:endParaRPr lang="en-US" sz="1200" dirty="0"/>
          </a:p>
        </p:txBody>
      </p:sp>
      <p:sp>
        <p:nvSpPr>
          <p:cNvPr id="88" name="Step 1"/>
          <p:cNvSpPr/>
          <p:nvPr/>
        </p:nvSpPr>
        <p:spPr>
          <a:xfrm>
            <a:off x="448056" y="5303520"/>
            <a:ext cx="1790700" cy="731520"/>
          </a:xfrm>
          <a:prstGeom prst="roundRect">
            <a:avLst>
              <a:gd name="adj" fmla="val 8000"/>
            </a:avLst>
          </a:prstGeom>
          <a:solidFill>
            <a:schemeClr val="bg2"/>
          </a:solidFill>
          <a:ln w="15875">
            <a:solidFill>
              <a:schemeClr val="accent3"/>
            </a:solidFill>
            <a:prstDash val="solid"/>
          </a:ln>
        </p:spPr>
      </p:sp>
      <p:sp>
        <p:nvSpPr>
          <p:cNvPr id="89" name="Step text 1"/>
          <p:cNvSpPr txBox="1"/>
          <p:nvPr/>
        </p:nvSpPr>
        <p:spPr>
          <a:xfrm>
            <a:off x="557784" y="5358384"/>
            <a:ext cx="1589532" cy="365760"/>
          </a:xfrm>
          <a:prstGeom prst="rect">
            <a:avLst/>
          </a:prstGeom>
          <a:noFill/>
          <a:ln/>
        </p:spPr>
        <p:txBody>
          <a:bodyPr wrap="square" lIns="0" tIns="0" rIns="0" bIns="0" rtlCol="0" anchor="t"/>
          <a:lstStyle/>
          <a:p>
            <a:pPr marL="0" indent="0" algn="l">
              <a:buNone/>
            </a:pPr>
            <a:r>
              <a:rPr lang="en-US" sz="1200" b="1" dirty="0">
                <a:solidFill>
                  <a:schemeClr val="accent3"/>
                </a:solidFill>
              </a:rPr>
              <a:t>1 · Synthesis of 12 samples</a:t>
            </a:r>
            <a:endParaRPr lang="en-US" sz="1200" dirty="0"/>
          </a:p>
        </p:txBody>
      </p:sp>
      <p:sp>
        <p:nvSpPr>
          <p:cNvPr id="90" name="Status step 1"/>
          <p:cNvSpPr/>
          <p:nvPr/>
        </p:nvSpPr>
        <p:spPr>
          <a:xfrm>
            <a:off x="557784" y="5751576"/>
            <a:ext cx="868680" cy="210312"/>
          </a:xfrm>
          <a:prstGeom prst="roundRect">
            <a:avLst>
              <a:gd name="adj" fmla="val 50000"/>
            </a:avLst>
          </a:prstGeom>
          <a:solidFill>
            <a:schemeClr val="accent3"/>
          </a:solidFill>
          <a:ln w="12700">
            <a:solidFill>
              <a:schemeClr val="accent3"/>
            </a:solidFill>
            <a:prstDash val="solid"/>
          </a:ln>
        </p:spPr>
      </p:sp>
      <p:sp>
        <p:nvSpPr>
          <p:cNvPr id="91" name="Status step 1 label"/>
          <p:cNvSpPr txBox="1"/>
          <p:nvPr/>
        </p:nvSpPr>
        <p:spPr>
          <a:xfrm>
            <a:off x="557784" y="5751576"/>
            <a:ext cx="868680" cy="210312"/>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92" name="Step 2"/>
          <p:cNvSpPr/>
          <p:nvPr/>
        </p:nvSpPr>
        <p:spPr>
          <a:xfrm>
            <a:off x="2348484" y="5303520"/>
            <a:ext cx="1790700" cy="731520"/>
          </a:xfrm>
          <a:prstGeom prst="roundRect">
            <a:avLst>
              <a:gd name="adj" fmla="val 8000"/>
            </a:avLst>
          </a:prstGeom>
          <a:solidFill>
            <a:schemeClr val="bg2"/>
          </a:solidFill>
          <a:ln w="15875">
            <a:solidFill>
              <a:schemeClr val="accent3"/>
            </a:solidFill>
            <a:prstDash val="solid"/>
          </a:ln>
        </p:spPr>
      </p:sp>
      <p:sp>
        <p:nvSpPr>
          <p:cNvPr id="93" name="Step text 2"/>
          <p:cNvSpPr txBox="1"/>
          <p:nvPr/>
        </p:nvSpPr>
        <p:spPr>
          <a:xfrm>
            <a:off x="2458212" y="5358384"/>
            <a:ext cx="1589532" cy="365760"/>
          </a:xfrm>
          <a:prstGeom prst="rect">
            <a:avLst/>
          </a:prstGeom>
          <a:noFill/>
          <a:ln/>
        </p:spPr>
        <p:txBody>
          <a:bodyPr wrap="square" lIns="0" tIns="0" rIns="0" bIns="0" rtlCol="0" anchor="t"/>
          <a:lstStyle/>
          <a:p>
            <a:pPr marL="0" indent="0" algn="l">
              <a:buNone/>
            </a:pPr>
            <a:r>
              <a:rPr lang="en-US" sz="1200" b="1" dirty="0">
                <a:solidFill>
                  <a:schemeClr val="accent3"/>
                </a:solidFill>
              </a:rPr>
              <a:t>2 · XRD and FTIR characterization</a:t>
            </a:r>
            <a:endParaRPr lang="en-US" sz="1200" dirty="0"/>
          </a:p>
        </p:txBody>
      </p:sp>
      <p:sp>
        <p:nvSpPr>
          <p:cNvPr id="94" name="Status step 2"/>
          <p:cNvSpPr/>
          <p:nvPr/>
        </p:nvSpPr>
        <p:spPr>
          <a:xfrm>
            <a:off x="2458212" y="5751576"/>
            <a:ext cx="868680" cy="210312"/>
          </a:xfrm>
          <a:prstGeom prst="roundRect">
            <a:avLst>
              <a:gd name="adj" fmla="val 50000"/>
            </a:avLst>
          </a:prstGeom>
          <a:solidFill>
            <a:schemeClr val="accent3"/>
          </a:solidFill>
          <a:ln w="12700">
            <a:solidFill>
              <a:schemeClr val="accent3"/>
            </a:solidFill>
            <a:prstDash val="solid"/>
          </a:ln>
        </p:spPr>
      </p:sp>
      <p:sp>
        <p:nvSpPr>
          <p:cNvPr id="95" name="Status step 2 label"/>
          <p:cNvSpPr txBox="1"/>
          <p:nvPr/>
        </p:nvSpPr>
        <p:spPr>
          <a:xfrm>
            <a:off x="2458212" y="5751576"/>
            <a:ext cx="868680" cy="210312"/>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96" name="Step 3"/>
          <p:cNvSpPr/>
          <p:nvPr/>
        </p:nvSpPr>
        <p:spPr>
          <a:xfrm>
            <a:off x="4248912" y="5303520"/>
            <a:ext cx="1790700" cy="731520"/>
          </a:xfrm>
          <a:prstGeom prst="roundRect">
            <a:avLst>
              <a:gd name="adj" fmla="val 8000"/>
            </a:avLst>
          </a:prstGeom>
          <a:solidFill>
            <a:srgbClr val="FFFFFF"/>
          </a:solidFill>
          <a:ln w="15875">
            <a:solidFill>
              <a:schemeClr val="accent1"/>
            </a:solidFill>
            <a:prstDash val="dash"/>
          </a:ln>
        </p:spPr>
      </p:sp>
      <p:sp>
        <p:nvSpPr>
          <p:cNvPr id="97" name="Step text 3"/>
          <p:cNvSpPr txBox="1"/>
          <p:nvPr/>
        </p:nvSpPr>
        <p:spPr>
          <a:xfrm>
            <a:off x="4358640"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3 · CO₂ adsorption evaluation</a:t>
            </a:r>
            <a:endParaRPr lang="en-US" sz="1200" dirty="0"/>
          </a:p>
        </p:txBody>
      </p:sp>
      <p:sp>
        <p:nvSpPr>
          <p:cNvPr id="98" name="Status step 3"/>
          <p:cNvSpPr/>
          <p:nvPr/>
        </p:nvSpPr>
        <p:spPr>
          <a:xfrm>
            <a:off x="4358640" y="5751576"/>
            <a:ext cx="731520" cy="210312"/>
          </a:xfrm>
          <a:prstGeom prst="roundRect">
            <a:avLst>
              <a:gd name="adj" fmla="val 50000"/>
            </a:avLst>
          </a:prstGeom>
          <a:solidFill>
            <a:srgbClr val="FFFFFF"/>
          </a:solidFill>
          <a:ln w="12700">
            <a:solidFill>
              <a:schemeClr val="accent6"/>
            </a:solidFill>
            <a:prstDash val="solid"/>
          </a:ln>
        </p:spPr>
      </p:sp>
      <p:sp>
        <p:nvSpPr>
          <p:cNvPr id="99" name="Status step 3 label"/>
          <p:cNvSpPr txBox="1"/>
          <p:nvPr/>
        </p:nvSpPr>
        <p:spPr>
          <a:xfrm>
            <a:off x="4358640"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00" name="Step 4"/>
          <p:cNvSpPr/>
          <p:nvPr/>
        </p:nvSpPr>
        <p:spPr>
          <a:xfrm>
            <a:off x="6149340" y="5303520"/>
            <a:ext cx="1790700" cy="731520"/>
          </a:xfrm>
          <a:prstGeom prst="roundRect">
            <a:avLst>
              <a:gd name="adj" fmla="val 8000"/>
            </a:avLst>
          </a:prstGeom>
          <a:solidFill>
            <a:srgbClr val="FFFFFF"/>
          </a:solidFill>
          <a:ln w="15875">
            <a:solidFill>
              <a:schemeClr val="accent1"/>
            </a:solidFill>
            <a:prstDash val="dash"/>
          </a:ln>
        </p:spPr>
      </p:sp>
      <p:sp>
        <p:nvSpPr>
          <p:cNvPr id="101" name="Step text 4"/>
          <p:cNvSpPr txBox="1"/>
          <p:nvPr/>
        </p:nvSpPr>
        <p:spPr>
          <a:xfrm>
            <a:off x="6259068"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4 · Humidity-controlled tests</a:t>
            </a:r>
            <a:endParaRPr lang="en-US" sz="1200" dirty="0"/>
          </a:p>
        </p:txBody>
      </p:sp>
      <p:sp>
        <p:nvSpPr>
          <p:cNvPr id="102" name="Status step 4"/>
          <p:cNvSpPr/>
          <p:nvPr/>
        </p:nvSpPr>
        <p:spPr>
          <a:xfrm>
            <a:off x="6259068" y="5751576"/>
            <a:ext cx="731520" cy="210312"/>
          </a:xfrm>
          <a:prstGeom prst="roundRect">
            <a:avLst>
              <a:gd name="adj" fmla="val 50000"/>
            </a:avLst>
          </a:prstGeom>
          <a:solidFill>
            <a:srgbClr val="FFFFFF"/>
          </a:solidFill>
          <a:ln w="12700">
            <a:solidFill>
              <a:schemeClr val="accent6"/>
            </a:solidFill>
            <a:prstDash val="solid"/>
          </a:ln>
        </p:spPr>
      </p:sp>
      <p:sp>
        <p:nvSpPr>
          <p:cNvPr id="103" name="Status step 4 label"/>
          <p:cNvSpPr txBox="1"/>
          <p:nvPr/>
        </p:nvSpPr>
        <p:spPr>
          <a:xfrm>
            <a:off x="6259068"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04" name="Step 5"/>
          <p:cNvSpPr/>
          <p:nvPr/>
        </p:nvSpPr>
        <p:spPr>
          <a:xfrm>
            <a:off x="8049768" y="5303520"/>
            <a:ext cx="1790700" cy="731520"/>
          </a:xfrm>
          <a:prstGeom prst="roundRect">
            <a:avLst>
              <a:gd name="adj" fmla="val 8000"/>
            </a:avLst>
          </a:prstGeom>
          <a:solidFill>
            <a:srgbClr val="FFFFFF"/>
          </a:solidFill>
          <a:ln w="15875">
            <a:solidFill>
              <a:schemeClr val="accent1"/>
            </a:solidFill>
            <a:prstDash val="dash"/>
          </a:ln>
        </p:spPr>
      </p:sp>
      <p:sp>
        <p:nvSpPr>
          <p:cNvPr id="105" name="Step text 5"/>
          <p:cNvSpPr txBox="1"/>
          <p:nvPr/>
        </p:nvSpPr>
        <p:spPr>
          <a:xfrm>
            <a:off x="8159496"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5 · Regeneration assessment</a:t>
            </a:r>
            <a:endParaRPr lang="en-US" sz="1200" dirty="0"/>
          </a:p>
        </p:txBody>
      </p:sp>
      <p:sp>
        <p:nvSpPr>
          <p:cNvPr id="106" name="Status step 5"/>
          <p:cNvSpPr/>
          <p:nvPr/>
        </p:nvSpPr>
        <p:spPr>
          <a:xfrm>
            <a:off x="8159496" y="5751576"/>
            <a:ext cx="731520" cy="210312"/>
          </a:xfrm>
          <a:prstGeom prst="roundRect">
            <a:avLst>
              <a:gd name="adj" fmla="val 50000"/>
            </a:avLst>
          </a:prstGeom>
          <a:solidFill>
            <a:srgbClr val="FFFFFF"/>
          </a:solidFill>
          <a:ln w="12700">
            <a:solidFill>
              <a:schemeClr val="accent6"/>
            </a:solidFill>
            <a:prstDash val="solid"/>
          </a:ln>
        </p:spPr>
      </p:sp>
      <p:sp>
        <p:nvSpPr>
          <p:cNvPr id="107" name="Status step 5 label"/>
          <p:cNvSpPr txBox="1"/>
          <p:nvPr/>
        </p:nvSpPr>
        <p:spPr>
          <a:xfrm>
            <a:off x="8159496"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08" name="Step 6"/>
          <p:cNvSpPr/>
          <p:nvPr/>
        </p:nvSpPr>
        <p:spPr>
          <a:xfrm>
            <a:off x="9950196" y="5303520"/>
            <a:ext cx="1790700" cy="731520"/>
          </a:xfrm>
          <a:prstGeom prst="roundRect">
            <a:avLst>
              <a:gd name="adj" fmla="val 8000"/>
            </a:avLst>
          </a:prstGeom>
          <a:solidFill>
            <a:srgbClr val="FFFFFF"/>
          </a:solidFill>
          <a:ln w="15875">
            <a:solidFill>
              <a:schemeClr val="accent1"/>
            </a:solidFill>
            <a:prstDash val="dash"/>
          </a:ln>
        </p:spPr>
      </p:sp>
      <p:sp>
        <p:nvSpPr>
          <p:cNvPr id="109" name="Step text 6"/>
          <p:cNvSpPr txBox="1"/>
          <p:nvPr/>
        </p:nvSpPr>
        <p:spPr>
          <a:xfrm>
            <a:off x="10059924"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6 · Cycling studies</a:t>
            </a:r>
            <a:endParaRPr lang="en-US" sz="1200" dirty="0"/>
          </a:p>
        </p:txBody>
      </p:sp>
      <p:sp>
        <p:nvSpPr>
          <p:cNvPr id="110" name="Status step 6"/>
          <p:cNvSpPr/>
          <p:nvPr/>
        </p:nvSpPr>
        <p:spPr>
          <a:xfrm>
            <a:off x="10059924" y="5751576"/>
            <a:ext cx="731520" cy="210312"/>
          </a:xfrm>
          <a:prstGeom prst="roundRect">
            <a:avLst>
              <a:gd name="adj" fmla="val 50000"/>
            </a:avLst>
          </a:prstGeom>
          <a:solidFill>
            <a:srgbClr val="FFFFFF"/>
          </a:solidFill>
          <a:ln w="12700">
            <a:solidFill>
              <a:schemeClr val="accent6"/>
            </a:solidFill>
            <a:prstDash val="solid"/>
          </a:ln>
        </p:spPr>
      </p:sp>
      <p:sp>
        <p:nvSpPr>
          <p:cNvPr id="111" name="Status step 6 label"/>
          <p:cNvSpPr txBox="1"/>
          <p:nvPr/>
        </p:nvSpPr>
        <p:spPr>
          <a:xfrm>
            <a:off x="10059924"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XRD Analysis: Crystalline Structure and Diffraction Peaks</a:t>
            </a:r>
            <a:endParaRPr lang="en-US" sz="2600" dirty="0"/>
          </a:p>
        </p:txBody>
      </p:sp>
      <p:sp>
        <p:nvSpPr>
          <p:cNvPr id="4" name="Slide subtitle"/>
          <p:cNvSpPr txBox="1"/>
          <p:nvPr/>
        </p:nvSpPr>
        <p:spPr>
          <a:xfrm>
            <a:off x="448056" y="2212848"/>
            <a:ext cx="11292840" cy="237744"/>
          </a:xfrm>
          <a:prstGeom prst="rect">
            <a:avLst/>
          </a:prstGeom>
          <a:noFill/>
          <a:ln/>
        </p:spPr>
        <p:txBody>
          <a:bodyPr wrap="square" lIns="0" tIns="0" rIns="0" bIns="0" rtlCol="0" anchor="ctr"/>
          <a:lstStyle/>
          <a:p>
            <a:pPr marL="0" indent="0" algn="l">
              <a:buNone/>
            </a:pPr>
            <a:r>
              <a:rPr lang="en-US" sz="1300" b="1" dirty="0">
                <a:solidFill>
                  <a:schemeClr val="accent3"/>
                </a:solidFill>
              </a:rPr>
              <a:t xml:space="preserve">Purpose: </a:t>
            </a:r>
            <a:r>
              <a:rPr lang="en-US" sz="1300" i="1" dirty="0">
                <a:solidFill>
                  <a:schemeClr val="accent6"/>
                </a:solidFill>
              </a:rPr>
              <a:t>examine the crystalline structure and diffraction features of the synthesized material.</a:t>
            </a:r>
            <a:endParaRPr lang="en-US" sz="1300" dirty="0"/>
          </a:p>
        </p:txBody>
      </p:sp>
      <p:sp>
        <p:nvSpPr>
          <p:cNvPr id="5" name="Figure card"/>
          <p:cNvSpPr/>
          <p:nvPr/>
        </p:nvSpPr>
        <p:spPr>
          <a:xfrm>
            <a:off x="448056" y="2560320"/>
            <a:ext cx="5349240" cy="3493008"/>
          </a:xfrm>
          <a:prstGeom prst="roundRect">
            <a:avLst>
              <a:gd name="adj" fmla="val 3000"/>
            </a:avLst>
          </a:prstGeom>
          <a:solidFill>
            <a:schemeClr val="bg2"/>
          </a:solidFill>
          <a:ln w="12700">
            <a:solidFill>
              <a:schemeClr val="bg2"/>
            </a:solidFill>
            <a:prstDash val="solid"/>
          </a:ln>
        </p:spPr>
      </p:sp>
      <p:sp>
        <p:nvSpPr>
          <p:cNvPr id="6" name="Figure label"/>
          <p:cNvSpPr txBox="1"/>
          <p:nvPr/>
        </p:nvSpPr>
        <p:spPr>
          <a:xfrm>
            <a:off x="612648" y="2651760"/>
            <a:ext cx="502920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SAMPLE B2-1 · ORIGINAL XRD PATTERN (ENLARGED)</a:t>
            </a:r>
            <a:endParaRPr lang="en-US" sz="1100" dirty="0"/>
          </a:p>
        </p:txBody>
      </p:sp>
      <p:pic>
        <p:nvPicPr>
          <p:cNvPr id="7" name="XRD B2-1 original panel" descr="Original XRD pattern of sample B2-1 (enlarged crop of the original 12-sample figure; data unmodified). Labelled peaks: 9.36, 12.1, 17.56, 24.34 and 26.08 degrees 2-theta."/>
          <p:cNvPicPr>
            <a:picLocks noChangeAspect="1"/>
          </p:cNvPicPr>
          <p:nvPr/>
        </p:nvPicPr>
        <p:blipFill>
          <a:blip r:embed="rId100"/>
          <a:srcRect l="34003" t="659" r="34170" b="77968"/>
          <a:stretch>
            <a:fillRect/>
          </a:stretch>
        </p:blipFill>
        <p:spPr>
          <a:xfrm>
            <a:off x="932688" y="2926080"/>
            <a:ext cx="4754880" cy="2027080"/>
          </a:xfrm>
          <a:prstGeom prst="rect">
            <a:avLst/>
          </a:prstGeom>
        </p:spPr>
      </p:pic>
      <p:sp>
        <p:nvSpPr>
          <p:cNvPr id="8" name="XRD panel frame"/>
          <p:cNvSpPr/>
          <p:nvPr/>
        </p:nvSpPr>
        <p:spPr>
          <a:xfrm>
            <a:off x="932688" y="2926080"/>
            <a:ext cx="4754880" cy="2027080"/>
          </a:xfrm>
          <a:prstGeom prst="rect">
            <a:avLst/>
          </a:prstGeom>
          <a:noFill/>
          <a:ln w="12700">
            <a:solidFill>
              <a:schemeClr val="accent1"/>
            </a:solidFill>
            <a:prstDash val="solid"/>
          </a:ln>
        </p:spPr>
      </p:sp>
      <p:sp>
        <p:nvSpPr>
          <p:cNvPr id="9" name="Y axis title"/>
          <p:cNvSpPr txBox="1"/>
          <p:nvPr/>
        </p:nvSpPr>
        <p:spPr>
          <a:xfrm>
            <a:off x="502920" y="2926080"/>
            <a:ext cx="274320" cy="2027080"/>
          </a:xfrm>
          <a:prstGeom prst="rect">
            <a:avLst/>
          </a:prstGeom>
          <a:noFill/>
          <a:ln/>
        </p:spPr>
        <p:txBody>
          <a:bodyPr wrap="square" lIns="0" tIns="0" rIns="0" bIns="0" rtlCol="0" anchor="ctr" vert="vert270"/>
          <a:lstStyle/>
          <a:p>
            <a:pPr marL="0" indent="0" algn="ctr">
              <a:buNone/>
            </a:pPr>
            <a:r>
              <a:rPr lang="en-US" sz="1100" dirty="0">
                <a:solidFill>
                  <a:schemeClr val="accent6"/>
                </a:solidFill>
              </a:rPr>
              <a:t>Intensity (a.u.)</a:t>
            </a:r>
            <a:endParaRPr lang="en-US" sz="1100" dirty="0"/>
          </a:p>
        </p:txBody>
      </p:sp>
      <p:sp>
        <p:nvSpPr>
          <p:cNvPr id="10" name="Peak marker 1"/>
          <p:cNvSpPr/>
          <p:nvPr/>
        </p:nvSpPr>
        <p:spPr>
          <a:xfrm>
            <a:off x="1254412" y="4971448"/>
            <a:ext cx="82296" cy="82296"/>
          </a:xfrm>
          <a:prstGeom prst="triangle">
            <a:avLst/>
          </a:prstGeom>
          <a:solidFill>
            <a:schemeClr val="accent2"/>
          </a:solidFill>
          <a:ln w="6350">
            <a:solidFill>
              <a:schemeClr val="accent2"/>
            </a:solidFill>
            <a:prstDash val="solid"/>
          </a:ln>
        </p:spPr>
      </p:sp>
      <p:sp>
        <p:nvSpPr>
          <p:cNvPr id="11" name="Peak marker 2"/>
          <p:cNvSpPr/>
          <p:nvPr/>
        </p:nvSpPr>
        <p:spPr>
          <a:xfrm>
            <a:off x="1385797" y="4971448"/>
            <a:ext cx="82296" cy="82296"/>
          </a:xfrm>
          <a:prstGeom prst="triangle">
            <a:avLst/>
          </a:prstGeom>
          <a:solidFill>
            <a:schemeClr val="accent2"/>
          </a:solidFill>
          <a:ln w="6350">
            <a:solidFill>
              <a:schemeClr val="accent2"/>
            </a:solidFill>
            <a:prstDash val="solid"/>
          </a:ln>
        </p:spPr>
      </p:sp>
      <p:sp>
        <p:nvSpPr>
          <p:cNvPr id="12" name="Peak marker 3"/>
          <p:cNvSpPr/>
          <p:nvPr/>
        </p:nvSpPr>
        <p:spPr>
          <a:xfrm>
            <a:off x="1642311" y="4971448"/>
            <a:ext cx="82296" cy="82296"/>
          </a:xfrm>
          <a:prstGeom prst="triangle">
            <a:avLst/>
          </a:prstGeom>
          <a:solidFill>
            <a:schemeClr val="accent2"/>
          </a:solidFill>
          <a:ln w="6350">
            <a:solidFill>
              <a:schemeClr val="accent2"/>
            </a:solidFill>
            <a:prstDash val="solid"/>
          </a:ln>
        </p:spPr>
      </p:sp>
      <p:sp>
        <p:nvSpPr>
          <p:cNvPr id="13" name="Peak marker 4"/>
          <p:cNvSpPr/>
          <p:nvPr/>
        </p:nvSpPr>
        <p:spPr>
          <a:xfrm>
            <a:off x="1967644" y="4971448"/>
            <a:ext cx="82296" cy="82296"/>
          </a:xfrm>
          <a:prstGeom prst="triangle">
            <a:avLst/>
          </a:prstGeom>
          <a:solidFill>
            <a:schemeClr val="accent2"/>
          </a:solidFill>
          <a:ln w="6350">
            <a:solidFill>
              <a:schemeClr val="accent2"/>
            </a:solidFill>
            <a:prstDash val="solid"/>
          </a:ln>
        </p:spPr>
      </p:sp>
      <p:sp>
        <p:nvSpPr>
          <p:cNvPr id="14" name="Peak marker 5"/>
          <p:cNvSpPr/>
          <p:nvPr/>
        </p:nvSpPr>
        <p:spPr>
          <a:xfrm>
            <a:off x="2067747" y="4971448"/>
            <a:ext cx="82296" cy="82296"/>
          </a:xfrm>
          <a:prstGeom prst="triangle">
            <a:avLst/>
          </a:prstGeom>
          <a:solidFill>
            <a:schemeClr val="accent2"/>
          </a:solidFill>
          <a:ln w="6350">
            <a:solidFill>
              <a:schemeClr val="accent2"/>
            </a:solidFill>
            <a:prstDash val="solid"/>
          </a:ln>
        </p:spPr>
      </p:sp>
      <p:sp>
        <p:nvSpPr>
          <p:cNvPr id="15" name="X axis title"/>
          <p:cNvSpPr txBox="1"/>
          <p:nvPr/>
        </p:nvSpPr>
        <p:spPr>
          <a:xfrm>
            <a:off x="932688" y="5072032"/>
            <a:ext cx="4754880" cy="182880"/>
          </a:xfrm>
          <a:prstGeom prst="rect">
            <a:avLst/>
          </a:prstGeom>
          <a:noFill/>
          <a:ln/>
        </p:spPr>
        <p:txBody>
          <a:bodyPr wrap="square" lIns="0" tIns="0" rIns="0" bIns="0" rtlCol="0" anchor="ctr"/>
          <a:lstStyle/>
          <a:p>
            <a:pPr marL="0" indent="0" algn="ctr">
              <a:buNone/>
            </a:pPr>
            <a:r>
              <a:rPr lang="en-US" sz="1100" dirty="0">
                <a:solidFill>
                  <a:schemeClr val="accent6"/>
                </a:solidFill>
              </a:rPr>
              <a:t>2θ (°)</a:t>
            </a:r>
            <a:endParaRPr lang="en-US" sz="1100" dirty="0"/>
          </a:p>
        </p:txBody>
      </p:sp>
      <p:sp>
        <p:nvSpPr>
          <p:cNvPr id="16" name="Peak list label"/>
          <p:cNvSpPr txBox="1"/>
          <p:nvPr/>
        </p:nvSpPr>
        <p:spPr>
          <a:xfrm>
            <a:off x="612648" y="5468112"/>
            <a:ext cx="1280160" cy="256032"/>
          </a:xfrm>
          <a:prstGeom prst="rect">
            <a:avLst/>
          </a:prstGeom>
          <a:noFill/>
          <a:ln/>
        </p:spPr>
        <p:txBody>
          <a:bodyPr wrap="square" lIns="0" tIns="0" rIns="0" bIns="0" rtlCol="0" anchor="ctr"/>
          <a:lstStyle/>
          <a:p>
            <a:pPr marL="0" indent="0" algn="l">
              <a:buNone/>
            </a:pPr>
            <a:r>
              <a:rPr lang="en-US" sz="1100" b="1" dirty="0">
                <a:solidFill>
                  <a:schemeClr val="accent3"/>
                </a:solidFill>
              </a:rPr>
              <a:t>Reported 2θ (°):</a:t>
            </a:r>
            <a:endParaRPr lang="en-US" sz="1100" dirty="0"/>
          </a:p>
        </p:txBody>
      </p:sp>
      <p:sp>
        <p:nvSpPr>
          <p:cNvPr id="17" name="Peak chip 9.36"/>
          <p:cNvSpPr/>
          <p:nvPr/>
        </p:nvSpPr>
        <p:spPr>
          <a:xfrm>
            <a:off x="1892808" y="5468112"/>
            <a:ext cx="621792" cy="256032"/>
          </a:xfrm>
          <a:prstGeom prst="roundRect">
            <a:avLst>
              <a:gd name="adj" fmla="val 50000"/>
            </a:avLst>
          </a:prstGeom>
          <a:solidFill>
            <a:srgbClr val="FFFFFF"/>
          </a:solidFill>
          <a:ln w="12700">
            <a:solidFill>
              <a:schemeClr val="accent2"/>
            </a:solidFill>
            <a:prstDash val="solid"/>
          </a:ln>
        </p:spPr>
      </p:sp>
      <p:sp>
        <p:nvSpPr>
          <p:cNvPr id="18" name="Peak chip 9.36 label"/>
          <p:cNvSpPr txBox="1"/>
          <p:nvPr/>
        </p:nvSpPr>
        <p:spPr>
          <a:xfrm>
            <a:off x="1892808" y="5468112"/>
            <a:ext cx="621792" cy="256032"/>
          </a:xfrm>
          <a:prstGeom prst="rect">
            <a:avLst/>
          </a:prstGeom>
          <a:noFill/>
          <a:ln/>
        </p:spPr>
        <p:txBody>
          <a:bodyPr wrap="square" lIns="0" tIns="0" rIns="0" bIns="0" rtlCol="0" anchor="ctr"/>
          <a:lstStyle/>
          <a:p>
            <a:pPr marL="0" indent="0" algn="ctr">
              <a:buNone/>
            </a:pPr>
            <a:r>
              <a:rPr lang="en-US" sz="1150" b="1" dirty="0">
                <a:solidFill>
                  <a:srgbClr val="B8531A"/>
                </a:solidFill>
              </a:rPr>
              <a:t>9.36</a:t>
            </a:r>
            <a:endParaRPr lang="en-US" sz="1150" dirty="0"/>
          </a:p>
        </p:txBody>
      </p:sp>
      <p:sp>
        <p:nvSpPr>
          <p:cNvPr id="19" name="Peak chip 12.10"/>
          <p:cNvSpPr/>
          <p:nvPr/>
        </p:nvSpPr>
        <p:spPr>
          <a:xfrm>
            <a:off x="2587752" y="5468112"/>
            <a:ext cx="621792" cy="256032"/>
          </a:xfrm>
          <a:prstGeom prst="roundRect">
            <a:avLst>
              <a:gd name="adj" fmla="val 50000"/>
            </a:avLst>
          </a:prstGeom>
          <a:solidFill>
            <a:schemeClr val="accent2"/>
          </a:solidFill>
          <a:ln w="12700">
            <a:solidFill>
              <a:schemeClr val="accent2"/>
            </a:solidFill>
            <a:prstDash val="solid"/>
          </a:ln>
        </p:spPr>
      </p:sp>
      <p:sp>
        <p:nvSpPr>
          <p:cNvPr id="20" name="Peak chip 12.10 label"/>
          <p:cNvSpPr txBox="1"/>
          <p:nvPr/>
        </p:nvSpPr>
        <p:spPr>
          <a:xfrm>
            <a:off x="2587752" y="5468112"/>
            <a:ext cx="621792" cy="256032"/>
          </a:xfrm>
          <a:prstGeom prst="rect">
            <a:avLst/>
          </a:prstGeom>
          <a:noFill/>
          <a:ln/>
        </p:spPr>
        <p:txBody>
          <a:bodyPr wrap="square" lIns="0" tIns="0" rIns="0" bIns="0" rtlCol="0" anchor="ctr"/>
          <a:lstStyle/>
          <a:p>
            <a:pPr marL="0" indent="0" algn="ctr">
              <a:buNone/>
            </a:pPr>
            <a:r>
              <a:rPr lang="en-US" sz="1150" b="1" dirty="0">
                <a:solidFill>
                  <a:srgbClr val="FFFFFF"/>
                </a:solidFill>
              </a:rPr>
              <a:t>12.10</a:t>
            </a:r>
            <a:endParaRPr lang="en-US" sz="1150" dirty="0"/>
          </a:p>
        </p:txBody>
      </p:sp>
      <p:sp>
        <p:nvSpPr>
          <p:cNvPr id="21" name="Peak chip 17.56"/>
          <p:cNvSpPr/>
          <p:nvPr/>
        </p:nvSpPr>
        <p:spPr>
          <a:xfrm>
            <a:off x="3282696" y="5468112"/>
            <a:ext cx="621792" cy="256032"/>
          </a:xfrm>
          <a:prstGeom prst="roundRect">
            <a:avLst>
              <a:gd name="adj" fmla="val 50000"/>
            </a:avLst>
          </a:prstGeom>
          <a:solidFill>
            <a:srgbClr val="FFFFFF"/>
          </a:solidFill>
          <a:ln w="12700">
            <a:solidFill>
              <a:schemeClr val="accent2"/>
            </a:solidFill>
            <a:prstDash val="solid"/>
          </a:ln>
        </p:spPr>
      </p:sp>
      <p:sp>
        <p:nvSpPr>
          <p:cNvPr id="22" name="Peak chip 17.56 label"/>
          <p:cNvSpPr txBox="1"/>
          <p:nvPr/>
        </p:nvSpPr>
        <p:spPr>
          <a:xfrm>
            <a:off x="3282696" y="5468112"/>
            <a:ext cx="621792" cy="256032"/>
          </a:xfrm>
          <a:prstGeom prst="rect">
            <a:avLst/>
          </a:prstGeom>
          <a:noFill/>
          <a:ln/>
        </p:spPr>
        <p:txBody>
          <a:bodyPr wrap="square" lIns="0" tIns="0" rIns="0" bIns="0" rtlCol="0" anchor="ctr"/>
          <a:lstStyle/>
          <a:p>
            <a:pPr marL="0" indent="0" algn="ctr">
              <a:buNone/>
            </a:pPr>
            <a:r>
              <a:rPr lang="en-US" sz="1150" b="1" dirty="0">
                <a:solidFill>
                  <a:srgbClr val="B8531A"/>
                </a:solidFill>
              </a:rPr>
              <a:t>17.56</a:t>
            </a:r>
            <a:endParaRPr lang="en-US" sz="1150" dirty="0"/>
          </a:p>
        </p:txBody>
      </p:sp>
      <p:sp>
        <p:nvSpPr>
          <p:cNvPr id="23" name="Peak chip 24.34"/>
          <p:cNvSpPr/>
          <p:nvPr/>
        </p:nvSpPr>
        <p:spPr>
          <a:xfrm>
            <a:off x="3977640" y="5468112"/>
            <a:ext cx="621792" cy="256032"/>
          </a:xfrm>
          <a:prstGeom prst="roundRect">
            <a:avLst>
              <a:gd name="adj" fmla="val 50000"/>
            </a:avLst>
          </a:prstGeom>
          <a:solidFill>
            <a:srgbClr val="FFFFFF"/>
          </a:solidFill>
          <a:ln w="12700">
            <a:solidFill>
              <a:schemeClr val="accent2"/>
            </a:solidFill>
            <a:prstDash val="solid"/>
          </a:ln>
        </p:spPr>
      </p:sp>
      <p:sp>
        <p:nvSpPr>
          <p:cNvPr id="24" name="Peak chip 24.34 label"/>
          <p:cNvSpPr txBox="1"/>
          <p:nvPr/>
        </p:nvSpPr>
        <p:spPr>
          <a:xfrm>
            <a:off x="3977640" y="5468112"/>
            <a:ext cx="621792" cy="256032"/>
          </a:xfrm>
          <a:prstGeom prst="rect">
            <a:avLst/>
          </a:prstGeom>
          <a:noFill/>
          <a:ln/>
        </p:spPr>
        <p:txBody>
          <a:bodyPr wrap="square" lIns="0" tIns="0" rIns="0" bIns="0" rtlCol="0" anchor="ctr"/>
          <a:lstStyle/>
          <a:p>
            <a:pPr marL="0" indent="0" algn="ctr">
              <a:buNone/>
            </a:pPr>
            <a:r>
              <a:rPr lang="en-US" sz="1150" b="1" dirty="0">
                <a:solidFill>
                  <a:srgbClr val="B8531A"/>
                </a:solidFill>
              </a:rPr>
              <a:t>24.34</a:t>
            </a:r>
            <a:endParaRPr lang="en-US" sz="1150" dirty="0"/>
          </a:p>
        </p:txBody>
      </p:sp>
      <p:sp>
        <p:nvSpPr>
          <p:cNvPr id="25" name="Peak chip 26.08"/>
          <p:cNvSpPr/>
          <p:nvPr/>
        </p:nvSpPr>
        <p:spPr>
          <a:xfrm>
            <a:off x="4672584" y="5468112"/>
            <a:ext cx="621792" cy="256032"/>
          </a:xfrm>
          <a:prstGeom prst="roundRect">
            <a:avLst>
              <a:gd name="adj" fmla="val 50000"/>
            </a:avLst>
          </a:prstGeom>
          <a:solidFill>
            <a:srgbClr val="FFFFFF"/>
          </a:solidFill>
          <a:ln w="12700">
            <a:solidFill>
              <a:schemeClr val="accent2"/>
            </a:solidFill>
            <a:prstDash val="solid"/>
          </a:ln>
        </p:spPr>
      </p:sp>
      <p:sp>
        <p:nvSpPr>
          <p:cNvPr id="26" name="Peak chip 26.08 label"/>
          <p:cNvSpPr txBox="1"/>
          <p:nvPr/>
        </p:nvSpPr>
        <p:spPr>
          <a:xfrm>
            <a:off x="4672584" y="5468112"/>
            <a:ext cx="621792" cy="256032"/>
          </a:xfrm>
          <a:prstGeom prst="rect">
            <a:avLst/>
          </a:prstGeom>
          <a:noFill/>
          <a:ln/>
        </p:spPr>
        <p:txBody>
          <a:bodyPr wrap="square" lIns="0" tIns="0" rIns="0" bIns="0" rtlCol="0" anchor="ctr"/>
          <a:lstStyle/>
          <a:p>
            <a:pPr marL="0" indent="0" algn="ctr">
              <a:buNone/>
            </a:pPr>
            <a:r>
              <a:rPr lang="en-US" sz="1150" b="1" dirty="0">
                <a:solidFill>
                  <a:srgbClr val="B8531A"/>
                </a:solidFill>
              </a:rPr>
              <a:t>26.08</a:t>
            </a:r>
            <a:endParaRPr lang="en-US" sz="1150" dirty="0"/>
          </a:p>
        </p:txBody>
      </p:sp>
      <p:sp>
        <p:nvSpPr>
          <p:cNvPr id="27" name="Figure caption"/>
          <p:cNvSpPr txBox="1"/>
          <p:nvPr/>
        </p:nvSpPr>
        <p:spPr>
          <a:xfrm>
            <a:off x="612648" y="5788152"/>
            <a:ext cx="5029200" cy="201168"/>
          </a:xfrm>
          <a:prstGeom prst="rect">
            <a:avLst/>
          </a:prstGeom>
          <a:noFill/>
          <a:ln/>
        </p:spPr>
        <p:txBody>
          <a:bodyPr wrap="square" lIns="0" tIns="0" rIns="0" bIns="0" rtlCol="0" anchor="ctr"/>
          <a:lstStyle/>
          <a:p>
            <a:pPr marL="0" indent="0" algn="l">
              <a:buNone/>
            </a:pPr>
            <a:r>
              <a:rPr lang="en-US" sz="1000" i="1" dirty="0">
                <a:solidFill>
                  <a:schemeClr val="accent6"/>
                </a:solidFill>
              </a:rPr>
              <a:t>Unmodified B2-1 crop of the original 12-sample figure; ▲ = labelled peak positions.</a:t>
            </a:r>
            <a:endParaRPr lang="en-US" sz="1000" dirty="0"/>
          </a:p>
        </p:txBody>
      </p:sp>
      <p:sp>
        <p:nvSpPr>
          <p:cNvPr id="28" name="Key Observation card"/>
          <p:cNvSpPr/>
          <p:nvPr/>
        </p:nvSpPr>
        <p:spPr>
          <a:xfrm>
            <a:off x="5980176" y="2560320"/>
            <a:ext cx="5760720" cy="783844"/>
          </a:xfrm>
          <a:prstGeom prst="roundRect">
            <a:avLst>
              <a:gd name="adj" fmla="val 3500"/>
            </a:avLst>
          </a:prstGeom>
          <a:solidFill>
            <a:schemeClr val="bg2"/>
          </a:solidFill>
          <a:ln w="12700">
            <a:solidFill>
              <a:schemeClr val="bg2"/>
            </a:solidFill>
            <a:prstDash val="solid"/>
          </a:ln>
        </p:spPr>
      </p:sp>
      <p:sp>
        <p:nvSpPr>
          <p:cNvPr id="29" name="Key Observation label"/>
          <p:cNvSpPr txBox="1"/>
          <p:nvPr/>
        </p:nvSpPr>
        <p:spPr>
          <a:xfrm>
            <a:off x="6144768" y="2659634"/>
            <a:ext cx="5431536"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KEY OBSERVATION</a:t>
            </a:r>
            <a:endParaRPr lang="en-US" sz="1100" dirty="0"/>
          </a:p>
        </p:txBody>
      </p:sp>
      <p:sp>
        <p:nvSpPr>
          <p:cNvPr id="30" name="Key Observation text"/>
          <p:cNvSpPr txBox="1"/>
          <p:nvPr/>
        </p:nvSpPr>
        <p:spPr>
          <a:xfrm>
            <a:off x="6144768" y="2915666"/>
            <a:ext cx="5431536" cy="402336"/>
          </a:xfrm>
          <a:prstGeom prst="rect">
            <a:avLst/>
          </a:prstGeom>
          <a:noFill/>
          <a:ln/>
        </p:spPr>
        <p:txBody>
          <a:bodyPr wrap="square" lIns="0" tIns="0" rIns="0" bIns="0" rtlCol="0" anchor="t"/>
          <a:lstStyle/>
          <a:p>
            <a:pPr marL="0" indent="0" algn="l">
              <a:buNone/>
            </a:pPr>
            <a:r>
              <a:rPr lang="en-US" sz="1200" dirty="0">
                <a:solidFill>
                  <a:schemeClr val="tx2"/>
                </a:solidFill>
              </a:rPr>
              <a:t xml:space="preserve">Well-defined peaks at 2θ = 9.36°, 12.10°, 17.56°, 24.34° and 26.08°, the strongest at 12.10°. </a:t>
            </a:r>
            <a:r>
              <a:rPr lang="en-US" sz="1200" b="1" dirty="0">
                <a:solidFill>
                  <a:schemeClr val="accent3"/>
                </a:solidFill>
              </a:rPr>
              <a:t>These peaks support crystalline order in B2-1.</a:t>
            </a:r>
            <a:endParaRPr lang="en-US" sz="1200" dirty="0"/>
          </a:p>
        </p:txBody>
      </p:sp>
      <p:sp>
        <p:nvSpPr>
          <p:cNvPr id="31" name="Scientific Interpretation card"/>
          <p:cNvSpPr/>
          <p:nvPr/>
        </p:nvSpPr>
        <p:spPr>
          <a:xfrm>
            <a:off x="5980176" y="3453892"/>
            <a:ext cx="5760720" cy="1446784"/>
          </a:xfrm>
          <a:prstGeom prst="roundRect">
            <a:avLst>
              <a:gd name="adj" fmla="val 3500"/>
            </a:avLst>
          </a:prstGeom>
          <a:solidFill>
            <a:schemeClr val="bg2"/>
          </a:solidFill>
          <a:ln w="12700">
            <a:solidFill>
              <a:schemeClr val="bg2"/>
            </a:solidFill>
            <a:prstDash val="solid"/>
          </a:ln>
        </p:spPr>
      </p:sp>
      <p:sp>
        <p:nvSpPr>
          <p:cNvPr id="32" name="Scientific Interpretation label"/>
          <p:cNvSpPr txBox="1"/>
          <p:nvPr/>
        </p:nvSpPr>
        <p:spPr>
          <a:xfrm>
            <a:off x="6144768" y="3553206"/>
            <a:ext cx="5431536"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SCIENTIFIC INTERPRETATION</a:t>
            </a:r>
            <a:endParaRPr lang="en-US" sz="1100" dirty="0"/>
          </a:p>
        </p:txBody>
      </p:sp>
      <p:sp>
        <p:nvSpPr>
          <p:cNvPr id="33" name="Scientific Interpretation text"/>
          <p:cNvSpPr txBox="1"/>
          <p:nvPr/>
        </p:nvSpPr>
        <p:spPr>
          <a:xfrm>
            <a:off x="6144768" y="3809238"/>
            <a:ext cx="5431536" cy="1065276"/>
          </a:xfrm>
          <a:prstGeom prst="rect">
            <a:avLst/>
          </a:prstGeom>
          <a:noFill/>
          <a:ln/>
        </p:spPr>
        <p:txBody>
          <a:bodyPr wrap="square" lIns="0" tIns="0" rIns="0" bIns="0" rtlCol="0" anchor="t"/>
          <a:lstStyle/>
          <a:p>
            <a:pPr marL="155448" indent="-155448" algn="l">
              <a:spcAft>
                <a:spcPts val="300"/>
              </a:spcAft>
              <a:buClr>
                <a:schemeClr val="accent3"/>
              </a:buClr>
              <a:buFont typeface="Arial"/>
              <a:buChar char="•"/>
            </a:pPr>
            <a:r>
              <a:rPr lang="en-US" sz="1200" dirty="0">
                <a:solidFill>
                  <a:schemeClr val="tx2"/>
                </a:solidFill>
              </a:rPr>
              <a:t>Sharp reflections indicate long-range periodic order: a crystalline, not amorphous, solid.</a:t>
            </a:r>
            <a:endParaRPr lang="en-US" sz="1200" dirty="0"/>
          </a:p>
          <a:p>
            <a:pPr marL="155448" indent="-155448" algn="l">
              <a:spcAft>
                <a:spcPts val="300"/>
              </a:spcAft>
              <a:buClr>
                <a:schemeClr val="accent3"/>
              </a:buClr>
              <a:buFont typeface="Arial"/>
              <a:buChar char="•"/>
            </a:pPr>
            <a:r>
              <a:rPr lang="en-US" sz="1200" dirty="0">
                <a:solidFill>
                  <a:schemeClr val="tx2"/>
                </a:solidFill>
              </a:rPr>
              <a:t>Strong low-angle peaks (9.36°, 12.10°) imply large interplanar spacings, consistent with — but not proof of — an extended framework.</a:t>
            </a:r>
            <a:endParaRPr lang="en-US" sz="1200" dirty="0"/>
          </a:p>
          <a:p>
            <a:pPr marL="155448" indent="-155448" algn="l">
              <a:spcAft>
                <a:spcPts val="300"/>
              </a:spcAft>
              <a:buClr>
                <a:schemeClr val="accent3"/>
              </a:buClr>
              <a:buFont typeface="Arial"/>
              <a:buChar char="•"/>
            </a:pPr>
            <a:r>
              <a:rPr lang="en-US" sz="1200" dirty="0">
                <a:solidFill>
                  <a:schemeClr val="tx2"/>
                </a:solidFill>
              </a:rPr>
              <a:t>Peak positions act as a fingerprint for comparing samples.</a:t>
            </a:r>
            <a:endParaRPr lang="en-US" sz="1200" dirty="0"/>
          </a:p>
        </p:txBody>
      </p:sp>
      <p:sp>
        <p:nvSpPr>
          <p:cNvPr id="34" name="Limitations card"/>
          <p:cNvSpPr/>
          <p:nvPr/>
        </p:nvSpPr>
        <p:spPr>
          <a:xfrm>
            <a:off x="5980176" y="5010404"/>
            <a:ext cx="5760720" cy="1042924"/>
          </a:xfrm>
          <a:prstGeom prst="roundRect">
            <a:avLst>
              <a:gd name="adj" fmla="val 3500"/>
            </a:avLst>
          </a:prstGeom>
          <a:solidFill>
            <a:schemeClr val="bg2"/>
          </a:solidFill>
          <a:ln w="12700">
            <a:solidFill>
              <a:schemeClr val="bg2"/>
            </a:solidFill>
            <a:prstDash val="solid"/>
          </a:ln>
        </p:spPr>
      </p:sp>
      <p:sp>
        <p:nvSpPr>
          <p:cNvPr id="35" name="Limitations label"/>
          <p:cNvSpPr txBox="1"/>
          <p:nvPr/>
        </p:nvSpPr>
        <p:spPr>
          <a:xfrm>
            <a:off x="6144768" y="5109718"/>
            <a:ext cx="5431536" cy="201168"/>
          </a:xfrm>
          <a:prstGeom prst="rect">
            <a:avLst/>
          </a:prstGeom>
          <a:noFill/>
          <a:ln/>
        </p:spPr>
        <p:txBody>
          <a:bodyPr wrap="square" lIns="0" tIns="0" rIns="0" bIns="0" rtlCol="0" anchor="ctr"/>
          <a:lstStyle/>
          <a:p>
            <a:pPr marL="0" indent="0" algn="l">
              <a:buNone/>
            </a:pPr>
            <a:r>
              <a:rPr lang="en-US" sz="1100" b="1" kern="0" spc="100" dirty="0">
                <a:solidFill>
                  <a:schemeClr val="accent5"/>
                </a:solidFill>
              </a:rPr>
              <a:t>LIMITATIONS</a:t>
            </a:r>
            <a:endParaRPr lang="en-US" sz="1100" dirty="0"/>
          </a:p>
        </p:txBody>
      </p:sp>
      <p:sp>
        <p:nvSpPr>
          <p:cNvPr id="36" name="Limitations text"/>
          <p:cNvSpPr txBox="1"/>
          <p:nvPr/>
        </p:nvSpPr>
        <p:spPr>
          <a:xfrm>
            <a:off x="6144768" y="5365750"/>
            <a:ext cx="5431536" cy="661416"/>
          </a:xfrm>
          <a:prstGeom prst="rect">
            <a:avLst/>
          </a:prstGeom>
          <a:noFill/>
          <a:ln/>
        </p:spPr>
        <p:txBody>
          <a:bodyPr wrap="square" lIns="0" tIns="0" rIns="0" bIns="0" rtlCol="0" anchor="t"/>
          <a:lstStyle/>
          <a:p>
            <a:pPr marL="155448" indent="-155448" algn="l">
              <a:spcAft>
                <a:spcPts val="300"/>
              </a:spcAft>
              <a:buClr>
                <a:schemeClr val="accent5"/>
              </a:buClr>
              <a:buFont typeface="Arial"/>
              <a:buChar char="•"/>
            </a:pPr>
            <a:r>
              <a:rPr lang="en-US" sz="1200" dirty="0">
                <a:solidFill>
                  <a:schemeClr val="tx2"/>
                </a:solidFill>
              </a:rPr>
              <a:t>Phase identification requires comparison with appropriate reference patterns and supporting evidence.</a:t>
            </a:r>
            <a:endParaRPr lang="en-US" sz="1200" dirty="0"/>
          </a:p>
          <a:p>
            <a:pPr marL="155448" indent="-155448" algn="l">
              <a:spcAft>
                <a:spcPts val="300"/>
              </a:spcAft>
              <a:buClr>
                <a:schemeClr val="accent5"/>
              </a:buClr>
              <a:buFont typeface="Arial"/>
              <a:buChar char="•"/>
            </a:pPr>
            <a:r>
              <a:rPr lang="en-US" sz="1200" dirty="0">
                <a:solidFill>
                  <a:schemeClr val="tx2"/>
                </a:solidFill>
              </a:rPr>
              <a:t>No crystal structure is assigned; phase purity is not claimed.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FTIR Analysis: Functional Groups and Metal Coordination</a:t>
            </a:r>
            <a:endParaRPr lang="en-US" sz="2600" dirty="0"/>
          </a:p>
        </p:txBody>
      </p:sp>
      <p:sp>
        <p:nvSpPr>
          <p:cNvPr id="4" name="Slide subtitle"/>
          <p:cNvSpPr txBox="1"/>
          <p:nvPr/>
        </p:nvSpPr>
        <p:spPr>
          <a:xfrm>
            <a:off x="448056" y="2212848"/>
            <a:ext cx="11292840" cy="237744"/>
          </a:xfrm>
          <a:prstGeom prst="rect">
            <a:avLst/>
          </a:prstGeom>
          <a:noFill/>
          <a:ln/>
        </p:spPr>
        <p:txBody>
          <a:bodyPr wrap="square" lIns="0" tIns="0" rIns="0" bIns="0" rtlCol="0" anchor="ctr"/>
          <a:lstStyle/>
          <a:p>
            <a:pPr marL="0" indent="0" algn="l">
              <a:buNone/>
            </a:pPr>
            <a:r>
              <a:rPr lang="en-US" sz="1300" b="1" dirty="0">
                <a:solidFill>
                  <a:schemeClr val="accent3"/>
                </a:solidFill>
              </a:rPr>
              <a:t xml:space="preserve">Purpose: </a:t>
            </a:r>
            <a:r>
              <a:rPr lang="en-US" sz="1300" i="1" dirty="0">
                <a:solidFill>
                  <a:schemeClr val="accent6"/>
                </a:solidFill>
              </a:rPr>
              <a:t>identify characteristic vibrational bands and investigate chemical interactions within the synthesized material.</a:t>
            </a:r>
            <a:endParaRPr lang="en-US" sz="1300" dirty="0"/>
          </a:p>
        </p:txBody>
      </p:sp>
      <p:sp>
        <p:nvSpPr>
          <p:cNvPr id="5" name="Figure card"/>
          <p:cNvSpPr/>
          <p:nvPr/>
        </p:nvSpPr>
        <p:spPr>
          <a:xfrm>
            <a:off x="448056" y="2560320"/>
            <a:ext cx="5349240" cy="3493008"/>
          </a:xfrm>
          <a:prstGeom prst="roundRect">
            <a:avLst>
              <a:gd name="adj" fmla="val 3000"/>
            </a:avLst>
          </a:prstGeom>
          <a:solidFill>
            <a:schemeClr val="bg2"/>
          </a:solidFill>
          <a:ln w="12700">
            <a:solidFill>
              <a:schemeClr val="bg2"/>
            </a:solidFill>
            <a:prstDash val="solid"/>
          </a:ln>
        </p:spPr>
      </p:sp>
      <p:sp>
        <p:nvSpPr>
          <p:cNvPr id="6" name="Figure label"/>
          <p:cNvSpPr txBox="1"/>
          <p:nvPr/>
        </p:nvSpPr>
        <p:spPr>
          <a:xfrm>
            <a:off x="612648" y="2651760"/>
            <a:ext cx="502920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SAMPLE B2-1 · ORIGINAL FTIR SPECTRUM (ENLARGED)</a:t>
            </a:r>
            <a:endParaRPr lang="en-US" sz="1100" dirty="0"/>
          </a:p>
        </p:txBody>
      </p:sp>
      <p:pic>
        <p:nvPicPr>
          <p:cNvPr id="7" name="FTIR B2-1 original panel" descr="Original FTIR spectrum of sample B2-1 (absorbance vs wavenumber in cm-1; enlarged crop of the original 12-sample figure; data unmodified)."/>
          <p:cNvPicPr>
            <a:picLocks noChangeAspect="1"/>
          </p:cNvPicPr>
          <p:nvPr/>
        </p:nvPicPr>
        <p:blipFill>
          <a:blip r:embed="rId100"/>
          <a:srcRect l="981" t="1463" r="75604" b="74796"/>
          <a:stretch>
            <a:fillRect/>
          </a:stretch>
        </p:blipFill>
        <p:spPr>
          <a:xfrm>
            <a:off x="969264" y="3127248"/>
            <a:ext cx="4368452" cy="2057400"/>
          </a:xfrm>
          <a:prstGeom prst="rect">
            <a:avLst/>
          </a:prstGeom>
        </p:spPr>
      </p:pic>
      <p:sp>
        <p:nvSpPr>
          <p:cNvPr id="8" name="FTIR panel frame"/>
          <p:cNvSpPr/>
          <p:nvPr/>
        </p:nvSpPr>
        <p:spPr>
          <a:xfrm>
            <a:off x="969264" y="3127248"/>
            <a:ext cx="4368452" cy="2057400"/>
          </a:xfrm>
          <a:prstGeom prst="rect">
            <a:avLst/>
          </a:prstGeom>
          <a:noFill/>
          <a:ln w="12700">
            <a:solidFill>
              <a:schemeClr val="accent1"/>
            </a:solidFill>
            <a:prstDash val="solid"/>
          </a:ln>
        </p:spPr>
      </p:sp>
      <p:sp>
        <p:nvSpPr>
          <p:cNvPr id="9" name="Y axis title"/>
          <p:cNvSpPr txBox="1"/>
          <p:nvPr/>
        </p:nvSpPr>
        <p:spPr>
          <a:xfrm>
            <a:off x="603504" y="3127248"/>
            <a:ext cx="274320" cy="2057400"/>
          </a:xfrm>
          <a:prstGeom prst="rect">
            <a:avLst/>
          </a:prstGeom>
          <a:noFill/>
          <a:ln/>
        </p:spPr>
        <p:txBody>
          <a:bodyPr wrap="square" lIns="0" tIns="0" rIns="0" bIns="0" rtlCol="0" anchor="ctr" vert="vert270"/>
          <a:lstStyle/>
          <a:p>
            <a:pPr marL="0" indent="0" algn="ctr">
              <a:buNone/>
            </a:pPr>
            <a:r>
              <a:rPr lang="en-US" sz="1100" dirty="0">
                <a:solidFill>
                  <a:schemeClr val="accent6"/>
                </a:solidFill>
              </a:rPr>
              <a:t>Absorbance</a:t>
            </a:r>
            <a:endParaRPr lang="en-US" sz="1100" dirty="0"/>
          </a:p>
        </p:txBody>
      </p:sp>
      <p:sp>
        <p:nvSpPr>
          <p:cNvPr id="10" name="Band region ~1600 cm^{−1}"/>
          <p:cNvSpPr/>
          <p:nvPr/>
        </p:nvSpPr>
        <p:spPr>
          <a:xfrm>
            <a:off x="4037327" y="3183615"/>
            <a:ext cx="144074" cy="1733289"/>
          </a:xfrm>
          <a:prstGeom prst="rect">
            <a:avLst/>
          </a:prstGeom>
          <a:solidFill>
            <a:schemeClr val="accent2">
              <a:alpha val="22000"/>
            </a:schemeClr>
          </a:solidFill>
          <a:ln>
            <a:noFill/>
          </a:ln>
        </p:spPr>
      </p:sp>
      <p:sp>
        <p:nvSpPr>
          <p:cNvPr id="11" name="Band leader ~1600 cm^{−1}"/>
          <p:cNvSpPr/>
          <p:nvPr/>
        </p:nvSpPr>
        <p:spPr>
          <a:xfrm>
            <a:off x="4109364" y="2971800"/>
            <a:ext cx="0" cy="211815"/>
          </a:xfrm>
          <a:prstGeom prst="line">
            <a:avLst/>
          </a:prstGeom>
          <a:noFill/>
          <a:ln w="12700">
            <a:solidFill>
              <a:schemeClr val="accent2"/>
            </a:solidFill>
            <a:prstDash val="solid"/>
          </a:ln>
        </p:spPr>
      </p:sp>
      <p:sp>
        <p:nvSpPr>
          <p:cNvPr id="12" name="Band label ~1600 cm^{−1}"/>
          <p:cNvSpPr txBox="1"/>
          <p:nvPr/>
        </p:nvSpPr>
        <p:spPr>
          <a:xfrm>
            <a:off x="2817106" y="2852928"/>
            <a:ext cx="1246538" cy="219456"/>
          </a:xfrm>
          <a:prstGeom prst="rect">
            <a:avLst/>
          </a:prstGeom>
          <a:noFill/>
          <a:ln/>
        </p:spPr>
        <p:txBody>
          <a:bodyPr wrap="square" lIns="0" tIns="0" rIns="0" bIns="0" rtlCol="0" anchor="ctr"/>
          <a:lstStyle/>
          <a:p>
            <a:pPr marL="0" indent="0" algn="r">
              <a:buNone/>
            </a:pPr>
            <a:r>
              <a:rPr lang="en-US" sz="1150" b="1" dirty="0">
                <a:solidFill>
                  <a:srgbClr val="B8531A"/>
                </a:solidFill>
              </a:rPr>
              <a:t>~1600 cm</a:t>
            </a:r>
            <a:r>
              <a:rPr lang="en-US" sz="1150" b="1" baseline="30000" dirty="0">
                <a:solidFill>
                  <a:srgbClr val="B8531A"/>
                </a:solidFill>
              </a:rPr>
              <a:t>−1</a:t>
            </a:r>
            <a:r>
              <a:rPr lang="en-US" sz="1150" b="1" dirty="0">
                <a:solidFill>
                  <a:srgbClr val="B8531A"/>
                </a:solidFill>
              </a:rPr>
              <a:t xml:space="preserve">  </a:t>
            </a:r>
            <a:r>
              <a:rPr lang="en-US" sz="1150" dirty="0">
                <a:solidFill>
                  <a:srgbClr val="B8531A"/>
                </a:solidFill>
              </a:rPr>
              <a:t>ν</a:t>
            </a:r>
            <a:r>
              <a:rPr lang="en-US" sz="1150" baseline="-25000" dirty="0">
                <a:solidFill>
                  <a:srgbClr val="B8531A"/>
                </a:solidFill>
              </a:rPr>
              <a:t>as</a:t>
            </a:r>
            <a:endParaRPr lang="en-US" sz="1150" dirty="0"/>
          </a:p>
        </p:txBody>
      </p:sp>
      <p:sp>
        <p:nvSpPr>
          <p:cNvPr id="13" name="Band region ~1400 cm^{−1}"/>
          <p:cNvSpPr/>
          <p:nvPr/>
        </p:nvSpPr>
        <p:spPr>
          <a:xfrm>
            <a:off x="4277450" y="3183615"/>
            <a:ext cx="120062" cy="1733289"/>
          </a:xfrm>
          <a:prstGeom prst="rect">
            <a:avLst/>
          </a:prstGeom>
          <a:solidFill>
            <a:schemeClr val="accent2">
              <a:alpha val="22000"/>
            </a:schemeClr>
          </a:solidFill>
          <a:ln>
            <a:noFill/>
          </a:ln>
        </p:spPr>
      </p:sp>
      <p:sp>
        <p:nvSpPr>
          <p:cNvPr id="14" name="Band leader ~1400 cm^{−1}"/>
          <p:cNvSpPr/>
          <p:nvPr/>
        </p:nvSpPr>
        <p:spPr>
          <a:xfrm>
            <a:off x="4337481" y="2971800"/>
            <a:ext cx="0" cy="211815"/>
          </a:xfrm>
          <a:prstGeom prst="line">
            <a:avLst/>
          </a:prstGeom>
          <a:noFill/>
          <a:ln w="12700">
            <a:solidFill>
              <a:schemeClr val="accent2"/>
            </a:solidFill>
            <a:prstDash val="solid"/>
          </a:ln>
        </p:spPr>
      </p:sp>
      <p:sp>
        <p:nvSpPr>
          <p:cNvPr id="15" name="Band label ~1400 cm^{−1}"/>
          <p:cNvSpPr txBox="1"/>
          <p:nvPr/>
        </p:nvSpPr>
        <p:spPr>
          <a:xfrm>
            <a:off x="4383201" y="2852928"/>
            <a:ext cx="1165311" cy="219456"/>
          </a:xfrm>
          <a:prstGeom prst="rect">
            <a:avLst/>
          </a:prstGeom>
          <a:noFill/>
          <a:ln/>
        </p:spPr>
        <p:txBody>
          <a:bodyPr wrap="square" lIns="0" tIns="0" rIns="0" bIns="0" rtlCol="0" anchor="ctr"/>
          <a:lstStyle/>
          <a:p>
            <a:pPr marL="0" indent="0" algn="l">
              <a:buNone/>
            </a:pPr>
            <a:r>
              <a:rPr lang="en-US" sz="1150" b="1" dirty="0">
                <a:solidFill>
                  <a:srgbClr val="B8531A"/>
                </a:solidFill>
              </a:rPr>
              <a:t>~1400 cm</a:t>
            </a:r>
            <a:r>
              <a:rPr lang="en-US" sz="1150" b="1" baseline="30000" dirty="0">
                <a:solidFill>
                  <a:srgbClr val="B8531A"/>
                </a:solidFill>
              </a:rPr>
              <a:t>−1</a:t>
            </a:r>
            <a:r>
              <a:rPr lang="en-US" sz="1150" b="1" dirty="0">
                <a:solidFill>
                  <a:srgbClr val="B8531A"/>
                </a:solidFill>
              </a:rPr>
              <a:t xml:space="preserve">  </a:t>
            </a:r>
            <a:r>
              <a:rPr lang="en-US" sz="1150" dirty="0">
                <a:solidFill>
                  <a:srgbClr val="B8531A"/>
                </a:solidFill>
              </a:rPr>
              <a:t>ν</a:t>
            </a:r>
            <a:r>
              <a:rPr lang="en-US" sz="1150" baseline="-25000" dirty="0">
                <a:solidFill>
                  <a:srgbClr val="B8531A"/>
                </a:solidFill>
              </a:rPr>
              <a:t>s</a:t>
            </a:r>
            <a:endParaRPr lang="en-US" sz="1150" dirty="0"/>
          </a:p>
        </p:txBody>
      </p:sp>
      <p:sp>
        <p:nvSpPr>
          <p:cNvPr id="16" name="X axis title"/>
          <p:cNvSpPr txBox="1"/>
          <p:nvPr/>
        </p:nvSpPr>
        <p:spPr>
          <a:xfrm>
            <a:off x="969264" y="5221224"/>
            <a:ext cx="4368452" cy="182880"/>
          </a:xfrm>
          <a:prstGeom prst="rect">
            <a:avLst/>
          </a:prstGeom>
          <a:noFill/>
          <a:ln/>
        </p:spPr>
        <p:txBody>
          <a:bodyPr wrap="square" lIns="0" tIns="0" rIns="0" bIns="0" rtlCol="0" anchor="ctr"/>
          <a:lstStyle/>
          <a:p>
            <a:pPr marL="0" indent="0" algn="ctr">
              <a:buNone/>
            </a:pPr>
            <a:r>
              <a:rPr lang="en-US" sz="1100" dirty="0">
                <a:solidFill>
                  <a:schemeClr val="accent6"/>
                </a:solidFill>
              </a:rPr>
              <a:t>Wavenumber (cm</a:t>
            </a:r>
            <a:r>
              <a:rPr lang="en-US" sz="1100" baseline="30000" dirty="0">
                <a:solidFill>
                  <a:schemeClr val="accent6"/>
                </a:solidFill>
              </a:rPr>
              <a:t>−1</a:t>
            </a:r>
            <a:r>
              <a:rPr lang="en-US" sz="1100" dirty="0">
                <a:solidFill>
                  <a:schemeClr val="accent6"/>
                </a:solidFill>
              </a:rPr>
              <a:t>)</a:t>
            </a:r>
            <a:endParaRPr lang="en-US" sz="1100" dirty="0"/>
          </a:p>
        </p:txBody>
      </p:sp>
      <p:sp>
        <p:nvSpPr>
          <p:cNvPr id="17" name="Band list label"/>
          <p:cNvSpPr txBox="1"/>
          <p:nvPr/>
        </p:nvSpPr>
        <p:spPr>
          <a:xfrm>
            <a:off x="612648" y="5468112"/>
            <a:ext cx="1280160" cy="256032"/>
          </a:xfrm>
          <a:prstGeom prst="rect">
            <a:avLst/>
          </a:prstGeom>
          <a:noFill/>
          <a:ln/>
        </p:spPr>
        <p:txBody>
          <a:bodyPr wrap="square" lIns="0" tIns="0" rIns="0" bIns="0" rtlCol="0" anchor="ctr"/>
          <a:lstStyle/>
          <a:p>
            <a:pPr marL="0" indent="0" algn="l">
              <a:buNone/>
            </a:pPr>
            <a:r>
              <a:rPr lang="en-US" sz="1100" b="1" dirty="0">
                <a:solidFill>
                  <a:schemeClr val="accent3"/>
                </a:solidFill>
              </a:rPr>
              <a:t>Reported bands:</a:t>
            </a:r>
            <a:endParaRPr lang="en-US" sz="1100" dirty="0"/>
          </a:p>
        </p:txBody>
      </p:sp>
      <p:sp>
        <p:nvSpPr>
          <p:cNvPr id="18" name="Band chip 1"/>
          <p:cNvSpPr/>
          <p:nvPr/>
        </p:nvSpPr>
        <p:spPr>
          <a:xfrm>
            <a:off x="1892808" y="5468112"/>
            <a:ext cx="987552" cy="256032"/>
          </a:xfrm>
          <a:prstGeom prst="roundRect">
            <a:avLst>
              <a:gd name="adj" fmla="val 50000"/>
            </a:avLst>
          </a:prstGeom>
          <a:solidFill>
            <a:srgbClr val="FFFFFF"/>
          </a:solidFill>
          <a:ln w="12700">
            <a:solidFill>
              <a:schemeClr val="accent2"/>
            </a:solidFill>
            <a:prstDash val="solid"/>
          </a:ln>
        </p:spPr>
      </p:sp>
      <p:sp>
        <p:nvSpPr>
          <p:cNvPr id="19" name="Band chip 1 label"/>
          <p:cNvSpPr txBox="1"/>
          <p:nvPr/>
        </p:nvSpPr>
        <p:spPr>
          <a:xfrm>
            <a:off x="1892808" y="5468112"/>
            <a:ext cx="987552" cy="256032"/>
          </a:xfrm>
          <a:prstGeom prst="rect">
            <a:avLst/>
          </a:prstGeom>
          <a:noFill/>
          <a:ln/>
        </p:spPr>
        <p:txBody>
          <a:bodyPr wrap="square" lIns="0" tIns="0" rIns="0" bIns="0" rtlCol="0" anchor="ctr"/>
          <a:lstStyle/>
          <a:p>
            <a:pPr marL="0" indent="0" algn="ctr">
              <a:buNone/>
            </a:pPr>
            <a:r>
              <a:rPr lang="en-US" sz="1150" b="1" dirty="0">
                <a:solidFill>
                  <a:srgbClr val="B8531A"/>
                </a:solidFill>
              </a:rPr>
              <a:t>~1600 cm</a:t>
            </a:r>
            <a:r>
              <a:rPr lang="en-US" sz="1150" b="1" baseline="30000" dirty="0">
                <a:solidFill>
                  <a:srgbClr val="B8531A"/>
                </a:solidFill>
              </a:rPr>
              <a:t>−1</a:t>
            </a:r>
            <a:endParaRPr lang="en-US" sz="1150" dirty="0"/>
          </a:p>
        </p:txBody>
      </p:sp>
      <p:sp>
        <p:nvSpPr>
          <p:cNvPr id="20" name="Band chip 2"/>
          <p:cNvSpPr/>
          <p:nvPr/>
        </p:nvSpPr>
        <p:spPr>
          <a:xfrm>
            <a:off x="2953512" y="5468112"/>
            <a:ext cx="987552" cy="256032"/>
          </a:xfrm>
          <a:prstGeom prst="roundRect">
            <a:avLst>
              <a:gd name="adj" fmla="val 50000"/>
            </a:avLst>
          </a:prstGeom>
          <a:solidFill>
            <a:srgbClr val="FFFFFF"/>
          </a:solidFill>
          <a:ln w="12700">
            <a:solidFill>
              <a:schemeClr val="accent2"/>
            </a:solidFill>
            <a:prstDash val="solid"/>
          </a:ln>
        </p:spPr>
      </p:sp>
      <p:sp>
        <p:nvSpPr>
          <p:cNvPr id="21" name="Band chip 2 label"/>
          <p:cNvSpPr txBox="1"/>
          <p:nvPr/>
        </p:nvSpPr>
        <p:spPr>
          <a:xfrm>
            <a:off x="2953512" y="5468112"/>
            <a:ext cx="987552" cy="256032"/>
          </a:xfrm>
          <a:prstGeom prst="rect">
            <a:avLst/>
          </a:prstGeom>
          <a:noFill/>
          <a:ln/>
        </p:spPr>
        <p:txBody>
          <a:bodyPr wrap="square" lIns="0" tIns="0" rIns="0" bIns="0" rtlCol="0" anchor="ctr"/>
          <a:lstStyle/>
          <a:p>
            <a:pPr marL="0" indent="0" algn="ctr">
              <a:buNone/>
            </a:pPr>
            <a:r>
              <a:rPr lang="en-US" sz="1150" b="1" dirty="0">
                <a:solidFill>
                  <a:srgbClr val="B8531A"/>
                </a:solidFill>
              </a:rPr>
              <a:t>~1400 cm</a:t>
            </a:r>
            <a:r>
              <a:rPr lang="en-US" sz="1150" b="1" baseline="30000" dirty="0">
                <a:solidFill>
                  <a:srgbClr val="B8531A"/>
                </a:solidFill>
              </a:rPr>
              <a:t>−1</a:t>
            </a:r>
            <a:endParaRPr lang="en-US" sz="1150" dirty="0"/>
          </a:p>
        </p:txBody>
      </p:sp>
      <p:sp>
        <p:nvSpPr>
          <p:cNvPr id="22" name="Band chip 3"/>
          <p:cNvSpPr/>
          <p:nvPr/>
        </p:nvSpPr>
        <p:spPr>
          <a:xfrm>
            <a:off x="4014216" y="5468112"/>
            <a:ext cx="1600200" cy="256032"/>
          </a:xfrm>
          <a:prstGeom prst="roundRect">
            <a:avLst>
              <a:gd name="adj" fmla="val 50000"/>
            </a:avLst>
          </a:prstGeom>
          <a:solidFill>
            <a:srgbClr val="FFFFFF"/>
          </a:solidFill>
          <a:ln w="12700">
            <a:solidFill>
              <a:schemeClr val="accent2"/>
            </a:solidFill>
            <a:prstDash val="solid"/>
          </a:ln>
        </p:spPr>
      </p:sp>
      <p:sp>
        <p:nvSpPr>
          <p:cNvPr id="23" name="Band chip 3 label"/>
          <p:cNvSpPr txBox="1"/>
          <p:nvPr/>
        </p:nvSpPr>
        <p:spPr>
          <a:xfrm>
            <a:off x="4014216" y="5468112"/>
            <a:ext cx="1600200" cy="256032"/>
          </a:xfrm>
          <a:prstGeom prst="rect">
            <a:avLst/>
          </a:prstGeom>
          <a:noFill/>
          <a:ln/>
        </p:spPr>
        <p:txBody>
          <a:bodyPr wrap="square" lIns="0" tIns="0" rIns="0" bIns="0" rtlCol="0" anchor="ctr"/>
          <a:lstStyle/>
          <a:p>
            <a:pPr marL="0" indent="0" algn="ctr">
              <a:buNone/>
            </a:pPr>
            <a:r>
              <a:rPr lang="en-US" sz="1150" b="1" dirty="0">
                <a:solidFill>
                  <a:srgbClr val="B8531A"/>
                </a:solidFill>
              </a:rPr>
              <a:t>COO</a:t>
            </a:r>
            <a:r>
              <a:rPr lang="en-US" sz="1150" b="1" baseline="30000" dirty="0">
                <a:solidFill>
                  <a:srgbClr val="B8531A"/>
                </a:solidFill>
              </a:rPr>
              <a:t>−</a:t>
            </a:r>
            <a:r>
              <a:rPr lang="en-US" sz="1150" b="1" dirty="0">
                <a:solidFill>
                  <a:srgbClr val="B8531A"/>
                </a:solidFill>
              </a:rPr>
              <a:t xml:space="preserve"> (carboxylate)</a:t>
            </a:r>
            <a:endParaRPr lang="en-US" sz="1150" dirty="0"/>
          </a:p>
        </p:txBody>
      </p:sp>
      <p:sp>
        <p:nvSpPr>
          <p:cNvPr id="24" name="Figure caption"/>
          <p:cNvSpPr txBox="1"/>
          <p:nvPr/>
        </p:nvSpPr>
        <p:spPr>
          <a:xfrm>
            <a:off x="612648" y="5788152"/>
            <a:ext cx="5029200" cy="201168"/>
          </a:xfrm>
          <a:prstGeom prst="rect">
            <a:avLst/>
          </a:prstGeom>
          <a:noFill/>
          <a:ln/>
        </p:spPr>
        <p:txBody>
          <a:bodyPr wrap="square" lIns="0" tIns="0" rIns="0" bIns="0" rtlCol="0" anchor="ctr"/>
          <a:lstStyle/>
          <a:p>
            <a:pPr marL="0" indent="0" algn="l">
              <a:buNone/>
            </a:pPr>
            <a:r>
              <a:rPr lang="en-US" sz="1000" i="1" dirty="0">
                <a:solidFill>
                  <a:schemeClr val="accent6"/>
                </a:solidFill>
              </a:rPr>
              <a:t>Unmodified B2-1 crop of the original 12-sample figure; shaded bands = reported regions.</a:t>
            </a:r>
            <a:endParaRPr lang="en-US" sz="1000" dirty="0"/>
          </a:p>
        </p:txBody>
      </p:sp>
      <p:sp>
        <p:nvSpPr>
          <p:cNvPr id="25" name="Key Observation card"/>
          <p:cNvSpPr/>
          <p:nvPr/>
        </p:nvSpPr>
        <p:spPr>
          <a:xfrm>
            <a:off x="5980176" y="2560320"/>
            <a:ext cx="5760720" cy="783844"/>
          </a:xfrm>
          <a:prstGeom prst="roundRect">
            <a:avLst>
              <a:gd name="adj" fmla="val 3500"/>
            </a:avLst>
          </a:prstGeom>
          <a:solidFill>
            <a:schemeClr val="bg2"/>
          </a:solidFill>
          <a:ln w="12700">
            <a:solidFill>
              <a:schemeClr val="bg2"/>
            </a:solidFill>
            <a:prstDash val="solid"/>
          </a:ln>
        </p:spPr>
      </p:sp>
      <p:sp>
        <p:nvSpPr>
          <p:cNvPr id="26" name="Key Observation label"/>
          <p:cNvSpPr txBox="1"/>
          <p:nvPr/>
        </p:nvSpPr>
        <p:spPr>
          <a:xfrm>
            <a:off x="6144768" y="2659634"/>
            <a:ext cx="5431536"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KEY OBSERVATION</a:t>
            </a:r>
            <a:endParaRPr lang="en-US" sz="1100" dirty="0"/>
          </a:p>
        </p:txBody>
      </p:sp>
      <p:sp>
        <p:nvSpPr>
          <p:cNvPr id="27" name="Key Observation text"/>
          <p:cNvSpPr txBox="1"/>
          <p:nvPr/>
        </p:nvSpPr>
        <p:spPr>
          <a:xfrm>
            <a:off x="6144768" y="2915666"/>
            <a:ext cx="5431536" cy="402336"/>
          </a:xfrm>
          <a:prstGeom prst="rect">
            <a:avLst/>
          </a:prstGeom>
          <a:noFill/>
          <a:ln/>
        </p:spPr>
        <p:txBody>
          <a:bodyPr wrap="square" lIns="0" tIns="0" rIns="0" bIns="0" rtlCol="0" anchor="t"/>
          <a:lstStyle/>
          <a:p>
            <a:pPr marL="0" indent="0" algn="l">
              <a:buNone/>
            </a:pPr>
            <a:r>
              <a:rPr lang="en-US" sz="1200" dirty="0">
                <a:solidFill>
                  <a:schemeClr val="tx2"/>
                </a:solidFill>
              </a:rPr>
              <a:t>Strong absorption bands near ~1600 cm</a:t>
            </a:r>
            <a:r>
              <a:rPr lang="en-US" sz="1200" baseline="30000" dirty="0">
                <a:solidFill>
                  <a:schemeClr val="tx2"/>
                </a:solidFill>
              </a:rPr>
              <a:t>−1</a:t>
            </a:r>
            <a:r>
              <a:rPr lang="en-US" sz="1200" dirty="0">
                <a:solidFill>
                  <a:schemeClr val="tx2"/>
                </a:solidFill>
              </a:rPr>
              <a:t xml:space="preserve"> and ~1400 cm</a:t>
            </a:r>
            <a:r>
              <a:rPr lang="en-US" sz="1200" baseline="30000" dirty="0">
                <a:solidFill>
                  <a:schemeClr val="tx2"/>
                </a:solidFill>
              </a:rPr>
              <a:t>−1</a:t>
            </a:r>
            <a:r>
              <a:rPr lang="en-US" sz="1200" dirty="0">
                <a:solidFill>
                  <a:schemeClr val="tx2"/>
                </a:solidFill>
              </a:rPr>
              <a:t>, among the most intense features of the B2-1 spectrum.</a:t>
            </a:r>
            <a:endParaRPr lang="en-US" sz="1200" dirty="0"/>
          </a:p>
        </p:txBody>
      </p:sp>
      <p:sp>
        <p:nvSpPr>
          <p:cNvPr id="28" name="Scientific Interpretation card"/>
          <p:cNvSpPr/>
          <p:nvPr/>
        </p:nvSpPr>
        <p:spPr>
          <a:xfrm>
            <a:off x="5980176" y="3453892"/>
            <a:ext cx="5760720" cy="1042924"/>
          </a:xfrm>
          <a:prstGeom prst="roundRect">
            <a:avLst>
              <a:gd name="adj" fmla="val 3500"/>
            </a:avLst>
          </a:prstGeom>
          <a:solidFill>
            <a:schemeClr val="bg2"/>
          </a:solidFill>
          <a:ln w="12700">
            <a:solidFill>
              <a:schemeClr val="bg2"/>
            </a:solidFill>
            <a:prstDash val="solid"/>
          </a:ln>
        </p:spPr>
      </p:sp>
      <p:sp>
        <p:nvSpPr>
          <p:cNvPr id="29" name="Scientific Interpretation label"/>
          <p:cNvSpPr txBox="1"/>
          <p:nvPr/>
        </p:nvSpPr>
        <p:spPr>
          <a:xfrm>
            <a:off x="6144768" y="3553206"/>
            <a:ext cx="5431536"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SCIENTIFIC INTERPRETATION</a:t>
            </a:r>
            <a:endParaRPr lang="en-US" sz="1100" dirty="0"/>
          </a:p>
        </p:txBody>
      </p:sp>
      <p:sp>
        <p:nvSpPr>
          <p:cNvPr id="30" name="Scientific Interpretation text"/>
          <p:cNvSpPr txBox="1"/>
          <p:nvPr/>
        </p:nvSpPr>
        <p:spPr>
          <a:xfrm>
            <a:off x="6144768" y="3809238"/>
            <a:ext cx="5431536" cy="661416"/>
          </a:xfrm>
          <a:prstGeom prst="rect">
            <a:avLst/>
          </a:prstGeom>
          <a:noFill/>
          <a:ln/>
        </p:spPr>
        <p:txBody>
          <a:bodyPr wrap="square" lIns="0" tIns="0" rIns="0" bIns="0" rtlCol="0" anchor="t"/>
          <a:lstStyle/>
          <a:p>
            <a:pPr marL="155448" indent="-155448" algn="l">
              <a:spcAft>
                <a:spcPts val="300"/>
              </a:spcAft>
              <a:buClr>
                <a:schemeClr val="accent3"/>
              </a:buClr>
              <a:buFont typeface="Arial"/>
              <a:buChar char="•"/>
            </a:pPr>
            <a:r>
              <a:rPr lang="en-US" sz="1200" dirty="0">
                <a:solidFill>
                  <a:schemeClr val="tx2"/>
                </a:solidFill>
              </a:rPr>
              <a:t>Both regions are characteristic of carboxylate (COO</a:t>
            </a:r>
            <a:r>
              <a:rPr lang="en-US" sz="1200" baseline="30000" dirty="0">
                <a:solidFill>
                  <a:schemeClr val="tx2"/>
                </a:solidFill>
              </a:rPr>
              <a:t>−</a:t>
            </a:r>
            <a:r>
              <a:rPr lang="en-US" sz="1200" dirty="0">
                <a:solidFill>
                  <a:schemeClr val="tx2"/>
                </a:solidFill>
              </a:rPr>
              <a:t>) stretching: asymmetric (ν</a:t>
            </a:r>
            <a:r>
              <a:rPr lang="en-US" sz="1200" baseline="-25000" dirty="0">
                <a:solidFill>
                  <a:schemeClr val="tx2"/>
                </a:solidFill>
              </a:rPr>
              <a:t>as</a:t>
            </a:r>
            <a:r>
              <a:rPr lang="en-US" sz="1200" dirty="0">
                <a:solidFill>
                  <a:schemeClr val="tx2"/>
                </a:solidFill>
              </a:rPr>
              <a:t>) and symmetric (ν</a:t>
            </a:r>
            <a:r>
              <a:rPr lang="en-US" sz="1200" baseline="-25000" dirty="0">
                <a:solidFill>
                  <a:schemeClr val="tx2"/>
                </a:solidFill>
              </a:rPr>
              <a:t>s</a:t>
            </a:r>
            <a:r>
              <a:rPr lang="en-US" sz="1200" dirty="0">
                <a:solidFill>
                  <a:schemeClr val="tx2"/>
                </a:solidFill>
              </a:rPr>
              <a:t>).</a:t>
            </a:r>
            <a:endParaRPr lang="en-US" sz="1200" dirty="0"/>
          </a:p>
          <a:p>
            <a:pPr marL="155448" indent="-155448" algn="l">
              <a:spcAft>
                <a:spcPts val="300"/>
              </a:spcAft>
              <a:buClr>
                <a:schemeClr val="accent3"/>
              </a:buClr>
              <a:buFont typeface="Arial"/>
              <a:buChar char="•"/>
            </a:pPr>
            <a:r>
              <a:rPr lang="en-US" sz="1200" dirty="0">
                <a:solidFill>
                  <a:schemeClr val="tx2"/>
                </a:solidFill>
              </a:rPr>
              <a:t>Strong COO</a:t>
            </a:r>
            <a:r>
              <a:rPr lang="en-US" sz="1200" baseline="30000" dirty="0">
                <a:solidFill>
                  <a:schemeClr val="tx2"/>
                </a:solidFill>
              </a:rPr>
              <a:t>−</a:t>
            </a:r>
            <a:r>
              <a:rPr lang="en-US" sz="1200" dirty="0">
                <a:solidFill>
                  <a:schemeClr val="tx2"/>
                </a:solidFill>
              </a:rPr>
              <a:t xml:space="preserve"> bands support the proposed carboxylate–metal coordination.</a:t>
            </a:r>
            <a:endParaRPr lang="en-US" sz="1200" dirty="0"/>
          </a:p>
        </p:txBody>
      </p:sp>
      <p:sp>
        <p:nvSpPr>
          <p:cNvPr id="31" name="Limitations card"/>
          <p:cNvSpPr/>
          <p:nvPr/>
        </p:nvSpPr>
        <p:spPr>
          <a:xfrm>
            <a:off x="5980176" y="4606544"/>
            <a:ext cx="5760720" cy="1446784"/>
          </a:xfrm>
          <a:prstGeom prst="roundRect">
            <a:avLst>
              <a:gd name="adj" fmla="val 3500"/>
            </a:avLst>
          </a:prstGeom>
          <a:solidFill>
            <a:schemeClr val="bg2"/>
          </a:solidFill>
          <a:ln w="12700">
            <a:solidFill>
              <a:schemeClr val="bg2"/>
            </a:solidFill>
            <a:prstDash val="solid"/>
          </a:ln>
        </p:spPr>
      </p:sp>
      <p:sp>
        <p:nvSpPr>
          <p:cNvPr id="32" name="Limitations label"/>
          <p:cNvSpPr txBox="1"/>
          <p:nvPr/>
        </p:nvSpPr>
        <p:spPr>
          <a:xfrm>
            <a:off x="6144768" y="4705858"/>
            <a:ext cx="5431536" cy="201168"/>
          </a:xfrm>
          <a:prstGeom prst="rect">
            <a:avLst/>
          </a:prstGeom>
          <a:noFill/>
          <a:ln/>
        </p:spPr>
        <p:txBody>
          <a:bodyPr wrap="square" lIns="0" tIns="0" rIns="0" bIns="0" rtlCol="0" anchor="ctr"/>
          <a:lstStyle/>
          <a:p>
            <a:pPr marL="0" indent="0" algn="l">
              <a:buNone/>
            </a:pPr>
            <a:r>
              <a:rPr lang="en-US" sz="1100" b="1" kern="0" spc="100" dirty="0">
                <a:solidFill>
                  <a:schemeClr val="accent5"/>
                </a:solidFill>
              </a:rPr>
              <a:t>LIMITATIONS</a:t>
            </a:r>
            <a:endParaRPr lang="en-US" sz="1100" dirty="0"/>
          </a:p>
        </p:txBody>
      </p:sp>
      <p:sp>
        <p:nvSpPr>
          <p:cNvPr id="33" name="Limitations text"/>
          <p:cNvSpPr txBox="1"/>
          <p:nvPr/>
        </p:nvSpPr>
        <p:spPr>
          <a:xfrm>
            <a:off x="6144768" y="4961890"/>
            <a:ext cx="5431536" cy="1065276"/>
          </a:xfrm>
          <a:prstGeom prst="rect">
            <a:avLst/>
          </a:prstGeom>
          <a:noFill/>
          <a:ln/>
        </p:spPr>
        <p:txBody>
          <a:bodyPr wrap="square" lIns="0" tIns="0" rIns="0" bIns="0" rtlCol="0" anchor="t"/>
          <a:lstStyle/>
          <a:p>
            <a:pPr marL="155448" indent="-155448" algn="l">
              <a:spcAft>
                <a:spcPts val="300"/>
              </a:spcAft>
              <a:buClr>
                <a:schemeClr val="accent5"/>
              </a:buClr>
              <a:buFont typeface="Arial"/>
              <a:buChar char="•"/>
            </a:pPr>
            <a:r>
              <a:rPr lang="en-US" sz="1200" dirty="0">
                <a:solidFill>
                  <a:schemeClr val="tx2"/>
                </a:solidFill>
              </a:rPr>
              <a:t>FTIR alone does not establish the full structure or a specific metal-node arrangement.</a:t>
            </a:r>
            <a:endParaRPr lang="en-US" sz="1200" dirty="0"/>
          </a:p>
          <a:p>
            <a:pPr marL="155448" indent="-155448" algn="l">
              <a:spcAft>
                <a:spcPts val="300"/>
              </a:spcAft>
              <a:buClr>
                <a:schemeClr val="accent5"/>
              </a:buClr>
              <a:buFont typeface="Arial"/>
              <a:buChar char="•"/>
            </a:pPr>
            <a:r>
              <a:rPr lang="en-US" sz="1200" dirty="0">
                <a:solidFill>
                  <a:schemeClr val="tx2"/>
                </a:solidFill>
              </a:rPr>
              <a:t>Check assignments against the free-linker spectrum; precise positions (Δν = ν</a:t>
            </a:r>
            <a:r>
              <a:rPr lang="en-US" sz="1200" baseline="-25000" dirty="0">
                <a:solidFill>
                  <a:schemeClr val="tx2"/>
                </a:solidFill>
              </a:rPr>
              <a:t>as</a:t>
            </a:r>
            <a:r>
              <a:rPr lang="en-US" sz="1200" dirty="0">
                <a:solidFill>
                  <a:schemeClr val="tx2"/>
                </a:solidFill>
              </a:rPr>
              <a:t xml:space="preserve"> − ν</a:t>
            </a:r>
            <a:r>
              <a:rPr lang="en-US" sz="1200" baseline="-25000" dirty="0">
                <a:solidFill>
                  <a:schemeClr val="tx2"/>
                </a:solidFill>
              </a:rPr>
              <a:t>s</a:t>
            </a:r>
            <a:r>
              <a:rPr lang="en-US" sz="1200" dirty="0">
                <a:solidFill>
                  <a:schemeClr val="tx2"/>
                </a:solidFill>
              </a:rPr>
              <a:t>) are needed to discuss the coordination mode.</a:t>
            </a:r>
            <a:endParaRPr lang="en-US" sz="1200" dirty="0"/>
          </a:p>
          <a:p>
            <a:pPr marL="155448" indent="-155448" algn="l">
              <a:spcAft>
                <a:spcPts val="300"/>
              </a:spcAft>
              <a:buClr>
                <a:schemeClr val="accent5"/>
              </a:buClr>
              <a:buFont typeface="Arial"/>
              <a:buChar char="•"/>
            </a:pPr>
            <a:r>
              <a:rPr lang="en-US" sz="1200" dirty="0">
                <a:solidFill>
                  <a:schemeClr val="tx2"/>
                </a:solidFill>
              </a:rPr>
              <a:t>FTIR does not measure CO₂ adsorption performance.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CO₂ Adsorption, Humidity and Regeneration</a:t>
            </a:r>
            <a:endParaRPr lang="en-US" sz="2600" dirty="0"/>
          </a:p>
        </p:txBody>
      </p:sp>
      <p:sp>
        <p:nvSpPr>
          <p:cNvPr id="4" name="Slide subtitle"/>
          <p:cNvSpPr txBox="1"/>
          <p:nvPr/>
        </p:nvSpPr>
        <p:spPr>
          <a:xfrm>
            <a:off x="448056" y="2212848"/>
            <a:ext cx="11292840" cy="237744"/>
          </a:xfrm>
          <a:prstGeom prst="rect">
            <a:avLst/>
          </a:prstGeom>
          <a:noFill/>
          <a:ln/>
        </p:spPr>
        <p:txBody>
          <a:bodyPr wrap="square" lIns="0" tIns="0" rIns="0" bIns="0" rtlCol="0" anchor="ctr"/>
          <a:lstStyle/>
          <a:p>
            <a:pPr marL="0" indent="0" algn="l">
              <a:buNone/>
            </a:pPr>
            <a:r>
              <a:rPr lang="en-US" sz="1300" b="1" dirty="0">
                <a:solidFill>
                  <a:schemeClr val="accent3"/>
                </a:solidFill>
              </a:rPr>
              <a:t xml:space="preserve">Status: </a:t>
            </a:r>
            <a:r>
              <a:rPr lang="en-US" sz="1300" i="1" dirty="0">
                <a:solidFill>
                  <a:schemeClr val="accent6"/>
                </a:solidFill>
              </a:rPr>
              <a:t>planned experimental workflow — not yet performed; no adsorption, humidity or regeneration results are reported.</a:t>
            </a:r>
            <a:endParaRPr lang="en-US" sz="1300" dirty="0"/>
          </a:p>
        </p:txBody>
      </p:sp>
      <p:sp>
        <p:nvSpPr>
          <p:cNvPr id="5" name="Stage 1"/>
          <p:cNvSpPr/>
          <p:nvPr/>
        </p:nvSpPr>
        <p:spPr>
          <a:xfrm>
            <a:off x="448056" y="2560320"/>
            <a:ext cx="2551176" cy="1481328"/>
          </a:xfrm>
          <a:prstGeom prst="roundRect">
            <a:avLst>
              <a:gd name="adj" fmla="val 6061"/>
            </a:avLst>
          </a:prstGeom>
          <a:solidFill>
            <a:schemeClr val="bg2"/>
          </a:solidFill>
          <a:ln w="15875">
            <a:solidFill>
              <a:schemeClr val="accent3"/>
            </a:solidFill>
            <a:prstDash val="solid"/>
          </a:ln>
        </p:spPr>
      </p:sp>
      <p:sp>
        <p:nvSpPr>
          <p:cNvPr id="6" name="Stage 1 number"/>
          <p:cNvSpPr/>
          <p:nvPr/>
        </p:nvSpPr>
        <p:spPr>
          <a:xfrm>
            <a:off x="594360" y="2697480"/>
            <a:ext cx="347472" cy="347472"/>
          </a:xfrm>
          <a:prstGeom prst="ellipse">
            <a:avLst/>
          </a:prstGeom>
          <a:solidFill>
            <a:schemeClr val="accent3"/>
          </a:solidFill>
          <a:ln w="12700">
            <a:solidFill>
              <a:schemeClr val="accent3"/>
            </a:solidFill>
            <a:prstDash val="solid"/>
          </a:ln>
        </p:spPr>
      </p:sp>
      <p:sp>
        <p:nvSpPr>
          <p:cNvPr id="7" name="Stage 1 number label"/>
          <p:cNvSpPr txBox="1"/>
          <p:nvPr/>
        </p:nvSpPr>
        <p:spPr>
          <a:xfrm>
            <a:off x="594360" y="2697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8" name="Stage 1 title"/>
          <p:cNvSpPr txBox="1"/>
          <p:nvPr/>
        </p:nvSpPr>
        <p:spPr>
          <a:xfrm>
            <a:off x="1033272" y="2697480"/>
            <a:ext cx="1856232" cy="347472"/>
          </a:xfrm>
          <a:prstGeom prst="rect">
            <a:avLst/>
          </a:prstGeom>
          <a:noFill/>
          <a:ln/>
        </p:spPr>
        <p:txBody>
          <a:bodyPr wrap="square" lIns="0" tIns="0" rIns="0" bIns="0" rtlCol="0" anchor="ctr"/>
          <a:lstStyle/>
          <a:p>
            <a:pPr marL="0" indent="0" algn="l">
              <a:buNone/>
            </a:pPr>
            <a:r>
              <a:rPr lang="en-US" sz="1400" b="1" dirty="0">
                <a:solidFill>
                  <a:schemeClr val="accent3"/>
                </a:solidFill>
              </a:rPr>
              <a:t>CO₂ Adsorption</a:t>
            </a:r>
            <a:endParaRPr lang="en-US" sz="1400" dirty="0"/>
          </a:p>
        </p:txBody>
      </p:sp>
      <p:sp>
        <p:nvSpPr>
          <p:cNvPr id="9" name="Stage 1 text"/>
          <p:cNvSpPr txBox="1"/>
          <p:nvPr/>
        </p:nvSpPr>
        <p:spPr>
          <a:xfrm>
            <a:off x="594360" y="3136392"/>
            <a:ext cx="2276856" cy="566928"/>
          </a:xfrm>
          <a:prstGeom prst="rect">
            <a:avLst/>
          </a:prstGeom>
          <a:noFill/>
          <a:ln/>
        </p:spPr>
        <p:txBody>
          <a:bodyPr wrap="square" lIns="0" tIns="0" rIns="0" bIns="0" rtlCol="0" anchor="t"/>
          <a:lstStyle/>
          <a:p>
            <a:pPr marL="0" indent="0" algn="l">
              <a:buNone/>
            </a:pPr>
            <a:r>
              <a:rPr lang="en-US" sz="1200" dirty="0">
                <a:solidFill>
                  <a:schemeClr val="tx2"/>
                </a:solidFill>
              </a:rPr>
              <a:t>Evaluate CO₂ uptake under defined experimental conditions.</a:t>
            </a:r>
            <a:endParaRPr lang="en-US" sz="1200" dirty="0"/>
          </a:p>
        </p:txBody>
      </p:sp>
      <p:sp>
        <p:nvSpPr>
          <p:cNvPr id="10" name="Stage 1 status"/>
          <p:cNvSpPr/>
          <p:nvPr/>
        </p:nvSpPr>
        <p:spPr>
          <a:xfrm>
            <a:off x="594360" y="3730752"/>
            <a:ext cx="731520" cy="219456"/>
          </a:xfrm>
          <a:prstGeom prst="roundRect">
            <a:avLst>
              <a:gd name="adj" fmla="val 50000"/>
            </a:avLst>
          </a:prstGeom>
          <a:solidFill>
            <a:srgbClr val="FFFFFF"/>
          </a:solidFill>
          <a:ln w="12700">
            <a:solidFill>
              <a:schemeClr val="accent6"/>
            </a:solidFill>
            <a:prstDash val="solid"/>
          </a:ln>
        </p:spPr>
      </p:sp>
      <p:sp>
        <p:nvSpPr>
          <p:cNvPr id="11" name="Stage 1 status label"/>
          <p:cNvSpPr txBox="1"/>
          <p:nvPr/>
        </p:nvSpPr>
        <p:spPr>
          <a:xfrm>
            <a:off x="594360" y="3730752"/>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2" name="Stage arrow 1"/>
          <p:cNvSpPr/>
          <p:nvPr/>
        </p:nvSpPr>
        <p:spPr>
          <a:xfrm>
            <a:off x="3054096" y="3300984"/>
            <a:ext cx="256032" cy="0"/>
          </a:xfrm>
          <a:prstGeom prst="line">
            <a:avLst/>
          </a:prstGeom>
          <a:noFill/>
          <a:ln w="28575">
            <a:solidFill>
              <a:schemeClr val="accent3"/>
            </a:solidFill>
            <a:prstDash val="solid"/>
            <a:tailEnd type="triangle"/>
          </a:ln>
        </p:spPr>
      </p:sp>
      <p:sp>
        <p:nvSpPr>
          <p:cNvPr id="13" name="Stage 2"/>
          <p:cNvSpPr/>
          <p:nvPr/>
        </p:nvSpPr>
        <p:spPr>
          <a:xfrm>
            <a:off x="3364992" y="2560320"/>
            <a:ext cx="2551176" cy="1481328"/>
          </a:xfrm>
          <a:prstGeom prst="roundRect">
            <a:avLst>
              <a:gd name="adj" fmla="val 6061"/>
            </a:avLst>
          </a:prstGeom>
          <a:solidFill>
            <a:schemeClr val="bg2"/>
          </a:solidFill>
          <a:ln w="15875">
            <a:solidFill>
              <a:schemeClr val="accent3"/>
            </a:solidFill>
            <a:prstDash val="solid"/>
          </a:ln>
        </p:spPr>
      </p:sp>
      <p:sp>
        <p:nvSpPr>
          <p:cNvPr id="14" name="Stage 2 number"/>
          <p:cNvSpPr/>
          <p:nvPr/>
        </p:nvSpPr>
        <p:spPr>
          <a:xfrm>
            <a:off x="3511296" y="2697480"/>
            <a:ext cx="347472" cy="347472"/>
          </a:xfrm>
          <a:prstGeom prst="ellipse">
            <a:avLst/>
          </a:prstGeom>
          <a:solidFill>
            <a:schemeClr val="accent3"/>
          </a:solidFill>
          <a:ln w="12700">
            <a:solidFill>
              <a:schemeClr val="accent3"/>
            </a:solidFill>
            <a:prstDash val="solid"/>
          </a:ln>
        </p:spPr>
      </p:sp>
      <p:sp>
        <p:nvSpPr>
          <p:cNvPr id="15" name="Stage 2 number label"/>
          <p:cNvSpPr txBox="1"/>
          <p:nvPr/>
        </p:nvSpPr>
        <p:spPr>
          <a:xfrm>
            <a:off x="3511296" y="2697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6" name="Stage 2 title"/>
          <p:cNvSpPr txBox="1"/>
          <p:nvPr/>
        </p:nvSpPr>
        <p:spPr>
          <a:xfrm>
            <a:off x="3950208" y="2697480"/>
            <a:ext cx="1856232" cy="347472"/>
          </a:xfrm>
          <a:prstGeom prst="rect">
            <a:avLst/>
          </a:prstGeom>
          <a:noFill/>
          <a:ln/>
        </p:spPr>
        <p:txBody>
          <a:bodyPr wrap="square" lIns="0" tIns="0" rIns="0" bIns="0" rtlCol="0" anchor="ctr"/>
          <a:lstStyle/>
          <a:p>
            <a:pPr marL="0" indent="0" algn="l">
              <a:buNone/>
            </a:pPr>
            <a:r>
              <a:rPr lang="en-US" sz="1400" b="1" dirty="0">
                <a:solidFill>
                  <a:schemeClr val="accent3"/>
                </a:solidFill>
              </a:rPr>
              <a:t>Humidity Effect</a:t>
            </a:r>
            <a:endParaRPr lang="en-US" sz="1400" dirty="0"/>
          </a:p>
        </p:txBody>
      </p:sp>
      <p:sp>
        <p:nvSpPr>
          <p:cNvPr id="17" name="Stage 2 text"/>
          <p:cNvSpPr txBox="1"/>
          <p:nvPr/>
        </p:nvSpPr>
        <p:spPr>
          <a:xfrm>
            <a:off x="3511296" y="3136392"/>
            <a:ext cx="2276856" cy="566928"/>
          </a:xfrm>
          <a:prstGeom prst="rect">
            <a:avLst/>
          </a:prstGeom>
          <a:noFill/>
          <a:ln/>
        </p:spPr>
        <p:txBody>
          <a:bodyPr wrap="square" lIns="0" tIns="0" rIns="0" bIns="0" rtlCol="0" anchor="t"/>
          <a:lstStyle/>
          <a:p>
            <a:pPr marL="0" indent="0" algn="l">
              <a:buNone/>
            </a:pPr>
            <a:r>
              <a:rPr lang="en-US" sz="1200" dirty="0">
                <a:solidFill>
                  <a:schemeClr val="tx2"/>
                </a:solidFill>
              </a:rPr>
              <a:t>Compare dry and humid conditions while controlling other relevant variables.</a:t>
            </a:r>
            <a:endParaRPr lang="en-US" sz="1200" dirty="0"/>
          </a:p>
        </p:txBody>
      </p:sp>
      <p:sp>
        <p:nvSpPr>
          <p:cNvPr id="18" name="Stage 2 status"/>
          <p:cNvSpPr/>
          <p:nvPr/>
        </p:nvSpPr>
        <p:spPr>
          <a:xfrm>
            <a:off x="3511296" y="3730752"/>
            <a:ext cx="731520" cy="219456"/>
          </a:xfrm>
          <a:prstGeom prst="roundRect">
            <a:avLst>
              <a:gd name="adj" fmla="val 50000"/>
            </a:avLst>
          </a:prstGeom>
          <a:solidFill>
            <a:srgbClr val="FFFFFF"/>
          </a:solidFill>
          <a:ln w="12700">
            <a:solidFill>
              <a:schemeClr val="accent6"/>
            </a:solidFill>
            <a:prstDash val="solid"/>
          </a:ln>
        </p:spPr>
      </p:sp>
      <p:sp>
        <p:nvSpPr>
          <p:cNvPr id="19" name="Stage 2 status label"/>
          <p:cNvSpPr txBox="1"/>
          <p:nvPr/>
        </p:nvSpPr>
        <p:spPr>
          <a:xfrm>
            <a:off x="3511296" y="3730752"/>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20" name="Condition Dry"/>
          <p:cNvSpPr/>
          <p:nvPr/>
        </p:nvSpPr>
        <p:spPr>
          <a:xfrm>
            <a:off x="4389120" y="3730752"/>
            <a:ext cx="512064" cy="219456"/>
          </a:xfrm>
          <a:prstGeom prst="roundRect">
            <a:avLst>
              <a:gd name="adj" fmla="val 50000"/>
            </a:avLst>
          </a:prstGeom>
          <a:solidFill>
            <a:srgbClr val="FFF0E6"/>
          </a:solidFill>
          <a:ln w="12700">
            <a:solidFill>
              <a:schemeClr val="accent2"/>
            </a:solidFill>
            <a:prstDash val="solid"/>
          </a:ln>
        </p:spPr>
      </p:sp>
      <p:sp>
        <p:nvSpPr>
          <p:cNvPr id="21" name="Condition Dry label"/>
          <p:cNvSpPr txBox="1"/>
          <p:nvPr/>
        </p:nvSpPr>
        <p:spPr>
          <a:xfrm>
            <a:off x="4389120" y="3730752"/>
            <a:ext cx="512064" cy="219456"/>
          </a:xfrm>
          <a:prstGeom prst="rect">
            <a:avLst/>
          </a:prstGeom>
          <a:noFill/>
          <a:ln/>
        </p:spPr>
        <p:txBody>
          <a:bodyPr wrap="square" lIns="0" tIns="0" rIns="0" bIns="0" rtlCol="0" anchor="ctr"/>
          <a:lstStyle/>
          <a:p>
            <a:pPr marL="0" indent="0" algn="ctr">
              <a:buNone/>
            </a:pPr>
            <a:r>
              <a:rPr lang="en-US" sz="1050" b="1" dirty="0">
                <a:solidFill>
                  <a:srgbClr val="B8531A"/>
                </a:solidFill>
              </a:rPr>
              <a:t>Dry</a:t>
            </a:r>
            <a:endParaRPr lang="en-US" sz="1050" dirty="0"/>
          </a:p>
        </p:txBody>
      </p:sp>
      <p:sp>
        <p:nvSpPr>
          <p:cNvPr id="22" name="Condition Humid"/>
          <p:cNvSpPr/>
          <p:nvPr/>
        </p:nvSpPr>
        <p:spPr>
          <a:xfrm>
            <a:off x="5148072" y="3730752"/>
            <a:ext cx="658368" cy="219456"/>
          </a:xfrm>
          <a:prstGeom prst="roundRect">
            <a:avLst>
              <a:gd name="adj" fmla="val 50000"/>
            </a:avLst>
          </a:prstGeom>
          <a:solidFill>
            <a:srgbClr val="E8F1FB"/>
          </a:solidFill>
          <a:ln w="12700">
            <a:solidFill>
              <a:schemeClr val="accent4"/>
            </a:solidFill>
            <a:prstDash val="solid"/>
          </a:ln>
        </p:spPr>
      </p:sp>
      <p:sp>
        <p:nvSpPr>
          <p:cNvPr id="23" name="Condition Humid label"/>
          <p:cNvSpPr txBox="1"/>
          <p:nvPr/>
        </p:nvSpPr>
        <p:spPr>
          <a:xfrm>
            <a:off x="5148072" y="3730752"/>
            <a:ext cx="658368" cy="219456"/>
          </a:xfrm>
          <a:prstGeom prst="rect">
            <a:avLst/>
          </a:prstGeom>
          <a:noFill/>
          <a:ln/>
        </p:spPr>
        <p:txBody>
          <a:bodyPr wrap="square" lIns="0" tIns="0" rIns="0" bIns="0" rtlCol="0" anchor="ctr"/>
          <a:lstStyle/>
          <a:p>
            <a:pPr marL="0" indent="0" algn="ctr">
              <a:buNone/>
            </a:pPr>
            <a:r>
              <a:rPr lang="en-US" sz="1050" b="1" dirty="0">
                <a:solidFill>
                  <a:srgbClr val="2A6BB0"/>
                </a:solidFill>
              </a:rPr>
              <a:t>Humid</a:t>
            </a:r>
            <a:endParaRPr lang="en-US" sz="1050" dirty="0"/>
          </a:p>
        </p:txBody>
      </p:sp>
      <p:sp>
        <p:nvSpPr>
          <p:cNvPr id="24" name="Condition vs"/>
          <p:cNvSpPr txBox="1"/>
          <p:nvPr/>
        </p:nvSpPr>
        <p:spPr>
          <a:xfrm>
            <a:off x="4901184" y="3730752"/>
            <a:ext cx="246888" cy="219456"/>
          </a:xfrm>
          <a:prstGeom prst="rect">
            <a:avLst/>
          </a:prstGeom>
          <a:noFill/>
          <a:ln/>
        </p:spPr>
        <p:txBody>
          <a:bodyPr wrap="square" lIns="0" tIns="0" rIns="0" bIns="0" rtlCol="0" anchor="ctr"/>
          <a:lstStyle/>
          <a:p>
            <a:pPr marL="0" indent="0" algn="ctr">
              <a:buNone/>
            </a:pPr>
            <a:r>
              <a:rPr lang="en-US" sz="1000" b="1" dirty="0">
                <a:solidFill>
                  <a:schemeClr val="accent6"/>
                </a:solidFill>
              </a:rPr>
              <a:t>vs</a:t>
            </a:r>
            <a:endParaRPr lang="en-US" sz="1000" dirty="0"/>
          </a:p>
        </p:txBody>
      </p:sp>
      <p:sp>
        <p:nvSpPr>
          <p:cNvPr id="25" name="Stage arrow 2"/>
          <p:cNvSpPr/>
          <p:nvPr/>
        </p:nvSpPr>
        <p:spPr>
          <a:xfrm>
            <a:off x="5971032" y="3300984"/>
            <a:ext cx="256032" cy="0"/>
          </a:xfrm>
          <a:prstGeom prst="line">
            <a:avLst/>
          </a:prstGeom>
          <a:noFill/>
          <a:ln w="28575">
            <a:solidFill>
              <a:schemeClr val="accent3"/>
            </a:solidFill>
            <a:prstDash val="solid"/>
            <a:tailEnd type="triangle"/>
          </a:ln>
        </p:spPr>
      </p:sp>
      <p:sp>
        <p:nvSpPr>
          <p:cNvPr id="26" name="Stage 3"/>
          <p:cNvSpPr/>
          <p:nvPr/>
        </p:nvSpPr>
        <p:spPr>
          <a:xfrm>
            <a:off x="6281928" y="2560320"/>
            <a:ext cx="2551176" cy="1481328"/>
          </a:xfrm>
          <a:prstGeom prst="roundRect">
            <a:avLst>
              <a:gd name="adj" fmla="val 6061"/>
            </a:avLst>
          </a:prstGeom>
          <a:solidFill>
            <a:schemeClr val="bg2"/>
          </a:solidFill>
          <a:ln w="15875">
            <a:solidFill>
              <a:schemeClr val="accent3"/>
            </a:solidFill>
            <a:prstDash val="solid"/>
          </a:ln>
        </p:spPr>
      </p:sp>
      <p:sp>
        <p:nvSpPr>
          <p:cNvPr id="27" name="Stage 3 number"/>
          <p:cNvSpPr/>
          <p:nvPr/>
        </p:nvSpPr>
        <p:spPr>
          <a:xfrm>
            <a:off x="6428232" y="2697480"/>
            <a:ext cx="347472" cy="347472"/>
          </a:xfrm>
          <a:prstGeom prst="ellipse">
            <a:avLst/>
          </a:prstGeom>
          <a:solidFill>
            <a:schemeClr val="accent3"/>
          </a:solidFill>
          <a:ln w="12700">
            <a:solidFill>
              <a:schemeClr val="accent3"/>
            </a:solidFill>
            <a:prstDash val="solid"/>
          </a:ln>
        </p:spPr>
      </p:sp>
      <p:sp>
        <p:nvSpPr>
          <p:cNvPr id="28" name="Stage 3 number label"/>
          <p:cNvSpPr txBox="1"/>
          <p:nvPr/>
        </p:nvSpPr>
        <p:spPr>
          <a:xfrm>
            <a:off x="6428232" y="2697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29" name="Stage 3 title"/>
          <p:cNvSpPr txBox="1"/>
          <p:nvPr/>
        </p:nvSpPr>
        <p:spPr>
          <a:xfrm>
            <a:off x="6867144" y="2697480"/>
            <a:ext cx="1856232" cy="347472"/>
          </a:xfrm>
          <a:prstGeom prst="rect">
            <a:avLst/>
          </a:prstGeom>
          <a:noFill/>
          <a:ln/>
        </p:spPr>
        <p:txBody>
          <a:bodyPr wrap="square" lIns="0" tIns="0" rIns="0" bIns="0" rtlCol="0" anchor="ctr"/>
          <a:lstStyle/>
          <a:p>
            <a:pPr marL="0" indent="0" algn="l">
              <a:buNone/>
            </a:pPr>
            <a:r>
              <a:rPr lang="en-US" sz="1400" b="1" dirty="0">
                <a:solidFill>
                  <a:schemeClr val="accent3"/>
                </a:solidFill>
              </a:rPr>
              <a:t>Regeneration</a:t>
            </a:r>
            <a:endParaRPr lang="en-US" sz="1400" dirty="0"/>
          </a:p>
        </p:txBody>
      </p:sp>
      <p:sp>
        <p:nvSpPr>
          <p:cNvPr id="30" name="Stage 3 text"/>
          <p:cNvSpPr txBox="1"/>
          <p:nvPr/>
        </p:nvSpPr>
        <p:spPr>
          <a:xfrm>
            <a:off x="6428232" y="3136392"/>
            <a:ext cx="2276856" cy="566928"/>
          </a:xfrm>
          <a:prstGeom prst="rect">
            <a:avLst/>
          </a:prstGeom>
          <a:noFill/>
          <a:ln/>
        </p:spPr>
        <p:txBody>
          <a:bodyPr wrap="square" lIns="0" tIns="0" rIns="0" bIns="0" rtlCol="0" anchor="t"/>
          <a:lstStyle/>
          <a:p>
            <a:pPr marL="0" indent="0" algn="l">
              <a:buNone/>
            </a:pPr>
            <a:r>
              <a:rPr lang="en-US" sz="1200" dirty="0">
                <a:solidFill>
                  <a:schemeClr val="tx2"/>
                </a:solidFill>
              </a:rPr>
              <a:t>Assess CO₂ release and recovery of the material.</a:t>
            </a:r>
            <a:endParaRPr lang="en-US" sz="1200" dirty="0"/>
          </a:p>
        </p:txBody>
      </p:sp>
      <p:sp>
        <p:nvSpPr>
          <p:cNvPr id="31" name="Stage 3 status"/>
          <p:cNvSpPr/>
          <p:nvPr/>
        </p:nvSpPr>
        <p:spPr>
          <a:xfrm>
            <a:off x="6428232" y="3730752"/>
            <a:ext cx="731520" cy="219456"/>
          </a:xfrm>
          <a:prstGeom prst="roundRect">
            <a:avLst>
              <a:gd name="adj" fmla="val 50000"/>
            </a:avLst>
          </a:prstGeom>
          <a:solidFill>
            <a:srgbClr val="FFFFFF"/>
          </a:solidFill>
          <a:ln w="12700">
            <a:solidFill>
              <a:schemeClr val="accent6"/>
            </a:solidFill>
            <a:prstDash val="solid"/>
          </a:ln>
        </p:spPr>
      </p:sp>
      <p:sp>
        <p:nvSpPr>
          <p:cNvPr id="32" name="Stage 3 status label"/>
          <p:cNvSpPr txBox="1"/>
          <p:nvPr/>
        </p:nvSpPr>
        <p:spPr>
          <a:xfrm>
            <a:off x="6428232" y="3730752"/>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33" name="Stage arrow 3"/>
          <p:cNvSpPr/>
          <p:nvPr/>
        </p:nvSpPr>
        <p:spPr>
          <a:xfrm>
            <a:off x="8887968" y="3300984"/>
            <a:ext cx="256032" cy="0"/>
          </a:xfrm>
          <a:prstGeom prst="line">
            <a:avLst/>
          </a:prstGeom>
          <a:noFill/>
          <a:ln w="28575">
            <a:solidFill>
              <a:schemeClr val="accent3"/>
            </a:solidFill>
            <a:prstDash val="solid"/>
            <a:tailEnd type="triangle"/>
          </a:ln>
        </p:spPr>
      </p:sp>
      <p:sp>
        <p:nvSpPr>
          <p:cNvPr id="34" name="Stage 4"/>
          <p:cNvSpPr/>
          <p:nvPr/>
        </p:nvSpPr>
        <p:spPr>
          <a:xfrm>
            <a:off x="9198864" y="2560320"/>
            <a:ext cx="2551176" cy="1481328"/>
          </a:xfrm>
          <a:prstGeom prst="roundRect">
            <a:avLst>
              <a:gd name="adj" fmla="val 6061"/>
            </a:avLst>
          </a:prstGeom>
          <a:solidFill>
            <a:schemeClr val="bg2"/>
          </a:solidFill>
          <a:ln w="15875">
            <a:solidFill>
              <a:schemeClr val="accent3"/>
            </a:solidFill>
            <a:prstDash val="solid"/>
          </a:ln>
        </p:spPr>
      </p:sp>
      <p:sp>
        <p:nvSpPr>
          <p:cNvPr id="35" name="Stage 4 number"/>
          <p:cNvSpPr/>
          <p:nvPr/>
        </p:nvSpPr>
        <p:spPr>
          <a:xfrm>
            <a:off x="9345168" y="2697480"/>
            <a:ext cx="347472" cy="347472"/>
          </a:xfrm>
          <a:prstGeom prst="ellipse">
            <a:avLst/>
          </a:prstGeom>
          <a:solidFill>
            <a:schemeClr val="accent3"/>
          </a:solidFill>
          <a:ln w="12700">
            <a:solidFill>
              <a:schemeClr val="accent3"/>
            </a:solidFill>
            <a:prstDash val="solid"/>
          </a:ln>
        </p:spPr>
      </p:sp>
      <p:sp>
        <p:nvSpPr>
          <p:cNvPr id="36" name="Stage 4 number label"/>
          <p:cNvSpPr txBox="1"/>
          <p:nvPr/>
        </p:nvSpPr>
        <p:spPr>
          <a:xfrm>
            <a:off x="9345168" y="2697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37" name="Stage 4 title"/>
          <p:cNvSpPr txBox="1"/>
          <p:nvPr/>
        </p:nvSpPr>
        <p:spPr>
          <a:xfrm>
            <a:off x="9784080" y="2697480"/>
            <a:ext cx="1856232" cy="347472"/>
          </a:xfrm>
          <a:prstGeom prst="rect">
            <a:avLst/>
          </a:prstGeom>
          <a:noFill/>
          <a:ln/>
        </p:spPr>
        <p:txBody>
          <a:bodyPr wrap="square" lIns="0" tIns="0" rIns="0" bIns="0" rtlCol="0" anchor="ctr"/>
          <a:lstStyle/>
          <a:p>
            <a:pPr marL="0" indent="0" algn="l">
              <a:buNone/>
            </a:pPr>
            <a:r>
              <a:rPr lang="en-US" sz="1400" b="1" dirty="0">
                <a:solidFill>
                  <a:schemeClr val="accent3"/>
                </a:solidFill>
              </a:rPr>
              <a:t>Cycling Performance</a:t>
            </a:r>
            <a:endParaRPr lang="en-US" sz="1400" dirty="0"/>
          </a:p>
        </p:txBody>
      </p:sp>
      <p:sp>
        <p:nvSpPr>
          <p:cNvPr id="38" name="Stage 4 text"/>
          <p:cNvSpPr txBox="1"/>
          <p:nvPr/>
        </p:nvSpPr>
        <p:spPr>
          <a:xfrm>
            <a:off x="9345168" y="3136392"/>
            <a:ext cx="2276856" cy="566928"/>
          </a:xfrm>
          <a:prstGeom prst="rect">
            <a:avLst/>
          </a:prstGeom>
          <a:noFill/>
          <a:ln/>
        </p:spPr>
        <p:txBody>
          <a:bodyPr wrap="square" lIns="0" tIns="0" rIns="0" bIns="0" rtlCol="0" anchor="t"/>
          <a:lstStyle/>
          <a:p>
            <a:pPr marL="0" indent="0" algn="l">
              <a:buNone/>
            </a:pPr>
            <a:r>
              <a:rPr lang="en-US" sz="1200" dirty="0">
                <a:solidFill>
                  <a:schemeClr val="tx2"/>
                </a:solidFill>
              </a:rPr>
              <a:t>Investigate whether capture performance is maintained over repeated cycles.</a:t>
            </a:r>
            <a:endParaRPr lang="en-US" sz="1200" dirty="0"/>
          </a:p>
        </p:txBody>
      </p:sp>
      <p:sp>
        <p:nvSpPr>
          <p:cNvPr id="39" name="Stage 4 status"/>
          <p:cNvSpPr/>
          <p:nvPr/>
        </p:nvSpPr>
        <p:spPr>
          <a:xfrm>
            <a:off x="9345168" y="3730752"/>
            <a:ext cx="731520" cy="219456"/>
          </a:xfrm>
          <a:prstGeom prst="roundRect">
            <a:avLst>
              <a:gd name="adj" fmla="val 50000"/>
            </a:avLst>
          </a:prstGeom>
          <a:solidFill>
            <a:srgbClr val="FFFFFF"/>
          </a:solidFill>
          <a:ln w="12700">
            <a:solidFill>
              <a:schemeClr val="accent6"/>
            </a:solidFill>
            <a:prstDash val="solid"/>
          </a:ln>
        </p:spPr>
      </p:sp>
      <p:sp>
        <p:nvSpPr>
          <p:cNvPr id="40" name="Stage 4 status label"/>
          <p:cNvSpPr txBox="1"/>
          <p:nvPr/>
        </p:nvSpPr>
        <p:spPr>
          <a:xfrm>
            <a:off x="9345168" y="3730752"/>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41" name="Loop down"/>
          <p:cNvSpPr/>
          <p:nvPr/>
        </p:nvSpPr>
        <p:spPr>
          <a:xfrm>
            <a:off x="10474452" y="4041648"/>
            <a:ext cx="0" cy="237744"/>
          </a:xfrm>
          <a:prstGeom prst="line">
            <a:avLst/>
          </a:prstGeom>
          <a:noFill/>
          <a:ln w="19050">
            <a:solidFill>
              <a:schemeClr val="accent6"/>
            </a:solidFill>
            <a:prstDash val="dash"/>
          </a:ln>
        </p:spPr>
      </p:sp>
      <p:sp>
        <p:nvSpPr>
          <p:cNvPr id="42" name="Loop across"/>
          <p:cNvSpPr/>
          <p:nvPr/>
        </p:nvSpPr>
        <p:spPr>
          <a:xfrm flipH="1">
            <a:off x="1723644" y="4279392"/>
            <a:ext cx="8750808" cy="0"/>
          </a:xfrm>
          <a:prstGeom prst="line">
            <a:avLst/>
          </a:prstGeom>
          <a:noFill/>
          <a:ln w="19050">
            <a:solidFill>
              <a:schemeClr val="accent6"/>
            </a:solidFill>
            <a:prstDash val="dash"/>
          </a:ln>
        </p:spPr>
      </p:sp>
      <p:sp>
        <p:nvSpPr>
          <p:cNvPr id="43" name="Loop up"/>
          <p:cNvSpPr/>
          <p:nvPr/>
        </p:nvSpPr>
        <p:spPr>
          <a:xfrm flipV="1">
            <a:off x="1723644" y="4041648"/>
            <a:ext cx="0" cy="237744"/>
          </a:xfrm>
          <a:prstGeom prst="line">
            <a:avLst/>
          </a:prstGeom>
          <a:noFill/>
          <a:ln w="19050">
            <a:solidFill>
              <a:schemeClr val="accent6"/>
            </a:solidFill>
            <a:prstDash val="dash"/>
            <a:tailEnd type="triangle"/>
          </a:ln>
        </p:spPr>
      </p:sp>
      <p:sp>
        <p:nvSpPr>
          <p:cNvPr id="44" name="Loop label"/>
          <p:cNvSpPr txBox="1"/>
          <p:nvPr/>
        </p:nvSpPr>
        <p:spPr>
          <a:xfrm>
            <a:off x="3813048" y="4169664"/>
            <a:ext cx="4572000" cy="219456"/>
          </a:xfrm>
          <a:prstGeom prst="rect">
            <a:avLst/>
          </a:prstGeom>
          <a:solidFill>
            <a:srgbClr val="FFFFFF"/>
          </a:solidFill>
          <a:ln>
            <a:noFill/>
          </a:ln>
        </p:spPr>
        <p:txBody>
          <a:bodyPr wrap="square" lIns="0" tIns="0" rIns="0" bIns="0" rtlCol="0" anchor="ctr"/>
          <a:lstStyle/>
          <a:p>
            <a:pPr marL="0" indent="0" algn="ctr">
              <a:buNone/>
            </a:pPr>
            <a:r>
              <a:rPr lang="en-US" sz="1100" b="1" i="1" dirty="0">
                <a:solidFill>
                  <a:schemeClr val="accent6"/>
                </a:solidFill>
              </a:rPr>
              <a:t>Repeated adsorption–regeneration cycles (planned)</a:t>
            </a:r>
            <a:endParaRPr lang="en-US" sz="1100" dirty="0"/>
          </a:p>
        </p:txBody>
      </p:sp>
      <p:sp>
        <p:nvSpPr>
          <p:cNvPr id="45" name="Rationale card 1"/>
          <p:cNvSpPr/>
          <p:nvPr/>
        </p:nvSpPr>
        <p:spPr>
          <a:xfrm>
            <a:off x="448056" y="4443984"/>
            <a:ext cx="3642360" cy="1609344"/>
          </a:xfrm>
          <a:prstGeom prst="roundRect">
            <a:avLst>
              <a:gd name="adj" fmla="val 3500"/>
            </a:avLst>
          </a:prstGeom>
          <a:solidFill>
            <a:schemeClr val="bg2"/>
          </a:solidFill>
          <a:ln w="12700">
            <a:solidFill>
              <a:schemeClr val="bg2"/>
            </a:solidFill>
            <a:prstDash val="solid"/>
          </a:ln>
        </p:spPr>
      </p:sp>
      <p:sp>
        <p:nvSpPr>
          <p:cNvPr id="46" name="Rationale label 1"/>
          <p:cNvSpPr txBox="1"/>
          <p:nvPr/>
        </p:nvSpPr>
        <p:spPr>
          <a:xfrm>
            <a:off x="612648" y="4535424"/>
            <a:ext cx="3313176" cy="201168"/>
          </a:xfrm>
          <a:prstGeom prst="rect">
            <a:avLst/>
          </a:prstGeom>
          <a:noFill/>
          <a:ln/>
        </p:spPr>
        <p:txBody>
          <a:bodyPr wrap="square" lIns="0" tIns="0" rIns="0" bIns="0" rtlCol="0" anchor="ctr"/>
          <a:lstStyle/>
          <a:p>
            <a:pPr marL="0" indent="0" algn="l">
              <a:buNone/>
            </a:pPr>
            <a:r>
              <a:rPr lang="en-US" sz="1100" b="1" kern="0" spc="100" dirty="0">
                <a:solidFill>
                  <a:srgbClr val="2A6BB0"/>
                </a:solidFill>
              </a:rPr>
              <a:t>WHY HUMIDITY MATTERS FOR DAC</a:t>
            </a:r>
            <a:endParaRPr lang="en-US" sz="1100" dirty="0"/>
          </a:p>
        </p:txBody>
      </p:sp>
      <p:sp>
        <p:nvSpPr>
          <p:cNvPr id="47" name="Rationale text 1"/>
          <p:cNvSpPr txBox="1"/>
          <p:nvPr/>
        </p:nvSpPr>
        <p:spPr>
          <a:xfrm>
            <a:off x="612648" y="4809744"/>
            <a:ext cx="3313176" cy="1170432"/>
          </a:xfrm>
          <a:prstGeom prst="rect">
            <a:avLst/>
          </a:prstGeom>
          <a:noFill/>
          <a:ln/>
        </p:spPr>
        <p:txBody>
          <a:bodyPr wrap="square" lIns="0" tIns="0" rIns="0" bIns="0" rtlCol="0" anchor="t"/>
          <a:lstStyle/>
          <a:p>
            <a:pPr marL="0" indent="0" algn="l">
              <a:buNone/>
            </a:pPr>
            <a:r>
              <a:rPr lang="en-US" sz="1200" dirty="0">
                <a:solidFill>
                  <a:schemeClr val="tx2"/>
                </a:solidFill>
              </a:rPr>
              <a:t>Water vapor is always present in ambient air. It may compete with CO₂ for adsorption sites, alter CO₂ binding or affect framework stability, so its effect must be measured, not assumed.</a:t>
            </a:r>
            <a:endParaRPr lang="en-US" sz="1200" dirty="0"/>
          </a:p>
        </p:txBody>
      </p:sp>
      <p:sp>
        <p:nvSpPr>
          <p:cNvPr id="48" name="Rationale card 2"/>
          <p:cNvSpPr/>
          <p:nvPr/>
        </p:nvSpPr>
        <p:spPr>
          <a:xfrm>
            <a:off x="4273296" y="4443984"/>
            <a:ext cx="3642360" cy="1609344"/>
          </a:xfrm>
          <a:prstGeom prst="roundRect">
            <a:avLst>
              <a:gd name="adj" fmla="val 3500"/>
            </a:avLst>
          </a:prstGeom>
          <a:solidFill>
            <a:schemeClr val="bg2"/>
          </a:solidFill>
          <a:ln w="12700">
            <a:solidFill>
              <a:schemeClr val="bg2"/>
            </a:solidFill>
            <a:prstDash val="solid"/>
          </a:ln>
        </p:spPr>
      </p:sp>
      <p:sp>
        <p:nvSpPr>
          <p:cNvPr id="49" name="Rationale label 2"/>
          <p:cNvSpPr txBox="1"/>
          <p:nvPr/>
        </p:nvSpPr>
        <p:spPr>
          <a:xfrm>
            <a:off x="4437888" y="4535424"/>
            <a:ext cx="3313176" cy="201168"/>
          </a:xfrm>
          <a:prstGeom prst="rect">
            <a:avLst/>
          </a:prstGeom>
          <a:noFill/>
          <a:ln/>
        </p:spPr>
        <p:txBody>
          <a:bodyPr wrap="square" lIns="0" tIns="0" rIns="0" bIns="0" rtlCol="0" anchor="ctr"/>
          <a:lstStyle/>
          <a:p>
            <a:pPr marL="0" indent="0" algn="l">
              <a:buNone/>
            </a:pPr>
            <a:r>
              <a:rPr lang="en-US" sz="1100" b="1" kern="0" spc="100" dirty="0">
                <a:solidFill>
                  <a:srgbClr val="B8531A"/>
                </a:solidFill>
              </a:rPr>
              <a:t>WHY REGENERATION IS NECESSARY</a:t>
            </a:r>
            <a:endParaRPr lang="en-US" sz="1100" dirty="0"/>
          </a:p>
        </p:txBody>
      </p:sp>
      <p:sp>
        <p:nvSpPr>
          <p:cNvPr id="50" name="Rationale text 2"/>
          <p:cNvSpPr txBox="1"/>
          <p:nvPr/>
        </p:nvSpPr>
        <p:spPr>
          <a:xfrm>
            <a:off x="4437888" y="4809744"/>
            <a:ext cx="3313176" cy="1170432"/>
          </a:xfrm>
          <a:prstGeom prst="rect">
            <a:avLst/>
          </a:prstGeom>
          <a:noFill/>
          <a:ln/>
        </p:spPr>
        <p:txBody>
          <a:bodyPr wrap="square" lIns="0" tIns="0" rIns="0" bIns="0" rtlCol="0" anchor="t"/>
          <a:lstStyle/>
          <a:p>
            <a:pPr marL="0" indent="0" algn="l">
              <a:buNone/>
            </a:pPr>
            <a:r>
              <a:rPr lang="en-US" sz="1200" dirty="0">
                <a:solidFill>
                  <a:schemeClr val="tx2"/>
                </a:solidFill>
              </a:rPr>
              <a:t>A practical DAC sorbent must release the captured CO₂ and recover its capacity, so that the same material can be reused over repeated cycles.</a:t>
            </a:r>
            <a:endParaRPr lang="en-US" sz="1200" dirty="0"/>
          </a:p>
        </p:txBody>
      </p:sp>
      <p:sp>
        <p:nvSpPr>
          <p:cNvPr id="51" name="Rationale card 3"/>
          <p:cNvSpPr/>
          <p:nvPr/>
        </p:nvSpPr>
        <p:spPr>
          <a:xfrm>
            <a:off x="8098536" y="4443984"/>
            <a:ext cx="3642360" cy="1609344"/>
          </a:xfrm>
          <a:prstGeom prst="roundRect">
            <a:avLst>
              <a:gd name="adj" fmla="val 3500"/>
            </a:avLst>
          </a:prstGeom>
          <a:solidFill>
            <a:schemeClr val="bg2"/>
          </a:solidFill>
          <a:ln w="12700">
            <a:solidFill>
              <a:schemeClr val="bg2"/>
            </a:solidFill>
            <a:prstDash val="solid"/>
          </a:ln>
        </p:spPr>
      </p:sp>
      <p:sp>
        <p:nvSpPr>
          <p:cNvPr id="52" name="Rationale label 3"/>
          <p:cNvSpPr txBox="1"/>
          <p:nvPr/>
        </p:nvSpPr>
        <p:spPr>
          <a:xfrm>
            <a:off x="8263128" y="4535424"/>
            <a:ext cx="3313176"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EXPECTED OUTCOMES — NOT RESULTS</a:t>
            </a:r>
            <a:endParaRPr lang="en-US" sz="1100" dirty="0"/>
          </a:p>
        </p:txBody>
      </p:sp>
      <p:sp>
        <p:nvSpPr>
          <p:cNvPr id="53" name="Rationale text 3"/>
          <p:cNvSpPr txBox="1"/>
          <p:nvPr/>
        </p:nvSpPr>
        <p:spPr>
          <a:xfrm>
            <a:off x="8263128" y="4809744"/>
            <a:ext cx="3313176" cy="1170432"/>
          </a:xfrm>
          <a:prstGeom prst="rect">
            <a:avLst/>
          </a:prstGeom>
          <a:noFill/>
          <a:ln/>
        </p:spPr>
        <p:txBody>
          <a:bodyPr wrap="square" lIns="0" tIns="0" rIns="0" bIns="0" rtlCol="0" anchor="t"/>
          <a:lstStyle/>
          <a:p>
            <a:pPr marL="155448" indent="-155448" algn="l">
              <a:spcAft>
                <a:spcPts val="300"/>
              </a:spcAft>
              <a:buClr>
                <a:schemeClr val="accent3"/>
              </a:buClr>
              <a:buFont typeface="Arial"/>
              <a:buChar char="•"/>
            </a:pPr>
            <a:r>
              <a:rPr lang="en-US" sz="1200" dirty="0">
                <a:solidFill>
                  <a:schemeClr val="tx2"/>
                </a:solidFill>
              </a:rPr>
              <a:t>How humidity may influence CO₂ adsorption and regeneration; direction not presumed</a:t>
            </a:r>
            <a:endParaRPr lang="en-US" sz="1200" dirty="0"/>
          </a:p>
          <a:p>
            <a:pPr marL="155448" indent="-155448" algn="l">
              <a:spcAft>
                <a:spcPts val="300"/>
              </a:spcAft>
              <a:buClr>
                <a:schemeClr val="accent3"/>
              </a:buClr>
              <a:buFont typeface="Arial"/>
              <a:buChar char="•"/>
            </a:pPr>
            <a:r>
              <a:rPr lang="en-US" sz="1200" dirty="0">
                <a:solidFill>
                  <a:schemeClr val="tx2"/>
                </a:solidFill>
              </a:rPr>
              <a:t>How metal composition and metal-to-linker ratio may influence CO₂ adsorption</a:t>
            </a:r>
            <a:endParaRPr lang="en-US" sz="1200" dirty="0"/>
          </a:p>
          <a:p>
            <a:pPr marL="155448" indent="-155448" algn="l">
              <a:buClr>
                <a:schemeClr val="accent3"/>
              </a:buClr>
              <a:buFont typeface="Arial"/>
              <a:buChar char="•"/>
            </a:pPr>
            <a:r>
              <a:rPr lang="en-US" sz="1200" dirty="0">
                <a:solidFill>
                  <a:schemeClr val="tx2"/>
                </a:solidFill>
              </a:rPr>
              <a:t>Whether regeneration supports repeated use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661CDFE-41D0-D3F3-D225-C63CE209D543}"/>
              </a:ext>
            </a:extLst>
          </p:cNvPr>
          <p:cNvSpPr txBox="1"/>
          <p:nvPr/>
        </p:nvSpPr>
        <p:spPr>
          <a:xfrm>
            <a:off x="656790" y="2844225"/>
            <a:ext cx="7400000" cy="584775"/>
          </a:xfrm>
          <a:prstGeom prst="rect">
            <a:avLst/>
          </a:prstGeom>
          <a:noFill/>
        </p:spPr>
        <p:txBody>
          <a:bodyPr wrap="square">
            <a:spAutoFit/>
          </a:bodyPr>
          <a:lstStyle/>
          <a:p>
            <a:r>
              <a:rPr lang="en-US" sz="2800" b="1" dirty="0">
                <a:solidFill>
                  <a:schemeClr val="bg1"/>
                </a:solidFill>
                <a:latin typeface="Arial" pitchFamily="34" charset="0"/>
                <a:ea typeface="Arial" pitchFamily="34" charset="-122"/>
                <a:cs typeface="Arial" pitchFamily="34" charset="-120"/>
              </a:rPr>
              <a:t>Capturing CO₂ Directly from Air: Bimetal-Engineered MOFs with Moisture-Responsive Regeneration</a:t>
            </a:r>
            <a:endParaRPr lang="en-SA" sz="2800" dirty="0"/>
          </a:p>
        </p:txBody>
      </p:sp>
    </p:spTree>
    <p:extLst>
      <p:ext uri="{BB962C8B-B14F-4D97-AF65-F5344CB8AC3E}">
        <p14:creationId xmlns:p14="http://schemas.microsoft.com/office/powerpoint/2010/main" val="415547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0037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2" hasCustomPrompt="1"/>
          </p:nvPr>
        </p:nvSpPr>
        <p:spPr>
          <a:xfrm>
            <a:off x="1074828" y="3187072"/>
            <a:ext cx="2564901" cy="919739"/>
          </a:xfrm>
          <a:prstGeom prst="rect">
            <a:avLst/>
          </a:prstGeom>
          <a:noFill/>
          <a:ln/>
        </p:spPr>
        <p:txBody>
          <a:bodyPr wrap="square" lIns="0" tIns="0" rIns="0" bIns="0" rtlCol="0" anchor="ctr"/>
          <a:lstStyle/>
          <a:p>
            <a:pPr marL="0" indent="0" algn="l">
              <a:buNone/>
            </a:pPr>
            <a:r>
              <a:rPr lang="en-US" sz="3200" b="1" dirty="0">
                <a:solidFill>
                  <a:schemeClr val="bg1"/>
                </a:solidFill>
                <a:latin typeface="Arial" pitchFamily="34" charset="0"/>
                <a:ea typeface="Arial" pitchFamily="34" charset="-122"/>
                <a:cs typeface="Arial" pitchFamily="34" charset="-120"/>
              </a:rPr>
              <a:t>Thank You</a:t>
            </a:r>
            <a:endParaRPr lang="en-US" sz="3200" dirty="0"/>
          </a:p>
        </p:txBody>
      </p:sp>
    </p:spTree>
  </p:cSld>
  <p:clrMapOvr>
    <a:masterClrMapping/>
  </p:clrMapOvr>
</p:sld>
</file>

<file path=ppt/theme/theme1.xml><?xml version="1.0" encoding="utf-8"?>
<a:theme xmlns:a="http://schemas.openxmlformats.org/drawingml/2006/main" name="WPC 2026 Scientific">
  <a:themeElements>
    <a:clrScheme name="WPC 2026 Scientific">
      <a:dk1>
        <a:srgbClr val="1C1C1C"/>
      </a:dk1>
      <a:lt1>
        <a:srgbClr val="FFFFFF"/>
      </a:lt1>
      <a:dk2>
        <a:srgbClr val="24212C"/>
      </a:dk2>
      <a:lt2>
        <a:srgbClr val="F4F2FF"/>
      </a:lt2>
      <a:accent1>
        <a:srgbClr val="A299FF"/>
      </a:accent1>
      <a:accent2>
        <a:srgbClr val="FC833C"/>
      </a:accent2>
      <a:accent3>
        <a:srgbClr val="5B4BC4"/>
      </a:accent3>
      <a:accent4>
        <a:srgbClr val="3D8BD9"/>
      </a:accent4>
      <a:accent5>
        <a:srgbClr val="E5533D"/>
      </a:accent5>
      <a:accent6>
        <a:srgbClr val="6B6B76"/>
      </a:accent6>
      <a:hlink>
        <a:srgbClr val="5B4BC4"/>
      </a:hlink>
      <a:folHlink>
        <a:srgbClr val="8E7CC3"/>
      </a:folHlink>
    </a:clrScheme>
    <a:fontScheme name="WPC 2026 Scientifi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9</Slides>
  <Notes>7</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WPC 2026 Scientific</vt:lpstr>
      <vt:lpstr>Capturing CO₂ Directly from Air:  Bimetal-Engineered MOFs with Moisture-Responsive Regeneration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Capturing CO₂ Directly from Air – MOF-based approaches for CO₂ capture</dc:title>
  <dc:subject>25th WPC Energy Congress 2026 – Block 4: Energy Technologies – Future Pathways</dc:subject>
  <dc:creator>Raghad AlSawilam</dc:creator>
  <cp:lastModifiedBy>Raghad Sultan Abdelrhaman ALSAWILAM</cp:lastModifiedBy>
  <cp:revision>20</cp:revision>
  <dcterms:created xsi:type="dcterms:W3CDTF">2026-10-07T18:58:42Z</dcterms:created>
  <dcterms:modified xsi:type="dcterms:W3CDTF">2026-10-11T16:40:16Z</dcterms:modified>
</cp:coreProperties>
</file>